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8" r:id="rId2"/>
    <p:sldId id="257" r:id="rId3"/>
    <p:sldId id="265" r:id="rId4"/>
    <p:sldId id="341" r:id="rId5"/>
    <p:sldId id="342" r:id="rId6"/>
    <p:sldId id="343" r:id="rId7"/>
    <p:sldId id="326" r:id="rId8"/>
    <p:sldId id="263" r:id="rId9"/>
    <p:sldId id="346" r:id="rId10"/>
    <p:sldId id="347" r:id="rId11"/>
    <p:sldId id="266" r:id="rId12"/>
    <p:sldId id="264" r:id="rId13"/>
    <p:sldId id="348" r:id="rId14"/>
    <p:sldId id="303" r:id="rId15"/>
    <p:sldId id="316" r:id="rId16"/>
    <p:sldId id="332" r:id="rId17"/>
    <p:sldId id="333" r:id="rId1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A8"/>
    <a:srgbClr val="D7F0F3"/>
    <a:srgbClr val="E1F8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020" autoAdjust="0"/>
  </p:normalViewPr>
  <p:slideViewPr>
    <p:cSldViewPr>
      <p:cViewPr varScale="1">
        <p:scale>
          <a:sx n="142" d="100"/>
          <a:sy n="142" d="100"/>
        </p:scale>
        <p:origin x="96" y="141"/>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3" d="100"/>
          <a:sy n="103" d="100"/>
        </p:scale>
        <p:origin x="326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171" name="Rectangle 3"/>
          <p:cNvSpPr>
            <a:spLocks noGrp="1" noChangeArrowheads="1"/>
          </p:cNvSpPr>
          <p:nvPr>
            <p:ph type="dt" sz="quarter" idx="1"/>
          </p:nvPr>
        </p:nvSpPr>
        <p:spPr bwMode="auto">
          <a:xfrm>
            <a:off x="388501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fld id="{27C656D6-A842-4425-A532-3D5FCD608661}" type="datetime1">
              <a:rPr lang="en-US"/>
              <a:pPr>
                <a:defRPr/>
              </a:pPr>
              <a:t>11/18/2025</a:t>
            </a:fld>
            <a:endParaRPr lang="en-US"/>
          </a:p>
        </p:txBody>
      </p:sp>
      <p:sp>
        <p:nvSpPr>
          <p:cNvPr id="7172" name="Rectangle 4"/>
          <p:cNvSpPr>
            <a:spLocks noGrp="1" noChangeArrowheads="1"/>
          </p:cNvSpPr>
          <p:nvPr>
            <p:ph type="ftr" sz="quarter" idx="2"/>
          </p:nvPr>
        </p:nvSpPr>
        <p:spPr bwMode="auto">
          <a:xfrm>
            <a:off x="0" y="8684684"/>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173" name="Rectangle 5"/>
          <p:cNvSpPr>
            <a:spLocks noGrp="1" noChangeArrowheads="1"/>
          </p:cNvSpPr>
          <p:nvPr>
            <p:ph type="sldNum" sz="quarter" idx="3"/>
          </p:nvPr>
        </p:nvSpPr>
        <p:spPr bwMode="auto">
          <a:xfrm>
            <a:off x="3885010" y="8684684"/>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9B2F23AD-DD44-49C7-AB14-59A495CA52D5}" type="slidenum">
              <a:rPr lang="en-US"/>
              <a:pPr>
                <a:defRPr/>
              </a:pPr>
              <a:t>‹#›</a:t>
            </a:fld>
            <a:endParaRPr lang="en-US"/>
          </a:p>
        </p:txBody>
      </p:sp>
    </p:spTree>
    <p:extLst>
      <p:ext uri="{BB962C8B-B14F-4D97-AF65-F5344CB8AC3E}">
        <p14:creationId xmlns:p14="http://schemas.microsoft.com/office/powerpoint/2010/main" val="21669591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501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fld id="{B9EB583F-6715-4920-B56D-72B9914B75E2}" type="datetime1">
              <a:rPr lang="en-US"/>
              <a:pPr>
                <a:defRPr/>
              </a:pPr>
              <a:t>11/18/2025</a:t>
            </a:fld>
            <a:endParaRPr lang="en-US"/>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4684"/>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5010" y="8684684"/>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70702B6B-561A-4A8F-9B90-C1F5C818EDE3}" type="slidenum">
              <a:rPr lang="en-US"/>
              <a:pPr>
                <a:defRPr/>
              </a:pPr>
              <a:t>‹#›</a:t>
            </a:fld>
            <a:endParaRPr lang="en-US"/>
          </a:p>
        </p:txBody>
      </p:sp>
    </p:spTree>
    <p:extLst>
      <p:ext uri="{BB962C8B-B14F-4D97-AF65-F5344CB8AC3E}">
        <p14:creationId xmlns:p14="http://schemas.microsoft.com/office/powerpoint/2010/main" val="61259138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Arial" charset="0"/>
                <a:ea typeface="+mn-ea"/>
                <a:cs typeface="Arial" charset="0"/>
              </a:rPr>
              <a:t>Students will understand the physical structure of an NPN BJT, describe the flow of carriers that leads to current amplification, explain the relationship between base and collector currents, and be introduced to the three basic circuit configurations.</a:t>
            </a:r>
            <a:endParaRPr lang="en-US" b="0" dirty="0">
              <a:effectLst/>
            </a:endParaRPr>
          </a:p>
          <a:p>
            <a:endParaRPr lang="bg-BG" dirty="0"/>
          </a:p>
        </p:txBody>
      </p:sp>
      <p:sp>
        <p:nvSpPr>
          <p:cNvPr id="4" name="Slide Number Placeholder 3"/>
          <p:cNvSpPr>
            <a:spLocks noGrp="1"/>
          </p:cNvSpPr>
          <p:nvPr>
            <p:ph type="sldNum" sz="quarter" idx="5"/>
          </p:nvPr>
        </p:nvSpPr>
        <p:spPr/>
        <p:txBody>
          <a:bodyPr/>
          <a:lstStyle/>
          <a:p>
            <a:pPr>
              <a:defRPr/>
            </a:pPr>
            <a:fld id="{70702B6B-561A-4A8F-9B90-C1F5C818EDE3}" type="slidenum">
              <a:rPr lang="en-US" smtClean="0"/>
              <a:pPr>
                <a:defRPr/>
              </a:pPr>
              <a:t>1</a:t>
            </a:fld>
            <a:endParaRPr lang="en-US"/>
          </a:p>
        </p:txBody>
      </p:sp>
    </p:spTree>
    <p:extLst>
      <p:ext uri="{BB962C8B-B14F-4D97-AF65-F5344CB8AC3E}">
        <p14:creationId xmlns:p14="http://schemas.microsoft.com/office/powerpoint/2010/main" val="3308135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bg-BG" dirty="0"/>
          </a:p>
        </p:txBody>
      </p:sp>
      <p:sp>
        <p:nvSpPr>
          <p:cNvPr id="4" name="Slide Number Placeholder 3"/>
          <p:cNvSpPr>
            <a:spLocks noGrp="1"/>
          </p:cNvSpPr>
          <p:nvPr>
            <p:ph type="sldNum" sz="quarter" idx="5"/>
          </p:nvPr>
        </p:nvSpPr>
        <p:spPr/>
        <p:txBody>
          <a:bodyPr/>
          <a:lstStyle/>
          <a:p>
            <a:pPr>
              <a:defRPr/>
            </a:pPr>
            <a:fld id="{70702B6B-561A-4A8F-9B90-C1F5C818EDE3}" type="slidenum">
              <a:rPr lang="en-US" smtClean="0"/>
              <a:pPr>
                <a:defRPr/>
              </a:pPr>
              <a:t>2</a:t>
            </a:fld>
            <a:endParaRPr lang="en-US"/>
          </a:p>
        </p:txBody>
      </p:sp>
    </p:spTree>
    <p:extLst>
      <p:ext uri="{BB962C8B-B14F-4D97-AF65-F5344CB8AC3E}">
        <p14:creationId xmlns:p14="http://schemas.microsoft.com/office/powerpoint/2010/main" val="2218970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5"/>
          </p:nvPr>
        </p:nvSpPr>
        <p:spPr/>
        <p:txBody>
          <a:bodyPr/>
          <a:lstStyle/>
          <a:p>
            <a:pPr>
              <a:defRPr/>
            </a:pPr>
            <a:fld id="{70702B6B-561A-4A8F-9B90-C1F5C818EDE3}" type="slidenum">
              <a:rPr lang="en-US" smtClean="0"/>
              <a:pPr>
                <a:defRPr/>
              </a:pPr>
              <a:t>3</a:t>
            </a:fld>
            <a:endParaRPr lang="en-US"/>
          </a:p>
        </p:txBody>
      </p:sp>
    </p:spTree>
    <p:extLst>
      <p:ext uri="{BB962C8B-B14F-4D97-AF65-F5344CB8AC3E}">
        <p14:creationId xmlns:p14="http://schemas.microsoft.com/office/powerpoint/2010/main" val="2178991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38C56-E83F-0078-B161-010A6BE30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62C59-0228-1C80-F192-5BA38D203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74DE8-E2CF-E71D-F472-48AB74D7D2DF}"/>
              </a:ext>
            </a:extLst>
          </p:cNvPr>
          <p:cNvSpPr>
            <a:spLocks noGrp="1"/>
          </p:cNvSpPr>
          <p:nvPr>
            <p:ph type="body" idx="1"/>
          </p:nvPr>
        </p:nvSpPr>
        <p:spPr/>
        <p:txBody>
          <a:bodyPr/>
          <a:lstStyle/>
          <a:p>
            <a:endParaRPr lang="bg-BG" dirty="0"/>
          </a:p>
        </p:txBody>
      </p:sp>
      <p:sp>
        <p:nvSpPr>
          <p:cNvPr id="4" name="Slide Number Placeholder 3">
            <a:extLst>
              <a:ext uri="{FF2B5EF4-FFF2-40B4-BE49-F238E27FC236}">
                <a16:creationId xmlns:a16="http://schemas.microsoft.com/office/drawing/2014/main" id="{60C702E8-8A18-1C39-0B06-2B39E91294E5}"/>
              </a:ext>
            </a:extLst>
          </p:cNvPr>
          <p:cNvSpPr>
            <a:spLocks noGrp="1"/>
          </p:cNvSpPr>
          <p:nvPr>
            <p:ph type="sldNum" sz="quarter" idx="5"/>
          </p:nvPr>
        </p:nvSpPr>
        <p:spPr/>
        <p:txBody>
          <a:bodyPr/>
          <a:lstStyle/>
          <a:p>
            <a:pPr>
              <a:defRPr/>
            </a:pPr>
            <a:fld id="{70702B6B-561A-4A8F-9B90-C1F5C818EDE3}" type="slidenum">
              <a:rPr lang="en-US" smtClean="0"/>
              <a:pPr>
                <a:defRPr/>
              </a:pPr>
              <a:t>4</a:t>
            </a:fld>
            <a:endParaRPr lang="en-US"/>
          </a:p>
        </p:txBody>
      </p:sp>
    </p:spTree>
    <p:extLst>
      <p:ext uri="{BB962C8B-B14F-4D97-AF65-F5344CB8AC3E}">
        <p14:creationId xmlns:p14="http://schemas.microsoft.com/office/powerpoint/2010/main" val="1657632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D9989-8E47-8CC8-35AF-DAC9BF981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309F5-75EB-0DAE-7E9D-D0BD53048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24A2E-D2E8-2ACA-A92F-4926F124FF19}"/>
              </a:ext>
            </a:extLst>
          </p:cNvPr>
          <p:cNvSpPr>
            <a:spLocks noGrp="1"/>
          </p:cNvSpPr>
          <p:nvPr>
            <p:ph type="body" idx="1"/>
          </p:nvPr>
        </p:nvSpPr>
        <p:spPr/>
        <p:txBody>
          <a:bodyPr/>
          <a:lstStyle/>
          <a:p>
            <a:endParaRPr lang="bg-BG" dirty="0"/>
          </a:p>
        </p:txBody>
      </p:sp>
      <p:sp>
        <p:nvSpPr>
          <p:cNvPr id="4" name="Slide Number Placeholder 3">
            <a:extLst>
              <a:ext uri="{FF2B5EF4-FFF2-40B4-BE49-F238E27FC236}">
                <a16:creationId xmlns:a16="http://schemas.microsoft.com/office/drawing/2014/main" id="{95E43F15-B504-7230-8569-8CC6D96C912C}"/>
              </a:ext>
            </a:extLst>
          </p:cNvPr>
          <p:cNvSpPr>
            <a:spLocks noGrp="1"/>
          </p:cNvSpPr>
          <p:nvPr>
            <p:ph type="sldNum" sz="quarter" idx="5"/>
          </p:nvPr>
        </p:nvSpPr>
        <p:spPr/>
        <p:txBody>
          <a:bodyPr/>
          <a:lstStyle/>
          <a:p>
            <a:pPr>
              <a:defRPr/>
            </a:pPr>
            <a:fld id="{70702B6B-561A-4A8F-9B90-C1F5C818EDE3}" type="slidenum">
              <a:rPr lang="en-US" smtClean="0"/>
              <a:pPr>
                <a:defRPr/>
              </a:pPr>
              <a:t>5</a:t>
            </a:fld>
            <a:endParaRPr lang="en-US"/>
          </a:p>
        </p:txBody>
      </p:sp>
    </p:spTree>
    <p:extLst>
      <p:ext uri="{BB962C8B-B14F-4D97-AF65-F5344CB8AC3E}">
        <p14:creationId xmlns:p14="http://schemas.microsoft.com/office/powerpoint/2010/main" val="997229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DBABE-680C-69C3-D350-0D5A0193D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37464-7780-AE3E-5DB3-A6B83350F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FA508-E142-41C2-DBAC-B4439ED430BC}"/>
              </a:ext>
            </a:extLst>
          </p:cNvPr>
          <p:cNvSpPr>
            <a:spLocks noGrp="1"/>
          </p:cNvSpPr>
          <p:nvPr>
            <p:ph type="body" idx="1"/>
          </p:nvPr>
        </p:nvSpPr>
        <p:spPr/>
        <p:txBody>
          <a:bodyPr/>
          <a:lstStyle/>
          <a:p>
            <a:endParaRPr lang="bg-BG" dirty="0"/>
          </a:p>
        </p:txBody>
      </p:sp>
      <p:sp>
        <p:nvSpPr>
          <p:cNvPr id="4" name="Slide Number Placeholder 3">
            <a:extLst>
              <a:ext uri="{FF2B5EF4-FFF2-40B4-BE49-F238E27FC236}">
                <a16:creationId xmlns:a16="http://schemas.microsoft.com/office/drawing/2014/main" id="{1A7B3454-C2E5-C3C5-633D-FAD958089831}"/>
              </a:ext>
            </a:extLst>
          </p:cNvPr>
          <p:cNvSpPr>
            <a:spLocks noGrp="1"/>
          </p:cNvSpPr>
          <p:nvPr>
            <p:ph type="sldNum" sz="quarter" idx="5"/>
          </p:nvPr>
        </p:nvSpPr>
        <p:spPr/>
        <p:txBody>
          <a:bodyPr/>
          <a:lstStyle/>
          <a:p>
            <a:pPr>
              <a:defRPr/>
            </a:pPr>
            <a:fld id="{70702B6B-561A-4A8F-9B90-C1F5C818EDE3}" type="slidenum">
              <a:rPr lang="en-US" smtClean="0"/>
              <a:pPr>
                <a:defRPr/>
              </a:pPr>
              <a:t>6</a:t>
            </a:fld>
            <a:endParaRPr lang="en-US"/>
          </a:p>
        </p:txBody>
      </p:sp>
    </p:spTree>
    <p:extLst>
      <p:ext uri="{BB962C8B-B14F-4D97-AF65-F5344CB8AC3E}">
        <p14:creationId xmlns:p14="http://schemas.microsoft.com/office/powerpoint/2010/main" val="1510782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Arial" panose="020B0604020202020204" pitchFamily="34" charset="0"/>
              </a:rPr>
              <a:t>The Kirk effect occurs at high current densities in a bipolar transistor. The effect is due to the charge density associated with the current passing through the base-collector region. As this charge density exceeds the charge density in the depletion region the depletion region ceases to exist. Instead, there will be a build-up of majority carriers from the base in the base-collector depletion region. The dipole formed by the positively and negatively charged ionized donors and acceptors is pushed into the collector and replaced by positively charged ionized donors and a negatively charged electron accumulation layer, which is referred to as base push out. This effect occurs if the charge density associated with the current is larger than the ionized impurity density in the base-collector depletion region. </a:t>
            </a:r>
            <a:endParaRPr lang="bg-BG" dirty="0"/>
          </a:p>
        </p:txBody>
      </p:sp>
      <p:sp>
        <p:nvSpPr>
          <p:cNvPr id="4" name="Slide Number Placeholder 3"/>
          <p:cNvSpPr>
            <a:spLocks noGrp="1"/>
          </p:cNvSpPr>
          <p:nvPr>
            <p:ph type="sldNum" sz="quarter" idx="5"/>
          </p:nvPr>
        </p:nvSpPr>
        <p:spPr/>
        <p:txBody>
          <a:bodyPr/>
          <a:lstStyle/>
          <a:p>
            <a:pPr>
              <a:defRPr/>
            </a:pPr>
            <a:fld id="{70702B6B-561A-4A8F-9B90-C1F5C818EDE3}" type="slidenum">
              <a:rPr lang="en-US" smtClean="0"/>
              <a:pPr>
                <a:defRPr/>
              </a:pPr>
              <a:t>7</a:t>
            </a:fld>
            <a:endParaRPr lang="en-US"/>
          </a:p>
        </p:txBody>
      </p:sp>
    </p:spTree>
    <p:extLst>
      <p:ext uri="{BB962C8B-B14F-4D97-AF65-F5344CB8AC3E}">
        <p14:creationId xmlns:p14="http://schemas.microsoft.com/office/powerpoint/2010/main" val="2318058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ICBO = Reverse Leakage Current between Collector and Base while Emitter is Open. (IE=0)</a:t>
            </a:r>
          </a:p>
          <a:p>
            <a:r>
              <a:rPr lang="en-US" b="1" dirty="0"/>
              <a:t>ICEO</a:t>
            </a:r>
            <a:r>
              <a:rPr lang="en-US" dirty="0"/>
              <a:t> = Reverse Leakage </a:t>
            </a:r>
            <a:r>
              <a:rPr lang="en-US" b="1" dirty="0"/>
              <a:t>Current</a:t>
            </a:r>
            <a:r>
              <a:rPr lang="en-US" dirty="0"/>
              <a:t> between </a:t>
            </a:r>
            <a:r>
              <a:rPr lang="en-US" b="1" dirty="0"/>
              <a:t>Collector</a:t>
            </a:r>
            <a:r>
              <a:rPr lang="en-US" dirty="0"/>
              <a:t> and </a:t>
            </a:r>
            <a:r>
              <a:rPr lang="en-US" b="1" dirty="0"/>
              <a:t>Emitter</a:t>
            </a:r>
            <a:r>
              <a:rPr lang="en-US" dirty="0"/>
              <a:t> while Base is </a:t>
            </a:r>
            <a:r>
              <a:rPr lang="en-US" b="1" dirty="0"/>
              <a:t>Open</a:t>
            </a:r>
            <a:r>
              <a:rPr lang="en-US" dirty="0"/>
              <a:t>. (IB=0)</a:t>
            </a:r>
            <a:endParaRPr lang="bg-BG" dirty="0"/>
          </a:p>
        </p:txBody>
      </p:sp>
      <p:sp>
        <p:nvSpPr>
          <p:cNvPr id="4" name="Slide Number Placeholder 3"/>
          <p:cNvSpPr>
            <a:spLocks noGrp="1"/>
          </p:cNvSpPr>
          <p:nvPr>
            <p:ph type="sldNum" sz="quarter" idx="5"/>
          </p:nvPr>
        </p:nvSpPr>
        <p:spPr/>
        <p:txBody>
          <a:bodyPr/>
          <a:lstStyle/>
          <a:p>
            <a:pPr>
              <a:defRPr/>
            </a:pPr>
            <a:fld id="{70702B6B-561A-4A8F-9B90-C1F5C818EDE3}" type="slidenum">
              <a:rPr lang="en-US" smtClean="0"/>
              <a:pPr>
                <a:defRPr/>
              </a:pPr>
              <a:t>11</a:t>
            </a:fld>
            <a:endParaRPr lang="en-US"/>
          </a:p>
        </p:txBody>
      </p:sp>
    </p:spTree>
    <p:extLst>
      <p:ext uri="{BB962C8B-B14F-4D97-AF65-F5344CB8AC3E}">
        <p14:creationId xmlns:p14="http://schemas.microsoft.com/office/powerpoint/2010/main" val="159444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4390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30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0398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60" y="188640"/>
            <a:ext cx="904875"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2"/>
          <p:cNvSpPr txBox="1">
            <a:spLocks noChangeArrowheads="1"/>
          </p:cNvSpPr>
          <p:nvPr/>
        </p:nvSpPr>
        <p:spPr bwMode="auto">
          <a:xfrm>
            <a:off x="479376" y="4509120"/>
            <a:ext cx="1058517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lvl1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2pPr>
            <a:lvl3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3pPr>
            <a:lvl4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4pPr>
            <a:lvl5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5pPr>
            <a:lvl6pPr marL="4572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6pPr>
            <a:lvl7pPr marL="9144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7pPr>
            <a:lvl8pPr marL="13716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8pPr>
            <a:lvl9pPr marL="18288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9pPr>
          </a:lstStyle>
          <a:p>
            <a:pPr>
              <a:defRPr/>
            </a:pPr>
            <a:r>
              <a:rPr lang="bg-BG" b="0" i="0" kern="0" dirty="0">
                <a:solidFill>
                  <a:schemeClr val="tx1"/>
                </a:solidFill>
                <a:effectLst/>
                <a:latin typeface="Arial Narrow" pitchFamily="34" charset="0"/>
              </a:rPr>
              <a:t>Биполяр</a:t>
            </a:r>
            <a:r>
              <a:rPr lang="en-US" b="0" i="0" kern="0" dirty="0">
                <a:solidFill>
                  <a:schemeClr val="tx1"/>
                </a:solidFill>
                <a:effectLst/>
                <a:latin typeface="Arial Narrow" pitchFamily="34" charset="0"/>
              </a:rPr>
              <a:t>e</a:t>
            </a:r>
            <a:r>
              <a:rPr lang="bg-BG" b="0" i="0" kern="0" dirty="0">
                <a:solidFill>
                  <a:schemeClr val="tx1"/>
                </a:solidFill>
                <a:effectLst/>
                <a:latin typeface="Arial Narrow" pitchFamily="34" charset="0"/>
              </a:rPr>
              <a:t>н Транзистор</a:t>
            </a:r>
          </a:p>
          <a:p>
            <a:pPr>
              <a:defRPr/>
            </a:pPr>
            <a:r>
              <a:rPr lang="bg-BG" sz="2400" b="0" i="0" kern="0" dirty="0">
                <a:solidFill>
                  <a:schemeClr val="tx1"/>
                </a:solidFill>
                <a:effectLst/>
                <a:latin typeface="Arial Narrow" pitchFamily="34" charset="0"/>
              </a:rPr>
              <a:t>структура, принцип на действие, токове, схеми на свързване</a:t>
            </a:r>
            <a:r>
              <a:rPr lang="en-US" sz="2400" b="0" i="0" kern="0" dirty="0">
                <a:solidFill>
                  <a:schemeClr val="tx1"/>
                </a:solidFill>
                <a:effectLst/>
                <a:latin typeface="Arial Narrow" pitchFamily="3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bwMode="auto">
          <a:xfrm>
            <a:off x="919" y="0"/>
            <a:ext cx="12192000" cy="7647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bg-BG" sz="3200" dirty="0">
                <a:solidFill>
                  <a:schemeClr val="accent2"/>
                </a:solidFill>
                <a:latin typeface="Arial Narrow" pitchFamily="34" charset="0"/>
              </a:rPr>
              <a:t>Структура на </a:t>
            </a:r>
            <a:r>
              <a:rPr lang="en-US" sz="3200" dirty="0">
                <a:solidFill>
                  <a:schemeClr val="accent2"/>
                </a:solidFill>
                <a:latin typeface="Arial Narrow" pitchFamily="34" charset="0"/>
              </a:rPr>
              <a:t>NPN </a:t>
            </a:r>
            <a:r>
              <a:rPr lang="bg-BG" sz="3200" dirty="0">
                <a:solidFill>
                  <a:schemeClr val="accent2"/>
                </a:solidFill>
                <a:latin typeface="Arial Narrow" pitchFamily="34" charset="0"/>
              </a:rPr>
              <a:t>биполярен транзистор</a:t>
            </a:r>
            <a:endParaRPr lang="en-US" sz="3200" dirty="0">
              <a:solidFill>
                <a:schemeClr val="accent2"/>
              </a:solidFill>
              <a:latin typeface="Arial Narrow" pitchFamily="34" charset="0"/>
            </a:endParaRPr>
          </a:p>
        </p:txBody>
      </p:sp>
      <p:sp>
        <p:nvSpPr>
          <p:cNvPr id="5" name="TextBox 4">
            <a:extLst>
              <a:ext uri="{FF2B5EF4-FFF2-40B4-BE49-F238E27FC236}">
                <a16:creationId xmlns:a16="http://schemas.microsoft.com/office/drawing/2014/main" id="{3B995405-0F2D-5171-B16E-5A0C257354A0}"/>
              </a:ext>
            </a:extLst>
          </p:cNvPr>
          <p:cNvSpPr txBox="1"/>
          <p:nvPr/>
        </p:nvSpPr>
        <p:spPr>
          <a:xfrm>
            <a:off x="263352" y="4653136"/>
            <a:ext cx="11593288" cy="1600438"/>
          </a:xfrm>
          <a:prstGeom prst="rect">
            <a:avLst/>
          </a:prstGeom>
          <a:noFill/>
        </p:spPr>
        <p:txBody>
          <a:bodyPr wrap="square" rtlCol="0">
            <a:spAutoFit/>
          </a:bodyPr>
          <a:lstStyle/>
          <a:p>
            <a:r>
              <a:rPr lang="ru-RU" sz="1400" b="1" dirty="0"/>
              <a:t>Емитер</a:t>
            </a:r>
            <a:r>
              <a:rPr lang="ru-RU" sz="1400" dirty="0"/>
              <a:t> (N): Източникът на носителите на заряд. Той е силно легиран, за да се гарантира, че има висока концентрация на електрони.</a:t>
            </a:r>
          </a:p>
          <a:p>
            <a:endParaRPr lang="ru-RU" sz="1400" b="1" dirty="0"/>
          </a:p>
          <a:p>
            <a:r>
              <a:rPr lang="ru-RU" sz="1400" b="1" dirty="0"/>
              <a:t>База</a:t>
            </a:r>
            <a:r>
              <a:rPr lang="ru-RU" sz="1400" dirty="0"/>
              <a:t> (P): Управляващият извод. Базата е много </a:t>
            </a:r>
            <a:r>
              <a:rPr lang="ru-RU" sz="1400" b="1" dirty="0"/>
              <a:t>тънка</a:t>
            </a:r>
            <a:r>
              <a:rPr lang="ru-RU" sz="1400" dirty="0"/>
              <a:t> (от порядъка на 0,1 µm) и много </a:t>
            </a:r>
            <a:r>
              <a:rPr lang="ru-RU" sz="1400" b="1" dirty="0"/>
              <a:t>слабо легирана</a:t>
            </a:r>
            <a:r>
              <a:rPr lang="ru-RU" sz="1400" dirty="0"/>
              <a:t>. Тези две свойства са ключови за  функционирането на транзистора.</a:t>
            </a:r>
          </a:p>
          <a:p>
            <a:endParaRPr lang="ru-RU" sz="1400" dirty="0"/>
          </a:p>
          <a:p>
            <a:r>
              <a:rPr lang="ru-RU" sz="1400" b="1" dirty="0"/>
              <a:t>Колектор</a:t>
            </a:r>
            <a:r>
              <a:rPr lang="ru-RU" sz="1400" dirty="0"/>
              <a:t> (N): Неговата работа е да „събира“ носителите. Той е умерено легиран и физически е най-голямата част от транзистора, която разсейва топлината.</a:t>
            </a:r>
            <a:endParaRPr lang="bg-BG" sz="1400" dirty="0"/>
          </a:p>
        </p:txBody>
      </p:sp>
      <p:pic>
        <p:nvPicPr>
          <p:cNvPr id="7" name="Graphic 6">
            <a:extLst>
              <a:ext uri="{FF2B5EF4-FFF2-40B4-BE49-F238E27FC236}">
                <a16:creationId xmlns:a16="http://schemas.microsoft.com/office/drawing/2014/main" id="{D589D561-F096-803B-2C03-A89C686ECA57}"/>
              </a:ext>
            </a:extLst>
          </p:cNvPr>
          <p:cNvPicPr>
            <a:picLocks noChangeAspect="1"/>
          </p:cNvPicPr>
          <p:nvPr/>
        </p:nvPicPr>
        <p:blipFill>
          <a:blip r:embed="rId3">
            <a:extLst>
              <a:ext uri="{96DAC541-7B7A-43D3-8B79-37D633B846F1}">
                <asvg:svgBlip xmlns:asvg="http://schemas.microsoft.com/office/drawing/2016/SVG/main" r:embed="rId4"/>
              </a:ext>
            </a:extLst>
          </a:blip>
          <a:srcRect l="17797" r="17029" b="39367"/>
          <a:stretch>
            <a:fillRect/>
          </a:stretch>
        </p:blipFill>
        <p:spPr>
          <a:xfrm>
            <a:off x="767408" y="908720"/>
            <a:ext cx="7026322" cy="3096343"/>
          </a:xfrm>
          <a:prstGeom prst="rect">
            <a:avLst/>
          </a:prstGeom>
        </p:spPr>
      </p:pic>
      <p:pic>
        <p:nvPicPr>
          <p:cNvPr id="8" name="Picture 6">
            <a:extLst>
              <a:ext uri="{FF2B5EF4-FFF2-40B4-BE49-F238E27FC236}">
                <a16:creationId xmlns:a16="http://schemas.microsoft.com/office/drawing/2014/main" id="{BA868582-7BF3-55D3-8734-1D69BA11EB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2805" y="1384934"/>
            <a:ext cx="3900488" cy="242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idx="4294967295"/>
          </p:nvPr>
        </p:nvSpPr>
        <p:spPr>
          <a:xfrm>
            <a:off x="-24680" y="-1"/>
            <a:ext cx="12216680" cy="630761"/>
          </a:xfrm>
          <a:prstGeom prst="rect">
            <a:avLst/>
          </a:prstGeom>
        </p:spPr>
        <p:txBody>
          <a:bodyPr/>
          <a:lstStyle/>
          <a:p>
            <a:pPr>
              <a:defRPr/>
            </a:pPr>
            <a:r>
              <a:rPr lang="bg-BG" sz="3200" dirty="0">
                <a:solidFill>
                  <a:schemeClr val="accent2"/>
                </a:solidFill>
                <a:latin typeface="Arial Narrow" pitchFamily="34" charset="0"/>
              </a:rPr>
              <a:t>Транзисторът като усилвател (активен режим)</a:t>
            </a:r>
            <a:endParaRPr lang="en-US" sz="3200" dirty="0">
              <a:solidFill>
                <a:schemeClr val="accent2"/>
              </a:solidFill>
              <a:latin typeface="Arial Narrow" pitchFamily="34" charset="0"/>
            </a:endParaRPr>
          </a:p>
        </p:txBody>
      </p:sp>
      <p:sp>
        <p:nvSpPr>
          <p:cNvPr id="13" name="Text Box 17"/>
          <p:cNvSpPr txBox="1">
            <a:spLocks noChangeArrowheads="1"/>
          </p:cNvSpPr>
          <p:nvPr/>
        </p:nvSpPr>
        <p:spPr bwMode="auto">
          <a:xfrm>
            <a:off x="263352" y="4176595"/>
            <a:ext cx="1144927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spcBef>
                <a:spcPct val="50000"/>
              </a:spcBef>
            </a:pPr>
            <a:r>
              <a:rPr lang="bg-BG" sz="1400" i="0" dirty="0"/>
              <a:t>За да работи транзисторът като усилвател, </a:t>
            </a:r>
            <a:r>
              <a:rPr lang="en-US" sz="1400" i="0" dirty="0"/>
              <a:t>PN </a:t>
            </a:r>
            <a:r>
              <a:rPr lang="bg-BG" sz="1400" i="0" dirty="0"/>
              <a:t>преходът емитер-база е включен в права посока</a:t>
            </a:r>
            <a:r>
              <a:rPr lang="en-US" sz="1400" i="0" dirty="0"/>
              <a:t> (U</a:t>
            </a:r>
            <a:r>
              <a:rPr lang="en-US" sz="1400" i="0" baseline="-25000" dirty="0"/>
              <a:t>BE</a:t>
            </a:r>
            <a:r>
              <a:rPr lang="en-US" sz="1400" i="0" dirty="0"/>
              <a:t> ~0.7V), </a:t>
            </a:r>
            <a:r>
              <a:rPr lang="bg-BG" sz="1400" i="0" dirty="0"/>
              <a:t>а преходът база-колектор – в обратна</a:t>
            </a:r>
            <a:r>
              <a:rPr lang="en-US" sz="1400" i="0" dirty="0"/>
              <a:t> (U</a:t>
            </a:r>
            <a:r>
              <a:rPr lang="en-US" sz="1400" i="0" baseline="-25000" dirty="0"/>
              <a:t>CE </a:t>
            </a:r>
            <a:r>
              <a:rPr lang="en-US" sz="1400" i="0" dirty="0"/>
              <a:t>&gt;&gt; U</a:t>
            </a:r>
            <a:r>
              <a:rPr lang="en-US" sz="1400" i="0" baseline="-25000" dirty="0"/>
              <a:t>BE</a:t>
            </a:r>
            <a:r>
              <a:rPr lang="en-US" sz="1400" i="0" dirty="0"/>
              <a:t>)</a:t>
            </a:r>
            <a:r>
              <a:rPr lang="bg-BG" sz="1400" i="0" dirty="0"/>
              <a:t>. Казваме, че транзисторът е в активен режим.</a:t>
            </a:r>
            <a:endParaRPr lang="en-US" sz="1400" i="0" dirty="0"/>
          </a:p>
          <a:p>
            <a:pPr marL="285750" indent="-285750">
              <a:spcBef>
                <a:spcPct val="50000"/>
              </a:spcBef>
              <a:buFont typeface="Arial" panose="020B0604020202020204" pitchFamily="34" charset="0"/>
              <a:buChar char="•"/>
            </a:pPr>
            <a:r>
              <a:rPr lang="ru-RU" sz="1400" i="0" dirty="0">
                <a:solidFill>
                  <a:schemeClr val="tx2"/>
                </a:solidFill>
              </a:rPr>
              <a:t>Под въздействието на дифузия, масивен поток от електрони се инжектира от емитера в базата. Това формира емитерния ток (Ie).</a:t>
            </a:r>
            <a:endParaRPr lang="en-US" sz="1400" i="0" dirty="0">
              <a:solidFill>
                <a:schemeClr val="tx2"/>
              </a:solidFill>
            </a:endParaRPr>
          </a:p>
          <a:p>
            <a:pPr marL="285750" indent="-285750">
              <a:spcBef>
                <a:spcPct val="50000"/>
              </a:spcBef>
              <a:buFont typeface="Arial" panose="020B0604020202020204" pitchFamily="34" charset="0"/>
              <a:buChar char="•"/>
            </a:pPr>
            <a:r>
              <a:rPr lang="ru-RU" sz="1400" i="0" dirty="0">
                <a:solidFill>
                  <a:schemeClr val="tx2"/>
                </a:solidFill>
              </a:rPr>
              <a:t>Тези електрони сега са неосновни носители в P-тип област. Те започват да дифундират. Тъй като базата е </a:t>
            </a:r>
            <a:r>
              <a:rPr lang="bg-BG" sz="1400" i="0" dirty="0">
                <a:solidFill>
                  <a:schemeClr val="tx2"/>
                </a:solidFill>
              </a:rPr>
              <a:t>много</a:t>
            </a:r>
            <a:r>
              <a:rPr lang="ru-RU" sz="1400" i="0" dirty="0">
                <a:solidFill>
                  <a:schemeClr val="tx2"/>
                </a:solidFill>
              </a:rPr>
              <a:t> тънка, около 99% от тези електрони ще достигнат успешно другата страна, преди да намерят дупка, с която да се рекомбинират.</a:t>
            </a:r>
            <a:endParaRPr lang="en-US" sz="1400" i="0" dirty="0">
              <a:solidFill>
                <a:schemeClr val="tx2"/>
              </a:solidFill>
            </a:endParaRPr>
          </a:p>
          <a:p>
            <a:pPr marL="285750" indent="-285750">
              <a:spcBef>
                <a:spcPct val="50000"/>
              </a:spcBef>
              <a:buFont typeface="Arial" panose="020B0604020202020204" pitchFamily="34" charset="0"/>
              <a:buChar char="•"/>
            </a:pPr>
            <a:r>
              <a:rPr lang="bg-BG" sz="1400" i="0" dirty="0"/>
              <a:t>Веднага щом тези електрони достигнат прехода C-B, те попадат по влиянието на силното електрическо поле от обратното напрежение и веднага биват прехвърлени към колектора. Този поток от оцелели електрони формира големия колекторен ток (Ic).</a:t>
            </a:r>
          </a:p>
          <a:p>
            <a:pPr>
              <a:spcBef>
                <a:spcPct val="50000"/>
              </a:spcBef>
            </a:pPr>
            <a:r>
              <a:rPr lang="ru-RU" sz="1400" i="0" dirty="0">
                <a:solidFill>
                  <a:schemeClr val="tx2"/>
                </a:solidFill>
              </a:rPr>
              <a:t>Малък процент от инжектираните електрони рекомбинират с дупките в базата. За да се поддържа неутралност на заряда, базовият извод трябва да осигури нови дупки, което е същото като протичане на малък електронен ток. Това е базовият ток (Ib).</a:t>
            </a:r>
            <a:endParaRPr lang="en-US" sz="1400" i="0" dirty="0">
              <a:solidFill>
                <a:schemeClr val="tx2"/>
              </a:solidFill>
            </a:endParaRPr>
          </a:p>
        </p:txBody>
      </p:sp>
      <p:pic>
        <p:nvPicPr>
          <p:cNvPr id="4" name="Graphic 3">
            <a:extLst>
              <a:ext uri="{FF2B5EF4-FFF2-40B4-BE49-F238E27FC236}">
                <a16:creationId xmlns:a16="http://schemas.microsoft.com/office/drawing/2014/main" id="{FA018908-DE84-3D00-0D2F-CFF909AC1D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3432" y="846395"/>
            <a:ext cx="6988514" cy="3310349"/>
          </a:xfrm>
          <a:prstGeom prst="rect">
            <a:avLst/>
          </a:prstGeom>
        </p:spPr>
      </p:pic>
      <p:pic>
        <p:nvPicPr>
          <p:cNvPr id="10" name="Graphic 9">
            <a:extLst>
              <a:ext uri="{FF2B5EF4-FFF2-40B4-BE49-F238E27FC236}">
                <a16:creationId xmlns:a16="http://schemas.microsoft.com/office/drawing/2014/main" id="{DA0D065B-455D-63BC-5BBA-38C77E0FCF7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64995" y="1260678"/>
            <a:ext cx="2503563" cy="2384346"/>
          </a:xfrm>
          <a:prstGeom prst="rect">
            <a:avLst/>
          </a:prstGeom>
        </p:spPr>
      </p:pic>
    </p:spTree>
    <p:extLst>
      <p:ext uri="{BB962C8B-B14F-4D97-AF65-F5344CB8AC3E}">
        <p14:creationId xmlns:p14="http://schemas.microsoft.com/office/powerpoint/2010/main" val="165610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D4CB0-C1B0-0594-8144-C902B150B4D9}"/>
            </a:ext>
          </a:extLst>
        </p:cNvPr>
        <p:cNvGrpSpPr/>
        <p:nvPr/>
      </p:nvGrpSpPr>
      <p:grpSpPr>
        <a:xfrm>
          <a:off x="0" y="0"/>
          <a:ext cx="0" cy="0"/>
          <a:chOff x="0" y="0"/>
          <a:chExt cx="0" cy="0"/>
        </a:xfrm>
      </p:grpSpPr>
      <p:sp>
        <p:nvSpPr>
          <p:cNvPr id="358402" name="Rectangle 2">
            <a:extLst>
              <a:ext uri="{FF2B5EF4-FFF2-40B4-BE49-F238E27FC236}">
                <a16:creationId xmlns:a16="http://schemas.microsoft.com/office/drawing/2014/main" id="{67BBA3C0-3360-A5DE-7281-02F212030D98}"/>
              </a:ext>
            </a:extLst>
          </p:cNvPr>
          <p:cNvSpPr>
            <a:spLocks noGrp="1" noChangeArrowheads="1"/>
          </p:cNvSpPr>
          <p:nvPr>
            <p:ph type="title" idx="4294967295"/>
          </p:nvPr>
        </p:nvSpPr>
        <p:spPr>
          <a:xfrm>
            <a:off x="-24680" y="-1"/>
            <a:ext cx="12216680" cy="630761"/>
          </a:xfrm>
          <a:prstGeom prst="rect">
            <a:avLst/>
          </a:prstGeom>
        </p:spPr>
        <p:txBody>
          <a:bodyPr/>
          <a:lstStyle/>
          <a:p>
            <a:pPr>
              <a:defRPr/>
            </a:pPr>
            <a:r>
              <a:rPr lang="bg-BG" sz="3200" dirty="0">
                <a:solidFill>
                  <a:schemeClr val="accent2"/>
                </a:solidFill>
                <a:latin typeface="Arial Narrow" pitchFamily="34" charset="0"/>
              </a:rPr>
              <a:t>Коефици</a:t>
            </a:r>
            <a:r>
              <a:rPr lang="en-US" sz="3200" dirty="0">
                <a:solidFill>
                  <a:schemeClr val="accent2"/>
                </a:solidFill>
                <a:latin typeface="Arial Narrow" pitchFamily="34" charset="0"/>
              </a:rPr>
              <a:t>e</a:t>
            </a:r>
            <a:r>
              <a:rPr lang="bg-BG" sz="3200" dirty="0">
                <a:solidFill>
                  <a:schemeClr val="accent2"/>
                </a:solidFill>
                <a:latin typeface="Arial Narrow" pitchFamily="34" charset="0"/>
              </a:rPr>
              <a:t>нт на усилване по ток  </a:t>
            </a:r>
            <a:r>
              <a:rPr lang="de-DE" sz="3200" dirty="0" err="1">
                <a:solidFill>
                  <a:schemeClr val="accent2"/>
                </a:solidFill>
                <a:latin typeface="Arial Narrow" pitchFamily="34" charset="0"/>
              </a:rPr>
              <a:t>Ic</a:t>
            </a:r>
            <a:r>
              <a:rPr lang="de-DE" sz="3200" dirty="0">
                <a:solidFill>
                  <a:schemeClr val="accent2"/>
                </a:solidFill>
                <a:latin typeface="Arial Narrow" pitchFamily="34" charset="0"/>
              </a:rPr>
              <a:t> = </a:t>
            </a:r>
            <a:r>
              <a:rPr lang="el-GR" sz="3200" dirty="0">
                <a:solidFill>
                  <a:schemeClr val="accent2"/>
                </a:solidFill>
                <a:latin typeface="Arial Narrow" pitchFamily="34" charset="0"/>
              </a:rPr>
              <a:t>β * </a:t>
            </a:r>
            <a:r>
              <a:rPr lang="de-DE" sz="3200" dirty="0">
                <a:solidFill>
                  <a:schemeClr val="accent2"/>
                </a:solidFill>
                <a:latin typeface="Arial Narrow" pitchFamily="34" charset="0"/>
              </a:rPr>
              <a:t>Ib</a:t>
            </a:r>
            <a:endParaRPr lang="en-US" sz="3200" dirty="0">
              <a:solidFill>
                <a:schemeClr val="accent2"/>
              </a:solidFill>
              <a:latin typeface="Arial Narrow" pitchFamily="34" charset="0"/>
            </a:endParaRPr>
          </a:p>
        </p:txBody>
      </p:sp>
      <p:sp>
        <p:nvSpPr>
          <p:cNvPr id="13" name="Text Box 17">
            <a:extLst>
              <a:ext uri="{FF2B5EF4-FFF2-40B4-BE49-F238E27FC236}">
                <a16:creationId xmlns:a16="http://schemas.microsoft.com/office/drawing/2014/main" id="{3B3EB44E-634C-85F0-5407-649BE92A18D3}"/>
              </a:ext>
            </a:extLst>
          </p:cNvPr>
          <p:cNvSpPr txBox="1">
            <a:spLocks noChangeArrowheads="1"/>
          </p:cNvSpPr>
          <p:nvPr/>
        </p:nvSpPr>
        <p:spPr bwMode="auto">
          <a:xfrm>
            <a:off x="263352" y="4176595"/>
            <a:ext cx="1144927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spcBef>
                <a:spcPct val="50000"/>
              </a:spcBef>
            </a:pPr>
            <a:r>
              <a:rPr lang="ru-RU" sz="1400" i="0" dirty="0"/>
              <a:t>Големият колекторен ток е пряко следствие от действието, което причинява и малкия базов ток. Ic е пропорционален на Ib. Колекторният и базовия токове са свързани чрез най-известната зависимост за биполярния транзистор: Ic = β * Ib. Бета е коефициентът на усилване по ток, ключов параметър.</a:t>
            </a:r>
          </a:p>
          <a:p>
            <a:pPr>
              <a:spcBef>
                <a:spcPct val="50000"/>
              </a:spcBef>
            </a:pPr>
            <a:r>
              <a:rPr lang="ru-RU" sz="1400" i="0" dirty="0"/>
              <a:t>Какво контролира колекторния ток? Казваме, че биполярният транзистор «се управлява по ток», но не започнахме ли целия този процес, като приложихме напрежение </a:t>
            </a:r>
            <a:r>
              <a:rPr lang="en-US" sz="1400" i="0" dirty="0"/>
              <a:t>U</a:t>
            </a:r>
            <a:r>
              <a:rPr lang="en-US" sz="1400" i="0" baseline="-25000" dirty="0"/>
              <a:t>BE</a:t>
            </a:r>
            <a:r>
              <a:rPr lang="ru-RU" sz="1400" i="0" dirty="0"/>
              <a:t>?</a:t>
            </a:r>
          </a:p>
          <a:p>
            <a:pPr>
              <a:spcBef>
                <a:spcPct val="50000"/>
              </a:spcBef>
            </a:pPr>
            <a:r>
              <a:rPr lang="ru-RU" sz="1400" i="0" dirty="0">
                <a:solidFill>
                  <a:schemeClr val="tx2"/>
                </a:solidFill>
              </a:rPr>
              <a:t>Преходът B-E е диод. Връзката между напрежението върху него (</a:t>
            </a:r>
            <a:r>
              <a:rPr lang="en-US" sz="1400" i="0" dirty="0"/>
              <a:t>U</a:t>
            </a:r>
            <a:r>
              <a:rPr lang="en-US" sz="1400" i="0" baseline="-25000" dirty="0"/>
              <a:t>BE</a:t>
            </a:r>
            <a:r>
              <a:rPr lang="ru-RU" sz="1400" i="0" dirty="0">
                <a:solidFill>
                  <a:schemeClr val="tx2"/>
                </a:solidFill>
              </a:rPr>
              <a:t>) и тока, протичащ през него (Ie и по-нататък Ic), е експоненциална, точно както в уравнението на диода на Шокли. Така че, по същество, малка промяна във </a:t>
            </a:r>
            <a:r>
              <a:rPr lang="en-US" sz="1400" i="0" dirty="0"/>
              <a:t>U</a:t>
            </a:r>
            <a:r>
              <a:rPr lang="en-US" sz="1400" i="0" baseline="-25000" dirty="0"/>
              <a:t>BE </a:t>
            </a:r>
            <a:r>
              <a:rPr lang="ru-RU" sz="1400" i="0" dirty="0">
                <a:solidFill>
                  <a:schemeClr val="tx2"/>
                </a:solidFill>
              </a:rPr>
              <a:t>(например от 0,65 V на 0,7 V) причинява експоненциално увеличение на броя на електроните, инжектирани от емитера. В този физически смисъл, биполярният транзистор е по същество контролиран от напрежение.</a:t>
            </a:r>
            <a:endParaRPr lang="en-US" sz="1400" i="0" dirty="0">
              <a:solidFill>
                <a:schemeClr val="tx2"/>
              </a:solidFill>
            </a:endParaRPr>
          </a:p>
        </p:txBody>
      </p:sp>
      <p:pic>
        <p:nvPicPr>
          <p:cNvPr id="4" name="Graphic 3">
            <a:extLst>
              <a:ext uri="{FF2B5EF4-FFF2-40B4-BE49-F238E27FC236}">
                <a16:creationId xmlns:a16="http://schemas.microsoft.com/office/drawing/2014/main" id="{01D9BBB9-F5FF-8519-3814-AF67340562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3432" y="846395"/>
            <a:ext cx="6988514" cy="3310349"/>
          </a:xfrm>
          <a:prstGeom prst="rect">
            <a:avLst/>
          </a:prstGeom>
        </p:spPr>
      </p:pic>
      <p:pic>
        <p:nvPicPr>
          <p:cNvPr id="10" name="Graphic 9">
            <a:extLst>
              <a:ext uri="{FF2B5EF4-FFF2-40B4-BE49-F238E27FC236}">
                <a16:creationId xmlns:a16="http://schemas.microsoft.com/office/drawing/2014/main" id="{697796ED-1CEB-9863-1B10-9F754FBF7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64995" y="1260678"/>
            <a:ext cx="2503563" cy="2384346"/>
          </a:xfrm>
          <a:prstGeom prst="rect">
            <a:avLst/>
          </a:prstGeom>
        </p:spPr>
      </p:pic>
    </p:spTree>
    <p:extLst>
      <p:ext uri="{BB962C8B-B14F-4D97-AF65-F5344CB8AC3E}">
        <p14:creationId xmlns:p14="http://schemas.microsoft.com/office/powerpoint/2010/main" val="3381203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78513-57B2-3D25-BDE8-1BF7DBE2CE97}"/>
            </a:ext>
          </a:extLst>
        </p:cNvPr>
        <p:cNvGrpSpPr/>
        <p:nvPr/>
      </p:nvGrpSpPr>
      <p:grpSpPr>
        <a:xfrm>
          <a:off x="0" y="0"/>
          <a:ext cx="0" cy="0"/>
          <a:chOff x="0" y="0"/>
          <a:chExt cx="0" cy="0"/>
        </a:xfrm>
      </p:grpSpPr>
      <p:sp>
        <p:nvSpPr>
          <p:cNvPr id="358402" name="Rectangle 2">
            <a:extLst>
              <a:ext uri="{FF2B5EF4-FFF2-40B4-BE49-F238E27FC236}">
                <a16:creationId xmlns:a16="http://schemas.microsoft.com/office/drawing/2014/main" id="{0E2DEC98-54C9-A620-75DC-E99074367AFB}"/>
              </a:ext>
            </a:extLst>
          </p:cNvPr>
          <p:cNvSpPr>
            <a:spLocks noGrp="1" noChangeArrowheads="1"/>
          </p:cNvSpPr>
          <p:nvPr>
            <p:ph type="title" idx="4294967295"/>
          </p:nvPr>
        </p:nvSpPr>
        <p:spPr>
          <a:xfrm>
            <a:off x="-24680" y="-1"/>
            <a:ext cx="12216680" cy="630761"/>
          </a:xfrm>
          <a:prstGeom prst="rect">
            <a:avLst/>
          </a:prstGeom>
        </p:spPr>
        <p:txBody>
          <a:bodyPr/>
          <a:lstStyle/>
          <a:p>
            <a:pPr>
              <a:defRPr/>
            </a:pPr>
            <a:r>
              <a:rPr lang="de-DE" sz="3200" dirty="0" err="1">
                <a:solidFill>
                  <a:schemeClr val="accent2"/>
                </a:solidFill>
                <a:latin typeface="Arial Narrow" pitchFamily="34" charset="0"/>
              </a:rPr>
              <a:t>Ic</a:t>
            </a:r>
            <a:r>
              <a:rPr lang="de-DE" sz="3200" dirty="0">
                <a:solidFill>
                  <a:schemeClr val="accent2"/>
                </a:solidFill>
                <a:latin typeface="Arial Narrow" pitchFamily="34" charset="0"/>
              </a:rPr>
              <a:t> = </a:t>
            </a:r>
            <a:r>
              <a:rPr lang="el-GR" sz="3200" dirty="0">
                <a:solidFill>
                  <a:schemeClr val="accent2"/>
                </a:solidFill>
                <a:latin typeface="Arial Narrow" pitchFamily="34" charset="0"/>
              </a:rPr>
              <a:t>β * </a:t>
            </a:r>
            <a:r>
              <a:rPr lang="de-DE" sz="3200" dirty="0">
                <a:solidFill>
                  <a:schemeClr val="accent2"/>
                </a:solidFill>
                <a:latin typeface="Arial Narrow" pitchFamily="34" charset="0"/>
              </a:rPr>
              <a:t>Ib</a:t>
            </a:r>
            <a:endParaRPr lang="en-US" sz="3200" dirty="0">
              <a:solidFill>
                <a:schemeClr val="accent2"/>
              </a:solidFill>
              <a:latin typeface="Arial Narrow" pitchFamily="34" charset="0"/>
            </a:endParaRPr>
          </a:p>
        </p:txBody>
      </p:sp>
      <p:sp>
        <p:nvSpPr>
          <p:cNvPr id="13" name="Text Box 17">
            <a:extLst>
              <a:ext uri="{FF2B5EF4-FFF2-40B4-BE49-F238E27FC236}">
                <a16:creationId xmlns:a16="http://schemas.microsoft.com/office/drawing/2014/main" id="{02D97F4A-DA8F-AD78-87A7-12DD79263FFC}"/>
              </a:ext>
            </a:extLst>
          </p:cNvPr>
          <p:cNvSpPr txBox="1">
            <a:spLocks noChangeArrowheads="1"/>
          </p:cNvSpPr>
          <p:nvPr/>
        </p:nvSpPr>
        <p:spPr bwMode="auto">
          <a:xfrm>
            <a:off x="335360" y="2708920"/>
            <a:ext cx="1144927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spcBef>
                <a:spcPct val="50000"/>
              </a:spcBef>
            </a:pPr>
            <a:r>
              <a:rPr lang="ru-RU" sz="1400" i="0" dirty="0"/>
              <a:t>И така, защо казваме Ic = β * Ib? </a:t>
            </a:r>
            <a:endParaRPr lang="en-US" sz="1400" i="0" dirty="0"/>
          </a:p>
          <a:p>
            <a:pPr>
              <a:spcBef>
                <a:spcPct val="50000"/>
              </a:spcBef>
            </a:pPr>
            <a:r>
              <a:rPr lang="ru-RU" sz="1400" i="0" dirty="0"/>
              <a:t>Това е практичен инженерен модел и се използва по две причини:</a:t>
            </a:r>
            <a:endParaRPr lang="en-US" sz="1400" i="0" dirty="0"/>
          </a:p>
          <a:p>
            <a:pPr>
              <a:spcBef>
                <a:spcPct val="50000"/>
              </a:spcBef>
            </a:pPr>
            <a:r>
              <a:rPr lang="ru-RU" sz="1400" b="1" i="0" dirty="0"/>
              <a:t>Линейност</a:t>
            </a:r>
            <a:r>
              <a:rPr lang="ru-RU" sz="1400" i="0" dirty="0"/>
              <a:t>: Връзката между Ic и Ib е много линейна в широк диапазон. </a:t>
            </a:r>
            <a:br>
              <a:rPr lang="en-US" sz="1400" i="0" dirty="0"/>
            </a:br>
            <a:r>
              <a:rPr lang="ru-RU" sz="1400" i="0" dirty="0"/>
              <a:t>Връзката между Ic и </a:t>
            </a:r>
            <a:r>
              <a:rPr lang="en-US" sz="1400" i="0" dirty="0"/>
              <a:t>U</a:t>
            </a:r>
            <a:r>
              <a:rPr lang="en-US" sz="1400" i="0" baseline="-25000" dirty="0"/>
              <a:t>BE  </a:t>
            </a:r>
            <a:r>
              <a:rPr lang="ru-RU" sz="1400" i="0" dirty="0"/>
              <a:t>е силно нелинейна и експоненциална. Много по-лесно </a:t>
            </a:r>
            <a:br>
              <a:rPr lang="en-US" sz="1400" i="0" dirty="0"/>
            </a:br>
            <a:r>
              <a:rPr lang="ru-RU" sz="1400" i="0" dirty="0"/>
              <a:t>е да се проектира стабилен усилвател, използвайки линейната зависимост на тока.</a:t>
            </a:r>
            <a:endParaRPr lang="en-US" sz="1400" i="0" dirty="0"/>
          </a:p>
          <a:p>
            <a:pPr>
              <a:spcBef>
                <a:spcPct val="50000"/>
              </a:spcBef>
            </a:pPr>
            <a:r>
              <a:rPr lang="ru-RU" sz="1400" b="1" i="0" dirty="0"/>
              <a:t>Стабилност</a:t>
            </a:r>
            <a:r>
              <a:rPr lang="ru-RU" sz="1400" i="0" dirty="0"/>
              <a:t>: Експоненциалната крива Ic</a:t>
            </a:r>
            <a:r>
              <a:rPr lang="en-US" sz="1400" i="0" dirty="0"/>
              <a:t> = f(U</a:t>
            </a:r>
            <a:r>
              <a:rPr lang="en-US" sz="1400" i="0" baseline="-25000" dirty="0"/>
              <a:t>BE</a:t>
            </a:r>
            <a:r>
              <a:rPr lang="en-US" sz="1400" i="0" dirty="0"/>
              <a:t>)</a:t>
            </a:r>
            <a:r>
              <a:rPr lang="ru-RU" sz="1400" i="0" dirty="0"/>
              <a:t> е изключително чувствителна към температурата. Малка промяна в температурата може да причини огромна промяна в Ic за същото </a:t>
            </a:r>
            <a:r>
              <a:rPr lang="en-US" sz="1400" i="0" dirty="0"/>
              <a:t>U</a:t>
            </a:r>
            <a:r>
              <a:rPr lang="en-US" sz="1400" i="0" baseline="-25000" dirty="0"/>
              <a:t>BE</a:t>
            </a:r>
            <a:r>
              <a:rPr lang="ru-RU" sz="1400" i="0" dirty="0"/>
              <a:t>. β зависимостта е </a:t>
            </a:r>
            <a:r>
              <a:rPr lang="bg-BG" sz="1400" i="0" dirty="0"/>
              <a:t>относително</a:t>
            </a:r>
            <a:r>
              <a:rPr lang="ru-RU" sz="1400" i="0" dirty="0"/>
              <a:t> по-стабилна.</a:t>
            </a:r>
          </a:p>
          <a:p>
            <a:pPr>
              <a:spcBef>
                <a:spcPct val="50000"/>
              </a:spcBef>
            </a:pPr>
            <a:endParaRPr lang="en-US" sz="1400" i="0" dirty="0">
              <a:solidFill>
                <a:schemeClr val="tx2"/>
              </a:solidFill>
            </a:endParaRPr>
          </a:p>
          <a:p>
            <a:pPr>
              <a:spcBef>
                <a:spcPct val="50000"/>
              </a:spcBef>
            </a:pPr>
            <a:r>
              <a:rPr lang="ru-RU" sz="1400" i="0" dirty="0">
                <a:solidFill>
                  <a:schemeClr val="tx2"/>
                </a:solidFill>
              </a:rPr>
              <a:t>Мислете за това по следния начин: Малкият базов ток се формира от ~1% електрони, които не успяват да стигнат до колектора и рекомбинират в базата. Той е „отпадъчен продукт“ или „неблагоприятен страничен ефект“ от основния процес на инжектиране на електрони. Но тъй като този страничен ефект е пряко и линейно пропорционален на основното събитие (т.е. </a:t>
            </a:r>
            <a:r>
              <a:rPr lang="ru-RU" sz="1400" i="0" dirty="0"/>
              <a:t>Ic)</a:t>
            </a:r>
            <a:r>
              <a:rPr lang="ru-RU" sz="1400" i="0" dirty="0">
                <a:solidFill>
                  <a:schemeClr val="tx2"/>
                </a:solidFill>
              </a:rPr>
              <a:t>, той прави базовият ток много по-удобен управляващ параметър при моделирането на схеми.</a:t>
            </a:r>
          </a:p>
          <a:p>
            <a:pPr>
              <a:spcBef>
                <a:spcPct val="50000"/>
              </a:spcBef>
            </a:pPr>
            <a:r>
              <a:rPr lang="ru-RU" sz="1400" i="0" dirty="0">
                <a:solidFill>
                  <a:schemeClr val="tx2"/>
                </a:solidFill>
              </a:rPr>
              <a:t>Ключов извод: Така че, да, физиката се определя от </a:t>
            </a:r>
            <a:r>
              <a:rPr lang="en-US" sz="1400" i="0" dirty="0"/>
              <a:t>U</a:t>
            </a:r>
            <a:r>
              <a:rPr lang="en-US" sz="1400" i="0" baseline="-25000" dirty="0"/>
              <a:t>BE</a:t>
            </a:r>
            <a:r>
              <a:rPr lang="ru-RU" sz="1400" i="0" dirty="0">
                <a:solidFill>
                  <a:schemeClr val="tx2"/>
                </a:solidFill>
              </a:rPr>
              <a:t>. Но инженерният модел, и този, който използваме за практическо проектиране, е Ic = β * Ib. И двете са правилни гледни точки, но ще използваме модела за управление на тока за анализ.</a:t>
            </a:r>
            <a:endParaRPr lang="en-US" sz="1400" i="0" dirty="0">
              <a:solidFill>
                <a:schemeClr val="tx2"/>
              </a:solidFill>
            </a:endParaRPr>
          </a:p>
        </p:txBody>
      </p:sp>
      <p:pic>
        <p:nvPicPr>
          <p:cNvPr id="3" name="Picture 2">
            <a:extLst>
              <a:ext uri="{FF2B5EF4-FFF2-40B4-BE49-F238E27FC236}">
                <a16:creationId xmlns:a16="http://schemas.microsoft.com/office/drawing/2014/main" id="{4A9241A8-71F0-63DB-44A6-14A199876182}"/>
              </a:ext>
            </a:extLst>
          </p:cNvPr>
          <p:cNvPicPr>
            <a:picLocks noChangeAspect="1"/>
          </p:cNvPicPr>
          <p:nvPr/>
        </p:nvPicPr>
        <p:blipFill>
          <a:blip r:embed="rId3"/>
          <a:stretch>
            <a:fillRect/>
          </a:stretch>
        </p:blipFill>
        <p:spPr>
          <a:xfrm>
            <a:off x="7608168" y="325378"/>
            <a:ext cx="3517527" cy="3330140"/>
          </a:xfrm>
          <a:prstGeom prst="rect">
            <a:avLst/>
          </a:prstGeom>
        </p:spPr>
      </p:pic>
    </p:spTree>
    <p:extLst>
      <p:ext uri="{BB962C8B-B14F-4D97-AF65-F5344CB8AC3E}">
        <p14:creationId xmlns:p14="http://schemas.microsoft.com/office/powerpoint/2010/main" val="948601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21AD8-066F-E100-4CFC-4F1D3C74058F}"/>
            </a:ext>
          </a:extLst>
        </p:cNvPr>
        <p:cNvGrpSpPr/>
        <p:nvPr/>
      </p:nvGrpSpPr>
      <p:grpSpPr>
        <a:xfrm>
          <a:off x="0" y="0"/>
          <a:ext cx="0" cy="0"/>
          <a:chOff x="0" y="0"/>
          <a:chExt cx="0" cy="0"/>
        </a:xfrm>
      </p:grpSpPr>
      <p:sp>
        <p:nvSpPr>
          <p:cNvPr id="358402" name="Rectangle 2">
            <a:extLst>
              <a:ext uri="{FF2B5EF4-FFF2-40B4-BE49-F238E27FC236}">
                <a16:creationId xmlns:a16="http://schemas.microsoft.com/office/drawing/2014/main" id="{5D86CE6A-09C5-ED90-CCAC-EB37EAAE1477}"/>
              </a:ext>
            </a:extLst>
          </p:cNvPr>
          <p:cNvSpPr>
            <a:spLocks noGrp="1" noChangeArrowheads="1"/>
          </p:cNvSpPr>
          <p:nvPr>
            <p:ph type="title" idx="4294967295"/>
          </p:nvPr>
        </p:nvSpPr>
        <p:spPr>
          <a:xfrm>
            <a:off x="-24680" y="-1"/>
            <a:ext cx="12216680" cy="630761"/>
          </a:xfrm>
          <a:prstGeom prst="rect">
            <a:avLst/>
          </a:prstGeom>
        </p:spPr>
        <p:txBody>
          <a:bodyPr/>
          <a:lstStyle/>
          <a:p>
            <a:pPr>
              <a:defRPr/>
            </a:pPr>
            <a:r>
              <a:rPr lang="ru-RU" sz="3200" dirty="0">
                <a:latin typeface="Arial Narrow" panose="020B0606020202030204" pitchFamily="34" charset="0"/>
              </a:rPr>
              <a:t>Откъде идва стойността на β?</a:t>
            </a:r>
            <a:endParaRPr lang="en-US" sz="3200" dirty="0">
              <a:solidFill>
                <a:schemeClr val="accent2"/>
              </a:solidFill>
              <a:latin typeface="Arial Narrow" panose="020B0606020202030204" pitchFamily="34" charset="0"/>
            </a:endParaRPr>
          </a:p>
        </p:txBody>
      </p:sp>
      <p:sp>
        <p:nvSpPr>
          <p:cNvPr id="13" name="Text Box 17">
            <a:extLst>
              <a:ext uri="{FF2B5EF4-FFF2-40B4-BE49-F238E27FC236}">
                <a16:creationId xmlns:a16="http://schemas.microsoft.com/office/drawing/2014/main" id="{E0A4C5F0-76F3-1E5E-1362-ADBF01EC6910}"/>
              </a:ext>
            </a:extLst>
          </p:cNvPr>
          <p:cNvSpPr txBox="1">
            <a:spLocks noChangeArrowheads="1"/>
          </p:cNvSpPr>
          <p:nvPr/>
        </p:nvSpPr>
        <p:spPr bwMode="auto">
          <a:xfrm>
            <a:off x="263352" y="764704"/>
            <a:ext cx="11449272" cy="515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spcBef>
                <a:spcPct val="50000"/>
              </a:spcBef>
            </a:pPr>
            <a:r>
              <a:rPr lang="ru-RU" sz="1400" i="0" dirty="0"/>
              <a:t>Какво определя стойността на коефициента на усилване по ток β ?</a:t>
            </a:r>
          </a:p>
          <a:p>
            <a:pPr>
              <a:spcBef>
                <a:spcPct val="50000"/>
              </a:spcBef>
            </a:pPr>
            <a:r>
              <a:rPr lang="ru-RU" sz="1400" i="0" dirty="0"/>
              <a:t>Тя се определя директно от физическата конструкция на транзистора.</a:t>
            </a:r>
          </a:p>
          <a:p>
            <a:pPr>
              <a:spcBef>
                <a:spcPct val="50000"/>
              </a:spcBef>
            </a:pPr>
            <a:r>
              <a:rPr lang="ru-RU" sz="1400" i="0" dirty="0"/>
              <a:t>Емитерен ток (Ie): Броят на електроните, инжектирани от емитера, зависи силно от концентрацията на </a:t>
            </a:r>
            <a:r>
              <a:rPr lang="bg-BG" sz="1400" i="0" dirty="0"/>
              <a:t>примеси в</a:t>
            </a:r>
            <a:r>
              <a:rPr lang="ru-RU" sz="1400" i="0" dirty="0"/>
              <a:t> емитера. По-високото ниво на легиране означава повече налични електрони, което води до по-висок ток за дадено </a:t>
            </a:r>
            <a:r>
              <a:rPr lang="en-US" sz="1400" i="0" dirty="0"/>
              <a:t>U</a:t>
            </a:r>
            <a:r>
              <a:rPr lang="en-US" sz="1400" i="0" baseline="-25000" dirty="0"/>
              <a:t>BE</a:t>
            </a:r>
            <a:r>
              <a:rPr lang="ru-RU" sz="1400" i="0" dirty="0"/>
              <a:t>.</a:t>
            </a:r>
          </a:p>
          <a:p>
            <a:pPr>
              <a:spcBef>
                <a:spcPct val="50000"/>
              </a:spcBef>
            </a:pPr>
            <a:r>
              <a:rPr lang="ru-RU" sz="1400" i="0" dirty="0"/>
              <a:t>Базов ток (Ib): Рекомбинационният ток в базата зависи от две неща:</a:t>
            </a:r>
            <a:endParaRPr lang="en-US" sz="1400" i="0" dirty="0"/>
          </a:p>
          <a:p>
            <a:pPr marL="285750" indent="-285750">
              <a:spcBef>
                <a:spcPct val="50000"/>
              </a:spcBef>
              <a:buFont typeface="Arial" panose="020B0604020202020204" pitchFamily="34" charset="0"/>
              <a:buChar char="•"/>
            </a:pPr>
            <a:r>
              <a:rPr lang="ru-RU" sz="1400" i="0" dirty="0"/>
              <a:t>Концентрация на примесите в базата: По-високото легиране на базата означава, че има повече дупки, достъпни за рекомбинация, което би увеличило Ib.</a:t>
            </a:r>
            <a:endParaRPr lang="en-US" sz="1400" i="0" dirty="0"/>
          </a:p>
          <a:p>
            <a:pPr marL="285750" indent="-285750">
              <a:spcBef>
                <a:spcPct val="50000"/>
              </a:spcBef>
              <a:buFont typeface="Arial" panose="020B0604020202020204" pitchFamily="34" charset="0"/>
              <a:buChar char="•"/>
            </a:pPr>
            <a:r>
              <a:rPr lang="ru-RU" sz="1400" i="0" dirty="0"/>
              <a:t>Ширина на базата: По-широката база означава, че електронът трябва да пътува по-далеч, което му дава повече време и възможност за рекомбинация. Това също би увеличило Ib.</a:t>
            </a:r>
            <a:endParaRPr lang="en-US" sz="1400" i="0" dirty="0"/>
          </a:p>
          <a:p>
            <a:pPr>
              <a:spcBef>
                <a:spcPct val="50000"/>
              </a:spcBef>
            </a:pPr>
            <a:r>
              <a:rPr lang="ru-RU" sz="1400" i="0" dirty="0"/>
              <a:t>Не забравяйте, че Ic е приблизително Ie, а Beta е Ic / Ib. За да получим много висока бета (добър усилвател), трябва да увеличим максимално Ic и да минимизираме Ib. Как да направим това?</a:t>
            </a:r>
            <a:r>
              <a:rPr lang="en-US" sz="1400" i="0" dirty="0"/>
              <a:t> </a:t>
            </a:r>
            <a:endParaRPr lang="bg-BG" sz="1400" i="0" dirty="0"/>
          </a:p>
          <a:p>
            <a:pPr>
              <a:spcBef>
                <a:spcPct val="50000"/>
              </a:spcBef>
            </a:pPr>
            <a:r>
              <a:rPr lang="ru-RU" sz="1400" i="0" dirty="0"/>
              <a:t>Рецептата за транзистор с висока бета:</a:t>
            </a:r>
            <a:r>
              <a:rPr lang="en-US" sz="1400" i="0" dirty="0"/>
              <a:t> </a:t>
            </a:r>
            <a:endParaRPr lang="bg-BG" sz="1400" i="0" dirty="0"/>
          </a:p>
          <a:p>
            <a:pPr marL="285750" indent="-285750">
              <a:spcBef>
                <a:spcPct val="50000"/>
              </a:spcBef>
              <a:buFont typeface="Arial" panose="020B0604020202020204" pitchFamily="34" charset="0"/>
              <a:buChar char="•"/>
            </a:pPr>
            <a:r>
              <a:rPr lang="ru-RU" sz="1400" i="0" dirty="0"/>
              <a:t>Силно легиране на емитера</a:t>
            </a:r>
            <a:r>
              <a:rPr lang="en-US" sz="1400" i="0" dirty="0"/>
              <a:t>:</a:t>
            </a:r>
            <a:r>
              <a:rPr lang="ru-RU" sz="1400" i="0" dirty="0"/>
              <a:t> Това осигурява масивно инжектиране на електрони.</a:t>
            </a:r>
            <a:endParaRPr lang="en-US" sz="1400" i="0" dirty="0"/>
          </a:p>
          <a:p>
            <a:pPr marL="285750" indent="-285750">
              <a:spcBef>
                <a:spcPct val="50000"/>
              </a:spcBef>
              <a:buFont typeface="Arial" panose="020B0604020202020204" pitchFamily="34" charset="0"/>
              <a:buChar char="•"/>
            </a:pPr>
            <a:r>
              <a:rPr lang="ru-RU" sz="1400" i="0" dirty="0"/>
              <a:t>Много слабо легиране на базата: Това минимизира броя на дупките, достъпни за рекомбинация.</a:t>
            </a:r>
            <a:endParaRPr lang="en-US" sz="1400" i="0" dirty="0"/>
          </a:p>
          <a:p>
            <a:pPr marL="285750" indent="-285750">
              <a:spcBef>
                <a:spcPct val="50000"/>
              </a:spcBef>
              <a:buFont typeface="Arial" panose="020B0604020202020204" pitchFamily="34" charset="0"/>
              <a:buChar char="•"/>
            </a:pPr>
            <a:r>
              <a:rPr lang="ru-RU" sz="1400" i="0" dirty="0"/>
              <a:t>Направете базата изключително тънка: Това минимизира времето за преминаване, като не дава възможност на електроните да се рекомбинират.</a:t>
            </a:r>
            <a:endParaRPr lang="en-US" sz="1400" i="0" dirty="0"/>
          </a:p>
          <a:p>
            <a:pPr>
              <a:spcBef>
                <a:spcPct val="50000"/>
              </a:spcBef>
            </a:pPr>
            <a:r>
              <a:rPr lang="ru-RU" sz="1400" i="0" dirty="0"/>
              <a:t>Ето защо физическото описание (силно легиран емитер, тънка, леко легирана база) е толкова важно. Именно тази физическа асиметрия придава на биполярния транзистор неговото усилващо свойство.</a:t>
            </a:r>
            <a:endParaRPr lang="en-US" sz="1400" i="0" dirty="0">
              <a:solidFill>
                <a:schemeClr val="tx2"/>
              </a:solidFill>
            </a:endParaRPr>
          </a:p>
        </p:txBody>
      </p:sp>
    </p:spTree>
    <p:extLst>
      <p:ext uri="{BB962C8B-B14F-4D97-AF65-F5344CB8AC3E}">
        <p14:creationId xmlns:p14="http://schemas.microsoft.com/office/powerpoint/2010/main" val="3946342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659016-47BE-4731-954B-528468EB0FBA}"/>
              </a:ext>
            </a:extLst>
          </p:cNvPr>
          <p:cNvSpPr txBox="1"/>
          <p:nvPr/>
        </p:nvSpPr>
        <p:spPr>
          <a:xfrm>
            <a:off x="11143820" y="6578872"/>
            <a:ext cx="1008112" cy="276999"/>
          </a:xfrm>
          <a:prstGeom prst="rect">
            <a:avLst/>
          </a:prstGeom>
          <a:noFill/>
        </p:spPr>
        <p:txBody>
          <a:bodyPr wrap="square">
            <a:spAutoFit/>
          </a:bodyPr>
          <a:lstStyle/>
          <a:p>
            <a:r>
              <a:rPr lang="en-US" sz="1200" dirty="0"/>
              <a:t>MPS2907A</a:t>
            </a:r>
          </a:p>
        </p:txBody>
      </p:sp>
      <p:pic>
        <p:nvPicPr>
          <p:cNvPr id="11" name="Picture 10">
            <a:extLst>
              <a:ext uri="{FF2B5EF4-FFF2-40B4-BE49-F238E27FC236}">
                <a16:creationId xmlns:a16="http://schemas.microsoft.com/office/drawing/2014/main" id="{65E7C834-89BE-4566-9AC2-240CA52611D4}"/>
              </a:ext>
            </a:extLst>
          </p:cNvPr>
          <p:cNvPicPr>
            <a:picLocks noChangeAspect="1"/>
          </p:cNvPicPr>
          <p:nvPr/>
        </p:nvPicPr>
        <p:blipFill>
          <a:blip r:embed="rId3"/>
          <a:stretch>
            <a:fillRect/>
          </a:stretch>
        </p:blipFill>
        <p:spPr>
          <a:xfrm>
            <a:off x="369944" y="2335259"/>
            <a:ext cx="6335009" cy="4382112"/>
          </a:xfrm>
          <a:prstGeom prst="rect">
            <a:avLst/>
          </a:prstGeom>
        </p:spPr>
      </p:pic>
      <p:pic>
        <p:nvPicPr>
          <p:cNvPr id="13" name="Picture 12">
            <a:extLst>
              <a:ext uri="{FF2B5EF4-FFF2-40B4-BE49-F238E27FC236}">
                <a16:creationId xmlns:a16="http://schemas.microsoft.com/office/drawing/2014/main" id="{D00FAC59-37D7-4605-A618-B08C5B4D6C1E}"/>
              </a:ext>
            </a:extLst>
          </p:cNvPr>
          <p:cNvPicPr>
            <a:picLocks noChangeAspect="1"/>
          </p:cNvPicPr>
          <p:nvPr/>
        </p:nvPicPr>
        <p:blipFill>
          <a:blip r:embed="rId4"/>
          <a:stretch>
            <a:fillRect/>
          </a:stretch>
        </p:blipFill>
        <p:spPr>
          <a:xfrm>
            <a:off x="369944" y="692696"/>
            <a:ext cx="11250595" cy="1543265"/>
          </a:xfrm>
          <a:prstGeom prst="rect">
            <a:avLst/>
          </a:prstGeom>
        </p:spPr>
      </p:pic>
      <p:sp>
        <p:nvSpPr>
          <p:cNvPr id="14" name="TextBox 13">
            <a:extLst>
              <a:ext uri="{FF2B5EF4-FFF2-40B4-BE49-F238E27FC236}">
                <a16:creationId xmlns:a16="http://schemas.microsoft.com/office/drawing/2014/main" id="{C35A5F64-EEBF-404A-A8DD-1FCAC61FF47D}"/>
              </a:ext>
            </a:extLst>
          </p:cNvPr>
          <p:cNvSpPr txBox="1"/>
          <p:nvPr/>
        </p:nvSpPr>
        <p:spPr>
          <a:xfrm>
            <a:off x="9768408" y="443066"/>
            <a:ext cx="792088" cy="276999"/>
          </a:xfrm>
          <a:prstGeom prst="rect">
            <a:avLst/>
          </a:prstGeom>
          <a:noFill/>
        </p:spPr>
        <p:txBody>
          <a:bodyPr wrap="square">
            <a:spAutoFit/>
          </a:bodyPr>
          <a:lstStyle/>
          <a:p>
            <a:r>
              <a:rPr lang="en-US" sz="1200" dirty="0"/>
              <a:t>MIN</a:t>
            </a:r>
          </a:p>
        </p:txBody>
      </p:sp>
      <p:sp>
        <p:nvSpPr>
          <p:cNvPr id="15" name="TextBox 14">
            <a:extLst>
              <a:ext uri="{FF2B5EF4-FFF2-40B4-BE49-F238E27FC236}">
                <a16:creationId xmlns:a16="http://schemas.microsoft.com/office/drawing/2014/main" id="{6435D577-386A-45F6-86A2-05CD90FEE3BB}"/>
              </a:ext>
            </a:extLst>
          </p:cNvPr>
          <p:cNvSpPr txBox="1"/>
          <p:nvPr/>
        </p:nvSpPr>
        <p:spPr>
          <a:xfrm>
            <a:off x="10828451" y="454898"/>
            <a:ext cx="792088" cy="276999"/>
          </a:xfrm>
          <a:prstGeom prst="rect">
            <a:avLst/>
          </a:prstGeom>
          <a:noFill/>
        </p:spPr>
        <p:txBody>
          <a:bodyPr wrap="square">
            <a:spAutoFit/>
          </a:bodyPr>
          <a:lstStyle/>
          <a:p>
            <a:r>
              <a:rPr lang="en-US" sz="1200" dirty="0"/>
              <a:t>MAX</a:t>
            </a:r>
          </a:p>
        </p:txBody>
      </p:sp>
      <p:sp>
        <p:nvSpPr>
          <p:cNvPr id="16" name="Rectangle 2">
            <a:extLst>
              <a:ext uri="{FF2B5EF4-FFF2-40B4-BE49-F238E27FC236}">
                <a16:creationId xmlns:a16="http://schemas.microsoft.com/office/drawing/2014/main" id="{56748B1B-56F2-4F96-BDDB-0F24C43B2165}"/>
              </a:ext>
            </a:extLst>
          </p:cNvPr>
          <p:cNvSpPr txBox="1">
            <a:spLocks noChangeArrowheads="1"/>
          </p:cNvSpPr>
          <p:nvPr/>
        </p:nvSpPr>
        <p:spPr>
          <a:xfrm>
            <a:off x="-24680" y="0"/>
            <a:ext cx="12097344" cy="470434"/>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3200" dirty="0">
                <a:solidFill>
                  <a:schemeClr val="accent2"/>
                </a:solidFill>
                <a:latin typeface="Arial Narrow" pitchFamily="34" charset="0"/>
              </a:rPr>
              <a:t>Коефициент на усилване по ток</a:t>
            </a:r>
            <a:r>
              <a:rPr lang="en-US" sz="3200" dirty="0">
                <a:solidFill>
                  <a:schemeClr val="accent2"/>
                </a:solidFill>
                <a:latin typeface="Arial Narrow" pitchFamily="34" charset="0"/>
              </a:rPr>
              <a:t> </a:t>
            </a:r>
            <a:r>
              <a:rPr lang="el-GR" sz="3200" dirty="0">
                <a:solidFill>
                  <a:schemeClr val="accent2"/>
                </a:solidFill>
                <a:latin typeface="Arial" panose="020B0604020202020204" pitchFamily="34" charset="0"/>
                <a:cs typeface="Arial" panose="020B0604020202020204" pitchFamily="34" charset="0"/>
              </a:rPr>
              <a:t>β</a:t>
            </a:r>
            <a:r>
              <a:rPr lang="en-US" sz="3200" dirty="0">
                <a:solidFill>
                  <a:schemeClr val="accent2"/>
                </a:solidFill>
                <a:latin typeface="Arial" panose="020B0604020202020204" pitchFamily="34" charset="0"/>
                <a:cs typeface="Arial" panose="020B0604020202020204" pitchFamily="34" charset="0"/>
              </a:rPr>
              <a:t> (</a:t>
            </a:r>
            <a:r>
              <a:rPr lang="en-US" sz="3200" dirty="0" err="1">
                <a:solidFill>
                  <a:schemeClr val="accent2"/>
                </a:solidFill>
                <a:latin typeface="Arial" panose="020B0604020202020204" pitchFamily="34" charset="0"/>
                <a:cs typeface="Arial" panose="020B0604020202020204" pitchFamily="34" charset="0"/>
              </a:rPr>
              <a:t>h_FE</a:t>
            </a:r>
            <a:r>
              <a:rPr lang="en-US" sz="3200" dirty="0">
                <a:solidFill>
                  <a:schemeClr val="accent2"/>
                </a:solidFill>
                <a:latin typeface="Arial" panose="020B0604020202020204" pitchFamily="34" charset="0"/>
                <a:cs typeface="Arial" panose="020B0604020202020204" pitchFamily="34" charset="0"/>
              </a:rPr>
              <a:t>)</a:t>
            </a:r>
            <a:r>
              <a:rPr lang="bg-BG" sz="3200" dirty="0">
                <a:solidFill>
                  <a:schemeClr val="accent2"/>
                </a:solidFill>
                <a:latin typeface="Arial" panose="020B0604020202020204" pitchFamily="34" charset="0"/>
                <a:cs typeface="Arial" panose="020B0604020202020204" pitchFamily="34" charset="0"/>
              </a:rPr>
              <a:t> в каталога</a:t>
            </a:r>
            <a:endParaRPr lang="en-US" sz="3200" dirty="0">
              <a:solidFill>
                <a:schemeClr val="accent2"/>
              </a:solidFill>
              <a:latin typeface="Arial Narrow" pitchFamily="34" charset="0"/>
            </a:endParaRPr>
          </a:p>
        </p:txBody>
      </p:sp>
      <p:sp>
        <p:nvSpPr>
          <p:cNvPr id="3" name="TextBox 2">
            <a:extLst>
              <a:ext uri="{FF2B5EF4-FFF2-40B4-BE49-F238E27FC236}">
                <a16:creationId xmlns:a16="http://schemas.microsoft.com/office/drawing/2014/main" id="{B140112D-C98F-EB05-EAF9-B736E2206CB1}"/>
              </a:ext>
            </a:extLst>
          </p:cNvPr>
          <p:cNvSpPr txBox="1"/>
          <p:nvPr/>
        </p:nvSpPr>
        <p:spPr>
          <a:xfrm>
            <a:off x="6704953" y="2855599"/>
            <a:ext cx="5179128" cy="1200329"/>
          </a:xfrm>
          <a:prstGeom prst="rect">
            <a:avLst/>
          </a:prstGeom>
          <a:noFill/>
        </p:spPr>
        <p:txBody>
          <a:bodyPr wrap="square">
            <a:spAutoFit/>
          </a:bodyPr>
          <a:lstStyle/>
          <a:p>
            <a:r>
              <a:rPr lang="bg-BG" sz="1800" i="0" dirty="0"/>
              <a:t>Коефициентът на усилване по ток </a:t>
            </a:r>
            <a:r>
              <a:rPr lang="el-GR" sz="1800" dirty="0"/>
              <a:t>β</a:t>
            </a:r>
            <a:r>
              <a:rPr lang="bg-BG" sz="1800" i="0" dirty="0"/>
              <a:t> се променя в широки граници при изменение на колекторния ток, температурата и при смяна на транзистора. </a:t>
            </a:r>
          </a:p>
        </p:txBody>
      </p:sp>
      <p:sp>
        <p:nvSpPr>
          <p:cNvPr id="4" name="TextBox 3">
            <a:extLst>
              <a:ext uri="{FF2B5EF4-FFF2-40B4-BE49-F238E27FC236}">
                <a16:creationId xmlns:a16="http://schemas.microsoft.com/office/drawing/2014/main" id="{DC697C3E-BC7A-242C-DBD2-4D2E3F8791B2}"/>
              </a:ext>
            </a:extLst>
          </p:cNvPr>
          <p:cNvSpPr txBox="1"/>
          <p:nvPr/>
        </p:nvSpPr>
        <p:spPr>
          <a:xfrm>
            <a:off x="7521177" y="4948068"/>
            <a:ext cx="1598143" cy="369332"/>
          </a:xfrm>
          <a:prstGeom prst="rect">
            <a:avLst/>
          </a:prstGeom>
          <a:noFill/>
        </p:spPr>
        <p:txBody>
          <a:bodyPr wrap="square">
            <a:spAutoFit/>
          </a:bodyPr>
          <a:lstStyle/>
          <a:p>
            <a:r>
              <a:rPr lang="en-US" dirty="0"/>
              <a:t>Kirk effect</a:t>
            </a:r>
            <a:endParaRPr lang="bg-BG" dirty="0"/>
          </a:p>
        </p:txBody>
      </p:sp>
      <p:cxnSp>
        <p:nvCxnSpPr>
          <p:cNvPr id="7" name="Straight Arrow Connector 6">
            <a:extLst>
              <a:ext uri="{FF2B5EF4-FFF2-40B4-BE49-F238E27FC236}">
                <a16:creationId xmlns:a16="http://schemas.microsoft.com/office/drawing/2014/main" id="{31138A8D-C7F1-179D-05DC-EE4F24949F9E}"/>
              </a:ext>
            </a:extLst>
          </p:cNvPr>
          <p:cNvCxnSpPr/>
          <p:nvPr/>
        </p:nvCxnSpPr>
        <p:spPr>
          <a:xfrm flipH="1" flipV="1">
            <a:off x="5995241" y="4221088"/>
            <a:ext cx="1252887" cy="91164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07135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4680" y="0"/>
            <a:ext cx="12216680" cy="632049"/>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3200" kern="0" dirty="0">
                <a:solidFill>
                  <a:schemeClr val="accent2"/>
                </a:solidFill>
                <a:latin typeface="Arial Narrow" pitchFamily="34" charset="0"/>
              </a:rPr>
              <a:t>Схеми на включване – Общ емитер</a:t>
            </a:r>
            <a:endParaRPr lang="en-US" sz="3200" kern="0" dirty="0">
              <a:solidFill>
                <a:schemeClr val="accent2"/>
              </a:solidFill>
              <a:latin typeface="Arial Narrow" pitchFamily="34" charset="0"/>
            </a:endParaRPr>
          </a:p>
        </p:txBody>
      </p:sp>
      <p:sp>
        <p:nvSpPr>
          <p:cNvPr id="39" name="Text Box 31"/>
          <p:cNvSpPr txBox="1">
            <a:spLocks noChangeArrowheads="1"/>
          </p:cNvSpPr>
          <p:nvPr/>
        </p:nvSpPr>
        <p:spPr bwMode="auto">
          <a:xfrm>
            <a:off x="695400" y="4149080"/>
            <a:ext cx="11449272"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spcBef>
                <a:spcPct val="50000"/>
              </a:spcBef>
            </a:pPr>
            <a:r>
              <a:rPr lang="ru-RU" sz="1800" i="0" dirty="0"/>
              <a:t>Общ емитер (CE): </a:t>
            </a:r>
          </a:p>
          <a:p>
            <a:pPr>
              <a:spcBef>
                <a:spcPct val="50000"/>
              </a:spcBef>
            </a:pPr>
            <a:r>
              <a:rPr lang="ru-RU" sz="1800" i="0" dirty="0"/>
              <a:t>Вход: Подаден към базата.</a:t>
            </a:r>
          </a:p>
          <a:p>
            <a:pPr>
              <a:spcBef>
                <a:spcPct val="50000"/>
              </a:spcBef>
            </a:pPr>
            <a:r>
              <a:rPr lang="ru-RU" sz="1800" i="0" dirty="0"/>
              <a:t>Изход: Взет от колектора.</a:t>
            </a:r>
          </a:p>
          <a:p>
            <a:pPr>
              <a:spcBef>
                <a:spcPct val="50000"/>
              </a:spcBef>
            </a:pPr>
            <a:r>
              <a:rPr lang="ru-RU" sz="1800" i="0" dirty="0"/>
              <a:t>Това е най-популярната конфигурация. Тя ви дава добро усилване по ток и добро усилване по напрежение. Това е най-универсалният усилвател.</a:t>
            </a:r>
            <a:endParaRPr lang="en-US" sz="1800" i="0" dirty="0"/>
          </a:p>
        </p:txBody>
      </p:sp>
      <p:pic>
        <p:nvPicPr>
          <p:cNvPr id="4" name="Picture 42">
            <a:extLst>
              <a:ext uri="{FF2B5EF4-FFF2-40B4-BE49-F238E27FC236}">
                <a16:creationId xmlns:a16="http://schemas.microsoft.com/office/drawing/2014/main" id="{7A6BAE23-E5BC-963D-95D7-53047EA0DD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720" y="698346"/>
            <a:ext cx="3528392" cy="350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6567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C155-06C7-3450-3F42-98544289856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0B68D68-B92E-0276-9BD8-31EA1E6A83F8}"/>
              </a:ext>
            </a:extLst>
          </p:cNvPr>
          <p:cNvSpPr txBox="1">
            <a:spLocks noChangeArrowheads="1"/>
          </p:cNvSpPr>
          <p:nvPr/>
        </p:nvSpPr>
        <p:spPr>
          <a:xfrm>
            <a:off x="-24680" y="0"/>
            <a:ext cx="12216680" cy="632049"/>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3200" kern="0" dirty="0">
                <a:solidFill>
                  <a:schemeClr val="accent2"/>
                </a:solidFill>
                <a:latin typeface="Arial Narrow" pitchFamily="34" charset="0"/>
              </a:rPr>
              <a:t>Схеми на включване – Общ колектор</a:t>
            </a:r>
            <a:endParaRPr lang="en-US" sz="3200" kern="0" dirty="0">
              <a:solidFill>
                <a:schemeClr val="accent2"/>
              </a:solidFill>
              <a:latin typeface="Arial Narrow" pitchFamily="34" charset="0"/>
            </a:endParaRPr>
          </a:p>
        </p:txBody>
      </p:sp>
      <p:sp>
        <p:nvSpPr>
          <p:cNvPr id="39" name="Text Box 31">
            <a:extLst>
              <a:ext uri="{FF2B5EF4-FFF2-40B4-BE49-F238E27FC236}">
                <a16:creationId xmlns:a16="http://schemas.microsoft.com/office/drawing/2014/main" id="{56594F95-E83D-231E-B952-4A31C03D0660}"/>
              </a:ext>
            </a:extLst>
          </p:cNvPr>
          <p:cNvSpPr txBox="1">
            <a:spLocks noChangeArrowheads="1"/>
          </p:cNvSpPr>
          <p:nvPr/>
        </p:nvSpPr>
        <p:spPr bwMode="auto">
          <a:xfrm>
            <a:off x="479376" y="3789040"/>
            <a:ext cx="11449272"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spcBef>
                <a:spcPct val="50000"/>
              </a:spcBef>
            </a:pPr>
            <a:r>
              <a:rPr lang="ru-RU" sz="1800" i="0" dirty="0"/>
              <a:t>Общ колектор (CC):</a:t>
            </a:r>
          </a:p>
          <a:p>
            <a:pPr>
              <a:spcBef>
                <a:spcPct val="50000"/>
              </a:spcBef>
            </a:pPr>
            <a:r>
              <a:rPr lang="ru-RU" sz="1800" i="0" dirty="0"/>
              <a:t>Вход: Подаден към базата.</a:t>
            </a:r>
          </a:p>
          <a:p>
            <a:pPr>
              <a:spcBef>
                <a:spcPct val="50000"/>
              </a:spcBef>
            </a:pPr>
            <a:r>
              <a:rPr lang="ru-RU" sz="1800" i="0" dirty="0"/>
              <a:t>Изход: Взет от емитера.</a:t>
            </a:r>
          </a:p>
          <a:p>
            <a:pPr>
              <a:spcBef>
                <a:spcPct val="50000"/>
              </a:spcBef>
            </a:pPr>
            <a:r>
              <a:rPr lang="ru-RU" sz="1800" i="0" dirty="0"/>
              <a:t>Известен още като „емитерен повторител“. Той има коефициент на усилване по напрежение от почти единица (т.е. не усилва по напрежение), но има много висок коефициент на усилване по ток. Основната му цел е да действа като буфер, осигурявайки висок входен импеданс и нисък изходен импеданс.</a:t>
            </a:r>
            <a:endParaRPr lang="en-US" sz="1800" i="0" dirty="0"/>
          </a:p>
        </p:txBody>
      </p:sp>
      <p:pic>
        <p:nvPicPr>
          <p:cNvPr id="2" name="Picture 46">
            <a:extLst>
              <a:ext uri="{FF2B5EF4-FFF2-40B4-BE49-F238E27FC236}">
                <a16:creationId xmlns:a16="http://schemas.microsoft.com/office/drawing/2014/main" id="{784C92A0-F892-051A-F1C7-FCE9AB114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808" y="730647"/>
            <a:ext cx="2439988"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385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7C718-5E11-31F5-FDE7-7F8A54AB202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094783-FAAB-FB25-0C7C-353C7655F24F}"/>
              </a:ext>
            </a:extLst>
          </p:cNvPr>
          <p:cNvSpPr txBox="1">
            <a:spLocks noChangeArrowheads="1"/>
          </p:cNvSpPr>
          <p:nvPr/>
        </p:nvSpPr>
        <p:spPr>
          <a:xfrm>
            <a:off x="-24680" y="0"/>
            <a:ext cx="12216680" cy="632049"/>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3200" kern="0" dirty="0">
                <a:solidFill>
                  <a:schemeClr val="accent2"/>
                </a:solidFill>
                <a:latin typeface="Arial Narrow" pitchFamily="34" charset="0"/>
              </a:rPr>
              <a:t>Схеми на включване – Обща база</a:t>
            </a:r>
            <a:endParaRPr lang="en-US" sz="3200" kern="0" dirty="0">
              <a:solidFill>
                <a:schemeClr val="accent2"/>
              </a:solidFill>
              <a:latin typeface="Arial Narrow" pitchFamily="34" charset="0"/>
            </a:endParaRPr>
          </a:p>
        </p:txBody>
      </p:sp>
      <p:sp>
        <p:nvSpPr>
          <p:cNvPr id="39" name="Text Box 31">
            <a:extLst>
              <a:ext uri="{FF2B5EF4-FFF2-40B4-BE49-F238E27FC236}">
                <a16:creationId xmlns:a16="http://schemas.microsoft.com/office/drawing/2014/main" id="{C7A77B83-0C08-477F-C440-ABF576F8637D}"/>
              </a:ext>
            </a:extLst>
          </p:cNvPr>
          <p:cNvSpPr txBox="1">
            <a:spLocks noChangeArrowheads="1"/>
          </p:cNvSpPr>
          <p:nvPr/>
        </p:nvSpPr>
        <p:spPr bwMode="auto">
          <a:xfrm>
            <a:off x="359024" y="3718825"/>
            <a:ext cx="11449272"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spcBef>
                <a:spcPct val="50000"/>
              </a:spcBef>
            </a:pPr>
            <a:r>
              <a:rPr lang="ru-RU" sz="1800" i="0" dirty="0"/>
              <a:t>Обща база (CB):</a:t>
            </a:r>
          </a:p>
          <a:p>
            <a:pPr>
              <a:spcBef>
                <a:spcPct val="50000"/>
              </a:spcBef>
            </a:pPr>
            <a:r>
              <a:rPr lang="ru-RU" sz="1800" i="0" dirty="0"/>
              <a:t>Вход: Подаден към емитера.</a:t>
            </a:r>
          </a:p>
          <a:p>
            <a:pPr>
              <a:spcBef>
                <a:spcPct val="50000"/>
              </a:spcBef>
            </a:pPr>
            <a:r>
              <a:rPr lang="ru-RU" sz="1800" i="0" dirty="0"/>
              <a:t>Изход: Взет от колектора.</a:t>
            </a:r>
          </a:p>
          <a:p>
            <a:pPr>
              <a:spcBef>
                <a:spcPct val="50000"/>
              </a:spcBef>
            </a:pPr>
            <a:r>
              <a:rPr lang="ru-RU" sz="1800" i="0" dirty="0"/>
              <a:t>Тази конфигурация няма коефициент на усилване по ток (коефициентът на усилване по ток е малко по-малък от 1), но може да има много висок коефициент на усилване по напрежение. Използва се във високочестотни приложения, като RF усилватели, тъй като не страда от определени високочестотни ограничения на CE конфигурацията.</a:t>
            </a:r>
            <a:endParaRPr lang="en-US" sz="1800" i="0" dirty="0"/>
          </a:p>
        </p:txBody>
      </p:sp>
      <p:pic>
        <p:nvPicPr>
          <p:cNvPr id="2" name="Picture 44">
            <a:extLst>
              <a:ext uri="{FF2B5EF4-FFF2-40B4-BE49-F238E27FC236}">
                <a16:creationId xmlns:a16="http://schemas.microsoft.com/office/drawing/2014/main" id="{12AD41CD-9CF5-A0C9-04FB-3FBEE16F1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808" y="764704"/>
            <a:ext cx="2673350" cy="319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3986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E93D33D2-D9D7-4748-8EE4-C923E4600B73}"/>
              </a:ext>
            </a:extLst>
          </p:cNvPr>
          <p:cNvSpPr txBox="1">
            <a:spLocks noChangeArrowheads="1"/>
          </p:cNvSpPr>
          <p:nvPr/>
        </p:nvSpPr>
        <p:spPr>
          <a:xfrm>
            <a:off x="-24680" y="0"/>
            <a:ext cx="12216680" cy="62068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3200" kern="0" dirty="0">
                <a:solidFill>
                  <a:srgbClr val="0038A8"/>
                </a:solidFill>
                <a:latin typeface="Arial Narrow" pitchFamily="34" charset="0"/>
              </a:rPr>
              <a:t>Токове в транзистора – връзка между колекторен и емитерен ток</a:t>
            </a:r>
          </a:p>
        </p:txBody>
      </p:sp>
      <p:pic>
        <p:nvPicPr>
          <p:cNvPr id="14" name="Picture 13">
            <a:extLst>
              <a:ext uri="{FF2B5EF4-FFF2-40B4-BE49-F238E27FC236}">
                <a16:creationId xmlns:a16="http://schemas.microsoft.com/office/drawing/2014/main" id="{F4F1D3B4-BB51-5E8C-7D7B-9D44D6DEBAC5}"/>
              </a:ext>
            </a:extLst>
          </p:cNvPr>
          <p:cNvPicPr>
            <a:picLocks noChangeAspect="1"/>
          </p:cNvPicPr>
          <p:nvPr/>
        </p:nvPicPr>
        <p:blipFill>
          <a:blip r:embed="rId3"/>
          <a:stretch>
            <a:fillRect/>
          </a:stretch>
        </p:blipFill>
        <p:spPr>
          <a:xfrm>
            <a:off x="983432" y="1412776"/>
            <a:ext cx="6759526" cy="324640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53149D2-5E75-754F-ABBA-19163D2032D0}"/>
                  </a:ext>
                </a:extLst>
              </p:cNvPr>
              <p:cNvSpPr txBox="1"/>
              <p:nvPr/>
            </p:nvSpPr>
            <p:spPr>
              <a:xfrm>
                <a:off x="8904312" y="1844824"/>
                <a:ext cx="164397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𝐸</m:t>
                          </m:r>
                        </m:sub>
                      </m:sSub>
                      <m:r>
                        <a:rPr lang="de-DE" sz="2400" i="1" smtClean="0">
                          <a:latin typeface="Cambria Math" panose="02040503050406030204" pitchFamily="18" charset="0"/>
                        </a:rPr>
                        <m:t>=</m:t>
                      </m:r>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𝐵</m:t>
                          </m:r>
                        </m:sub>
                      </m:sSub>
                    </m:oMath>
                  </m:oMathPara>
                </a14:m>
                <a:endParaRPr lang="bg-BG" sz="2400" dirty="0"/>
              </a:p>
            </p:txBody>
          </p:sp>
        </mc:Choice>
        <mc:Fallback xmlns="">
          <p:sp>
            <p:nvSpPr>
              <p:cNvPr id="6" name="TextBox 5">
                <a:extLst>
                  <a:ext uri="{FF2B5EF4-FFF2-40B4-BE49-F238E27FC236}">
                    <a16:creationId xmlns:a16="http://schemas.microsoft.com/office/drawing/2014/main" id="{553149D2-5E75-754F-ABBA-19163D2032D0}"/>
                  </a:ext>
                </a:extLst>
              </p:cNvPr>
              <p:cNvSpPr txBox="1">
                <a:spLocks noRot="1" noChangeAspect="1" noMove="1" noResize="1" noEditPoints="1" noAdjustHandles="1" noChangeArrowheads="1" noChangeShapeType="1" noTextEdit="1"/>
              </p:cNvSpPr>
              <p:nvPr/>
            </p:nvSpPr>
            <p:spPr>
              <a:xfrm>
                <a:off x="8904312" y="1844824"/>
                <a:ext cx="1643976" cy="369332"/>
              </a:xfrm>
              <a:prstGeom prst="rect">
                <a:avLst/>
              </a:prstGeom>
              <a:blipFill>
                <a:blip r:embed="rId4"/>
                <a:stretch>
                  <a:fillRect l="-3717" r="-743" b="-18333"/>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545615-0C5C-D4C6-083B-3E502DFAE899}"/>
                  </a:ext>
                </a:extLst>
              </p:cNvPr>
              <p:cNvSpPr txBox="1"/>
              <p:nvPr/>
            </p:nvSpPr>
            <p:spPr>
              <a:xfrm>
                <a:off x="8894360" y="2480102"/>
                <a:ext cx="12014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𝐶</m:t>
                          </m:r>
                        </m:sub>
                      </m:sSub>
                      <m:r>
                        <a:rPr lang="de-DE" sz="2400" i="1" smtClean="0">
                          <a:latin typeface="Cambria Math" panose="02040503050406030204" pitchFamily="18" charset="0"/>
                        </a:rPr>
                        <m:t>=</m:t>
                      </m:r>
                      <m:r>
                        <a:rPr lang="de-DE" sz="2400" i="1" smtClean="0">
                          <a:latin typeface="Cambria Math" panose="02040503050406030204" pitchFamily="18" charset="0"/>
                          <a:ea typeface="Cambria Math" panose="02040503050406030204" pitchFamily="18" charset="0"/>
                        </a:rPr>
                        <m:t>𝛼</m:t>
                      </m:r>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𝐸</m:t>
                          </m:r>
                        </m:sub>
                      </m:sSub>
                    </m:oMath>
                  </m:oMathPara>
                </a14:m>
                <a:endParaRPr lang="bg-BG" sz="2400" dirty="0"/>
              </a:p>
            </p:txBody>
          </p:sp>
        </mc:Choice>
        <mc:Fallback xmlns="">
          <p:sp>
            <p:nvSpPr>
              <p:cNvPr id="7" name="TextBox 6">
                <a:extLst>
                  <a:ext uri="{FF2B5EF4-FFF2-40B4-BE49-F238E27FC236}">
                    <a16:creationId xmlns:a16="http://schemas.microsoft.com/office/drawing/2014/main" id="{7A545615-0C5C-D4C6-083B-3E502DFAE899}"/>
                  </a:ext>
                </a:extLst>
              </p:cNvPr>
              <p:cNvSpPr txBox="1">
                <a:spLocks noRot="1" noChangeAspect="1" noMove="1" noResize="1" noEditPoints="1" noAdjustHandles="1" noChangeArrowheads="1" noChangeShapeType="1" noTextEdit="1"/>
              </p:cNvSpPr>
              <p:nvPr/>
            </p:nvSpPr>
            <p:spPr>
              <a:xfrm>
                <a:off x="8894360" y="2480102"/>
                <a:ext cx="1201483" cy="369332"/>
              </a:xfrm>
              <a:prstGeom prst="rect">
                <a:avLst/>
              </a:prstGeom>
              <a:blipFill>
                <a:blip r:embed="rId5"/>
                <a:stretch>
                  <a:fillRect l="-4569" r="-508" b="-18333"/>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37877BD-D909-9D71-36A5-B25126D50E65}"/>
                  </a:ext>
                </a:extLst>
              </p:cNvPr>
              <p:cNvSpPr txBox="1"/>
              <p:nvPr/>
            </p:nvSpPr>
            <p:spPr>
              <a:xfrm>
                <a:off x="1631504" y="5517232"/>
                <a:ext cx="6109062" cy="369332"/>
              </a:xfrm>
              <a:prstGeom prst="rect">
                <a:avLst/>
              </a:prstGeom>
              <a:noFill/>
            </p:spPr>
            <p:txBody>
              <a:bodyPr wrap="square">
                <a:spAutoFit/>
              </a:bodyPr>
              <a:lstStyle/>
              <a:p>
                <a14:m>
                  <m:oMath xmlns:m="http://schemas.openxmlformats.org/officeDocument/2006/math">
                    <m:r>
                      <a:rPr lang="de-DE" sz="1800" i="1" smtClean="0">
                        <a:latin typeface="Cambria Math" panose="02040503050406030204" pitchFamily="18" charset="0"/>
                        <a:ea typeface="Cambria Math" panose="02040503050406030204" pitchFamily="18" charset="0"/>
                      </a:rPr>
                      <m:t>𝛼</m:t>
                    </m:r>
                  </m:oMath>
                </a14:m>
                <a:r>
                  <a:rPr lang="en-US" dirty="0"/>
                  <a:t> - </a:t>
                </a:r>
                <a:r>
                  <a:rPr lang="bg-BG" dirty="0"/>
                  <a:t>коефициент на усилване по ток в схема обща база</a:t>
                </a:r>
              </a:p>
            </p:txBody>
          </p:sp>
        </mc:Choice>
        <mc:Fallback xmlns="">
          <p:sp>
            <p:nvSpPr>
              <p:cNvPr id="10" name="TextBox 9">
                <a:extLst>
                  <a:ext uri="{FF2B5EF4-FFF2-40B4-BE49-F238E27FC236}">
                    <a16:creationId xmlns:a16="http://schemas.microsoft.com/office/drawing/2014/main" id="{837877BD-D909-9D71-36A5-B25126D50E65}"/>
                  </a:ext>
                </a:extLst>
              </p:cNvPr>
              <p:cNvSpPr txBox="1">
                <a:spLocks noRot="1" noChangeAspect="1" noMove="1" noResize="1" noEditPoints="1" noAdjustHandles="1" noChangeArrowheads="1" noChangeShapeType="1" noTextEdit="1"/>
              </p:cNvSpPr>
              <p:nvPr/>
            </p:nvSpPr>
            <p:spPr>
              <a:xfrm>
                <a:off x="1631504" y="5517232"/>
                <a:ext cx="6109062" cy="369332"/>
              </a:xfrm>
              <a:prstGeom prst="rect">
                <a:avLst/>
              </a:prstGeom>
              <a:blipFill>
                <a:blip r:embed="rId6"/>
                <a:stretch>
                  <a:fillRect t="-8197" b="-24590"/>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783DE70-DBEC-DF85-4BEF-7927031093AF}"/>
                  </a:ext>
                </a:extLst>
              </p:cNvPr>
              <p:cNvSpPr txBox="1"/>
              <p:nvPr/>
            </p:nvSpPr>
            <p:spPr>
              <a:xfrm>
                <a:off x="8832304" y="3059668"/>
                <a:ext cx="10252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i="1" smtClean="0">
                          <a:latin typeface="Cambria Math" panose="02040503050406030204" pitchFamily="18" charset="0"/>
                          <a:ea typeface="Cambria Math" panose="02040503050406030204" pitchFamily="18" charset="0"/>
                        </a:rPr>
                        <m:t>𝛼</m:t>
                      </m:r>
                      <m:r>
                        <a:rPr lang="de-DE" i="1" smtClean="0">
                          <a:latin typeface="Cambria Math" panose="02040503050406030204" pitchFamily="18" charset="0"/>
                          <a:ea typeface="Cambria Math" panose="02040503050406030204" pitchFamily="18" charset="0"/>
                        </a:rPr>
                        <m:t>~0,99</m:t>
                      </m:r>
                    </m:oMath>
                  </m:oMathPara>
                </a14:m>
                <a:endParaRPr lang="bg-BG" dirty="0"/>
              </a:p>
            </p:txBody>
          </p:sp>
        </mc:Choice>
        <mc:Fallback xmlns="">
          <p:sp>
            <p:nvSpPr>
              <p:cNvPr id="13" name="TextBox 12">
                <a:extLst>
                  <a:ext uri="{FF2B5EF4-FFF2-40B4-BE49-F238E27FC236}">
                    <a16:creationId xmlns:a16="http://schemas.microsoft.com/office/drawing/2014/main" id="{D783DE70-DBEC-DF85-4BEF-7927031093AF}"/>
                  </a:ext>
                </a:extLst>
              </p:cNvPr>
              <p:cNvSpPr txBox="1">
                <a:spLocks noRot="1" noChangeAspect="1" noMove="1" noResize="1" noEditPoints="1" noAdjustHandles="1" noChangeArrowheads="1" noChangeShapeType="1" noTextEdit="1"/>
              </p:cNvSpPr>
              <p:nvPr/>
            </p:nvSpPr>
            <p:spPr>
              <a:xfrm>
                <a:off x="8832304" y="3059668"/>
                <a:ext cx="1025244" cy="369332"/>
              </a:xfrm>
              <a:prstGeom prst="rect">
                <a:avLst/>
              </a:prstGeom>
              <a:blipFill>
                <a:blip r:embed="rId7"/>
                <a:stretch>
                  <a:fillRect/>
                </a:stretch>
              </a:blipFill>
            </p:spPr>
            <p:txBody>
              <a:bodyPr/>
              <a:lstStyle/>
              <a:p>
                <a:r>
                  <a:rPr lang="bg-BG">
                    <a:noFill/>
                  </a:rPr>
                  <a:t> </a:t>
                </a:r>
              </a:p>
            </p:txBody>
          </p:sp>
        </mc:Fallback>
      </mc:AlternateContent>
    </p:spTree>
    <p:extLst>
      <p:ext uri="{BB962C8B-B14F-4D97-AF65-F5344CB8AC3E}">
        <p14:creationId xmlns:p14="http://schemas.microsoft.com/office/powerpoint/2010/main" val="3276455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4"/>
          <p:cNvSpPr>
            <a:spLocks noChangeArrowheads="1"/>
          </p:cNvSpPr>
          <p:nvPr/>
        </p:nvSpPr>
        <p:spPr bwMode="auto">
          <a:xfrm>
            <a:off x="1524000" y="269109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3" name="Rectangle 17"/>
          <p:cNvSpPr>
            <a:spLocks noChangeArrowheads="1"/>
          </p:cNvSpPr>
          <p:nvPr/>
        </p:nvSpPr>
        <p:spPr bwMode="auto">
          <a:xfrm>
            <a:off x="1524000" y="27752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 name="Rectangle 2">
            <a:extLst>
              <a:ext uri="{FF2B5EF4-FFF2-40B4-BE49-F238E27FC236}">
                <a16:creationId xmlns:a16="http://schemas.microsoft.com/office/drawing/2014/main" id="{A3A20770-A105-6064-EFA9-2DB916539DEE}"/>
              </a:ext>
            </a:extLst>
          </p:cNvPr>
          <p:cNvSpPr txBox="1">
            <a:spLocks noChangeArrowheads="1"/>
          </p:cNvSpPr>
          <p:nvPr/>
        </p:nvSpPr>
        <p:spPr>
          <a:xfrm>
            <a:off x="-24680" y="0"/>
            <a:ext cx="12216680" cy="62068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3200" kern="0" dirty="0">
                <a:solidFill>
                  <a:srgbClr val="0038A8"/>
                </a:solidFill>
                <a:latin typeface="Arial Narrow" pitchFamily="34" charset="0"/>
              </a:rPr>
              <a:t>Токове в транзистора – връзка между колекторен и базов ток</a:t>
            </a:r>
          </a:p>
        </p:txBody>
      </p:sp>
      <p:pic>
        <p:nvPicPr>
          <p:cNvPr id="3" name="Picture 2">
            <a:extLst>
              <a:ext uri="{FF2B5EF4-FFF2-40B4-BE49-F238E27FC236}">
                <a16:creationId xmlns:a16="http://schemas.microsoft.com/office/drawing/2014/main" id="{1BD3E025-A3B3-F2A6-4290-AFAF75CA3CE2}"/>
              </a:ext>
            </a:extLst>
          </p:cNvPr>
          <p:cNvPicPr>
            <a:picLocks noChangeAspect="1"/>
          </p:cNvPicPr>
          <p:nvPr/>
        </p:nvPicPr>
        <p:blipFill>
          <a:blip r:embed="rId2"/>
          <a:stretch>
            <a:fillRect/>
          </a:stretch>
        </p:blipFill>
        <p:spPr>
          <a:xfrm>
            <a:off x="983432" y="1340768"/>
            <a:ext cx="6759526" cy="3246401"/>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4CD1D97-F7BE-2ACB-DD64-94A61A0C73C2}"/>
                  </a:ext>
                </a:extLst>
              </p:cNvPr>
              <p:cNvSpPr txBox="1"/>
              <p:nvPr/>
            </p:nvSpPr>
            <p:spPr>
              <a:xfrm>
                <a:off x="2135560" y="4821356"/>
                <a:ext cx="164397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𝐸</m:t>
                          </m:r>
                        </m:sub>
                      </m:sSub>
                      <m:r>
                        <a:rPr lang="de-DE" sz="2400" i="1" smtClean="0">
                          <a:latin typeface="Cambria Math" panose="02040503050406030204" pitchFamily="18" charset="0"/>
                        </a:rPr>
                        <m:t>=</m:t>
                      </m:r>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𝐵</m:t>
                          </m:r>
                        </m:sub>
                      </m:sSub>
                    </m:oMath>
                  </m:oMathPara>
                </a14:m>
                <a:endParaRPr lang="bg-BG" sz="2400" dirty="0"/>
              </a:p>
            </p:txBody>
          </p:sp>
        </mc:Choice>
        <mc:Fallback xmlns="">
          <p:sp>
            <p:nvSpPr>
              <p:cNvPr id="4" name="TextBox 3">
                <a:extLst>
                  <a:ext uri="{FF2B5EF4-FFF2-40B4-BE49-F238E27FC236}">
                    <a16:creationId xmlns:a16="http://schemas.microsoft.com/office/drawing/2014/main" id="{34CD1D97-F7BE-2ACB-DD64-94A61A0C73C2}"/>
                  </a:ext>
                </a:extLst>
              </p:cNvPr>
              <p:cNvSpPr txBox="1">
                <a:spLocks noRot="1" noChangeAspect="1" noMove="1" noResize="1" noEditPoints="1" noAdjustHandles="1" noChangeArrowheads="1" noChangeShapeType="1" noTextEdit="1"/>
              </p:cNvSpPr>
              <p:nvPr/>
            </p:nvSpPr>
            <p:spPr>
              <a:xfrm>
                <a:off x="2135560" y="4821356"/>
                <a:ext cx="1643976" cy="369332"/>
              </a:xfrm>
              <a:prstGeom prst="rect">
                <a:avLst/>
              </a:prstGeom>
              <a:blipFill>
                <a:blip r:embed="rId3"/>
                <a:stretch>
                  <a:fillRect l="-3333" r="-370" b="-18333"/>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A2468B3-7009-A5B1-D64E-6FE3FE973827}"/>
                  </a:ext>
                </a:extLst>
              </p:cNvPr>
              <p:cNvSpPr txBox="1"/>
              <p:nvPr/>
            </p:nvSpPr>
            <p:spPr>
              <a:xfrm>
                <a:off x="4799856" y="4833005"/>
                <a:ext cx="4858638" cy="494238"/>
              </a:xfrm>
              <a:prstGeom prst="rect">
                <a:avLst/>
              </a:prstGeom>
              <a:noFill/>
            </p:spPr>
            <p:txBody>
              <a:bodyPr wrap="none" lIns="0" tIns="0" rIns="0" bIns="0" rtlCol="0">
                <a:spAutoFit/>
              </a:bodyPr>
              <a:lstStyle/>
              <a:p>
                <a14:m>
                  <m:oMath xmlns:m="http://schemas.openxmlformats.org/officeDocument/2006/math">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𝐶</m:t>
                        </m:r>
                      </m:sub>
                    </m:sSub>
                    <m:r>
                      <a:rPr lang="de-DE" sz="2400" i="1" smtClean="0">
                        <a:latin typeface="Cambria Math" panose="02040503050406030204" pitchFamily="18" charset="0"/>
                      </a:rPr>
                      <m:t>=</m:t>
                    </m:r>
                    <m:r>
                      <a:rPr lang="de-DE" sz="2400" i="1" smtClean="0">
                        <a:latin typeface="Cambria Math" panose="02040503050406030204" pitchFamily="18" charset="0"/>
                        <a:ea typeface="Cambria Math" panose="02040503050406030204" pitchFamily="18" charset="0"/>
                      </a:rPr>
                      <m:t>𝛼</m:t>
                    </m:r>
                    <m:sSub>
                      <m:sSubPr>
                        <m:ctrlPr>
                          <a:rPr lang="de-DE"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𝐸</m:t>
                        </m:r>
                      </m:sub>
                    </m:sSub>
                    <m:r>
                      <a:rPr lang="en-US" sz="2400" b="0" i="1" smtClean="0">
                        <a:latin typeface="Cambria Math" panose="02040503050406030204" pitchFamily="18" charset="0"/>
                      </a:rPr>
                      <m:t>=</m:t>
                    </m:r>
                    <m:r>
                      <a:rPr lang="de-DE" sz="2400" i="1">
                        <a:latin typeface="Cambria Math" panose="02040503050406030204" pitchFamily="18" charset="0"/>
                        <a:ea typeface="Cambria Math" panose="02040503050406030204" pitchFamily="18" charset="0"/>
                      </a:rPr>
                      <m:t>𝛼</m:t>
                    </m:r>
                    <m:sSub>
                      <m:sSubPr>
                        <m:ctrlPr>
                          <a:rPr lang="de-DE"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𝐶</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de-DE"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rPr>
                          <m:t>𝐼</m:t>
                        </m:r>
                      </m:e>
                      <m:sub>
                        <m:r>
                          <a:rPr lang="en-US" sz="2400" i="1">
                            <a:latin typeface="Cambria Math" panose="02040503050406030204" pitchFamily="18" charset="0"/>
                          </a:rPr>
                          <m:t>𝐵</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de-DE" sz="2400" i="1">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1−</m:t>
                        </m:r>
                        <m:r>
                          <a:rPr lang="de-DE" sz="2400" i="1">
                            <a:latin typeface="Cambria Math" panose="02040503050406030204" pitchFamily="18" charset="0"/>
                            <a:ea typeface="Cambria Math" panose="02040503050406030204" pitchFamily="18" charset="0"/>
                          </a:rPr>
                          <m:t>𝛼</m:t>
                        </m:r>
                      </m:den>
                    </m:f>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𝐵</m:t>
                        </m:r>
                      </m:sub>
                    </m:sSub>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𝛽</m:t>
                    </m:r>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𝐵</m:t>
                        </m:r>
                      </m:sub>
                    </m:sSub>
                  </m:oMath>
                </a14:m>
                <a:endParaRPr lang="bg-BG" sz="2400" dirty="0"/>
              </a:p>
            </p:txBody>
          </p:sp>
        </mc:Choice>
        <mc:Fallback xmlns="">
          <p:sp>
            <p:nvSpPr>
              <p:cNvPr id="5" name="TextBox 4">
                <a:extLst>
                  <a:ext uri="{FF2B5EF4-FFF2-40B4-BE49-F238E27FC236}">
                    <a16:creationId xmlns:a16="http://schemas.microsoft.com/office/drawing/2014/main" id="{7A2468B3-7009-A5B1-D64E-6FE3FE973827}"/>
                  </a:ext>
                </a:extLst>
              </p:cNvPr>
              <p:cNvSpPr txBox="1">
                <a:spLocks noRot="1" noChangeAspect="1" noMove="1" noResize="1" noEditPoints="1" noAdjustHandles="1" noChangeArrowheads="1" noChangeShapeType="1" noTextEdit="1"/>
              </p:cNvSpPr>
              <p:nvPr/>
            </p:nvSpPr>
            <p:spPr>
              <a:xfrm>
                <a:off x="4799856" y="4833005"/>
                <a:ext cx="4858638" cy="494238"/>
              </a:xfrm>
              <a:prstGeom prst="rect">
                <a:avLst/>
              </a:prstGeom>
              <a:blipFill>
                <a:blip r:embed="rId4"/>
                <a:stretch>
                  <a:fillRect/>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0B4AD2-36BB-245A-C96A-D048B219F554}"/>
                  </a:ext>
                </a:extLst>
              </p:cNvPr>
              <p:cNvSpPr txBox="1"/>
              <p:nvPr/>
            </p:nvSpPr>
            <p:spPr>
              <a:xfrm>
                <a:off x="5363580" y="5661248"/>
                <a:ext cx="1440160" cy="586571"/>
              </a:xfrm>
              <a:prstGeom prst="rect">
                <a:avLst/>
              </a:prstGeom>
              <a:noFill/>
            </p:spPr>
            <p:txBody>
              <a:bodyPr wrap="square">
                <a:spAutoFit/>
              </a:bodyPr>
              <a:lstStyle/>
              <a:p>
                <a14:m>
                  <m:oMath xmlns:m="http://schemas.openxmlformats.org/officeDocument/2006/math">
                    <m:f>
                      <m:fPr>
                        <m:ctrlPr>
                          <a:rPr lang="en-US" sz="2400" b="0" i="1" smtClean="0">
                            <a:latin typeface="Cambria Math" panose="02040503050406030204" pitchFamily="18" charset="0"/>
                          </a:rPr>
                        </m:ctrlPr>
                      </m:fPr>
                      <m:num>
                        <m:r>
                          <a:rPr lang="de-DE" sz="2400" i="1">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1−</m:t>
                        </m:r>
                        <m:r>
                          <a:rPr lang="de-DE" sz="2400" i="1">
                            <a:latin typeface="Cambria Math" panose="02040503050406030204" pitchFamily="18" charset="0"/>
                            <a:ea typeface="Cambria Math" panose="02040503050406030204" pitchFamily="18" charset="0"/>
                          </a:rPr>
                          <m:t>𝛼</m:t>
                        </m:r>
                      </m:den>
                    </m:f>
                  </m:oMath>
                </a14:m>
                <a:r>
                  <a:rPr lang="en-US" sz="2400" dirty="0"/>
                  <a:t>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𝛽</m:t>
                    </m:r>
                  </m:oMath>
                </a14:m>
                <a:endParaRPr lang="bg-BG" sz="2400" dirty="0"/>
              </a:p>
            </p:txBody>
          </p:sp>
        </mc:Choice>
        <mc:Fallback xmlns="">
          <p:sp>
            <p:nvSpPr>
              <p:cNvPr id="9" name="TextBox 8">
                <a:extLst>
                  <a:ext uri="{FF2B5EF4-FFF2-40B4-BE49-F238E27FC236}">
                    <a16:creationId xmlns:a16="http://schemas.microsoft.com/office/drawing/2014/main" id="{710B4AD2-36BB-245A-C96A-D048B219F554}"/>
                  </a:ext>
                </a:extLst>
              </p:cNvPr>
              <p:cNvSpPr txBox="1">
                <a:spLocks noRot="1" noChangeAspect="1" noMove="1" noResize="1" noEditPoints="1" noAdjustHandles="1" noChangeArrowheads="1" noChangeShapeType="1" noTextEdit="1"/>
              </p:cNvSpPr>
              <p:nvPr/>
            </p:nvSpPr>
            <p:spPr>
              <a:xfrm>
                <a:off x="5363580" y="5661248"/>
                <a:ext cx="1440160" cy="586571"/>
              </a:xfrm>
              <a:prstGeom prst="rect">
                <a:avLst/>
              </a:prstGeom>
              <a:blipFill>
                <a:blip r:embed="rId5"/>
                <a:stretch>
                  <a:fillRect/>
                </a:stretch>
              </a:blipFill>
            </p:spPr>
            <p:txBody>
              <a:bodyPr/>
              <a:lstStyle/>
              <a:p>
                <a:r>
                  <a:rPr lang="bg-BG">
                    <a:noFill/>
                  </a:rPr>
                  <a:t> </a:t>
                </a:r>
              </a:p>
            </p:txBody>
          </p:sp>
        </mc:Fallback>
      </mc:AlternateContent>
    </p:spTree>
    <p:extLst>
      <p:ext uri="{BB962C8B-B14F-4D97-AF65-F5344CB8AC3E}">
        <p14:creationId xmlns:p14="http://schemas.microsoft.com/office/powerpoint/2010/main" val="775808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021C57F-81C3-EDA4-830E-F2D2D2B0D26C}"/>
              </a:ext>
            </a:extLst>
          </p:cNvPr>
          <p:cNvSpPr txBox="1">
            <a:spLocks noChangeArrowheads="1"/>
          </p:cNvSpPr>
          <p:nvPr/>
        </p:nvSpPr>
        <p:spPr bwMode="auto">
          <a:xfrm>
            <a:off x="479376" y="4509120"/>
            <a:ext cx="655272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lvl1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2pPr>
            <a:lvl3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3pPr>
            <a:lvl4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4pPr>
            <a:lvl5pPr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5pPr>
            <a:lvl6pPr marL="4572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6pPr>
            <a:lvl7pPr marL="9144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7pPr>
            <a:lvl8pPr marL="13716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8pPr>
            <a:lvl9pPr marL="1828800" algn="l" rtl="0" eaLnBrk="0" fontAlgn="base" hangingPunct="0">
              <a:spcBef>
                <a:spcPct val="0"/>
              </a:spcBef>
              <a:spcAft>
                <a:spcPct val="0"/>
              </a:spcAft>
              <a:defRPr sz="4400" b="1" i="1">
                <a:solidFill>
                  <a:srgbClr val="C66B5A"/>
                </a:solidFill>
                <a:effectLst>
                  <a:outerShdw blurRad="38100" dist="38100" dir="2700000" algn="tl">
                    <a:srgbClr val="C0C0C0"/>
                  </a:outerShdw>
                </a:effectLst>
                <a:latin typeface="Arial Narrow" pitchFamily="34" charset="0"/>
              </a:defRPr>
            </a:lvl9pPr>
          </a:lstStyle>
          <a:p>
            <a:pPr>
              <a:defRPr/>
            </a:pPr>
            <a:r>
              <a:rPr lang="bg-BG" sz="3600" b="0" i="0" kern="0" dirty="0">
                <a:solidFill>
                  <a:schemeClr val="tx1"/>
                </a:solidFill>
                <a:effectLst/>
                <a:latin typeface="Arial Narrow" pitchFamily="34" charset="0"/>
              </a:rPr>
              <a:t>Задачи</a:t>
            </a:r>
            <a:endParaRPr lang="en-US" sz="3600" b="0" i="0" kern="0" dirty="0">
              <a:solidFill>
                <a:schemeClr val="tx1"/>
              </a:solidFill>
              <a:effectLst/>
              <a:latin typeface="Arial Narrow" pitchFamily="34" charset="0"/>
            </a:endParaRPr>
          </a:p>
        </p:txBody>
      </p:sp>
    </p:spTree>
    <p:extLst>
      <p:ext uri="{BB962C8B-B14F-4D97-AF65-F5344CB8AC3E}">
        <p14:creationId xmlns:p14="http://schemas.microsoft.com/office/powerpoint/2010/main" val="2390577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B017C6B8-74EB-4224-B859-49B2C07EDC44}"/>
              </a:ext>
            </a:extLst>
          </p:cNvPr>
          <p:cNvSpPr txBox="1">
            <a:spLocks noChangeArrowheads="1"/>
          </p:cNvSpPr>
          <p:nvPr/>
        </p:nvSpPr>
        <p:spPr>
          <a:xfrm>
            <a:off x="-24680" y="0"/>
            <a:ext cx="12216680" cy="470434"/>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2400" dirty="0">
                <a:solidFill>
                  <a:schemeClr val="accent2"/>
                </a:solidFill>
                <a:latin typeface="Arial Narrow" pitchFamily="34" charset="0"/>
              </a:rPr>
              <a:t>Постоянно-токов режим – схема общ емитер</a:t>
            </a:r>
            <a:endParaRPr lang="en-US" sz="2400" dirty="0">
              <a:solidFill>
                <a:schemeClr val="accent2"/>
              </a:solidFill>
              <a:latin typeface="Arial Narrow" pitchFamily="34" charset="0"/>
            </a:endParaRPr>
          </a:p>
        </p:txBody>
      </p:sp>
      <p:pic>
        <p:nvPicPr>
          <p:cNvPr id="2" name="Picture 1">
            <a:extLst>
              <a:ext uri="{FF2B5EF4-FFF2-40B4-BE49-F238E27FC236}">
                <a16:creationId xmlns:a16="http://schemas.microsoft.com/office/drawing/2014/main" id="{8A4C3C3E-64ED-8E4C-3B1F-1E56AB744106}"/>
              </a:ext>
            </a:extLst>
          </p:cNvPr>
          <p:cNvPicPr>
            <a:picLocks noChangeAspect="1"/>
          </p:cNvPicPr>
          <p:nvPr/>
        </p:nvPicPr>
        <p:blipFill>
          <a:blip r:embed="rId2"/>
          <a:stretch>
            <a:fillRect/>
          </a:stretch>
        </p:blipFill>
        <p:spPr>
          <a:xfrm>
            <a:off x="2855640" y="470434"/>
            <a:ext cx="4386828" cy="3448501"/>
          </a:xfrm>
          <a:prstGeom prst="rect">
            <a:avLst/>
          </a:prstGeom>
        </p:spPr>
      </p:pic>
      <p:pic>
        <p:nvPicPr>
          <p:cNvPr id="7" name="Picture 6">
            <a:extLst>
              <a:ext uri="{FF2B5EF4-FFF2-40B4-BE49-F238E27FC236}">
                <a16:creationId xmlns:a16="http://schemas.microsoft.com/office/drawing/2014/main" id="{14570F90-E0BF-7E19-9DFF-83F652B1ABFE}"/>
              </a:ext>
            </a:extLst>
          </p:cNvPr>
          <p:cNvPicPr>
            <a:picLocks noChangeAspect="1"/>
          </p:cNvPicPr>
          <p:nvPr/>
        </p:nvPicPr>
        <p:blipFill>
          <a:blip r:embed="rId3"/>
          <a:stretch>
            <a:fillRect/>
          </a:stretch>
        </p:blipFill>
        <p:spPr>
          <a:xfrm>
            <a:off x="7968208" y="980728"/>
            <a:ext cx="2534004" cy="1133633"/>
          </a:xfrm>
          <a:prstGeom prst="rect">
            <a:avLst/>
          </a:prstGeom>
        </p:spPr>
      </p:pic>
      <p:pic>
        <p:nvPicPr>
          <p:cNvPr id="12" name="Picture 11">
            <a:extLst>
              <a:ext uri="{FF2B5EF4-FFF2-40B4-BE49-F238E27FC236}">
                <a16:creationId xmlns:a16="http://schemas.microsoft.com/office/drawing/2014/main" id="{FBEF59FE-D2A9-CE21-614C-D784CAEA03E0}"/>
              </a:ext>
            </a:extLst>
          </p:cNvPr>
          <p:cNvPicPr>
            <a:picLocks noChangeAspect="1"/>
          </p:cNvPicPr>
          <p:nvPr/>
        </p:nvPicPr>
        <p:blipFill>
          <a:blip r:embed="rId4"/>
          <a:stretch>
            <a:fillRect/>
          </a:stretch>
        </p:blipFill>
        <p:spPr>
          <a:xfrm>
            <a:off x="3073911" y="4551991"/>
            <a:ext cx="2734057" cy="1228896"/>
          </a:xfrm>
          <a:prstGeom prst="rect">
            <a:avLst/>
          </a:prstGeom>
        </p:spPr>
      </p:pic>
      <p:pic>
        <p:nvPicPr>
          <p:cNvPr id="14" name="Picture 13">
            <a:extLst>
              <a:ext uri="{FF2B5EF4-FFF2-40B4-BE49-F238E27FC236}">
                <a16:creationId xmlns:a16="http://schemas.microsoft.com/office/drawing/2014/main" id="{0B5E99B7-7626-6CE9-8736-F9712F8D9F67}"/>
              </a:ext>
            </a:extLst>
          </p:cNvPr>
          <p:cNvPicPr>
            <a:picLocks noChangeAspect="1"/>
          </p:cNvPicPr>
          <p:nvPr/>
        </p:nvPicPr>
        <p:blipFill>
          <a:blip r:embed="rId5"/>
          <a:stretch>
            <a:fillRect/>
          </a:stretch>
        </p:blipFill>
        <p:spPr>
          <a:xfrm>
            <a:off x="7645397" y="3158275"/>
            <a:ext cx="1829055" cy="495369"/>
          </a:xfrm>
          <a:prstGeom prst="rect">
            <a:avLst/>
          </a:prstGeom>
        </p:spPr>
      </p:pic>
      <p:cxnSp>
        <p:nvCxnSpPr>
          <p:cNvPr id="17" name="Straight Arrow Connector 16">
            <a:extLst>
              <a:ext uri="{FF2B5EF4-FFF2-40B4-BE49-F238E27FC236}">
                <a16:creationId xmlns:a16="http://schemas.microsoft.com/office/drawing/2014/main" id="{94941F15-A7BC-7E6F-DD1B-CAF734B51CD5}"/>
              </a:ext>
            </a:extLst>
          </p:cNvPr>
          <p:cNvCxnSpPr>
            <a:cxnSpLocks/>
          </p:cNvCxnSpPr>
          <p:nvPr/>
        </p:nvCxnSpPr>
        <p:spPr>
          <a:xfrm flipV="1">
            <a:off x="4439816" y="3429000"/>
            <a:ext cx="0" cy="108012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A32325DE-00DA-3B21-D3AF-7A8913C3916D}"/>
              </a:ext>
            </a:extLst>
          </p:cNvPr>
          <p:cNvCxnSpPr>
            <a:cxnSpLocks/>
            <a:stCxn id="7" idx="1"/>
          </p:cNvCxnSpPr>
          <p:nvPr/>
        </p:nvCxnSpPr>
        <p:spPr>
          <a:xfrm flipH="1">
            <a:off x="6168008" y="1547545"/>
            <a:ext cx="1800200"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33BE50B4-11D3-C198-9321-F1FC56AA5C09}"/>
              </a:ext>
            </a:extLst>
          </p:cNvPr>
          <p:cNvCxnSpPr>
            <a:cxnSpLocks/>
          </p:cNvCxnSpPr>
          <p:nvPr/>
        </p:nvCxnSpPr>
        <p:spPr>
          <a:xfrm flipH="1">
            <a:off x="5807968" y="3356992"/>
            <a:ext cx="1800200"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5E082479-0A8B-790A-8B42-68EE6F8694CD}"/>
              </a:ext>
            </a:extLst>
          </p:cNvPr>
          <p:cNvSpPr txBox="1"/>
          <p:nvPr/>
        </p:nvSpPr>
        <p:spPr>
          <a:xfrm>
            <a:off x="5547325" y="4736657"/>
            <a:ext cx="620683" cy="369332"/>
          </a:xfrm>
          <a:prstGeom prst="rect">
            <a:avLst/>
          </a:prstGeom>
          <a:noFill/>
        </p:spPr>
        <p:txBody>
          <a:bodyPr wrap="none" rtlCol="0">
            <a:spAutoFit/>
          </a:bodyPr>
          <a:lstStyle/>
          <a:p>
            <a:r>
              <a:rPr lang="en-US" dirty="0">
                <a:solidFill>
                  <a:srgbClr val="FF0000"/>
                </a:solidFill>
              </a:rPr>
              <a:t>KVL</a:t>
            </a:r>
            <a:endParaRPr lang="bg-BG" dirty="0">
              <a:solidFill>
                <a:srgbClr val="FF0000"/>
              </a:solidFill>
            </a:endParaRPr>
          </a:p>
        </p:txBody>
      </p:sp>
      <p:sp>
        <p:nvSpPr>
          <p:cNvPr id="4" name="TextBox 3">
            <a:extLst>
              <a:ext uri="{FF2B5EF4-FFF2-40B4-BE49-F238E27FC236}">
                <a16:creationId xmlns:a16="http://schemas.microsoft.com/office/drawing/2014/main" id="{B563EFFE-B6FE-EC7A-8CE7-422CFE37FD4F}"/>
              </a:ext>
            </a:extLst>
          </p:cNvPr>
          <p:cNvSpPr txBox="1"/>
          <p:nvPr/>
        </p:nvSpPr>
        <p:spPr>
          <a:xfrm>
            <a:off x="10488488" y="1052736"/>
            <a:ext cx="620683" cy="369332"/>
          </a:xfrm>
          <a:prstGeom prst="rect">
            <a:avLst/>
          </a:prstGeom>
          <a:noFill/>
        </p:spPr>
        <p:txBody>
          <a:bodyPr wrap="none" rtlCol="0">
            <a:spAutoFit/>
          </a:bodyPr>
          <a:lstStyle/>
          <a:p>
            <a:r>
              <a:rPr lang="en-US" dirty="0">
                <a:solidFill>
                  <a:srgbClr val="FF0000"/>
                </a:solidFill>
              </a:rPr>
              <a:t>KVL</a:t>
            </a:r>
            <a:endParaRPr lang="bg-BG" dirty="0">
              <a:solidFill>
                <a:srgbClr val="FF0000"/>
              </a:solidFill>
            </a:endParaRPr>
          </a:p>
        </p:txBody>
      </p:sp>
      <p:sp>
        <p:nvSpPr>
          <p:cNvPr id="5" name="TextBox 4">
            <a:extLst>
              <a:ext uri="{FF2B5EF4-FFF2-40B4-BE49-F238E27FC236}">
                <a16:creationId xmlns:a16="http://schemas.microsoft.com/office/drawing/2014/main" id="{761A7217-6570-1653-891C-43886CE0CCA5}"/>
              </a:ext>
            </a:extLst>
          </p:cNvPr>
          <p:cNvSpPr txBox="1"/>
          <p:nvPr/>
        </p:nvSpPr>
        <p:spPr>
          <a:xfrm>
            <a:off x="5375920" y="5166439"/>
            <a:ext cx="1172116" cy="369332"/>
          </a:xfrm>
          <a:prstGeom prst="rect">
            <a:avLst/>
          </a:prstGeom>
          <a:noFill/>
        </p:spPr>
        <p:txBody>
          <a:bodyPr wrap="none" rtlCol="0">
            <a:spAutoFit/>
          </a:bodyPr>
          <a:lstStyle/>
          <a:p>
            <a:r>
              <a:rPr lang="en-US" dirty="0">
                <a:solidFill>
                  <a:srgbClr val="FF0000"/>
                </a:solidFill>
              </a:rPr>
              <a:t>Ohm Law</a:t>
            </a:r>
            <a:endParaRPr lang="bg-BG" dirty="0">
              <a:solidFill>
                <a:srgbClr val="FF0000"/>
              </a:solidFill>
            </a:endParaRPr>
          </a:p>
        </p:txBody>
      </p:sp>
      <p:sp>
        <p:nvSpPr>
          <p:cNvPr id="6" name="TextBox 5">
            <a:extLst>
              <a:ext uri="{FF2B5EF4-FFF2-40B4-BE49-F238E27FC236}">
                <a16:creationId xmlns:a16="http://schemas.microsoft.com/office/drawing/2014/main" id="{84C09CD5-A068-0DDE-BA4D-294BCA84322D}"/>
              </a:ext>
            </a:extLst>
          </p:cNvPr>
          <p:cNvSpPr txBox="1"/>
          <p:nvPr/>
        </p:nvSpPr>
        <p:spPr>
          <a:xfrm>
            <a:off x="10344472" y="1563030"/>
            <a:ext cx="1172116" cy="369332"/>
          </a:xfrm>
          <a:prstGeom prst="rect">
            <a:avLst/>
          </a:prstGeom>
          <a:noFill/>
        </p:spPr>
        <p:txBody>
          <a:bodyPr wrap="none" rtlCol="0">
            <a:spAutoFit/>
          </a:bodyPr>
          <a:lstStyle/>
          <a:p>
            <a:r>
              <a:rPr lang="en-US" dirty="0">
                <a:solidFill>
                  <a:srgbClr val="FF0000"/>
                </a:solidFill>
              </a:rPr>
              <a:t>Ohm Law</a:t>
            </a:r>
            <a:endParaRPr lang="bg-BG" dirty="0">
              <a:solidFill>
                <a:srgbClr val="FF0000"/>
              </a:solidFill>
            </a:endParaRPr>
          </a:p>
        </p:txBody>
      </p:sp>
      <p:sp>
        <p:nvSpPr>
          <p:cNvPr id="8" name="TextBox 7">
            <a:extLst>
              <a:ext uri="{FF2B5EF4-FFF2-40B4-BE49-F238E27FC236}">
                <a16:creationId xmlns:a16="http://schemas.microsoft.com/office/drawing/2014/main" id="{87AB3B21-EAAB-5ABF-9AE6-101B829E4C8A}"/>
              </a:ext>
            </a:extLst>
          </p:cNvPr>
          <p:cNvSpPr txBox="1"/>
          <p:nvPr/>
        </p:nvSpPr>
        <p:spPr>
          <a:xfrm>
            <a:off x="9458780" y="3221293"/>
            <a:ext cx="633507" cy="369332"/>
          </a:xfrm>
          <a:prstGeom prst="rect">
            <a:avLst/>
          </a:prstGeom>
          <a:noFill/>
        </p:spPr>
        <p:txBody>
          <a:bodyPr wrap="none" rtlCol="0">
            <a:spAutoFit/>
          </a:bodyPr>
          <a:lstStyle/>
          <a:p>
            <a:r>
              <a:rPr lang="en-US" dirty="0">
                <a:solidFill>
                  <a:srgbClr val="FF0000"/>
                </a:solidFill>
              </a:rPr>
              <a:t>KCL</a:t>
            </a:r>
            <a:endParaRPr lang="bg-BG" dirty="0">
              <a:solidFill>
                <a:srgbClr val="FF0000"/>
              </a:solidFill>
            </a:endParaRPr>
          </a:p>
        </p:txBody>
      </p:sp>
    </p:spTree>
    <p:extLst>
      <p:ext uri="{BB962C8B-B14F-4D97-AF65-F5344CB8AC3E}">
        <p14:creationId xmlns:p14="http://schemas.microsoft.com/office/powerpoint/2010/main" val="4283833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
            <a:extLst>
              <a:ext uri="{FF2B5EF4-FFF2-40B4-BE49-F238E27FC236}">
                <a16:creationId xmlns:a16="http://schemas.microsoft.com/office/drawing/2014/main" id="{C92169A5-F999-4F7D-8C49-D7929FCF7E51}"/>
              </a:ext>
            </a:extLst>
          </p:cNvPr>
          <p:cNvSpPr txBox="1">
            <a:spLocks noChangeArrowheads="1"/>
          </p:cNvSpPr>
          <p:nvPr/>
        </p:nvSpPr>
        <p:spPr>
          <a:xfrm>
            <a:off x="-24680" y="-27384"/>
            <a:ext cx="12241360" cy="39332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2400" dirty="0">
                <a:solidFill>
                  <a:srgbClr val="0038A8"/>
                </a:solidFill>
                <a:latin typeface="Arial Narrow" pitchFamily="34" charset="0"/>
              </a:rPr>
              <a:t>Примери</a:t>
            </a:r>
            <a:endParaRPr lang="en-US" sz="2400" dirty="0">
              <a:solidFill>
                <a:srgbClr val="0038A8"/>
              </a:solidFill>
              <a:latin typeface="Arial Narrow" pitchFamily="34" charset="0"/>
            </a:endParaRPr>
          </a:p>
        </p:txBody>
      </p:sp>
      <p:pic>
        <p:nvPicPr>
          <p:cNvPr id="2" name="Picture 1">
            <a:extLst>
              <a:ext uri="{FF2B5EF4-FFF2-40B4-BE49-F238E27FC236}">
                <a16:creationId xmlns:a16="http://schemas.microsoft.com/office/drawing/2014/main" id="{267C5A42-0E29-3275-480B-C9953157CE51}"/>
              </a:ext>
            </a:extLst>
          </p:cNvPr>
          <p:cNvPicPr>
            <a:picLocks noChangeAspect="1"/>
          </p:cNvPicPr>
          <p:nvPr/>
        </p:nvPicPr>
        <p:blipFill>
          <a:blip r:embed="rId2"/>
          <a:stretch>
            <a:fillRect/>
          </a:stretch>
        </p:blipFill>
        <p:spPr>
          <a:xfrm>
            <a:off x="3287688" y="371806"/>
            <a:ext cx="4386828" cy="3448501"/>
          </a:xfrm>
          <a:prstGeom prst="rect">
            <a:avLst/>
          </a:prstGeom>
        </p:spPr>
      </p:pic>
      <p:pic>
        <p:nvPicPr>
          <p:cNvPr id="9" name="Picture 8">
            <a:extLst>
              <a:ext uri="{FF2B5EF4-FFF2-40B4-BE49-F238E27FC236}">
                <a16:creationId xmlns:a16="http://schemas.microsoft.com/office/drawing/2014/main" id="{573B88FB-3A22-6673-A927-9C071506A22A}"/>
              </a:ext>
            </a:extLst>
          </p:cNvPr>
          <p:cNvPicPr>
            <a:picLocks noChangeAspect="1"/>
          </p:cNvPicPr>
          <p:nvPr/>
        </p:nvPicPr>
        <p:blipFill>
          <a:blip r:embed="rId3"/>
          <a:stretch>
            <a:fillRect/>
          </a:stretch>
        </p:blipFill>
        <p:spPr>
          <a:xfrm>
            <a:off x="695400" y="764704"/>
            <a:ext cx="1886213" cy="1209844"/>
          </a:xfrm>
          <a:prstGeom prst="rect">
            <a:avLst/>
          </a:prstGeom>
        </p:spPr>
      </p:pic>
      <p:pic>
        <p:nvPicPr>
          <p:cNvPr id="13" name="Picture 12">
            <a:extLst>
              <a:ext uri="{FF2B5EF4-FFF2-40B4-BE49-F238E27FC236}">
                <a16:creationId xmlns:a16="http://schemas.microsoft.com/office/drawing/2014/main" id="{892FC064-CE57-71B2-60AB-8EEB99848C08}"/>
              </a:ext>
            </a:extLst>
          </p:cNvPr>
          <p:cNvPicPr>
            <a:picLocks noChangeAspect="1"/>
          </p:cNvPicPr>
          <p:nvPr/>
        </p:nvPicPr>
        <p:blipFill>
          <a:blip r:embed="rId4"/>
          <a:stretch>
            <a:fillRect/>
          </a:stretch>
        </p:blipFill>
        <p:spPr>
          <a:xfrm>
            <a:off x="6240016" y="4221088"/>
            <a:ext cx="3753374" cy="1562318"/>
          </a:xfrm>
          <a:prstGeom prst="rect">
            <a:avLst/>
          </a:prstGeom>
        </p:spPr>
      </p:pic>
      <p:pic>
        <p:nvPicPr>
          <p:cNvPr id="3" name="Picture 2">
            <a:extLst>
              <a:ext uri="{FF2B5EF4-FFF2-40B4-BE49-F238E27FC236}">
                <a16:creationId xmlns:a16="http://schemas.microsoft.com/office/drawing/2014/main" id="{4BFFA0EB-930B-A25E-1892-1DEC7145393C}"/>
              </a:ext>
            </a:extLst>
          </p:cNvPr>
          <p:cNvPicPr>
            <a:picLocks noChangeAspect="1"/>
          </p:cNvPicPr>
          <p:nvPr/>
        </p:nvPicPr>
        <p:blipFill>
          <a:blip r:embed="rId5"/>
          <a:stretch>
            <a:fillRect/>
          </a:stretch>
        </p:blipFill>
        <p:spPr>
          <a:xfrm>
            <a:off x="1848651" y="3933056"/>
            <a:ext cx="2734057" cy="1228896"/>
          </a:xfrm>
          <a:prstGeom prst="rect">
            <a:avLst/>
          </a:prstGeom>
        </p:spPr>
      </p:pic>
      <p:sp>
        <p:nvSpPr>
          <p:cNvPr id="4" name="Rectangle 3">
            <a:extLst>
              <a:ext uri="{FF2B5EF4-FFF2-40B4-BE49-F238E27FC236}">
                <a16:creationId xmlns:a16="http://schemas.microsoft.com/office/drawing/2014/main" id="{A83DB3C7-237F-A919-701B-0F0B7EDF307A}"/>
              </a:ext>
            </a:extLst>
          </p:cNvPr>
          <p:cNvSpPr/>
          <p:nvPr/>
        </p:nvSpPr>
        <p:spPr>
          <a:xfrm>
            <a:off x="3215680" y="1844824"/>
            <a:ext cx="3024336" cy="198194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ln w="12700">
                <a:solidFill>
                  <a:schemeClr val="tx1"/>
                </a:solidFill>
              </a:ln>
            </a:endParaRPr>
          </a:p>
        </p:txBody>
      </p:sp>
      <p:sp>
        <p:nvSpPr>
          <p:cNvPr id="5" name="TextBox 4">
            <a:extLst>
              <a:ext uri="{FF2B5EF4-FFF2-40B4-BE49-F238E27FC236}">
                <a16:creationId xmlns:a16="http://schemas.microsoft.com/office/drawing/2014/main" id="{34A89076-80C2-2DC5-3287-60A8619F2B8C}"/>
              </a:ext>
            </a:extLst>
          </p:cNvPr>
          <p:cNvSpPr txBox="1"/>
          <p:nvPr/>
        </p:nvSpPr>
        <p:spPr>
          <a:xfrm>
            <a:off x="4323189" y="4007330"/>
            <a:ext cx="620683" cy="369332"/>
          </a:xfrm>
          <a:prstGeom prst="rect">
            <a:avLst/>
          </a:prstGeom>
          <a:noFill/>
        </p:spPr>
        <p:txBody>
          <a:bodyPr wrap="none" rtlCol="0">
            <a:spAutoFit/>
          </a:bodyPr>
          <a:lstStyle/>
          <a:p>
            <a:r>
              <a:rPr lang="en-US" dirty="0">
                <a:solidFill>
                  <a:srgbClr val="FF0000"/>
                </a:solidFill>
              </a:rPr>
              <a:t>KVL</a:t>
            </a:r>
            <a:endParaRPr lang="bg-BG" dirty="0">
              <a:solidFill>
                <a:srgbClr val="FF0000"/>
              </a:solidFill>
            </a:endParaRPr>
          </a:p>
        </p:txBody>
      </p:sp>
      <p:sp>
        <p:nvSpPr>
          <p:cNvPr id="6" name="TextBox 5">
            <a:extLst>
              <a:ext uri="{FF2B5EF4-FFF2-40B4-BE49-F238E27FC236}">
                <a16:creationId xmlns:a16="http://schemas.microsoft.com/office/drawing/2014/main" id="{AF0B1FAC-CE76-F06E-7B79-400A25676F16}"/>
              </a:ext>
            </a:extLst>
          </p:cNvPr>
          <p:cNvSpPr txBox="1"/>
          <p:nvPr/>
        </p:nvSpPr>
        <p:spPr>
          <a:xfrm>
            <a:off x="4151784" y="4437112"/>
            <a:ext cx="1172116" cy="369332"/>
          </a:xfrm>
          <a:prstGeom prst="rect">
            <a:avLst/>
          </a:prstGeom>
          <a:noFill/>
        </p:spPr>
        <p:txBody>
          <a:bodyPr wrap="none" rtlCol="0">
            <a:spAutoFit/>
          </a:bodyPr>
          <a:lstStyle/>
          <a:p>
            <a:r>
              <a:rPr lang="en-US" dirty="0">
                <a:solidFill>
                  <a:srgbClr val="FF0000"/>
                </a:solidFill>
              </a:rPr>
              <a:t>Ohm Law</a:t>
            </a:r>
            <a:endParaRPr lang="bg-BG" dirty="0">
              <a:solidFill>
                <a:srgbClr val="FF0000"/>
              </a:solidFill>
            </a:endParaRPr>
          </a:p>
        </p:txBody>
      </p:sp>
    </p:spTree>
    <p:extLst>
      <p:ext uri="{BB962C8B-B14F-4D97-AF65-F5344CB8AC3E}">
        <p14:creationId xmlns:p14="http://schemas.microsoft.com/office/powerpoint/2010/main" val="2112760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
            <a:extLst>
              <a:ext uri="{FF2B5EF4-FFF2-40B4-BE49-F238E27FC236}">
                <a16:creationId xmlns:a16="http://schemas.microsoft.com/office/drawing/2014/main" id="{C92169A5-F999-4F7D-8C49-D7929FCF7E51}"/>
              </a:ext>
            </a:extLst>
          </p:cNvPr>
          <p:cNvSpPr txBox="1">
            <a:spLocks noChangeArrowheads="1"/>
          </p:cNvSpPr>
          <p:nvPr/>
        </p:nvSpPr>
        <p:spPr>
          <a:xfrm>
            <a:off x="-24680" y="-27384"/>
            <a:ext cx="12216680" cy="39332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2400" dirty="0">
                <a:solidFill>
                  <a:srgbClr val="0038A8"/>
                </a:solidFill>
                <a:latin typeface="Arial Narrow" pitchFamily="34" charset="0"/>
              </a:rPr>
              <a:t>Примери</a:t>
            </a:r>
            <a:endParaRPr lang="en-US" sz="2400" dirty="0">
              <a:solidFill>
                <a:srgbClr val="0038A8"/>
              </a:solidFill>
              <a:latin typeface="Arial Narrow" pitchFamily="34" charset="0"/>
            </a:endParaRPr>
          </a:p>
        </p:txBody>
      </p:sp>
      <p:pic>
        <p:nvPicPr>
          <p:cNvPr id="16" name="Picture 15">
            <a:extLst>
              <a:ext uri="{FF2B5EF4-FFF2-40B4-BE49-F238E27FC236}">
                <a16:creationId xmlns:a16="http://schemas.microsoft.com/office/drawing/2014/main" id="{D2326FC6-2E6F-7BD0-87CC-6A2E89E785A4}"/>
              </a:ext>
            </a:extLst>
          </p:cNvPr>
          <p:cNvPicPr>
            <a:picLocks noChangeAspect="1"/>
          </p:cNvPicPr>
          <p:nvPr/>
        </p:nvPicPr>
        <p:blipFill>
          <a:blip r:embed="rId2"/>
          <a:stretch>
            <a:fillRect/>
          </a:stretch>
        </p:blipFill>
        <p:spPr>
          <a:xfrm>
            <a:off x="551384" y="764704"/>
            <a:ext cx="1981477" cy="1695687"/>
          </a:xfrm>
          <a:prstGeom prst="rect">
            <a:avLst/>
          </a:prstGeom>
        </p:spPr>
      </p:pic>
      <p:pic>
        <p:nvPicPr>
          <p:cNvPr id="21" name="Picture 20">
            <a:extLst>
              <a:ext uri="{FF2B5EF4-FFF2-40B4-BE49-F238E27FC236}">
                <a16:creationId xmlns:a16="http://schemas.microsoft.com/office/drawing/2014/main" id="{C6068DEF-F04D-C252-010D-2CFC050F3DFC}"/>
              </a:ext>
            </a:extLst>
          </p:cNvPr>
          <p:cNvPicPr>
            <a:picLocks noChangeAspect="1"/>
          </p:cNvPicPr>
          <p:nvPr/>
        </p:nvPicPr>
        <p:blipFill>
          <a:blip r:embed="rId3"/>
          <a:stretch>
            <a:fillRect/>
          </a:stretch>
        </p:blipFill>
        <p:spPr>
          <a:xfrm>
            <a:off x="3647728" y="548680"/>
            <a:ext cx="4386828" cy="3448501"/>
          </a:xfrm>
          <a:prstGeom prst="rect">
            <a:avLst/>
          </a:prstGeom>
        </p:spPr>
      </p:pic>
      <p:pic>
        <p:nvPicPr>
          <p:cNvPr id="3" name="Picture 2">
            <a:extLst>
              <a:ext uri="{FF2B5EF4-FFF2-40B4-BE49-F238E27FC236}">
                <a16:creationId xmlns:a16="http://schemas.microsoft.com/office/drawing/2014/main" id="{8EC5CD86-B12C-3C28-31EE-44BE3DF73E65}"/>
              </a:ext>
            </a:extLst>
          </p:cNvPr>
          <p:cNvPicPr>
            <a:picLocks noChangeAspect="1"/>
          </p:cNvPicPr>
          <p:nvPr/>
        </p:nvPicPr>
        <p:blipFill>
          <a:blip r:embed="rId4"/>
          <a:stretch>
            <a:fillRect/>
          </a:stretch>
        </p:blipFill>
        <p:spPr>
          <a:xfrm>
            <a:off x="4367808" y="4293096"/>
            <a:ext cx="4124901" cy="1638529"/>
          </a:xfrm>
          <a:prstGeom prst="rect">
            <a:avLst/>
          </a:prstGeom>
        </p:spPr>
      </p:pic>
      <p:sp>
        <p:nvSpPr>
          <p:cNvPr id="2" name="Rectangle 1">
            <a:extLst>
              <a:ext uri="{FF2B5EF4-FFF2-40B4-BE49-F238E27FC236}">
                <a16:creationId xmlns:a16="http://schemas.microsoft.com/office/drawing/2014/main" id="{0A29B609-5B68-A607-DA74-3BB3B441742C}"/>
              </a:ext>
            </a:extLst>
          </p:cNvPr>
          <p:cNvSpPr/>
          <p:nvPr/>
        </p:nvSpPr>
        <p:spPr>
          <a:xfrm>
            <a:off x="6096000" y="753834"/>
            <a:ext cx="2016224" cy="324334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ln w="12700">
                <a:solidFill>
                  <a:schemeClr val="tx1"/>
                </a:solidFill>
              </a:ln>
            </a:endParaRPr>
          </a:p>
        </p:txBody>
      </p:sp>
    </p:spTree>
    <p:extLst>
      <p:ext uri="{BB962C8B-B14F-4D97-AF65-F5344CB8AC3E}">
        <p14:creationId xmlns:p14="http://schemas.microsoft.com/office/powerpoint/2010/main" val="380017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
            <a:extLst>
              <a:ext uri="{FF2B5EF4-FFF2-40B4-BE49-F238E27FC236}">
                <a16:creationId xmlns:a16="http://schemas.microsoft.com/office/drawing/2014/main" id="{C92169A5-F999-4F7D-8C49-D7929FCF7E51}"/>
              </a:ext>
            </a:extLst>
          </p:cNvPr>
          <p:cNvSpPr txBox="1">
            <a:spLocks noChangeArrowheads="1"/>
          </p:cNvSpPr>
          <p:nvPr/>
        </p:nvSpPr>
        <p:spPr>
          <a:xfrm>
            <a:off x="-24680" y="-27384"/>
            <a:ext cx="12216680" cy="576064"/>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defRPr/>
            </a:pPr>
            <a:r>
              <a:rPr lang="bg-BG" sz="2400" dirty="0">
                <a:solidFill>
                  <a:srgbClr val="0038A8"/>
                </a:solidFill>
                <a:latin typeface="Arial Narrow" pitchFamily="34" charset="0"/>
              </a:rPr>
              <a:t>Примери</a:t>
            </a:r>
            <a:endParaRPr lang="en-US" sz="2400" dirty="0">
              <a:solidFill>
                <a:srgbClr val="0038A8"/>
              </a:solidFill>
              <a:latin typeface="Arial Narrow" pitchFamily="34" charset="0"/>
            </a:endParaRPr>
          </a:p>
        </p:txBody>
      </p:sp>
      <p:pic>
        <p:nvPicPr>
          <p:cNvPr id="13" name="Picture 12">
            <a:extLst>
              <a:ext uri="{FF2B5EF4-FFF2-40B4-BE49-F238E27FC236}">
                <a16:creationId xmlns:a16="http://schemas.microsoft.com/office/drawing/2014/main" id="{D59241AA-A8BC-0EE8-810E-1A17CFCAED79}"/>
              </a:ext>
            </a:extLst>
          </p:cNvPr>
          <p:cNvPicPr>
            <a:picLocks noChangeAspect="1"/>
          </p:cNvPicPr>
          <p:nvPr/>
        </p:nvPicPr>
        <p:blipFill>
          <a:blip r:embed="rId2"/>
          <a:stretch>
            <a:fillRect/>
          </a:stretch>
        </p:blipFill>
        <p:spPr>
          <a:xfrm>
            <a:off x="3791744" y="4509120"/>
            <a:ext cx="2724530" cy="1514686"/>
          </a:xfrm>
          <a:prstGeom prst="rect">
            <a:avLst/>
          </a:prstGeom>
        </p:spPr>
      </p:pic>
      <p:pic>
        <p:nvPicPr>
          <p:cNvPr id="17" name="Picture 16">
            <a:extLst>
              <a:ext uri="{FF2B5EF4-FFF2-40B4-BE49-F238E27FC236}">
                <a16:creationId xmlns:a16="http://schemas.microsoft.com/office/drawing/2014/main" id="{107C7320-C625-C7EC-490F-7066994CA45B}"/>
              </a:ext>
            </a:extLst>
          </p:cNvPr>
          <p:cNvPicPr>
            <a:picLocks noChangeAspect="1"/>
          </p:cNvPicPr>
          <p:nvPr/>
        </p:nvPicPr>
        <p:blipFill>
          <a:blip r:embed="rId3"/>
          <a:stretch>
            <a:fillRect/>
          </a:stretch>
        </p:blipFill>
        <p:spPr>
          <a:xfrm>
            <a:off x="1065103" y="723522"/>
            <a:ext cx="2124371" cy="2705478"/>
          </a:xfrm>
          <a:prstGeom prst="rect">
            <a:avLst/>
          </a:prstGeom>
        </p:spPr>
      </p:pic>
      <p:pic>
        <p:nvPicPr>
          <p:cNvPr id="19" name="Picture 18">
            <a:extLst>
              <a:ext uri="{FF2B5EF4-FFF2-40B4-BE49-F238E27FC236}">
                <a16:creationId xmlns:a16="http://schemas.microsoft.com/office/drawing/2014/main" id="{B9999FC5-3B62-468F-84FA-2D03D04D4340}"/>
              </a:ext>
            </a:extLst>
          </p:cNvPr>
          <p:cNvPicPr>
            <a:picLocks noChangeAspect="1"/>
          </p:cNvPicPr>
          <p:nvPr/>
        </p:nvPicPr>
        <p:blipFill>
          <a:blip r:embed="rId4"/>
          <a:stretch>
            <a:fillRect/>
          </a:stretch>
        </p:blipFill>
        <p:spPr>
          <a:xfrm>
            <a:off x="124102" y="4174814"/>
            <a:ext cx="2581635" cy="962159"/>
          </a:xfrm>
          <a:prstGeom prst="rect">
            <a:avLst/>
          </a:prstGeom>
        </p:spPr>
      </p:pic>
      <p:pic>
        <p:nvPicPr>
          <p:cNvPr id="21" name="Picture 20">
            <a:extLst>
              <a:ext uri="{FF2B5EF4-FFF2-40B4-BE49-F238E27FC236}">
                <a16:creationId xmlns:a16="http://schemas.microsoft.com/office/drawing/2014/main" id="{8D35E054-8118-C69B-0340-8E306CB27F22}"/>
              </a:ext>
            </a:extLst>
          </p:cNvPr>
          <p:cNvPicPr>
            <a:picLocks noChangeAspect="1"/>
          </p:cNvPicPr>
          <p:nvPr/>
        </p:nvPicPr>
        <p:blipFill>
          <a:blip r:embed="rId5"/>
          <a:stretch>
            <a:fillRect/>
          </a:stretch>
        </p:blipFill>
        <p:spPr>
          <a:xfrm>
            <a:off x="7154270" y="4725144"/>
            <a:ext cx="4220164" cy="1133633"/>
          </a:xfrm>
          <a:prstGeom prst="rect">
            <a:avLst/>
          </a:prstGeom>
        </p:spPr>
      </p:pic>
      <p:pic>
        <p:nvPicPr>
          <p:cNvPr id="22" name="Picture 21">
            <a:extLst>
              <a:ext uri="{FF2B5EF4-FFF2-40B4-BE49-F238E27FC236}">
                <a16:creationId xmlns:a16="http://schemas.microsoft.com/office/drawing/2014/main" id="{FC0BCF26-2780-6BA2-4C09-98750A76D048}"/>
              </a:ext>
            </a:extLst>
          </p:cNvPr>
          <p:cNvPicPr>
            <a:picLocks noChangeAspect="1"/>
          </p:cNvPicPr>
          <p:nvPr/>
        </p:nvPicPr>
        <p:blipFill>
          <a:blip r:embed="rId6"/>
          <a:stretch>
            <a:fillRect/>
          </a:stretch>
        </p:blipFill>
        <p:spPr>
          <a:xfrm>
            <a:off x="3935760" y="675160"/>
            <a:ext cx="4386828" cy="3448501"/>
          </a:xfrm>
          <a:prstGeom prst="rect">
            <a:avLst/>
          </a:prstGeom>
        </p:spPr>
      </p:pic>
      <p:sp>
        <p:nvSpPr>
          <p:cNvPr id="2" name="TextBox 1">
            <a:extLst>
              <a:ext uri="{FF2B5EF4-FFF2-40B4-BE49-F238E27FC236}">
                <a16:creationId xmlns:a16="http://schemas.microsoft.com/office/drawing/2014/main" id="{D946F31A-F011-DF8F-2E81-3FD1B71CECAD}"/>
              </a:ext>
            </a:extLst>
          </p:cNvPr>
          <p:cNvSpPr txBox="1"/>
          <p:nvPr/>
        </p:nvSpPr>
        <p:spPr>
          <a:xfrm>
            <a:off x="2495600" y="4355812"/>
            <a:ext cx="620683" cy="369332"/>
          </a:xfrm>
          <a:prstGeom prst="rect">
            <a:avLst/>
          </a:prstGeom>
          <a:noFill/>
        </p:spPr>
        <p:txBody>
          <a:bodyPr wrap="none" rtlCol="0">
            <a:spAutoFit/>
          </a:bodyPr>
          <a:lstStyle/>
          <a:p>
            <a:r>
              <a:rPr lang="en-US" dirty="0">
                <a:solidFill>
                  <a:srgbClr val="FF0000"/>
                </a:solidFill>
              </a:rPr>
              <a:t>KVL</a:t>
            </a:r>
            <a:endParaRPr lang="bg-BG" dirty="0">
              <a:solidFill>
                <a:srgbClr val="FF0000"/>
              </a:solidFill>
            </a:endParaRPr>
          </a:p>
        </p:txBody>
      </p:sp>
    </p:spTree>
    <p:extLst>
      <p:ext uri="{BB962C8B-B14F-4D97-AF65-F5344CB8AC3E}">
        <p14:creationId xmlns:p14="http://schemas.microsoft.com/office/powerpoint/2010/main" val="3603891825"/>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10153</TotalTime>
  <Words>1543</Words>
  <Application>Microsoft Office PowerPoint</Application>
  <PresentationFormat>Widescreen</PresentationFormat>
  <Paragraphs>94</Paragraphs>
  <Slides>17</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Arial Narrow</vt:lpstr>
      <vt:lpstr>Cambria Math</vt:lpstr>
      <vt:lpstr>Default Design</vt:lpstr>
      <vt:lpstr>PowerPoint Presentation</vt:lpstr>
      <vt:lpstr>Структура на NPN биполярен транзистор</vt:lpstr>
      <vt:lpstr>Транзисторът като усилвател (активен режим)</vt:lpstr>
      <vt:lpstr>Коефициeнт на усилване по ток  Ic = β * Ib</vt:lpstr>
      <vt:lpstr>Ic = β * Ib</vt:lpstr>
      <vt:lpstr>Откъде идва стойността на β?</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ТУ-София</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Vassiliy Tchoumatchenko</cp:lastModifiedBy>
  <cp:revision>329</cp:revision>
  <dcterms:created xsi:type="dcterms:W3CDTF">2013-03-19T07:28:34Z</dcterms:created>
  <dcterms:modified xsi:type="dcterms:W3CDTF">2025-11-18T06:20:56Z</dcterms:modified>
</cp:coreProperties>
</file>