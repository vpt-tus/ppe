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40" r:id="rId2"/>
    <p:sldId id="345" r:id="rId3"/>
    <p:sldId id="343" r:id="rId4"/>
    <p:sldId id="344" r:id="rId5"/>
    <p:sldId id="346" r:id="rId6"/>
    <p:sldId id="347" r:id="rId7"/>
    <p:sldId id="348" r:id="rId8"/>
    <p:sldId id="349" r:id="rId9"/>
    <p:sldId id="350" r:id="rId10"/>
    <p:sldId id="351" r:id="rId11"/>
    <p:sldId id="263" r:id="rId12"/>
    <p:sldId id="408" r:id="rId13"/>
    <p:sldId id="308" r:id="rId14"/>
    <p:sldId id="309" r:id="rId15"/>
    <p:sldId id="411" r:id="rId16"/>
    <p:sldId id="265" r:id="rId17"/>
    <p:sldId id="409" r:id="rId18"/>
    <p:sldId id="410" r:id="rId19"/>
    <p:sldId id="412" r:id="rId20"/>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88" autoAdjust="0"/>
    <p:restoredTop sz="83632" autoAdjust="0"/>
  </p:normalViewPr>
  <p:slideViewPr>
    <p:cSldViewPr snapToGrid="0">
      <p:cViewPr varScale="1">
        <p:scale>
          <a:sx n="135" d="100"/>
          <a:sy n="135"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724AB-2C2F-4935-B67B-5A68DF43EAFA}" type="datetimeFigureOut">
              <a:rPr lang="bg-BG" smtClean="0"/>
              <a:t>1.12.2025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29544D-D715-40D7-BC31-F8A346D97C74}" type="slidenum">
              <a:rPr lang="bg-BG" smtClean="0"/>
              <a:t>‹#›</a:t>
            </a:fld>
            <a:endParaRPr lang="bg-BG"/>
          </a:p>
        </p:txBody>
      </p:sp>
    </p:spTree>
    <p:extLst>
      <p:ext uri="{BB962C8B-B14F-4D97-AF65-F5344CB8AC3E}">
        <p14:creationId xmlns:p14="http://schemas.microsoft.com/office/powerpoint/2010/main" val="382513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Students will understand the physical structure and operating principle of an N-channel enhancement-mode MOSFET, be introduced to its three operating regions, and learn about its intrinsic body diode.</a:t>
            </a:r>
            <a:endParaRPr lang="en-US" b="0" dirty="0">
              <a:effectLst/>
            </a:endParaRPr>
          </a:p>
          <a:p>
            <a:br>
              <a:rPr lang="en-US" dirty="0"/>
            </a:br>
            <a:endParaRPr lang="bg-BG" dirty="0"/>
          </a:p>
        </p:txBody>
      </p:sp>
      <p:sp>
        <p:nvSpPr>
          <p:cNvPr id="4" name="Slide Number Placeholder 3"/>
          <p:cNvSpPr>
            <a:spLocks noGrp="1"/>
          </p:cNvSpPr>
          <p:nvPr>
            <p:ph type="sldNum" sz="quarter" idx="5"/>
          </p:nvPr>
        </p:nvSpPr>
        <p:spPr/>
        <p:txBody>
          <a:bodyPr/>
          <a:lstStyle/>
          <a:p>
            <a:fld id="{B429544D-D715-40D7-BC31-F8A346D97C74}" type="slidenum">
              <a:rPr lang="bg-BG" smtClean="0"/>
              <a:t>3</a:t>
            </a:fld>
            <a:endParaRPr lang="bg-BG"/>
          </a:p>
        </p:txBody>
      </p:sp>
    </p:spTree>
    <p:extLst>
      <p:ext uri="{BB962C8B-B14F-4D97-AF65-F5344CB8AC3E}">
        <p14:creationId xmlns:p14="http://schemas.microsoft.com/office/powerpoint/2010/main" val="3010208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u="none" strike="noStrike" kern="1200" dirty="0">
                <a:solidFill>
                  <a:schemeClr val="tx1"/>
                </a:solidFill>
                <a:effectLst/>
                <a:latin typeface="+mn-lt"/>
                <a:ea typeface="+mn-ea"/>
                <a:cs typeface="+mn-cs"/>
              </a:rPr>
              <a:t>The Players:</a:t>
            </a:r>
            <a:r>
              <a:rPr lang="en-US" sz="1200" b="0" i="0" u="none" strike="noStrike" kern="1200" dirty="0">
                <a:solidFill>
                  <a:schemeClr val="tx1"/>
                </a:solidFill>
                <a:effectLst/>
                <a:latin typeface="+mn-lt"/>
                <a:ea typeface="+mn-ea"/>
                <a:cs typeface="+mn-cs"/>
              </a:rPr>
              <a:t> Point out the four terminals: the </a:t>
            </a:r>
            <a:r>
              <a:rPr lang="en-US" sz="1200" b="1" i="0" u="none" strike="noStrike" kern="1200" dirty="0">
                <a:solidFill>
                  <a:schemeClr val="tx1"/>
                </a:solidFill>
                <a:effectLst/>
                <a:latin typeface="+mn-lt"/>
                <a:ea typeface="+mn-ea"/>
                <a:cs typeface="+mn-cs"/>
              </a:rPr>
              <a:t>Gate</a:t>
            </a:r>
            <a:r>
              <a:rPr lang="en-US" sz="1200" b="0" i="0" u="none" strike="noStrike" kern="1200" dirty="0">
                <a:solidFill>
                  <a:schemeClr val="tx1"/>
                </a:solidFill>
                <a:effectLst/>
                <a:latin typeface="+mn-lt"/>
                <a:ea typeface="+mn-ea"/>
                <a:cs typeface="+mn-cs"/>
              </a:rPr>
              <a:t>, the </a:t>
            </a:r>
            <a:r>
              <a:rPr lang="en-US" sz="1200" b="1" i="0" u="none" strike="noStrike" kern="1200" dirty="0">
                <a:solidFill>
                  <a:schemeClr val="tx1"/>
                </a:solidFill>
                <a:effectLst/>
                <a:latin typeface="+mn-lt"/>
                <a:ea typeface="+mn-ea"/>
                <a:cs typeface="+mn-cs"/>
              </a:rPr>
              <a:t>Source</a:t>
            </a:r>
            <a:r>
              <a:rPr lang="en-US" sz="1200" b="0" i="0" u="none" strike="noStrike" kern="1200" dirty="0">
                <a:solidFill>
                  <a:schemeClr val="tx1"/>
                </a:solidFill>
                <a:effectLst/>
                <a:latin typeface="+mn-lt"/>
                <a:ea typeface="+mn-ea"/>
                <a:cs typeface="+mn-cs"/>
              </a:rPr>
              <a:t>, the </a:t>
            </a:r>
            <a:r>
              <a:rPr lang="en-US" sz="1200" b="1" i="0" u="none" strike="noStrike" kern="1200" dirty="0">
                <a:solidFill>
                  <a:schemeClr val="tx1"/>
                </a:solidFill>
                <a:effectLst/>
                <a:latin typeface="+mn-lt"/>
                <a:ea typeface="+mn-ea"/>
                <a:cs typeface="+mn-cs"/>
              </a:rPr>
              <a:t>Drain</a:t>
            </a:r>
            <a:r>
              <a:rPr lang="en-US" sz="1200" b="0" i="0" u="none" strike="noStrike" kern="1200" dirty="0">
                <a:solidFill>
                  <a:schemeClr val="tx1"/>
                </a:solidFill>
                <a:effectLst/>
                <a:latin typeface="+mn-lt"/>
                <a:ea typeface="+mn-ea"/>
                <a:cs typeface="+mn-cs"/>
              </a:rPr>
              <a:t>, and the </a:t>
            </a:r>
            <a:r>
              <a:rPr lang="en-US" sz="1200" b="1" i="0" u="none" strike="noStrike" kern="1200" dirty="0">
                <a:solidFill>
                  <a:schemeClr val="tx1"/>
                </a:solidFill>
                <a:effectLst/>
                <a:latin typeface="+mn-lt"/>
                <a:ea typeface="+mn-ea"/>
                <a:cs typeface="+mn-cs"/>
              </a:rPr>
              <a:t>Body</a:t>
            </a:r>
            <a:r>
              <a:rPr lang="en-US" sz="1200" b="0" i="0" u="none" strike="noStrike" kern="1200" dirty="0">
                <a:solidFill>
                  <a:schemeClr val="tx1"/>
                </a:solidFill>
                <a:effectLst/>
                <a:latin typeface="+mn-lt"/>
                <a:ea typeface="+mn-ea"/>
                <a:cs typeface="+mn-cs"/>
              </a:rPr>
              <a:t> (or Substrate).</a:t>
            </a:r>
          </a:p>
          <a:p>
            <a:pPr rtl="0" fontAlgn="base"/>
            <a:r>
              <a:rPr lang="en-US" sz="1200" b="1" i="0" u="none" strike="noStrike" kern="1200" dirty="0">
                <a:solidFill>
                  <a:schemeClr val="tx1"/>
                </a:solidFill>
                <a:effectLst/>
                <a:latin typeface="+mn-lt"/>
                <a:ea typeface="+mn-ea"/>
                <a:cs typeface="+mn-cs"/>
              </a:rPr>
              <a:t>The Structure:</a:t>
            </a:r>
            <a:r>
              <a:rPr lang="en-US" sz="1200" b="0" i="0" u="none" strike="noStrike" kern="1200" dirty="0">
                <a:solidFill>
                  <a:schemeClr val="tx1"/>
                </a:solidFill>
                <a:effectLst/>
                <a:latin typeface="+mn-lt"/>
                <a:ea typeface="+mn-ea"/>
                <a:cs typeface="+mn-cs"/>
              </a:rPr>
              <a:t> Identify the </a:t>
            </a:r>
            <a:r>
              <a:rPr lang="en-US" sz="1200" b="1" i="0" u="none" strike="noStrike" kern="1200" dirty="0">
                <a:solidFill>
                  <a:schemeClr val="tx1"/>
                </a:solidFill>
                <a:effectLst/>
                <a:latin typeface="+mn-lt"/>
                <a:ea typeface="+mn-ea"/>
                <a:cs typeface="+mn-cs"/>
              </a:rPr>
              <a:t>N+ Source</a:t>
            </a:r>
            <a:r>
              <a:rPr lang="en-US" sz="1200" b="0" i="0" u="none" strike="noStrike" kern="1200" dirty="0">
                <a:solidFill>
                  <a:schemeClr val="tx1"/>
                </a:solidFill>
                <a:effectLst/>
                <a:latin typeface="+mn-lt"/>
                <a:ea typeface="+mn-ea"/>
                <a:cs typeface="+mn-cs"/>
              </a:rPr>
              <a:t> and </a:t>
            </a:r>
            <a:r>
              <a:rPr lang="en-US" sz="1200" b="1" i="0" u="none" strike="noStrike" kern="1200" dirty="0">
                <a:solidFill>
                  <a:schemeClr val="tx1"/>
                </a:solidFill>
                <a:effectLst/>
                <a:latin typeface="+mn-lt"/>
                <a:ea typeface="+mn-ea"/>
                <a:cs typeface="+mn-cs"/>
              </a:rPr>
              <a:t>N+ Drain</a:t>
            </a:r>
            <a:r>
              <a:rPr lang="en-US" sz="1200" b="0" i="0" u="none" strike="noStrike" kern="1200" dirty="0">
                <a:solidFill>
                  <a:schemeClr val="tx1"/>
                </a:solidFill>
                <a:effectLst/>
                <a:latin typeface="+mn-lt"/>
                <a:ea typeface="+mn-ea"/>
                <a:cs typeface="+mn-cs"/>
              </a:rPr>
              <a:t> regions embedded in the </a:t>
            </a:r>
            <a:r>
              <a:rPr lang="en-US" sz="1200" b="1" i="0" u="none" strike="noStrike" kern="1200" dirty="0">
                <a:solidFill>
                  <a:schemeClr val="tx1"/>
                </a:solidFill>
                <a:effectLst/>
                <a:latin typeface="+mn-lt"/>
                <a:ea typeface="+mn-ea"/>
                <a:cs typeface="+mn-cs"/>
              </a:rPr>
              <a:t>P-type Body</a:t>
            </a:r>
            <a:r>
              <a:rPr lang="en-US" sz="1200" b="0" i="0" u="none" strike="noStrike" kern="1200" dirty="0">
                <a:solidFill>
                  <a:schemeClr val="tx1"/>
                </a:solidFill>
                <a:effectLst/>
                <a:latin typeface="+mn-lt"/>
                <a:ea typeface="+mn-ea"/>
                <a:cs typeface="+mn-cs"/>
              </a:rPr>
              <a:t>.</a:t>
            </a:r>
          </a:p>
          <a:p>
            <a:pPr rtl="0" fontAlgn="base"/>
            <a:r>
              <a:rPr lang="en-US" sz="1200" b="1" i="0" u="none" strike="noStrike" kern="1200" dirty="0">
                <a:solidFill>
                  <a:schemeClr val="tx1"/>
                </a:solidFill>
                <a:effectLst/>
                <a:latin typeface="+mn-lt"/>
                <a:ea typeface="+mn-ea"/>
                <a:cs typeface="+mn-cs"/>
              </a:rPr>
              <a:t>The Key Feature:</a:t>
            </a:r>
            <a:r>
              <a:rPr lang="en-US" sz="1200" b="0" i="0" u="none" strike="noStrike" kern="1200" dirty="0">
                <a:solidFill>
                  <a:schemeClr val="tx1"/>
                </a:solidFill>
                <a:effectLst/>
                <a:latin typeface="+mn-lt"/>
                <a:ea typeface="+mn-ea"/>
                <a:cs typeface="+mn-cs"/>
              </a:rPr>
              <a:t> Emphasize the thin layer of </a:t>
            </a:r>
            <a:r>
              <a:rPr lang="en-US" sz="1200" b="1" i="0" u="none" strike="noStrike" kern="1200" dirty="0">
                <a:solidFill>
                  <a:schemeClr val="tx1"/>
                </a:solidFill>
                <a:effectLst/>
                <a:latin typeface="+mn-lt"/>
                <a:ea typeface="+mn-ea"/>
                <a:cs typeface="+mn-cs"/>
              </a:rPr>
              <a:t>Silicon Dioxide (</a:t>
            </a:r>
            <a:r>
              <a:rPr lang="en-US" sz="1200" b="1" i="0" u="none" strike="noStrike" kern="1200" dirty="0" err="1">
                <a:solidFill>
                  <a:schemeClr val="tx1"/>
                </a:solidFill>
                <a:effectLst/>
                <a:latin typeface="+mn-lt"/>
                <a:ea typeface="+mn-ea"/>
                <a:cs typeface="+mn-cs"/>
              </a:rPr>
              <a:t>SiO</a:t>
            </a:r>
            <a:r>
              <a:rPr lang="en-US" sz="1200" b="1" i="0" u="none" strike="noStrike" kern="1200" dirty="0">
                <a:solidFill>
                  <a:schemeClr val="tx1"/>
                </a:solidFill>
                <a:effectLst/>
                <a:latin typeface="+mn-lt"/>
                <a:ea typeface="+mn-ea"/>
                <a:cs typeface="+mn-cs"/>
              </a:rPr>
              <a:t>₂)</a:t>
            </a:r>
            <a:r>
              <a:rPr lang="en-US" sz="1200" b="0" i="0" u="none" strike="noStrike" kern="1200" dirty="0">
                <a:solidFill>
                  <a:schemeClr val="tx1"/>
                </a:solidFill>
                <a:effectLst/>
                <a:latin typeface="+mn-lt"/>
                <a:ea typeface="+mn-ea"/>
                <a:cs typeface="+mn-cs"/>
              </a:rPr>
              <a:t>—which is essentially glass—that </a:t>
            </a:r>
            <a:r>
              <a:rPr lang="en-US" sz="1200" b="1" i="0" u="none" strike="noStrike" kern="1200" dirty="0">
                <a:solidFill>
                  <a:schemeClr val="tx1"/>
                </a:solidFill>
                <a:effectLst/>
                <a:latin typeface="+mn-lt"/>
                <a:ea typeface="+mn-ea"/>
                <a:cs typeface="+mn-cs"/>
              </a:rPr>
              <a:t>insulates</a:t>
            </a:r>
            <a:r>
              <a:rPr lang="en-US" sz="1200" b="0" i="0" u="none" strike="noStrike" kern="1200" dirty="0">
                <a:solidFill>
                  <a:schemeClr val="tx1"/>
                </a:solidFill>
                <a:effectLst/>
                <a:latin typeface="+mn-lt"/>
                <a:ea typeface="+mn-ea"/>
                <a:cs typeface="+mn-cs"/>
              </a:rPr>
              <a:t> the metal Gate from the silicon Body. "This insulation is the entire secret to its operation."</a:t>
            </a:r>
          </a:p>
          <a:p>
            <a:endParaRPr lang="bg-BG" dirty="0"/>
          </a:p>
        </p:txBody>
      </p:sp>
      <p:sp>
        <p:nvSpPr>
          <p:cNvPr id="4" name="Slide Number Placeholder 3"/>
          <p:cNvSpPr>
            <a:spLocks noGrp="1"/>
          </p:cNvSpPr>
          <p:nvPr>
            <p:ph type="sldNum" sz="quarter" idx="5"/>
          </p:nvPr>
        </p:nvSpPr>
        <p:spPr/>
        <p:txBody>
          <a:bodyPr/>
          <a:lstStyle/>
          <a:p>
            <a:fld id="{B429544D-D715-40D7-BC31-F8A346D97C74}" type="slidenum">
              <a:rPr lang="bg-BG" smtClean="0"/>
              <a:t>4</a:t>
            </a:fld>
            <a:endParaRPr lang="bg-BG"/>
          </a:p>
        </p:txBody>
      </p:sp>
    </p:spTree>
    <p:extLst>
      <p:ext uri="{BB962C8B-B14F-4D97-AF65-F5344CB8AC3E}">
        <p14:creationId xmlns:p14="http://schemas.microsoft.com/office/powerpoint/2010/main" val="1297403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5"/>
          </p:nvPr>
        </p:nvSpPr>
        <p:spPr/>
        <p:txBody>
          <a:bodyPr/>
          <a:lstStyle/>
          <a:p>
            <a:fld id="{B429544D-D715-40D7-BC31-F8A346D97C74}" type="slidenum">
              <a:rPr lang="bg-BG" smtClean="0"/>
              <a:t>6</a:t>
            </a:fld>
            <a:endParaRPr lang="bg-BG"/>
          </a:p>
        </p:txBody>
      </p:sp>
    </p:spTree>
    <p:extLst>
      <p:ext uri="{BB962C8B-B14F-4D97-AF65-F5344CB8AC3E}">
        <p14:creationId xmlns:p14="http://schemas.microsoft.com/office/powerpoint/2010/main" val="975756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BD4E5-94F4-FECC-13CB-077885EE4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2C234-3B13-EF8A-A6B2-2FF34AD85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92E324-EED0-E865-1C39-15C02CC6611F}"/>
              </a:ext>
            </a:extLst>
          </p:cNvPr>
          <p:cNvSpPr>
            <a:spLocks noGrp="1"/>
          </p:cNvSpPr>
          <p:nvPr>
            <p:ph type="body" idx="1"/>
          </p:nvPr>
        </p:nvSpPr>
        <p:spPr/>
        <p:txBody>
          <a:bodyPr/>
          <a:lstStyle/>
          <a:p>
            <a:endParaRPr lang="bg-BG" dirty="0"/>
          </a:p>
        </p:txBody>
      </p:sp>
      <p:sp>
        <p:nvSpPr>
          <p:cNvPr id="4" name="Slide Number Placeholder 3">
            <a:extLst>
              <a:ext uri="{FF2B5EF4-FFF2-40B4-BE49-F238E27FC236}">
                <a16:creationId xmlns:a16="http://schemas.microsoft.com/office/drawing/2014/main" id="{B670D71A-FABE-6AF6-EAA9-A758B1D8303E}"/>
              </a:ext>
            </a:extLst>
          </p:cNvPr>
          <p:cNvSpPr>
            <a:spLocks noGrp="1"/>
          </p:cNvSpPr>
          <p:nvPr>
            <p:ph type="sldNum" sz="quarter" idx="5"/>
          </p:nvPr>
        </p:nvSpPr>
        <p:spPr/>
        <p:txBody>
          <a:bodyPr/>
          <a:lstStyle/>
          <a:p>
            <a:fld id="{B429544D-D715-40D7-BC31-F8A346D97C74}" type="slidenum">
              <a:rPr lang="bg-BG" smtClean="0"/>
              <a:t>7</a:t>
            </a:fld>
            <a:endParaRPr lang="bg-BG"/>
          </a:p>
        </p:txBody>
      </p:sp>
    </p:spTree>
    <p:extLst>
      <p:ext uri="{BB962C8B-B14F-4D97-AF65-F5344CB8AC3E}">
        <p14:creationId xmlns:p14="http://schemas.microsoft.com/office/powerpoint/2010/main" val="2280395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Europe, voltage is denoted by 'U' due to historical and linguistic reasons:</a:t>
            </a:r>
          </a:p>
          <a:p>
            <a:pPr>
              <a:buFont typeface="+mj-lt"/>
              <a:buAutoNum type="arabicPeriod"/>
            </a:pPr>
            <a:r>
              <a:rPr lang="en-US" dirty="0"/>
              <a:t>Historical Origin:</a:t>
            </a:r>
          </a:p>
          <a:p>
            <a:pPr>
              <a:buFont typeface="Arial" panose="020B0604020202020204" pitchFamily="34" charset="0"/>
              <a:buChar char="•"/>
            </a:pPr>
            <a:r>
              <a:rPr lang="en-US" dirty="0"/>
              <a:t>Comes from German word "</a:t>
            </a:r>
            <a:r>
              <a:rPr lang="en-US" dirty="0" err="1"/>
              <a:t>Unterschied</a:t>
            </a:r>
            <a:r>
              <a:rPr lang="en-US" dirty="0"/>
              <a:t>" or "</a:t>
            </a:r>
            <a:r>
              <a:rPr lang="en-US" dirty="0" err="1"/>
              <a:t>Spannung</a:t>
            </a:r>
            <a:r>
              <a:rPr lang="en-US" dirty="0"/>
              <a:t>"</a:t>
            </a:r>
          </a:p>
          <a:p>
            <a:pPr>
              <a:buFont typeface="Arial" panose="020B0604020202020204" pitchFamily="34" charset="0"/>
              <a:buChar char="•"/>
            </a:pPr>
            <a:r>
              <a:rPr lang="en-US" dirty="0"/>
              <a:t>"</a:t>
            </a:r>
            <a:r>
              <a:rPr lang="en-US" dirty="0" err="1"/>
              <a:t>Unterschied</a:t>
            </a:r>
            <a:r>
              <a:rPr lang="en-US" dirty="0"/>
              <a:t>" means "difference" (potential difference)</a:t>
            </a:r>
          </a:p>
          <a:p>
            <a:pPr>
              <a:buFont typeface="Arial" panose="020B0604020202020204" pitchFamily="34" charset="0"/>
              <a:buChar char="•"/>
            </a:pPr>
            <a:r>
              <a:rPr lang="en-US" dirty="0"/>
              <a:t>"</a:t>
            </a:r>
            <a:r>
              <a:rPr lang="en-US" dirty="0" err="1"/>
              <a:t>Spannung</a:t>
            </a:r>
            <a:r>
              <a:rPr lang="en-US" dirty="0"/>
              <a:t>" means "tension" or "voltage"</a:t>
            </a:r>
          </a:p>
          <a:p>
            <a:pPr>
              <a:buFont typeface="+mj-lt"/>
              <a:buAutoNum type="arabicPeriod" startAt="2"/>
            </a:pPr>
            <a:r>
              <a:rPr lang="en-US" dirty="0"/>
              <a:t>International Standards:</a:t>
            </a:r>
          </a:p>
          <a:p>
            <a:pPr>
              <a:buFont typeface="Arial" panose="020B0604020202020204" pitchFamily="34" charset="0"/>
              <a:buChar char="•"/>
            </a:pPr>
            <a:r>
              <a:rPr lang="en-US" dirty="0"/>
              <a:t>IEC (International Electrotechnical Commission) standards use 'U'</a:t>
            </a:r>
          </a:p>
          <a:p>
            <a:pPr>
              <a:buFont typeface="Arial" panose="020B0604020202020204" pitchFamily="34" charset="0"/>
              <a:buChar char="•"/>
            </a:pPr>
            <a:r>
              <a:rPr lang="en-US" dirty="0"/>
              <a:t>Many European engineering standards followed this convention</a:t>
            </a:r>
          </a:p>
          <a:p>
            <a:pPr>
              <a:buFont typeface="Arial" panose="020B0604020202020204" pitchFamily="34" charset="0"/>
              <a:buChar char="•"/>
            </a:pPr>
            <a:r>
              <a:rPr lang="en-US" dirty="0"/>
              <a:t>Became standard practice in European education and industry</a:t>
            </a:r>
          </a:p>
          <a:p>
            <a:endParaRPr lang="bg-BG" dirty="0"/>
          </a:p>
        </p:txBody>
      </p:sp>
      <p:sp>
        <p:nvSpPr>
          <p:cNvPr id="4" name="Slide Number Placeholder 3"/>
          <p:cNvSpPr>
            <a:spLocks noGrp="1"/>
          </p:cNvSpPr>
          <p:nvPr>
            <p:ph type="sldNum" sz="quarter" idx="5"/>
          </p:nvPr>
        </p:nvSpPr>
        <p:spPr/>
        <p:txBody>
          <a:bodyPr/>
          <a:lstStyle/>
          <a:p>
            <a:pPr>
              <a:defRPr/>
            </a:pPr>
            <a:fld id="{70702B6B-561A-4A8F-9B90-C1F5C818EDE3}" type="slidenum">
              <a:rPr lang="en-US" smtClean="0"/>
              <a:pPr>
                <a:defRPr/>
              </a:pPr>
              <a:t>13</a:t>
            </a:fld>
            <a:endParaRPr lang="en-US"/>
          </a:p>
        </p:txBody>
      </p:sp>
    </p:spTree>
    <p:extLst>
      <p:ext uri="{BB962C8B-B14F-4D97-AF65-F5344CB8AC3E}">
        <p14:creationId xmlns:p14="http://schemas.microsoft.com/office/powerpoint/2010/main" val="683269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9599-7FFB-A5CD-F5A0-4B14D9EA2A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g-BG"/>
          </a:p>
        </p:txBody>
      </p:sp>
      <p:sp>
        <p:nvSpPr>
          <p:cNvPr id="3" name="Subtitle 2">
            <a:extLst>
              <a:ext uri="{FF2B5EF4-FFF2-40B4-BE49-F238E27FC236}">
                <a16:creationId xmlns:a16="http://schemas.microsoft.com/office/drawing/2014/main" id="{F14944AC-E81C-DE01-E4DE-72466CBF7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g-BG"/>
          </a:p>
        </p:txBody>
      </p:sp>
      <p:sp>
        <p:nvSpPr>
          <p:cNvPr id="4" name="Date Placeholder 3">
            <a:extLst>
              <a:ext uri="{FF2B5EF4-FFF2-40B4-BE49-F238E27FC236}">
                <a16:creationId xmlns:a16="http://schemas.microsoft.com/office/drawing/2014/main" id="{A0C57B20-B467-57F5-9F67-152A323D5705}"/>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C47094D2-25B1-2A7B-9327-8599CF6C3C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1856DF86-F233-C32F-F538-5F94BBC9390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9141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E186-F073-1F09-54A5-6643FC244EB2}"/>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682FAB8C-0862-1891-8AFA-38E2CEF06A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DA7D224B-9AC9-7C18-2E81-D7509F9E0931}"/>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894D9A89-2168-B50A-CAC0-A33F917932A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ECC2A00E-38FD-55AE-D4D7-70DE8DB41329}"/>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47400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591C-1B96-3004-D104-25000ADC35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g-BG"/>
          </a:p>
        </p:txBody>
      </p:sp>
      <p:sp>
        <p:nvSpPr>
          <p:cNvPr id="3" name="Text Placeholder 2">
            <a:extLst>
              <a:ext uri="{FF2B5EF4-FFF2-40B4-BE49-F238E27FC236}">
                <a16:creationId xmlns:a16="http://schemas.microsoft.com/office/drawing/2014/main" id="{0A8591C5-8C15-4A83-B39E-B227FD6D4D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C21969-BA5B-1AF9-052F-40F78C7BF75E}"/>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6D59936E-E58D-EB0F-2A4C-429A8E14469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6D9D855-50F8-FE97-8787-1F443A83ACDF}"/>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93362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5E9A-ECC2-8B14-64E7-C6E115992253}"/>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99852DCB-936E-A8FB-3A7D-45C55C510D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Content Placeholder 3">
            <a:extLst>
              <a:ext uri="{FF2B5EF4-FFF2-40B4-BE49-F238E27FC236}">
                <a16:creationId xmlns:a16="http://schemas.microsoft.com/office/drawing/2014/main" id="{F3317A36-52A1-7E75-07EE-12699A23A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Date Placeholder 4">
            <a:extLst>
              <a:ext uri="{FF2B5EF4-FFF2-40B4-BE49-F238E27FC236}">
                <a16:creationId xmlns:a16="http://schemas.microsoft.com/office/drawing/2014/main" id="{C4F286D2-8508-F054-30AF-18E5C61C9AB1}"/>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82051910-1D25-0F6F-E2C0-C4F261E638AC}"/>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647182CD-4198-FA54-4C49-CFB64BD785B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48537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03CC3-1242-3126-9493-34BA7F54EAAD}"/>
              </a:ext>
            </a:extLst>
          </p:cNvPr>
          <p:cNvSpPr>
            <a:spLocks noGrp="1"/>
          </p:cNvSpPr>
          <p:nvPr>
            <p:ph type="title"/>
          </p:nvPr>
        </p:nvSpPr>
        <p:spPr>
          <a:xfrm>
            <a:off x="839788" y="365125"/>
            <a:ext cx="10515600" cy="1325563"/>
          </a:xfrm>
        </p:spPr>
        <p:txBody>
          <a:bodyPr/>
          <a:lstStyle/>
          <a:p>
            <a:r>
              <a:rPr lang="en-US"/>
              <a:t>Click to edit Master title style</a:t>
            </a:r>
            <a:endParaRPr lang="bg-BG"/>
          </a:p>
        </p:txBody>
      </p:sp>
      <p:sp>
        <p:nvSpPr>
          <p:cNvPr id="3" name="Text Placeholder 2">
            <a:extLst>
              <a:ext uri="{FF2B5EF4-FFF2-40B4-BE49-F238E27FC236}">
                <a16:creationId xmlns:a16="http://schemas.microsoft.com/office/drawing/2014/main" id="{5D4917A5-8E8D-5075-E81E-30AF1B90E5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3E8040-E8CD-4ED8-F307-B8F87DCE3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Text Placeholder 4">
            <a:extLst>
              <a:ext uri="{FF2B5EF4-FFF2-40B4-BE49-F238E27FC236}">
                <a16:creationId xmlns:a16="http://schemas.microsoft.com/office/drawing/2014/main" id="{64484509-F3E9-CC25-D786-33A92A124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C10748-0178-E873-EFF0-CE21974AB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7" name="Date Placeholder 6">
            <a:extLst>
              <a:ext uri="{FF2B5EF4-FFF2-40B4-BE49-F238E27FC236}">
                <a16:creationId xmlns:a16="http://schemas.microsoft.com/office/drawing/2014/main" id="{95D1CBD4-1041-6E34-7CDC-BCFFC0FD9632}"/>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8" name="Footer Placeholder 7">
            <a:extLst>
              <a:ext uri="{FF2B5EF4-FFF2-40B4-BE49-F238E27FC236}">
                <a16:creationId xmlns:a16="http://schemas.microsoft.com/office/drawing/2014/main" id="{5F43C420-F425-355F-CF8E-3F2BA26D14F1}"/>
              </a:ext>
            </a:extLst>
          </p:cNvPr>
          <p:cNvSpPr>
            <a:spLocks noGrp="1"/>
          </p:cNvSpPr>
          <p:nvPr>
            <p:ph type="ftr" sz="quarter" idx="11"/>
          </p:nvPr>
        </p:nvSpPr>
        <p:spPr/>
        <p:txBody>
          <a:bodyPr/>
          <a:lstStyle/>
          <a:p>
            <a:endParaRPr lang="bg-BG"/>
          </a:p>
        </p:txBody>
      </p:sp>
      <p:sp>
        <p:nvSpPr>
          <p:cNvPr id="9" name="Slide Number Placeholder 8">
            <a:extLst>
              <a:ext uri="{FF2B5EF4-FFF2-40B4-BE49-F238E27FC236}">
                <a16:creationId xmlns:a16="http://schemas.microsoft.com/office/drawing/2014/main" id="{FB555219-48B2-2357-F0F1-E4B1C113A97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9516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2A36-0CC2-35CD-A339-1FA1B6EA5E9B}"/>
              </a:ext>
            </a:extLst>
          </p:cNvPr>
          <p:cNvSpPr>
            <a:spLocks noGrp="1"/>
          </p:cNvSpPr>
          <p:nvPr>
            <p:ph type="title"/>
          </p:nvPr>
        </p:nvSpPr>
        <p:spPr/>
        <p:txBody>
          <a:bodyPr/>
          <a:lstStyle/>
          <a:p>
            <a:r>
              <a:rPr lang="en-US"/>
              <a:t>Click to edit Master title style</a:t>
            </a:r>
            <a:endParaRPr lang="bg-BG"/>
          </a:p>
        </p:txBody>
      </p:sp>
      <p:sp>
        <p:nvSpPr>
          <p:cNvPr id="3" name="Date Placeholder 2">
            <a:extLst>
              <a:ext uri="{FF2B5EF4-FFF2-40B4-BE49-F238E27FC236}">
                <a16:creationId xmlns:a16="http://schemas.microsoft.com/office/drawing/2014/main" id="{B91DCC87-BCFD-F4A2-B7A8-ACC2EDF35DBA}"/>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4" name="Footer Placeholder 3">
            <a:extLst>
              <a:ext uri="{FF2B5EF4-FFF2-40B4-BE49-F238E27FC236}">
                <a16:creationId xmlns:a16="http://schemas.microsoft.com/office/drawing/2014/main" id="{287FCDA2-B92F-DE75-434E-688A454F5721}"/>
              </a:ext>
            </a:extLst>
          </p:cNvPr>
          <p:cNvSpPr>
            <a:spLocks noGrp="1"/>
          </p:cNvSpPr>
          <p:nvPr>
            <p:ph type="ftr" sz="quarter" idx="11"/>
          </p:nvPr>
        </p:nvSpPr>
        <p:spPr/>
        <p:txBody>
          <a:bodyPr/>
          <a:lstStyle/>
          <a:p>
            <a:endParaRPr lang="bg-BG"/>
          </a:p>
        </p:txBody>
      </p:sp>
      <p:sp>
        <p:nvSpPr>
          <p:cNvPr id="5" name="Slide Number Placeholder 4">
            <a:extLst>
              <a:ext uri="{FF2B5EF4-FFF2-40B4-BE49-F238E27FC236}">
                <a16:creationId xmlns:a16="http://schemas.microsoft.com/office/drawing/2014/main" id="{82A5E2D3-1B2A-8626-ED16-CC0A1ED8F61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3617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4CC47-1386-DE7B-75E4-F58FEF3B07B2}"/>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3" name="Footer Placeholder 2">
            <a:extLst>
              <a:ext uri="{FF2B5EF4-FFF2-40B4-BE49-F238E27FC236}">
                <a16:creationId xmlns:a16="http://schemas.microsoft.com/office/drawing/2014/main" id="{3CE0560C-6146-8D2E-08C6-5765D08C4726}"/>
              </a:ext>
            </a:extLst>
          </p:cNvPr>
          <p:cNvSpPr>
            <a:spLocks noGrp="1"/>
          </p:cNvSpPr>
          <p:nvPr>
            <p:ph type="ftr" sz="quarter" idx="11"/>
          </p:nvPr>
        </p:nvSpPr>
        <p:spPr/>
        <p:txBody>
          <a:bodyPr/>
          <a:lstStyle/>
          <a:p>
            <a:endParaRPr lang="bg-BG"/>
          </a:p>
        </p:txBody>
      </p:sp>
      <p:sp>
        <p:nvSpPr>
          <p:cNvPr id="4" name="Slide Number Placeholder 3">
            <a:extLst>
              <a:ext uri="{FF2B5EF4-FFF2-40B4-BE49-F238E27FC236}">
                <a16:creationId xmlns:a16="http://schemas.microsoft.com/office/drawing/2014/main" id="{6FA8EF57-8134-795A-1E19-C64BC0C6079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026469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58096-1102-A25E-32B1-B01622848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Content Placeholder 2">
            <a:extLst>
              <a:ext uri="{FF2B5EF4-FFF2-40B4-BE49-F238E27FC236}">
                <a16:creationId xmlns:a16="http://schemas.microsoft.com/office/drawing/2014/main" id="{CCA53F3C-E02E-9870-26D7-76E7752F68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Text Placeholder 3">
            <a:extLst>
              <a:ext uri="{FF2B5EF4-FFF2-40B4-BE49-F238E27FC236}">
                <a16:creationId xmlns:a16="http://schemas.microsoft.com/office/drawing/2014/main" id="{62E901BD-08A3-2128-31F0-6D9E7A210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949FB-69C3-5AA3-6E1F-C9F52882A680}"/>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586ECD44-CD55-E343-8E47-3572168DD708}"/>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BD3E4E46-D0D4-7B70-BFA1-5C74AD503D6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9434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F118-1134-A79D-B065-6C8E30CA1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Picture Placeholder 2">
            <a:extLst>
              <a:ext uri="{FF2B5EF4-FFF2-40B4-BE49-F238E27FC236}">
                <a16:creationId xmlns:a16="http://schemas.microsoft.com/office/drawing/2014/main" id="{1DBBB2FD-7F7E-007F-D4C4-3BFF78F916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g-BG"/>
          </a:p>
        </p:txBody>
      </p:sp>
      <p:sp>
        <p:nvSpPr>
          <p:cNvPr id="4" name="Text Placeholder 3">
            <a:extLst>
              <a:ext uri="{FF2B5EF4-FFF2-40B4-BE49-F238E27FC236}">
                <a16:creationId xmlns:a16="http://schemas.microsoft.com/office/drawing/2014/main" id="{7F482957-A807-30F6-F7D4-9D6FD0A62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7903C-4621-D169-4D26-EC0B09D5EB08}"/>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789531F8-5F64-52B1-2D5D-F622CE79C2EB}"/>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2CA08BDB-094C-56CA-8089-F68CD5B3B42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4489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DA17-D5CC-781B-2E0B-A74E7B64C21C}"/>
              </a:ext>
            </a:extLst>
          </p:cNvPr>
          <p:cNvSpPr>
            <a:spLocks noGrp="1"/>
          </p:cNvSpPr>
          <p:nvPr>
            <p:ph type="title"/>
          </p:nvPr>
        </p:nvSpPr>
        <p:spPr/>
        <p:txBody>
          <a:bodyPr/>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49B14EB5-9F27-FE98-04A5-54237AE926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0B0CD1D7-AACB-FCA4-EFA9-A60984C8E077}"/>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33F5F7C8-5DA2-09DF-DA42-302C035B47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A202C54-F5EF-62E5-28E1-082554B3896E}"/>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53519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EA93D6-85C1-89A3-4486-9B9376B727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5CB3E985-E40F-C71E-C8EA-E8F2A0EDF0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6ED3872F-C295-04D7-86CF-463884713DE7}"/>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801E456C-10FE-0060-63E1-632AA2A10049}"/>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519FEC20-6A53-22A7-BC04-C1B09AC70935}"/>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691388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072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C0663B-A1F4-B046-3D7D-37C8563A4A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g-BG"/>
          </a:p>
        </p:txBody>
      </p:sp>
      <p:sp>
        <p:nvSpPr>
          <p:cNvPr id="3" name="Text Placeholder 2">
            <a:extLst>
              <a:ext uri="{FF2B5EF4-FFF2-40B4-BE49-F238E27FC236}">
                <a16:creationId xmlns:a16="http://schemas.microsoft.com/office/drawing/2014/main" id="{156E7252-316D-9AD5-007E-7EEC2D4EF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5F8D6571-82CF-FD0C-641E-F171E706C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C2F82626-FDDF-2080-1BB8-7113BFF98B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bg-BG"/>
          </a:p>
        </p:txBody>
      </p:sp>
      <p:sp>
        <p:nvSpPr>
          <p:cNvPr id="6" name="Slide Number Placeholder 5">
            <a:extLst>
              <a:ext uri="{FF2B5EF4-FFF2-40B4-BE49-F238E27FC236}">
                <a16:creationId xmlns:a16="http://schemas.microsoft.com/office/drawing/2014/main" id="{03807C58-44CB-09DA-C2C1-6265C5227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A861DE-F4EC-4562-8E30-41C286D1D3C4}" type="slidenum">
              <a:rPr lang="bg-BG" smtClean="0"/>
              <a:t>‹#›</a:t>
            </a:fld>
            <a:endParaRPr lang="bg-BG"/>
          </a:p>
        </p:txBody>
      </p:sp>
    </p:spTree>
    <p:extLst>
      <p:ext uri="{BB962C8B-B14F-4D97-AF65-F5344CB8AC3E}">
        <p14:creationId xmlns:p14="http://schemas.microsoft.com/office/powerpoint/2010/main" val="4204640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wmf"/><Relationship Id="rId7" Type="http://schemas.openxmlformats.org/officeDocument/2006/relationships/image" Target="../media/image15.png"/><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wmf"/><Relationship Id="rId4" Type="http://schemas.openxmlformats.org/officeDocument/2006/relationships/oleObject" Target="../embeddings/oleObject2.bin"/><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2"/>
          <p:cNvSpPr/>
          <p:nvPr/>
        </p:nvSpPr>
        <p:spPr>
          <a:xfrm>
            <a:off x="655454" y="5013000"/>
            <a:ext cx="9544425" cy="10796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a:bodyPr>
          <a:lstStyle/>
          <a:p>
            <a:pPr>
              <a:lnSpc>
                <a:spcPct val="90000"/>
              </a:lnSpc>
              <a:spcAft>
                <a:spcPts val="601"/>
              </a:spcAft>
            </a:pPr>
            <a:r>
              <a:rPr lang="bg-BG" sz="3200" spc="-1" dirty="0">
                <a:solidFill>
                  <a:srgbClr val="0038A8"/>
                </a:solidFill>
                <a:latin typeface="+mj-lt"/>
              </a:rPr>
              <a:t>Полеви транзистор</a:t>
            </a:r>
          </a:p>
          <a:p>
            <a:pPr>
              <a:lnSpc>
                <a:spcPct val="90000"/>
              </a:lnSpc>
              <a:spcAft>
                <a:spcPts val="601"/>
              </a:spcAft>
            </a:pPr>
            <a:r>
              <a:rPr lang="en-US" sz="3200" spc="-1" dirty="0">
                <a:solidFill>
                  <a:srgbClr val="0038A8"/>
                </a:solidFill>
                <a:latin typeface="+mj-lt"/>
              </a:rPr>
              <a:t>MOSFET - metal-oxide-semiconductor field-effect transistor</a:t>
            </a:r>
            <a:endParaRPr lang="ru-RU" sz="3200" b="0" strike="noStrike" spc="-1" dirty="0">
              <a:solidFill>
                <a:srgbClr val="0038A8"/>
              </a:solidFill>
              <a:latin typeface="+mj-lt"/>
            </a:endParaRPr>
          </a:p>
        </p:txBody>
      </p:sp>
      <p:pic>
        <p:nvPicPr>
          <p:cNvPr id="115" name="Picture 4"/>
          <p:cNvPicPr/>
          <p:nvPr/>
        </p:nvPicPr>
        <p:blipFill>
          <a:blip r:embed="rId2"/>
          <a:stretch/>
        </p:blipFill>
        <p:spPr>
          <a:xfrm>
            <a:off x="551520" y="275760"/>
            <a:ext cx="904680" cy="9140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6DAF93-7A92-5F2A-FFD1-2DE3F39293E9}"/>
              </a:ext>
            </a:extLst>
          </p:cNvPr>
          <p:cNvSpPr txBox="1"/>
          <p:nvPr/>
        </p:nvSpPr>
        <p:spPr>
          <a:xfrm>
            <a:off x="234265" y="2865519"/>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Тема: </a:t>
            </a:r>
            <a:r>
              <a:rPr lang="en-US" sz="2400" dirty="0">
                <a:solidFill>
                  <a:srgbClr val="0038A8"/>
                </a:solidFill>
                <a:latin typeface="+mj-lt"/>
                <a:cs typeface="Arial" panose="020B0604020202020204" pitchFamily="34" charset="0"/>
              </a:rPr>
              <a:t>MOSFET </a:t>
            </a:r>
            <a:r>
              <a:rPr lang="bg-BG" sz="2400" dirty="0">
                <a:solidFill>
                  <a:srgbClr val="0038A8"/>
                </a:solidFill>
                <a:latin typeface="+mj-lt"/>
                <a:cs typeface="Arial" panose="020B0604020202020204" pitchFamily="34" charset="0"/>
              </a:rPr>
              <a:t>Ключ</a:t>
            </a:r>
            <a:r>
              <a:rPr lang="en-US" sz="2400" dirty="0">
                <a:solidFill>
                  <a:srgbClr val="0038A8"/>
                </a:solidFill>
                <a:latin typeface="+mj-lt"/>
                <a:cs typeface="Arial" panose="020B0604020202020204" pitchFamily="34" charset="0"/>
              </a:rPr>
              <a:t> – </a:t>
            </a:r>
            <a:r>
              <a:rPr lang="bg-BG" sz="2400" dirty="0">
                <a:solidFill>
                  <a:srgbClr val="0038A8"/>
                </a:solidFill>
                <a:latin typeface="+mj-lt"/>
                <a:cs typeface="Arial" panose="020B0604020202020204" pitchFamily="34" charset="0"/>
              </a:rPr>
              <a:t>Канал управляван с напрежение</a:t>
            </a:r>
          </a:p>
        </p:txBody>
      </p:sp>
    </p:spTree>
    <p:extLst>
      <p:ext uri="{BB962C8B-B14F-4D97-AF65-F5344CB8AC3E}">
        <p14:creationId xmlns:p14="http://schemas.microsoft.com/office/powerpoint/2010/main" val="3046515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AA3EA-B94C-8E6F-1EB1-62649E3D106C}"/>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Обещанието за по-добър ключ</a:t>
            </a:r>
          </a:p>
        </p:txBody>
      </p:sp>
      <p:sp>
        <p:nvSpPr>
          <p:cNvPr id="8" name="TextBox 7">
            <a:extLst>
              <a:ext uri="{FF2B5EF4-FFF2-40B4-BE49-F238E27FC236}">
                <a16:creationId xmlns:a16="http://schemas.microsoft.com/office/drawing/2014/main" id="{53D185A6-5CEC-67CA-7FDF-97D4CC568B03}"/>
              </a:ext>
            </a:extLst>
          </p:cNvPr>
          <p:cNvSpPr txBox="1"/>
          <p:nvPr/>
        </p:nvSpPr>
        <p:spPr>
          <a:xfrm>
            <a:off x="448096" y="994748"/>
            <a:ext cx="11463379" cy="3416320"/>
          </a:xfrm>
          <a:prstGeom prst="rect">
            <a:avLst/>
          </a:prstGeom>
          <a:noFill/>
        </p:spPr>
        <p:txBody>
          <a:bodyPr wrap="square">
            <a:spAutoFit/>
          </a:bodyPr>
          <a:lstStyle/>
          <a:p>
            <a:endParaRPr lang="en-US" dirty="0"/>
          </a:p>
          <a:p>
            <a:pPr fontAlgn="base"/>
            <a:r>
              <a:rPr lang="ru-RU" dirty="0"/>
              <a:t>Току-що прекарахме много време с биполярния транзистор (BJT). Видяхме, че е </a:t>
            </a:r>
            <a:r>
              <a:rPr lang="bg-BG" dirty="0"/>
              <a:t>полезен електронен елемент</a:t>
            </a:r>
            <a:r>
              <a:rPr lang="ru-RU" dirty="0"/>
              <a:t>, но като ключ има два основни недостатъка. Първо, контролира се по ток, което означава, че трябва постоянно да подаваме базов ток, за да го поддържаме включен, което води до разход на енергия. Второ, изключва се бавно поради времето за разсейване на неосновните носители.</a:t>
            </a:r>
            <a:endParaRPr lang="en-US" dirty="0"/>
          </a:p>
          <a:p>
            <a:pPr fontAlgn="base"/>
            <a:endParaRPr lang="en-US" dirty="0"/>
          </a:p>
          <a:p>
            <a:pPr fontAlgn="base"/>
            <a:r>
              <a:rPr lang="bg-BG" b="1" dirty="0"/>
              <a:t>Големият въпрос: </a:t>
            </a:r>
            <a:r>
              <a:rPr lang="ru-RU" dirty="0"/>
              <a:t>Това накара инженерите да се запитат: Можем ли да изградим ключ, който решава и двата проблема? Можем ли да проектираме </a:t>
            </a:r>
            <a:r>
              <a:rPr lang="bg-BG" dirty="0"/>
              <a:t>елемент</a:t>
            </a:r>
            <a:r>
              <a:rPr lang="ru-RU" dirty="0"/>
              <a:t>, което изисква почти никаква </a:t>
            </a:r>
            <a:r>
              <a:rPr lang="ru-RU" b="1" dirty="0"/>
              <a:t>енергия за </a:t>
            </a:r>
            <a:r>
              <a:rPr lang="ru-RU" dirty="0"/>
              <a:t>да го държи включен и който може да се изключи почти мигновено? Отговорът е да, и този </a:t>
            </a:r>
            <a:r>
              <a:rPr lang="bg-BG" dirty="0"/>
              <a:t>елемент </a:t>
            </a:r>
            <a:r>
              <a:rPr lang="ru-RU" dirty="0"/>
              <a:t>е </a:t>
            </a:r>
            <a:r>
              <a:rPr lang="ru-RU" b="1" dirty="0"/>
              <a:t>MOSFET</a:t>
            </a:r>
            <a:endParaRPr lang="en-US" dirty="0"/>
          </a:p>
          <a:p>
            <a:pPr fontAlgn="base"/>
            <a:endParaRPr lang="en-US" dirty="0"/>
          </a:p>
          <a:p>
            <a:r>
              <a:rPr lang="ru-RU" dirty="0"/>
              <a:t>MOSFET е най-произвежданият електронен елемент в човешката история. Милиарди от тях са в телефона в джоба ви. Разбирането как работи е от основно значение за съвременната електроника.</a:t>
            </a:r>
            <a:endParaRPr lang="en-US" dirty="0"/>
          </a:p>
        </p:txBody>
      </p:sp>
    </p:spTree>
    <p:extLst>
      <p:ext uri="{BB962C8B-B14F-4D97-AF65-F5344CB8AC3E}">
        <p14:creationId xmlns:p14="http://schemas.microsoft.com/office/powerpoint/2010/main" val="1912698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EC0ADD-5060-CA30-FFFC-7A14DAB85BE7}"/>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Структура на </a:t>
            </a:r>
            <a:r>
              <a:rPr lang="en-US" sz="2400" dirty="0">
                <a:solidFill>
                  <a:srgbClr val="0038A8"/>
                </a:solidFill>
                <a:latin typeface="+mj-lt"/>
                <a:cs typeface="Arial" panose="020B0604020202020204" pitchFamily="34" charset="0"/>
              </a:rPr>
              <a:t>MOSFET</a:t>
            </a:r>
            <a:endParaRPr lang="bg-BG" sz="2400" dirty="0">
              <a:solidFill>
                <a:srgbClr val="0038A8"/>
              </a:solidFill>
              <a:latin typeface="+mj-lt"/>
              <a:cs typeface="Arial" panose="020B0604020202020204" pitchFamily="34" charset="0"/>
            </a:endParaRPr>
          </a:p>
        </p:txBody>
      </p:sp>
      <p:grpSp>
        <p:nvGrpSpPr>
          <p:cNvPr id="3" name="Group 2">
            <a:extLst>
              <a:ext uri="{FF2B5EF4-FFF2-40B4-BE49-F238E27FC236}">
                <a16:creationId xmlns:a16="http://schemas.microsoft.com/office/drawing/2014/main" id="{41003246-9F1B-4971-69FB-792DF069D32F}"/>
              </a:ext>
            </a:extLst>
          </p:cNvPr>
          <p:cNvGrpSpPr/>
          <p:nvPr/>
        </p:nvGrpSpPr>
        <p:grpSpPr>
          <a:xfrm>
            <a:off x="408144" y="1800511"/>
            <a:ext cx="5341643" cy="2737940"/>
            <a:chOff x="1703823" y="801229"/>
            <a:chExt cx="6341263" cy="3343275"/>
          </a:xfrm>
        </p:grpSpPr>
        <p:pic>
          <p:nvPicPr>
            <p:cNvPr id="4" name="Picture 4">
              <a:extLst>
                <a:ext uri="{FF2B5EF4-FFF2-40B4-BE49-F238E27FC236}">
                  <a16:creationId xmlns:a16="http://schemas.microsoft.com/office/drawing/2014/main" id="{8AAC0F25-E07E-A43D-4742-CD6BB638FF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823" y="801229"/>
              <a:ext cx="5257800" cy="334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a:extLst>
                <a:ext uri="{FF2B5EF4-FFF2-40B4-BE49-F238E27FC236}">
                  <a16:creationId xmlns:a16="http://schemas.microsoft.com/office/drawing/2014/main" id="{507D7FC0-471D-439D-C398-2715A8DC95E2}"/>
                </a:ext>
              </a:extLst>
            </p:cNvPr>
            <p:cNvSpPr txBox="1"/>
            <p:nvPr/>
          </p:nvSpPr>
          <p:spPr>
            <a:xfrm>
              <a:off x="5912859" y="1310661"/>
              <a:ext cx="2132227" cy="307777"/>
            </a:xfrm>
            <a:prstGeom prst="rect">
              <a:avLst/>
            </a:prstGeom>
            <a:noFill/>
          </p:spPr>
          <p:txBody>
            <a:bodyPr wrap="square" rtlCol="0">
              <a:spAutoFit/>
            </a:bodyPr>
            <a:lstStyle/>
            <a:p>
              <a:r>
                <a:rPr lang="bg-BG" sz="1400" dirty="0"/>
                <a:t>Метален електрод</a:t>
              </a:r>
              <a:endParaRPr lang="en-US" sz="1400" dirty="0"/>
            </a:p>
          </p:txBody>
        </p:sp>
        <p:sp>
          <p:nvSpPr>
            <p:cNvPr id="6" name="TextBox 5">
              <a:extLst>
                <a:ext uri="{FF2B5EF4-FFF2-40B4-BE49-F238E27FC236}">
                  <a16:creationId xmlns:a16="http://schemas.microsoft.com/office/drawing/2014/main" id="{763FE049-E3E2-DB59-689B-D5FEC990FF58}"/>
                </a:ext>
              </a:extLst>
            </p:cNvPr>
            <p:cNvSpPr txBox="1"/>
            <p:nvPr/>
          </p:nvSpPr>
          <p:spPr>
            <a:xfrm>
              <a:off x="1800484" y="1304998"/>
              <a:ext cx="761770" cy="375824"/>
            </a:xfrm>
            <a:prstGeom prst="rect">
              <a:avLst/>
            </a:prstGeom>
            <a:noFill/>
          </p:spPr>
          <p:txBody>
            <a:bodyPr wrap="square" rtlCol="0">
              <a:spAutoFit/>
            </a:bodyPr>
            <a:lstStyle/>
            <a:p>
              <a:r>
                <a:rPr lang="en-US" sz="1400" dirty="0"/>
                <a:t>SiO</a:t>
              </a:r>
              <a:r>
                <a:rPr lang="en-US" sz="1400" baseline="-25000" dirty="0"/>
                <a:t>2</a:t>
              </a:r>
            </a:p>
          </p:txBody>
        </p:sp>
        <p:sp>
          <p:nvSpPr>
            <p:cNvPr id="7" name="TextBox 6">
              <a:extLst>
                <a:ext uri="{FF2B5EF4-FFF2-40B4-BE49-F238E27FC236}">
                  <a16:creationId xmlns:a16="http://schemas.microsoft.com/office/drawing/2014/main" id="{DDA1DACE-C003-0F4C-91EB-021E5AF87559}"/>
                </a:ext>
              </a:extLst>
            </p:cNvPr>
            <p:cNvSpPr txBox="1"/>
            <p:nvPr/>
          </p:nvSpPr>
          <p:spPr>
            <a:xfrm>
              <a:off x="4353818" y="848666"/>
              <a:ext cx="578222" cy="307777"/>
            </a:xfrm>
            <a:prstGeom prst="rect">
              <a:avLst/>
            </a:prstGeom>
            <a:noFill/>
          </p:spPr>
          <p:txBody>
            <a:bodyPr wrap="square" rtlCol="0">
              <a:spAutoFit/>
            </a:bodyPr>
            <a:lstStyle/>
            <a:p>
              <a:r>
                <a:rPr lang="en-US" sz="1400" dirty="0"/>
                <a:t>U</a:t>
              </a:r>
              <a:r>
                <a:rPr lang="en-US" sz="1400" baseline="-25000" dirty="0"/>
                <a:t>GS</a:t>
              </a:r>
            </a:p>
          </p:txBody>
        </p:sp>
        <p:sp>
          <p:nvSpPr>
            <p:cNvPr id="8" name="TextBox 7">
              <a:extLst>
                <a:ext uri="{FF2B5EF4-FFF2-40B4-BE49-F238E27FC236}">
                  <a16:creationId xmlns:a16="http://schemas.microsoft.com/office/drawing/2014/main" id="{8FF8F65F-2A36-DE71-E0F3-79758F5C2442}"/>
                </a:ext>
              </a:extLst>
            </p:cNvPr>
            <p:cNvSpPr txBox="1"/>
            <p:nvPr/>
          </p:nvSpPr>
          <p:spPr>
            <a:xfrm>
              <a:off x="5436096" y="866001"/>
              <a:ext cx="576064" cy="307777"/>
            </a:xfrm>
            <a:prstGeom prst="rect">
              <a:avLst/>
            </a:prstGeom>
            <a:noFill/>
          </p:spPr>
          <p:txBody>
            <a:bodyPr wrap="square" rtlCol="0">
              <a:spAutoFit/>
            </a:bodyPr>
            <a:lstStyle/>
            <a:p>
              <a:r>
                <a:rPr lang="en-US" sz="1400" dirty="0"/>
                <a:t>U</a:t>
              </a:r>
              <a:r>
                <a:rPr lang="en-US" sz="1400" baseline="-25000" dirty="0"/>
                <a:t>DS</a:t>
              </a:r>
            </a:p>
          </p:txBody>
        </p:sp>
        <p:sp>
          <p:nvSpPr>
            <p:cNvPr id="9" name="TextBox 8">
              <a:extLst>
                <a:ext uri="{FF2B5EF4-FFF2-40B4-BE49-F238E27FC236}">
                  <a16:creationId xmlns:a16="http://schemas.microsoft.com/office/drawing/2014/main" id="{F40413B9-EAAA-E3F7-E57F-B19A1351F7ED}"/>
                </a:ext>
              </a:extLst>
            </p:cNvPr>
            <p:cNvSpPr txBox="1"/>
            <p:nvPr/>
          </p:nvSpPr>
          <p:spPr>
            <a:xfrm>
              <a:off x="2847577" y="3049216"/>
              <a:ext cx="932335" cy="375824"/>
            </a:xfrm>
            <a:prstGeom prst="rect">
              <a:avLst/>
            </a:prstGeom>
            <a:noFill/>
          </p:spPr>
          <p:txBody>
            <a:bodyPr wrap="square" rtlCol="0">
              <a:spAutoFit/>
            </a:bodyPr>
            <a:lstStyle/>
            <a:p>
              <a:r>
                <a:rPr lang="bg-BG" sz="1400" dirty="0"/>
                <a:t>Канал</a:t>
              </a:r>
              <a:endParaRPr lang="en-US" sz="1400" dirty="0"/>
            </a:p>
          </p:txBody>
        </p:sp>
        <p:sp>
          <p:nvSpPr>
            <p:cNvPr id="10" name="TextBox 9">
              <a:extLst>
                <a:ext uri="{FF2B5EF4-FFF2-40B4-BE49-F238E27FC236}">
                  <a16:creationId xmlns:a16="http://schemas.microsoft.com/office/drawing/2014/main" id="{DD38304F-75D6-8795-13B6-2F081568BCEF}"/>
                </a:ext>
              </a:extLst>
            </p:cNvPr>
            <p:cNvSpPr txBox="1"/>
            <p:nvPr/>
          </p:nvSpPr>
          <p:spPr>
            <a:xfrm>
              <a:off x="2267744" y="3377624"/>
              <a:ext cx="1290230" cy="307777"/>
            </a:xfrm>
            <a:prstGeom prst="rect">
              <a:avLst/>
            </a:prstGeom>
            <a:noFill/>
          </p:spPr>
          <p:txBody>
            <a:bodyPr wrap="square" rtlCol="0">
              <a:spAutoFit/>
            </a:bodyPr>
            <a:lstStyle/>
            <a:p>
              <a:r>
                <a:rPr lang="bg-BG" sz="1400" dirty="0"/>
                <a:t>Подложка</a:t>
              </a:r>
              <a:endParaRPr lang="en-US" sz="1400" dirty="0"/>
            </a:p>
          </p:txBody>
        </p:sp>
        <p:sp>
          <p:nvSpPr>
            <p:cNvPr id="11" name="TextBox 10">
              <a:extLst>
                <a:ext uri="{FF2B5EF4-FFF2-40B4-BE49-F238E27FC236}">
                  <a16:creationId xmlns:a16="http://schemas.microsoft.com/office/drawing/2014/main" id="{B5F370A1-521C-BF42-2BEA-28EADE0D5611}"/>
                </a:ext>
              </a:extLst>
            </p:cNvPr>
            <p:cNvSpPr txBox="1"/>
            <p:nvPr/>
          </p:nvSpPr>
          <p:spPr>
            <a:xfrm>
              <a:off x="4332723" y="3834640"/>
              <a:ext cx="576064" cy="307777"/>
            </a:xfrm>
            <a:prstGeom prst="rect">
              <a:avLst/>
            </a:prstGeom>
            <a:noFill/>
          </p:spPr>
          <p:txBody>
            <a:bodyPr wrap="square" rtlCol="0">
              <a:spAutoFit/>
            </a:bodyPr>
            <a:lstStyle/>
            <a:p>
              <a:r>
                <a:rPr lang="en-US" sz="1400" dirty="0"/>
                <a:t>U</a:t>
              </a:r>
              <a:r>
                <a:rPr lang="en-US" sz="1400" baseline="-25000" dirty="0"/>
                <a:t>BS</a:t>
              </a:r>
            </a:p>
          </p:txBody>
        </p:sp>
      </p:grpSp>
      <p:sp>
        <p:nvSpPr>
          <p:cNvPr id="13" name="TextBox 12">
            <a:extLst>
              <a:ext uri="{FF2B5EF4-FFF2-40B4-BE49-F238E27FC236}">
                <a16:creationId xmlns:a16="http://schemas.microsoft.com/office/drawing/2014/main" id="{1FCDD174-A8CD-91EA-36E0-E988FDF33E08}"/>
              </a:ext>
            </a:extLst>
          </p:cNvPr>
          <p:cNvSpPr txBox="1"/>
          <p:nvPr/>
        </p:nvSpPr>
        <p:spPr>
          <a:xfrm>
            <a:off x="198147" y="960855"/>
            <a:ext cx="6107462" cy="369332"/>
          </a:xfrm>
          <a:prstGeom prst="rect">
            <a:avLst/>
          </a:prstGeom>
          <a:noFill/>
        </p:spPr>
        <p:txBody>
          <a:bodyPr wrap="square">
            <a:spAutoFit/>
          </a:bodyPr>
          <a:lstStyle/>
          <a:p>
            <a:r>
              <a:rPr lang="de-DE" sz="1800" b="1" i="0" u="none" strike="noStrike" dirty="0" err="1">
                <a:solidFill>
                  <a:srgbClr val="1A1C1E"/>
                </a:solidFill>
                <a:effectLst/>
                <a:latin typeface="Arial" panose="020B0604020202020204" pitchFamily="34" charset="0"/>
              </a:rPr>
              <a:t>M</a:t>
            </a:r>
            <a:r>
              <a:rPr lang="de-DE" sz="1800" b="0" i="0" u="none" strike="noStrike" dirty="0" err="1">
                <a:solidFill>
                  <a:srgbClr val="1A1C1E"/>
                </a:solidFill>
                <a:effectLst/>
                <a:latin typeface="Arial" panose="020B0604020202020204" pitchFamily="34" charset="0"/>
              </a:rPr>
              <a:t>etal</a:t>
            </a:r>
            <a:r>
              <a:rPr lang="de-DE" sz="1800" b="0" i="0" u="none" strike="noStrike" dirty="0">
                <a:solidFill>
                  <a:srgbClr val="1A1C1E"/>
                </a:solidFill>
                <a:effectLst/>
                <a:latin typeface="Arial" panose="020B0604020202020204" pitchFamily="34" charset="0"/>
              </a:rPr>
              <a:t>-</a:t>
            </a:r>
            <a:r>
              <a:rPr lang="de-DE" sz="1800" b="1" i="0" u="none" strike="noStrike" dirty="0">
                <a:solidFill>
                  <a:srgbClr val="1A1C1E"/>
                </a:solidFill>
                <a:effectLst/>
                <a:latin typeface="Arial" panose="020B0604020202020204" pitchFamily="34" charset="0"/>
              </a:rPr>
              <a:t>O</a:t>
            </a:r>
            <a:r>
              <a:rPr lang="de-DE" sz="1800" b="0" i="0" u="none" strike="noStrike" dirty="0">
                <a:solidFill>
                  <a:srgbClr val="1A1C1E"/>
                </a:solidFill>
                <a:effectLst/>
                <a:latin typeface="Arial" panose="020B0604020202020204" pitchFamily="34" charset="0"/>
              </a:rPr>
              <a:t>xide-</a:t>
            </a:r>
            <a:r>
              <a:rPr lang="de-DE" sz="1800" b="1" i="0" u="none" strike="noStrike" dirty="0">
                <a:solidFill>
                  <a:srgbClr val="1A1C1E"/>
                </a:solidFill>
                <a:effectLst/>
                <a:latin typeface="Arial" panose="020B0604020202020204" pitchFamily="34" charset="0"/>
              </a:rPr>
              <a:t>S</a:t>
            </a:r>
            <a:r>
              <a:rPr lang="de-DE" sz="1800" b="0" i="0" u="none" strike="noStrike" dirty="0">
                <a:solidFill>
                  <a:srgbClr val="1A1C1E"/>
                </a:solidFill>
                <a:effectLst/>
                <a:latin typeface="Arial" panose="020B0604020202020204" pitchFamily="34" charset="0"/>
              </a:rPr>
              <a:t>emiconductor </a:t>
            </a:r>
            <a:r>
              <a:rPr lang="de-DE" sz="1800" b="1" i="0" u="none" strike="noStrike" dirty="0">
                <a:solidFill>
                  <a:srgbClr val="1A1C1E"/>
                </a:solidFill>
                <a:effectLst/>
                <a:latin typeface="Arial" panose="020B0604020202020204" pitchFamily="34" charset="0"/>
              </a:rPr>
              <a:t>F</a:t>
            </a:r>
            <a:r>
              <a:rPr lang="de-DE" sz="1800" b="0" i="0" u="none" strike="noStrike" dirty="0">
                <a:solidFill>
                  <a:srgbClr val="1A1C1E"/>
                </a:solidFill>
                <a:effectLst/>
                <a:latin typeface="Arial" panose="020B0604020202020204" pitchFamily="34" charset="0"/>
              </a:rPr>
              <a:t>ield-</a:t>
            </a:r>
            <a:r>
              <a:rPr lang="de-DE" sz="1800" b="1" i="0" u="none" strike="noStrike" dirty="0" err="1">
                <a:solidFill>
                  <a:srgbClr val="1A1C1E"/>
                </a:solidFill>
                <a:effectLst/>
                <a:latin typeface="Arial" panose="020B0604020202020204" pitchFamily="34" charset="0"/>
              </a:rPr>
              <a:t>E</a:t>
            </a:r>
            <a:r>
              <a:rPr lang="de-DE" sz="1800" b="0" i="0" u="none" strike="noStrike" dirty="0" err="1">
                <a:solidFill>
                  <a:srgbClr val="1A1C1E"/>
                </a:solidFill>
                <a:effectLst/>
                <a:latin typeface="Arial" panose="020B0604020202020204" pitchFamily="34" charset="0"/>
              </a:rPr>
              <a:t>ffect</a:t>
            </a:r>
            <a:r>
              <a:rPr lang="de-DE" sz="1800" b="0" i="0" u="none" strike="noStrike" dirty="0">
                <a:solidFill>
                  <a:srgbClr val="1A1C1E"/>
                </a:solidFill>
                <a:effectLst/>
                <a:latin typeface="Arial" panose="020B0604020202020204" pitchFamily="34" charset="0"/>
              </a:rPr>
              <a:t> </a:t>
            </a:r>
            <a:r>
              <a:rPr lang="de-DE" sz="1800" b="1" i="0" u="none" strike="noStrike" dirty="0">
                <a:solidFill>
                  <a:srgbClr val="1A1C1E"/>
                </a:solidFill>
                <a:effectLst/>
                <a:latin typeface="Arial" panose="020B0604020202020204" pitchFamily="34" charset="0"/>
              </a:rPr>
              <a:t>T</a:t>
            </a:r>
            <a:r>
              <a:rPr lang="de-DE" sz="1800" b="0" i="0" u="none" strike="noStrike" dirty="0">
                <a:solidFill>
                  <a:srgbClr val="1A1C1E"/>
                </a:solidFill>
                <a:effectLst/>
                <a:latin typeface="Arial" panose="020B0604020202020204" pitchFamily="34" charset="0"/>
              </a:rPr>
              <a:t>ransistor</a:t>
            </a:r>
            <a:endParaRPr lang="bg-BG" dirty="0"/>
          </a:p>
        </p:txBody>
      </p:sp>
      <p:sp>
        <p:nvSpPr>
          <p:cNvPr id="17" name="TextBox 16">
            <a:extLst>
              <a:ext uri="{FF2B5EF4-FFF2-40B4-BE49-F238E27FC236}">
                <a16:creationId xmlns:a16="http://schemas.microsoft.com/office/drawing/2014/main" id="{162610AE-0AF1-C531-9390-9F116D06A94E}"/>
              </a:ext>
            </a:extLst>
          </p:cNvPr>
          <p:cNvSpPr txBox="1"/>
          <p:nvPr/>
        </p:nvSpPr>
        <p:spPr>
          <a:xfrm>
            <a:off x="5814127" y="1839359"/>
            <a:ext cx="6034069" cy="3262432"/>
          </a:xfrm>
          <a:prstGeom prst="rect">
            <a:avLst/>
          </a:prstGeom>
          <a:noFill/>
        </p:spPr>
        <p:txBody>
          <a:bodyPr wrap="square">
            <a:spAutoFit/>
          </a:bodyPr>
          <a:lstStyle/>
          <a:p>
            <a:r>
              <a:rPr lang="en-US" sz="1800" i="0" dirty="0"/>
              <a:t>MOSFET</a:t>
            </a:r>
            <a:r>
              <a:rPr lang="bg-BG" sz="1800" i="0" dirty="0"/>
              <a:t> има четири области – сорс (</a:t>
            </a:r>
            <a:r>
              <a:rPr lang="en-US" sz="1800" i="0" dirty="0"/>
              <a:t>source – S</a:t>
            </a:r>
            <a:r>
              <a:rPr lang="bg-BG" sz="1800" i="0" dirty="0"/>
              <a:t>)</a:t>
            </a:r>
            <a:r>
              <a:rPr lang="en-US" sz="1800" i="0" dirty="0"/>
              <a:t>, </a:t>
            </a:r>
            <a:r>
              <a:rPr lang="bg-BG" sz="1800" i="0" dirty="0"/>
              <a:t>гейт (</a:t>
            </a:r>
            <a:r>
              <a:rPr lang="en-US" sz="1800" i="0" dirty="0"/>
              <a:t>gate – G</a:t>
            </a:r>
            <a:r>
              <a:rPr lang="bg-BG" sz="1800" i="0" dirty="0"/>
              <a:t>)</a:t>
            </a:r>
            <a:r>
              <a:rPr lang="en-US" sz="1800" i="0" dirty="0"/>
              <a:t>, </a:t>
            </a:r>
            <a:r>
              <a:rPr lang="bg-BG" sz="1800" i="0" dirty="0"/>
              <a:t>дрейн</a:t>
            </a:r>
            <a:r>
              <a:rPr lang="en-US" sz="1800" i="0" dirty="0"/>
              <a:t> </a:t>
            </a:r>
            <a:r>
              <a:rPr lang="bg-BG" sz="1800" i="0" dirty="0"/>
              <a:t>(</a:t>
            </a:r>
            <a:r>
              <a:rPr lang="en-US" sz="1800" i="0" dirty="0"/>
              <a:t>drain – D</a:t>
            </a:r>
            <a:r>
              <a:rPr lang="bg-BG" sz="1800" i="0" dirty="0"/>
              <a:t>) и подложка </a:t>
            </a:r>
            <a:r>
              <a:rPr lang="en-US" sz="1800" i="0" dirty="0"/>
              <a:t>(body - B). </a:t>
            </a:r>
          </a:p>
          <a:p>
            <a:endParaRPr lang="en-US" sz="1800" i="0" dirty="0"/>
          </a:p>
          <a:p>
            <a:r>
              <a:rPr lang="bg-BG" sz="1800" i="0" dirty="0"/>
              <a:t>Гейтът е изолиран от подложката с</a:t>
            </a:r>
            <a:r>
              <a:rPr lang="en-US" sz="1800" i="0" dirty="0"/>
              <a:t> </a:t>
            </a:r>
            <a:r>
              <a:rPr lang="bg-BG" sz="1800" i="0" dirty="0"/>
              <a:t>тънък </a:t>
            </a:r>
            <a:r>
              <a:rPr lang="bg-BG" dirty="0"/>
              <a:t>слой </a:t>
            </a:r>
            <a:r>
              <a:rPr lang="en-US" sz="1800" i="0" dirty="0"/>
              <a:t>SiO</a:t>
            </a:r>
            <a:r>
              <a:rPr lang="en-US" sz="1800" i="0" baseline="-25000" dirty="0"/>
              <a:t>2</a:t>
            </a:r>
            <a:r>
              <a:rPr lang="en-US" sz="1800" i="0" dirty="0"/>
              <a:t> </a:t>
            </a:r>
            <a:r>
              <a:rPr lang="bg-BG" sz="1800" i="0" dirty="0"/>
              <a:t>с дебелина </a:t>
            </a:r>
            <a:r>
              <a:rPr lang="en-US" sz="1800" i="0" dirty="0"/>
              <a:t>t</a:t>
            </a:r>
            <a:r>
              <a:rPr lang="en-US" sz="1800" i="0" baseline="-25000" dirty="0"/>
              <a:t>ox</a:t>
            </a:r>
            <a:r>
              <a:rPr lang="bg-BG" sz="1800" i="0" dirty="0"/>
              <a:t>. Повърхността на транзистора е покрита с дебел </a:t>
            </a:r>
            <a:r>
              <a:rPr lang="en-US" sz="1800" i="0" dirty="0"/>
              <a:t>SiO</a:t>
            </a:r>
            <a:r>
              <a:rPr lang="en-US" sz="1800" i="0" baseline="-25000" dirty="0"/>
              <a:t>2</a:t>
            </a:r>
            <a:r>
              <a:rPr lang="bg-BG" sz="1800" i="0" dirty="0"/>
              <a:t>.</a:t>
            </a:r>
            <a:r>
              <a:rPr lang="bg-BG" sz="1800" i="0" baseline="-25000" dirty="0"/>
              <a:t> </a:t>
            </a:r>
            <a:endParaRPr lang="en-US" sz="1800" i="0" dirty="0"/>
          </a:p>
          <a:p>
            <a:endParaRPr lang="bg-BG" sz="800" i="0" dirty="0"/>
          </a:p>
          <a:p>
            <a:r>
              <a:rPr lang="bg-BG" sz="1800" i="0" dirty="0"/>
              <a:t>Между сорса и дрейна се формира канал с дължина </a:t>
            </a:r>
            <a:r>
              <a:rPr lang="en-US" sz="1800" i="0" dirty="0"/>
              <a:t>L </a:t>
            </a:r>
            <a:r>
              <a:rPr lang="bg-BG" sz="1800" i="0" dirty="0"/>
              <a:t>и широчина </a:t>
            </a:r>
            <a:r>
              <a:rPr lang="en-US" sz="1800" i="0" dirty="0"/>
              <a:t>W</a:t>
            </a:r>
            <a:r>
              <a:rPr lang="bg-BG" sz="1800" i="0" dirty="0"/>
              <a:t>. </a:t>
            </a:r>
            <a:endParaRPr lang="en-US" sz="1800" i="0" dirty="0"/>
          </a:p>
          <a:p>
            <a:endParaRPr lang="en-US" dirty="0"/>
          </a:p>
          <a:p>
            <a:r>
              <a:rPr lang="bg-BG" sz="1800" i="0" dirty="0"/>
              <a:t>За </a:t>
            </a:r>
            <a:r>
              <a:rPr lang="en-US" dirty="0"/>
              <a:t>N</a:t>
            </a:r>
            <a:r>
              <a:rPr lang="en-US" sz="1800" i="0" dirty="0"/>
              <a:t>-</a:t>
            </a:r>
            <a:r>
              <a:rPr lang="bg-BG" sz="1800" i="0" dirty="0"/>
              <a:t>канален транзистор областите на сорса и дрейна са с </a:t>
            </a:r>
            <a:r>
              <a:rPr lang="en-US" sz="1800" i="0" dirty="0"/>
              <a:t>n</a:t>
            </a:r>
            <a:r>
              <a:rPr lang="bg-BG" sz="1800" i="0" baseline="30000" dirty="0"/>
              <a:t>+</a:t>
            </a:r>
            <a:r>
              <a:rPr lang="en-US" sz="1800" i="0" dirty="0"/>
              <a:t>-</a:t>
            </a:r>
            <a:r>
              <a:rPr lang="bg-BG" sz="1800" i="0" dirty="0"/>
              <a:t>тип проводимост, докато подложката е от </a:t>
            </a:r>
            <a:r>
              <a:rPr lang="en-US" sz="1800" i="0" dirty="0"/>
              <a:t>P</a:t>
            </a:r>
            <a:r>
              <a:rPr lang="bg-BG" sz="1800" i="0" dirty="0"/>
              <a:t>-тип. </a:t>
            </a:r>
            <a:endParaRPr lang="en-US" sz="1800" i="0" dirty="0"/>
          </a:p>
        </p:txBody>
      </p:sp>
    </p:spTree>
    <p:extLst>
      <p:ext uri="{BB962C8B-B14F-4D97-AF65-F5344CB8AC3E}">
        <p14:creationId xmlns:p14="http://schemas.microsoft.com/office/powerpoint/2010/main" val="1107971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450DC2-BF54-9A56-4315-89357F6B89AA}"/>
              </a:ext>
            </a:extLst>
          </p:cNvPr>
          <p:cNvSpPr txBox="1"/>
          <p:nvPr/>
        </p:nvSpPr>
        <p:spPr>
          <a:xfrm>
            <a:off x="-24680" y="166825"/>
            <a:ext cx="12216680" cy="461665"/>
          </a:xfrm>
          <a:prstGeom prst="rect">
            <a:avLst/>
          </a:prstGeom>
          <a:noFill/>
        </p:spPr>
        <p:txBody>
          <a:bodyPr wrap="square">
            <a:spAutoFit/>
          </a:bodyPr>
          <a:lstStyle/>
          <a:p>
            <a:pPr algn="ctr"/>
            <a:r>
              <a:rPr lang="en-US" sz="2400" dirty="0">
                <a:solidFill>
                  <a:srgbClr val="0038A8"/>
                </a:solidFill>
                <a:latin typeface="+mj-lt"/>
                <a:cs typeface="Arial" panose="020B0604020202020204" pitchFamily="34" charset="0"/>
              </a:rPr>
              <a:t>FAQ: The Body Diode</a:t>
            </a:r>
            <a:endParaRPr lang="bg-BG" sz="2400" dirty="0">
              <a:solidFill>
                <a:srgbClr val="0038A8"/>
              </a:solidFill>
              <a:latin typeface="+mj-lt"/>
              <a:cs typeface="Arial" panose="020B0604020202020204" pitchFamily="34" charset="0"/>
            </a:endParaRPr>
          </a:p>
        </p:txBody>
      </p:sp>
      <p:grpSp>
        <p:nvGrpSpPr>
          <p:cNvPr id="13" name="Group 12">
            <a:extLst>
              <a:ext uri="{FF2B5EF4-FFF2-40B4-BE49-F238E27FC236}">
                <a16:creationId xmlns:a16="http://schemas.microsoft.com/office/drawing/2014/main" id="{B2E3304A-C405-5559-F2A8-46CDFFF36E1A}"/>
              </a:ext>
            </a:extLst>
          </p:cNvPr>
          <p:cNvGrpSpPr/>
          <p:nvPr/>
        </p:nvGrpSpPr>
        <p:grpSpPr>
          <a:xfrm>
            <a:off x="906398" y="1781690"/>
            <a:ext cx="6065044" cy="3026950"/>
            <a:chOff x="1404588" y="1094476"/>
            <a:chExt cx="6065044" cy="3026950"/>
          </a:xfrm>
        </p:grpSpPr>
        <p:sp>
          <p:nvSpPr>
            <p:cNvPr id="73" name="Rectangle 72">
              <a:extLst>
                <a:ext uri="{FF2B5EF4-FFF2-40B4-BE49-F238E27FC236}">
                  <a16:creationId xmlns:a16="http://schemas.microsoft.com/office/drawing/2014/main" id="{54C894E1-8F1D-981B-0863-5D0A51DF62A2}"/>
                </a:ext>
              </a:extLst>
            </p:cNvPr>
            <p:cNvSpPr/>
            <p:nvPr/>
          </p:nvSpPr>
          <p:spPr>
            <a:xfrm>
              <a:off x="1404588" y="1755824"/>
              <a:ext cx="6065044" cy="1905000"/>
            </a:xfrm>
            <a:prstGeom prst="rect">
              <a:avLst/>
            </a:prstGeom>
            <a:solidFill>
              <a:schemeClr val="accent2">
                <a:lumMod val="40000"/>
                <a:lumOff val="60000"/>
              </a:schemeClr>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5EBF5569-6656-A2F4-2134-F47861B2D91D}"/>
                </a:ext>
              </a:extLst>
            </p:cNvPr>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7DBE18D8-2153-C41F-8221-E8EC110A47AD}"/>
                </a:ext>
              </a:extLst>
            </p:cNvPr>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6786784E-77F0-9D8F-2E52-81DCAA0F1625}"/>
                </a:ext>
              </a:extLst>
            </p:cNvPr>
            <p:cNvSpPr>
              <a:spLocks noChangeArrowheads="1"/>
            </p:cNvSpPr>
            <p:nvPr/>
          </p:nvSpPr>
          <p:spPr bwMode="auto">
            <a:xfrm>
              <a:off x="5579876"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77" name="Rectangle 76">
              <a:extLst>
                <a:ext uri="{FF2B5EF4-FFF2-40B4-BE49-F238E27FC236}">
                  <a16:creationId xmlns:a16="http://schemas.microsoft.com/office/drawing/2014/main" id="{522B135D-58F0-0A37-9FFD-C73A63093A0A}"/>
                </a:ext>
              </a:extLst>
            </p:cNvPr>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78" name="Rectangle 77">
              <a:extLst>
                <a:ext uri="{FF2B5EF4-FFF2-40B4-BE49-F238E27FC236}">
                  <a16:creationId xmlns:a16="http://schemas.microsoft.com/office/drawing/2014/main" id="{9E785847-A14D-1421-9D69-0E2DA7347B5C}"/>
                </a:ext>
              </a:extLst>
            </p:cNvPr>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80" name="Group 79">
              <a:extLst>
                <a:ext uri="{FF2B5EF4-FFF2-40B4-BE49-F238E27FC236}">
                  <a16:creationId xmlns:a16="http://schemas.microsoft.com/office/drawing/2014/main" id="{FB7A28B1-31FA-7DA9-CB45-E8414AA38993}"/>
                </a:ext>
              </a:extLst>
            </p:cNvPr>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01" name="Rectangle 100">
                <a:extLst>
                  <a:ext uri="{FF2B5EF4-FFF2-40B4-BE49-F238E27FC236}">
                    <a16:creationId xmlns:a16="http://schemas.microsoft.com/office/drawing/2014/main" id="{D261ABB8-F64B-2242-7375-D619B1E0DF16}"/>
                  </a:ext>
                </a:extLst>
              </p:cNvPr>
              <p:cNvSpPr/>
              <p:nvPr/>
            </p:nvSpPr>
            <p:spPr>
              <a:xfrm>
                <a:off x="1544637" y="2819400"/>
                <a:ext cx="1960563" cy="4572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1769DA22-E004-9103-DA67-EDB4E4937D18}"/>
                  </a:ext>
                </a:extLst>
              </p:cNvPr>
              <p:cNvSpPr/>
              <p:nvPr/>
            </p:nvSpPr>
            <p:spPr>
              <a:xfrm>
                <a:off x="3505200" y="2819400"/>
                <a:ext cx="304800" cy="2286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2D5E4B38-DCF5-A1D2-9934-3D6833A96873}"/>
                  </a:ext>
                </a:extLst>
              </p:cNvPr>
              <p:cNvSpPr/>
              <p:nvPr/>
            </p:nvSpPr>
            <p:spPr>
              <a:xfrm>
                <a:off x="3276600" y="2819400"/>
                <a:ext cx="533400" cy="4572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F824E458-69DE-2201-F904-C5042F4D40CF}"/>
                </a:ext>
              </a:extLst>
            </p:cNvPr>
            <p:cNvGrpSpPr/>
            <p:nvPr/>
          </p:nvGrpSpPr>
          <p:grpSpPr>
            <a:xfrm flipH="1">
              <a:off x="5204268" y="1755823"/>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98" name="Rectangle 97">
                <a:extLst>
                  <a:ext uri="{FF2B5EF4-FFF2-40B4-BE49-F238E27FC236}">
                    <a16:creationId xmlns:a16="http://schemas.microsoft.com/office/drawing/2014/main" id="{8C15A931-DD46-049A-9C3C-90F890B8F52B}"/>
                  </a:ext>
                </a:extLst>
              </p:cNvPr>
              <p:cNvSpPr/>
              <p:nvPr/>
            </p:nvSpPr>
            <p:spPr>
              <a:xfrm>
                <a:off x="1544637" y="2819400"/>
                <a:ext cx="1960563" cy="4572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250E1580-4E03-5A5A-744A-9110C1641608}"/>
                  </a:ext>
                </a:extLst>
              </p:cNvPr>
              <p:cNvSpPr/>
              <p:nvPr/>
            </p:nvSpPr>
            <p:spPr>
              <a:xfrm>
                <a:off x="3505200" y="2819400"/>
                <a:ext cx="304800" cy="228600"/>
              </a:xfrm>
              <a:prstGeom prst="rect">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48070C3-0835-30F3-1520-8B0A88A91E39}"/>
                  </a:ext>
                </a:extLst>
              </p:cNvPr>
              <p:cNvSpPr/>
              <p:nvPr/>
            </p:nvSpPr>
            <p:spPr>
              <a:xfrm>
                <a:off x="3276600" y="2819400"/>
                <a:ext cx="533400" cy="457200"/>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 name="TextBox 14">
              <a:extLst>
                <a:ext uri="{FF2B5EF4-FFF2-40B4-BE49-F238E27FC236}">
                  <a16:creationId xmlns:a16="http://schemas.microsoft.com/office/drawing/2014/main" id="{FBC81F8B-EA9A-052C-4686-EA7926CC4F7C}"/>
                </a:ext>
              </a:extLst>
            </p:cNvPr>
            <p:cNvSpPr txBox="1">
              <a:spLocks noChangeArrowheads="1"/>
            </p:cNvSpPr>
            <p:nvPr/>
          </p:nvSpPr>
          <p:spPr bwMode="auto">
            <a:xfrm>
              <a:off x="4223279" y="3207786"/>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p>
          </p:txBody>
        </p:sp>
        <p:sp>
          <p:nvSpPr>
            <p:cNvPr id="83" name="TextBox 68">
              <a:extLst>
                <a:ext uri="{FF2B5EF4-FFF2-40B4-BE49-F238E27FC236}">
                  <a16:creationId xmlns:a16="http://schemas.microsoft.com/office/drawing/2014/main" id="{F3413DAA-6FBC-DE5F-E28D-FDC8A3B3E60A}"/>
                </a:ext>
              </a:extLst>
            </p:cNvPr>
            <p:cNvSpPr txBox="1">
              <a:spLocks noChangeArrowheads="1"/>
            </p:cNvSpPr>
            <p:nvPr/>
          </p:nvSpPr>
          <p:spPr bwMode="auto">
            <a:xfrm>
              <a:off x="6588809" y="184345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t>n+</a:t>
              </a:r>
            </a:p>
          </p:txBody>
        </p:sp>
        <p:sp>
          <p:nvSpPr>
            <p:cNvPr id="84" name="TextBox 68">
              <a:extLst>
                <a:ext uri="{FF2B5EF4-FFF2-40B4-BE49-F238E27FC236}">
                  <a16:creationId xmlns:a16="http://schemas.microsoft.com/office/drawing/2014/main" id="{78BA5343-14DA-1009-B8CD-FB3F00A9C822}"/>
                </a:ext>
              </a:extLst>
            </p:cNvPr>
            <p:cNvSpPr txBox="1">
              <a:spLocks noChangeArrowheads="1"/>
            </p:cNvSpPr>
            <p:nvPr/>
          </p:nvSpPr>
          <p:spPr bwMode="auto">
            <a:xfrm>
              <a:off x="1783175" y="193095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t>n+</a:t>
              </a:r>
            </a:p>
          </p:txBody>
        </p:sp>
        <p:cxnSp>
          <p:nvCxnSpPr>
            <p:cNvPr id="85" name="Straight Connector 84">
              <a:extLst>
                <a:ext uri="{FF2B5EF4-FFF2-40B4-BE49-F238E27FC236}">
                  <a16:creationId xmlns:a16="http://schemas.microsoft.com/office/drawing/2014/main" id="{F7AA266B-EF50-7899-677D-6DAF63163F85}"/>
                </a:ext>
              </a:extLst>
            </p:cNvPr>
            <p:cNvCxnSpPr>
              <a:stCxn id="78"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86" name="Straight Connector 85">
              <a:extLst>
                <a:ext uri="{FF2B5EF4-FFF2-40B4-BE49-F238E27FC236}">
                  <a16:creationId xmlns:a16="http://schemas.microsoft.com/office/drawing/2014/main" id="{217885DC-1F06-0825-AC7E-4E4D3E31A820}"/>
                </a:ext>
              </a:extLst>
            </p:cNvPr>
            <p:cNvCxnSpPr>
              <a:stCxn id="75"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87" name="Straight Connector 86">
              <a:extLst>
                <a:ext uri="{FF2B5EF4-FFF2-40B4-BE49-F238E27FC236}">
                  <a16:creationId xmlns:a16="http://schemas.microsoft.com/office/drawing/2014/main" id="{427A9387-6764-0CAA-CDDC-B6BF79747723}"/>
                </a:ext>
              </a:extLst>
            </p:cNvPr>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93" name="TextBox 92">
              <a:extLst>
                <a:ext uri="{FF2B5EF4-FFF2-40B4-BE49-F238E27FC236}">
                  <a16:creationId xmlns:a16="http://schemas.microsoft.com/office/drawing/2014/main" id="{92DD015C-DF01-63C7-4604-76BD7C994713}"/>
                </a:ext>
              </a:extLst>
            </p:cNvPr>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94" name="TextBox 93">
              <a:extLst>
                <a:ext uri="{FF2B5EF4-FFF2-40B4-BE49-F238E27FC236}">
                  <a16:creationId xmlns:a16="http://schemas.microsoft.com/office/drawing/2014/main" id="{7148C7CF-CD67-5D9F-5441-65E27C408460}"/>
                </a:ext>
              </a:extLst>
            </p:cNvPr>
            <p:cNvSpPr txBox="1"/>
            <p:nvPr/>
          </p:nvSpPr>
          <p:spPr>
            <a:xfrm>
              <a:off x="2973623" y="1211977"/>
              <a:ext cx="391528" cy="338554"/>
            </a:xfrm>
            <a:prstGeom prst="rect">
              <a:avLst/>
            </a:prstGeom>
            <a:noFill/>
          </p:spPr>
          <p:txBody>
            <a:bodyPr wrap="square" rtlCol="0">
              <a:spAutoFit/>
            </a:bodyPr>
            <a:lstStyle/>
            <a:p>
              <a:r>
                <a:rPr lang="en-US" sz="1600" dirty="0"/>
                <a:t>S</a:t>
              </a:r>
            </a:p>
          </p:txBody>
        </p:sp>
        <p:cxnSp>
          <p:nvCxnSpPr>
            <p:cNvPr id="96" name="Straight Connector 95">
              <a:extLst>
                <a:ext uri="{FF2B5EF4-FFF2-40B4-BE49-F238E27FC236}">
                  <a16:creationId xmlns:a16="http://schemas.microsoft.com/office/drawing/2014/main" id="{A3DA6797-2868-D063-0160-37FFF55793BC}"/>
                </a:ext>
              </a:extLst>
            </p:cNvPr>
            <p:cNvCxnSpPr>
              <a:cxnSpLocks/>
              <a:endCxn id="76"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97" name="TextBox 96">
              <a:extLst>
                <a:ext uri="{FF2B5EF4-FFF2-40B4-BE49-F238E27FC236}">
                  <a16:creationId xmlns:a16="http://schemas.microsoft.com/office/drawing/2014/main" id="{60A956AF-E550-61A4-C2C6-980C761AFEEE}"/>
                </a:ext>
              </a:extLst>
            </p:cNvPr>
            <p:cNvSpPr txBox="1"/>
            <p:nvPr/>
          </p:nvSpPr>
          <p:spPr>
            <a:xfrm>
              <a:off x="5927499" y="1302970"/>
              <a:ext cx="391528" cy="338554"/>
            </a:xfrm>
            <a:prstGeom prst="rect">
              <a:avLst/>
            </a:prstGeom>
            <a:noFill/>
          </p:spPr>
          <p:txBody>
            <a:bodyPr wrap="square" rtlCol="0">
              <a:spAutoFit/>
            </a:bodyPr>
            <a:lstStyle/>
            <a:p>
              <a:r>
                <a:rPr lang="en-US" sz="1600" dirty="0"/>
                <a:t>D</a:t>
              </a:r>
            </a:p>
          </p:txBody>
        </p:sp>
      </p:grpSp>
      <p:sp>
        <p:nvSpPr>
          <p:cNvPr id="115" name="TextBox 14">
            <a:extLst>
              <a:ext uri="{FF2B5EF4-FFF2-40B4-BE49-F238E27FC236}">
                <a16:creationId xmlns:a16="http://schemas.microsoft.com/office/drawing/2014/main" id="{A1015E25-9844-52A4-695B-864D581B9957}"/>
              </a:ext>
            </a:extLst>
          </p:cNvPr>
          <p:cNvSpPr txBox="1">
            <a:spLocks noChangeArrowheads="1"/>
          </p:cNvSpPr>
          <p:nvPr/>
        </p:nvSpPr>
        <p:spPr bwMode="auto">
          <a:xfrm>
            <a:off x="1561607" y="4500438"/>
            <a:ext cx="7817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i="0" dirty="0"/>
              <a:t>B</a:t>
            </a:r>
          </a:p>
        </p:txBody>
      </p:sp>
      <p:grpSp>
        <p:nvGrpSpPr>
          <p:cNvPr id="126" name="Group 125">
            <a:extLst>
              <a:ext uri="{FF2B5EF4-FFF2-40B4-BE49-F238E27FC236}">
                <a16:creationId xmlns:a16="http://schemas.microsoft.com/office/drawing/2014/main" id="{D8C99E46-F704-4053-7F1C-CC376D0F75FB}"/>
              </a:ext>
            </a:extLst>
          </p:cNvPr>
          <p:cNvGrpSpPr/>
          <p:nvPr/>
        </p:nvGrpSpPr>
        <p:grpSpPr>
          <a:xfrm>
            <a:off x="5565841" y="2802831"/>
            <a:ext cx="337128" cy="975835"/>
            <a:chOff x="8423563" y="2551505"/>
            <a:chExt cx="337128" cy="975835"/>
          </a:xfrm>
        </p:grpSpPr>
        <p:cxnSp>
          <p:nvCxnSpPr>
            <p:cNvPr id="119" name="Straight Connector 118">
              <a:extLst>
                <a:ext uri="{FF2B5EF4-FFF2-40B4-BE49-F238E27FC236}">
                  <a16:creationId xmlns:a16="http://schemas.microsoft.com/office/drawing/2014/main" id="{804722C4-C50F-B3F2-B9B6-9734D2949D37}"/>
                </a:ext>
              </a:extLst>
            </p:cNvPr>
            <p:cNvCxnSpPr/>
            <p:nvPr/>
          </p:nvCxnSpPr>
          <p:spPr>
            <a:xfrm>
              <a:off x="8423564" y="2899999"/>
              <a:ext cx="33712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B52B7846-B57D-B3C3-EE74-02F49AF981B1}"/>
                </a:ext>
              </a:extLst>
            </p:cNvPr>
            <p:cNvCxnSpPr/>
            <p:nvPr/>
          </p:nvCxnSpPr>
          <p:spPr>
            <a:xfrm>
              <a:off x="8592127" y="2551505"/>
              <a:ext cx="0" cy="3484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4" name="Isosceles Triangle 123">
              <a:extLst>
                <a:ext uri="{FF2B5EF4-FFF2-40B4-BE49-F238E27FC236}">
                  <a16:creationId xmlns:a16="http://schemas.microsoft.com/office/drawing/2014/main" id="{AF88B6EF-DAFD-833E-F915-8BBE40F4AD14}"/>
                </a:ext>
              </a:extLst>
            </p:cNvPr>
            <p:cNvSpPr/>
            <p:nvPr/>
          </p:nvSpPr>
          <p:spPr>
            <a:xfrm>
              <a:off x="8423563" y="2928791"/>
              <a:ext cx="337127" cy="260993"/>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25" name="Straight Connector 124">
              <a:extLst>
                <a:ext uri="{FF2B5EF4-FFF2-40B4-BE49-F238E27FC236}">
                  <a16:creationId xmlns:a16="http://schemas.microsoft.com/office/drawing/2014/main" id="{725F7FBD-F44D-9585-C08F-81F1EEB645A3}"/>
                </a:ext>
              </a:extLst>
            </p:cNvPr>
            <p:cNvCxnSpPr/>
            <p:nvPr/>
          </p:nvCxnSpPr>
          <p:spPr>
            <a:xfrm>
              <a:off x="8603671" y="3178846"/>
              <a:ext cx="0" cy="3484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33" name="TextBox 132">
            <a:extLst>
              <a:ext uri="{FF2B5EF4-FFF2-40B4-BE49-F238E27FC236}">
                <a16:creationId xmlns:a16="http://schemas.microsoft.com/office/drawing/2014/main" id="{5B97C0EE-9D41-8301-ACE9-92CD2BA0B2A9}"/>
              </a:ext>
            </a:extLst>
          </p:cNvPr>
          <p:cNvSpPr txBox="1"/>
          <p:nvPr/>
        </p:nvSpPr>
        <p:spPr>
          <a:xfrm>
            <a:off x="7190890" y="1638250"/>
            <a:ext cx="4802528" cy="2677656"/>
          </a:xfrm>
          <a:prstGeom prst="rect">
            <a:avLst/>
          </a:prstGeom>
          <a:noFill/>
        </p:spPr>
        <p:txBody>
          <a:bodyPr wrap="square">
            <a:spAutoFit/>
          </a:bodyPr>
          <a:lstStyle/>
          <a:p>
            <a:r>
              <a:rPr lang="ru-RU" sz="1400" b="0" i="0" u="none" strike="noStrike" dirty="0">
                <a:solidFill>
                  <a:srgbClr val="1A1C1E"/>
                </a:solidFill>
                <a:effectLst/>
                <a:latin typeface="Arial" panose="020B0604020202020204" pitchFamily="34" charset="0"/>
              </a:rPr>
              <a:t>Този ​​P-N преход между </a:t>
            </a:r>
            <a:r>
              <a:rPr lang="bg-BG" sz="1400" dirty="0">
                <a:solidFill>
                  <a:srgbClr val="1A1C1E"/>
                </a:solidFill>
                <a:latin typeface="Arial" panose="020B0604020202020204" pitchFamily="34" charset="0"/>
              </a:rPr>
              <a:t>подложката и дрейна </a:t>
            </a:r>
            <a:r>
              <a:rPr lang="ru-RU" sz="1400" b="0" i="0" u="none" strike="noStrike" dirty="0">
                <a:solidFill>
                  <a:srgbClr val="1A1C1E"/>
                </a:solidFill>
                <a:effectLst/>
                <a:latin typeface="Arial" panose="020B0604020202020204" pitchFamily="34" charset="0"/>
              </a:rPr>
              <a:t>образува </a:t>
            </a:r>
            <a:r>
              <a:rPr lang="ru-RU" sz="1400" b="1" i="0" u="none" strike="noStrike" dirty="0">
                <a:solidFill>
                  <a:srgbClr val="1A1C1E"/>
                </a:solidFill>
                <a:effectLst/>
                <a:latin typeface="Arial" panose="020B0604020202020204" pitchFamily="34" charset="0"/>
              </a:rPr>
              <a:t>вграден, паразитен диод. </a:t>
            </a:r>
            <a:r>
              <a:rPr lang="ru-RU" sz="1400" b="0" i="0" u="none" strike="noStrike" dirty="0">
                <a:solidFill>
                  <a:srgbClr val="1A1C1E"/>
                </a:solidFill>
                <a:effectLst/>
                <a:latin typeface="Arial" panose="020B0604020202020204" pitchFamily="34" charset="0"/>
              </a:rPr>
              <a:t>Това не е нещо, което добавяме; това е неизбежна част от структурата на транзистора.</a:t>
            </a:r>
          </a:p>
          <a:p>
            <a:endParaRPr lang="ru-RU" sz="1400" dirty="0">
              <a:solidFill>
                <a:srgbClr val="1A1C1E"/>
              </a:solidFill>
              <a:latin typeface="Arial" panose="020B0604020202020204" pitchFamily="34" charset="0"/>
            </a:endParaRPr>
          </a:p>
          <a:p>
            <a:r>
              <a:rPr lang="ru-RU" sz="1400" b="0" i="0" u="none" strike="noStrike" dirty="0">
                <a:solidFill>
                  <a:srgbClr val="1A1C1E"/>
                </a:solidFill>
                <a:effectLst/>
                <a:latin typeface="Arial" panose="020B0604020202020204" pitchFamily="34" charset="0"/>
              </a:rPr>
              <a:t>Между подложката и сорса също има такъв диод, но той не оказва влияние на работата на транзистора, зашото при дискеретните </a:t>
            </a:r>
            <a:r>
              <a:rPr lang="en-US" sz="1400" b="0" i="0" u="none" strike="noStrike" dirty="0">
                <a:solidFill>
                  <a:srgbClr val="1A1C1E"/>
                </a:solidFill>
                <a:effectLst/>
                <a:latin typeface="Arial" panose="020B0604020202020204" pitchFamily="34" charset="0"/>
              </a:rPr>
              <a:t>MOSFET</a:t>
            </a:r>
            <a:r>
              <a:rPr lang="bg-BG" sz="1400" b="0" i="0" u="none" strike="noStrike" dirty="0">
                <a:solidFill>
                  <a:srgbClr val="1A1C1E"/>
                </a:solidFill>
                <a:effectLst/>
                <a:latin typeface="Arial" panose="020B0604020202020204" pitchFamily="34" charset="0"/>
              </a:rPr>
              <a:t> сорса и подложката са свързани на късо.</a:t>
            </a:r>
          </a:p>
          <a:p>
            <a:endParaRPr lang="ru-RU" sz="1400" b="0" i="0" u="none" strike="noStrike" dirty="0">
              <a:solidFill>
                <a:srgbClr val="1A1C1E"/>
              </a:solidFill>
              <a:effectLst/>
              <a:latin typeface="Arial" panose="020B0604020202020204" pitchFamily="34" charset="0"/>
            </a:endParaRPr>
          </a:p>
          <a:p>
            <a:r>
              <a:rPr lang="ru-RU" sz="1400" dirty="0">
                <a:solidFill>
                  <a:srgbClr val="1A1C1E"/>
                </a:solidFill>
                <a:latin typeface="Arial" panose="020B0604020202020204" pitchFamily="34" charset="0"/>
              </a:rPr>
              <a:t>Ето защо в символа на дискретния </a:t>
            </a:r>
            <a:r>
              <a:rPr lang="en-US" sz="1400" dirty="0">
                <a:solidFill>
                  <a:srgbClr val="1A1C1E"/>
                </a:solidFill>
                <a:latin typeface="Arial" panose="020B0604020202020204" pitchFamily="34" charset="0"/>
              </a:rPr>
              <a:t>MOSFET </a:t>
            </a:r>
            <a:r>
              <a:rPr lang="bg-BG" sz="1400" dirty="0">
                <a:solidFill>
                  <a:srgbClr val="1A1C1E"/>
                </a:solidFill>
                <a:latin typeface="Arial" panose="020B0604020202020204" pitchFamily="34" charset="0"/>
              </a:rPr>
              <a:t>се чертае диод между сорса и дрейна.</a:t>
            </a:r>
            <a:endParaRPr lang="bg-BG" sz="1400" dirty="0"/>
          </a:p>
        </p:txBody>
      </p:sp>
      <p:pic>
        <p:nvPicPr>
          <p:cNvPr id="135" name="Picture 134">
            <a:extLst>
              <a:ext uri="{FF2B5EF4-FFF2-40B4-BE49-F238E27FC236}">
                <a16:creationId xmlns:a16="http://schemas.microsoft.com/office/drawing/2014/main" id="{E0122AE6-448F-24C0-EC7F-8DAA2D0A6943}"/>
              </a:ext>
            </a:extLst>
          </p:cNvPr>
          <p:cNvPicPr>
            <a:picLocks noChangeAspect="1"/>
          </p:cNvPicPr>
          <p:nvPr/>
        </p:nvPicPr>
        <p:blipFill>
          <a:blip r:embed="rId2"/>
          <a:stretch>
            <a:fillRect/>
          </a:stretch>
        </p:blipFill>
        <p:spPr>
          <a:xfrm>
            <a:off x="8366673" y="4647394"/>
            <a:ext cx="1780951" cy="1821274"/>
          </a:xfrm>
          <a:prstGeom prst="rect">
            <a:avLst/>
          </a:prstGeom>
        </p:spPr>
      </p:pic>
      <p:grpSp>
        <p:nvGrpSpPr>
          <p:cNvPr id="136" name="Group 135">
            <a:extLst>
              <a:ext uri="{FF2B5EF4-FFF2-40B4-BE49-F238E27FC236}">
                <a16:creationId xmlns:a16="http://schemas.microsoft.com/office/drawing/2014/main" id="{5C3B3844-BAB6-1F3C-83C5-CC64ABA8FB42}"/>
              </a:ext>
            </a:extLst>
          </p:cNvPr>
          <p:cNvGrpSpPr/>
          <p:nvPr/>
        </p:nvGrpSpPr>
        <p:grpSpPr>
          <a:xfrm>
            <a:off x="1913562" y="2802831"/>
            <a:ext cx="337128" cy="975835"/>
            <a:chOff x="8423563" y="2551505"/>
            <a:chExt cx="337128" cy="975835"/>
          </a:xfrm>
        </p:grpSpPr>
        <p:cxnSp>
          <p:nvCxnSpPr>
            <p:cNvPr id="137" name="Straight Connector 136">
              <a:extLst>
                <a:ext uri="{FF2B5EF4-FFF2-40B4-BE49-F238E27FC236}">
                  <a16:creationId xmlns:a16="http://schemas.microsoft.com/office/drawing/2014/main" id="{0C0E6842-11B9-1305-6704-C5D4A784FAB8}"/>
                </a:ext>
              </a:extLst>
            </p:cNvPr>
            <p:cNvCxnSpPr/>
            <p:nvPr/>
          </p:nvCxnSpPr>
          <p:spPr>
            <a:xfrm>
              <a:off x="8423564" y="2899999"/>
              <a:ext cx="337127"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F1D72A6F-CB16-9AC4-50EB-F044DDB26F18}"/>
                </a:ext>
              </a:extLst>
            </p:cNvPr>
            <p:cNvCxnSpPr/>
            <p:nvPr/>
          </p:nvCxnSpPr>
          <p:spPr>
            <a:xfrm>
              <a:off x="8592127" y="2551505"/>
              <a:ext cx="0" cy="3484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9" name="Isosceles Triangle 138">
              <a:extLst>
                <a:ext uri="{FF2B5EF4-FFF2-40B4-BE49-F238E27FC236}">
                  <a16:creationId xmlns:a16="http://schemas.microsoft.com/office/drawing/2014/main" id="{C22FD26F-4C5C-4CD2-5DFC-D31BF3069E6F}"/>
                </a:ext>
              </a:extLst>
            </p:cNvPr>
            <p:cNvSpPr/>
            <p:nvPr/>
          </p:nvSpPr>
          <p:spPr>
            <a:xfrm>
              <a:off x="8423563" y="2928791"/>
              <a:ext cx="337127" cy="260993"/>
            </a:xfrm>
            <a:prstGeom prst="triangl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cxnSp>
          <p:nvCxnSpPr>
            <p:cNvPr id="140" name="Straight Connector 139">
              <a:extLst>
                <a:ext uri="{FF2B5EF4-FFF2-40B4-BE49-F238E27FC236}">
                  <a16:creationId xmlns:a16="http://schemas.microsoft.com/office/drawing/2014/main" id="{28B97238-8BC4-8763-B3D8-0C5FF66A6658}"/>
                </a:ext>
              </a:extLst>
            </p:cNvPr>
            <p:cNvCxnSpPr/>
            <p:nvPr/>
          </p:nvCxnSpPr>
          <p:spPr>
            <a:xfrm>
              <a:off x="8603671" y="3178846"/>
              <a:ext cx="0" cy="3484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142" name="Straight Connector 141">
            <a:extLst>
              <a:ext uri="{FF2B5EF4-FFF2-40B4-BE49-F238E27FC236}">
                <a16:creationId xmlns:a16="http://schemas.microsoft.com/office/drawing/2014/main" id="{4692CBE0-BD7F-0C1C-AFBC-9A9F57ED1C85}"/>
              </a:ext>
            </a:extLst>
          </p:cNvPr>
          <p:cNvCxnSpPr/>
          <p:nvPr/>
        </p:nvCxnSpPr>
        <p:spPr>
          <a:xfrm flipH="1">
            <a:off x="600364" y="1781690"/>
            <a:ext cx="186892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4" name="Straight Connector 143">
            <a:extLst>
              <a:ext uri="{FF2B5EF4-FFF2-40B4-BE49-F238E27FC236}">
                <a16:creationId xmlns:a16="http://schemas.microsoft.com/office/drawing/2014/main" id="{07EE1623-69D9-A3A3-0B13-2782C991965F}"/>
              </a:ext>
            </a:extLst>
          </p:cNvPr>
          <p:cNvCxnSpPr/>
          <p:nvPr/>
        </p:nvCxnSpPr>
        <p:spPr>
          <a:xfrm>
            <a:off x="600364" y="1781690"/>
            <a:ext cx="0" cy="34922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DA0B9457-EDA3-13FE-A62B-77398B9F8D3A}"/>
              </a:ext>
            </a:extLst>
          </p:cNvPr>
          <p:cNvCxnSpPr/>
          <p:nvPr/>
        </p:nvCxnSpPr>
        <p:spPr>
          <a:xfrm flipH="1">
            <a:off x="600364" y="4808640"/>
            <a:ext cx="8579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0" name="Straight Connector 149">
            <a:extLst>
              <a:ext uri="{FF2B5EF4-FFF2-40B4-BE49-F238E27FC236}">
                <a16:creationId xmlns:a16="http://schemas.microsoft.com/office/drawing/2014/main" id="{6068BA6D-0745-862C-D87F-A69A8EF51618}"/>
              </a:ext>
            </a:extLst>
          </p:cNvPr>
          <p:cNvCxnSpPr/>
          <p:nvPr/>
        </p:nvCxnSpPr>
        <p:spPr>
          <a:xfrm>
            <a:off x="443345" y="5273964"/>
            <a:ext cx="29094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6170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A2A0E-E187-269E-CA5B-FBB7EF4E63F9}"/>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Принцип на действие: Създаване на канала</a:t>
            </a:r>
            <a:endParaRPr lang="bg-BG" sz="2400" dirty="0">
              <a:solidFill>
                <a:srgbClr val="0038A8"/>
              </a:solidFill>
              <a:latin typeface="+mj-lt"/>
              <a:cs typeface="Arial" panose="020B0604020202020204" pitchFamily="34" charset="0"/>
            </a:endParaRPr>
          </a:p>
        </p:txBody>
      </p:sp>
      <p:grpSp>
        <p:nvGrpSpPr>
          <p:cNvPr id="4" name="Group 3">
            <a:extLst>
              <a:ext uri="{FF2B5EF4-FFF2-40B4-BE49-F238E27FC236}">
                <a16:creationId xmlns:a16="http://schemas.microsoft.com/office/drawing/2014/main" id="{F77097A7-68B1-F0C9-FB5D-452DD6079303}"/>
              </a:ext>
            </a:extLst>
          </p:cNvPr>
          <p:cNvGrpSpPr/>
          <p:nvPr/>
        </p:nvGrpSpPr>
        <p:grpSpPr>
          <a:xfrm>
            <a:off x="2710922" y="1309523"/>
            <a:ext cx="6065044" cy="3094515"/>
            <a:chOff x="1404588" y="1026911"/>
            <a:chExt cx="6065044" cy="3094515"/>
          </a:xfrm>
        </p:grpSpPr>
        <p:sp>
          <p:nvSpPr>
            <p:cNvPr id="64" name="Rectangle 63">
              <a:extLst>
                <a:ext uri="{FF2B5EF4-FFF2-40B4-BE49-F238E27FC236}">
                  <a16:creationId xmlns:a16="http://schemas.microsoft.com/office/drawing/2014/main" id="{36C11110-A018-6FE6-DABF-940CDDAD1C00}"/>
                </a:ext>
              </a:extLst>
            </p:cNvPr>
            <p:cNvSpPr/>
            <p:nvPr/>
          </p:nvSpPr>
          <p:spPr>
            <a:xfrm>
              <a:off x="1404588" y="1755824"/>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997B0B67-0553-BBD8-6AC7-DEF22790E61B}"/>
                </a:ext>
              </a:extLst>
            </p:cNvPr>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0823BB27-3FA2-8F48-5D5C-A108878664CF}"/>
                </a:ext>
              </a:extLst>
            </p:cNvPr>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2765F4DA-1197-5BD2-2D8D-6FC924DBC38B}"/>
                </a:ext>
              </a:extLst>
            </p:cNvPr>
            <p:cNvSpPr>
              <a:spLocks noChangeArrowheads="1"/>
            </p:cNvSpPr>
            <p:nvPr/>
          </p:nvSpPr>
          <p:spPr bwMode="auto">
            <a:xfrm>
              <a:off x="5579876"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68" name="Rectangle 67">
              <a:extLst>
                <a:ext uri="{FF2B5EF4-FFF2-40B4-BE49-F238E27FC236}">
                  <a16:creationId xmlns:a16="http://schemas.microsoft.com/office/drawing/2014/main" id="{E9E61A24-29A1-C08D-CD82-8FE37507D557}"/>
                </a:ext>
              </a:extLst>
            </p:cNvPr>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69" name="Rectangle 68">
              <a:extLst>
                <a:ext uri="{FF2B5EF4-FFF2-40B4-BE49-F238E27FC236}">
                  <a16:creationId xmlns:a16="http://schemas.microsoft.com/office/drawing/2014/main" id="{6E710AD4-D4D6-3529-54A3-3736EDA5C1E0}"/>
                </a:ext>
              </a:extLst>
            </p:cNvPr>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71" name="Group 70">
              <a:extLst>
                <a:ext uri="{FF2B5EF4-FFF2-40B4-BE49-F238E27FC236}">
                  <a16:creationId xmlns:a16="http://schemas.microsoft.com/office/drawing/2014/main" id="{958B0E8B-9840-47B2-D32E-5792D1B3D7EF}"/>
                </a:ext>
              </a:extLst>
            </p:cNvPr>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92" name="Rectangle 91">
                <a:extLst>
                  <a:ext uri="{FF2B5EF4-FFF2-40B4-BE49-F238E27FC236}">
                    <a16:creationId xmlns:a16="http://schemas.microsoft.com/office/drawing/2014/main" id="{A3E26756-AB74-2A87-A32F-867021A3BD67}"/>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163EBE29-8CB0-EFE2-EBA7-3E252BCE0838}"/>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17E8AC5A-D50F-7163-BECE-6ED6A14F65FB}"/>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77CE4CE8-A4D2-8D17-7CE8-47C2ADEEB4AF}"/>
                </a:ext>
              </a:extLst>
            </p:cNvPr>
            <p:cNvGrpSpPr/>
            <p:nvPr/>
          </p:nvGrpSpPr>
          <p:grpSpPr>
            <a:xfrm flipH="1">
              <a:off x="5204268" y="1755823"/>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89" name="Rectangle 88">
                <a:extLst>
                  <a:ext uri="{FF2B5EF4-FFF2-40B4-BE49-F238E27FC236}">
                    <a16:creationId xmlns:a16="http://schemas.microsoft.com/office/drawing/2014/main" id="{0C842B21-B085-874A-918A-C60ACA76C714}"/>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2B31A862-447C-B9D5-1217-7CA161C02D62}"/>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56A53BD4-F6B6-3671-247A-D8F52428FDAA}"/>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 name="TextBox 14">
              <a:extLst>
                <a:ext uri="{FF2B5EF4-FFF2-40B4-BE49-F238E27FC236}">
                  <a16:creationId xmlns:a16="http://schemas.microsoft.com/office/drawing/2014/main" id="{598FFEF9-FBA2-E3B7-BB47-54BBBB4C3110}"/>
                </a:ext>
              </a:extLst>
            </p:cNvPr>
            <p:cNvSpPr txBox="1">
              <a:spLocks noChangeArrowheads="1"/>
            </p:cNvSpPr>
            <p:nvPr/>
          </p:nvSpPr>
          <p:spPr bwMode="auto">
            <a:xfrm>
              <a:off x="4223279" y="3207786"/>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p>
          </p:txBody>
        </p:sp>
        <p:sp>
          <p:nvSpPr>
            <p:cNvPr id="74" name="TextBox 68">
              <a:extLst>
                <a:ext uri="{FF2B5EF4-FFF2-40B4-BE49-F238E27FC236}">
                  <a16:creationId xmlns:a16="http://schemas.microsoft.com/office/drawing/2014/main" id="{12F9D49F-0E88-C7EA-30BD-36006E606B4A}"/>
                </a:ext>
              </a:extLst>
            </p:cNvPr>
            <p:cNvSpPr txBox="1">
              <a:spLocks noChangeArrowheads="1"/>
            </p:cNvSpPr>
            <p:nvPr/>
          </p:nvSpPr>
          <p:spPr bwMode="auto">
            <a:xfrm>
              <a:off x="6588809" y="184345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sp>
          <p:nvSpPr>
            <p:cNvPr id="75" name="TextBox 68">
              <a:extLst>
                <a:ext uri="{FF2B5EF4-FFF2-40B4-BE49-F238E27FC236}">
                  <a16:creationId xmlns:a16="http://schemas.microsoft.com/office/drawing/2014/main" id="{E5188F62-3542-2015-8F2B-319BB8C90C36}"/>
                </a:ext>
              </a:extLst>
            </p:cNvPr>
            <p:cNvSpPr txBox="1">
              <a:spLocks noChangeArrowheads="1"/>
            </p:cNvSpPr>
            <p:nvPr/>
          </p:nvSpPr>
          <p:spPr bwMode="auto">
            <a:xfrm>
              <a:off x="1783175" y="193095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76" name="Straight Connector 75">
              <a:extLst>
                <a:ext uri="{FF2B5EF4-FFF2-40B4-BE49-F238E27FC236}">
                  <a16:creationId xmlns:a16="http://schemas.microsoft.com/office/drawing/2014/main" id="{A2AC9628-CA29-FFF3-BEE9-6CC21D9C6DC5}"/>
                </a:ext>
              </a:extLst>
            </p:cNvPr>
            <p:cNvCxnSpPr>
              <a:stCxn id="69"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7" name="Straight Connector 76">
              <a:extLst>
                <a:ext uri="{FF2B5EF4-FFF2-40B4-BE49-F238E27FC236}">
                  <a16:creationId xmlns:a16="http://schemas.microsoft.com/office/drawing/2014/main" id="{64C706E3-7450-968C-E1F1-ACCC98AD0D81}"/>
                </a:ext>
              </a:extLst>
            </p:cNvPr>
            <p:cNvCxnSpPr>
              <a:stCxn id="66"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8" name="Straight Connector 77">
              <a:extLst>
                <a:ext uri="{FF2B5EF4-FFF2-40B4-BE49-F238E27FC236}">
                  <a16:creationId xmlns:a16="http://schemas.microsoft.com/office/drawing/2014/main" id="{D01190FF-6EA8-9AE7-F549-D151A2B9BA04}"/>
                </a:ext>
              </a:extLst>
            </p:cNvPr>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9" name="Straight Connector 78">
              <a:extLst>
                <a:ext uri="{FF2B5EF4-FFF2-40B4-BE49-F238E27FC236}">
                  <a16:creationId xmlns:a16="http://schemas.microsoft.com/office/drawing/2014/main" id="{47B5F5BC-E35B-5A3A-4C1D-8803E984E9A7}"/>
                </a:ext>
              </a:extLst>
            </p:cNvPr>
            <p:cNvCxnSpPr/>
            <p:nvPr/>
          </p:nvCxnSpPr>
          <p:spPr bwMode="auto">
            <a:xfrm>
              <a:off x="1809679" y="4121426"/>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80" name="Straight Connector 79">
              <a:extLst>
                <a:ext uri="{FF2B5EF4-FFF2-40B4-BE49-F238E27FC236}">
                  <a16:creationId xmlns:a16="http://schemas.microsoft.com/office/drawing/2014/main" id="{8F7BC648-0409-2B19-0731-F0BE0AD5D0D9}"/>
                </a:ext>
              </a:extLst>
            </p:cNvPr>
            <p:cNvCxnSpPr/>
            <p:nvPr/>
          </p:nvCxnSpPr>
          <p:spPr bwMode="auto">
            <a:xfrm flipH="1">
              <a:off x="2478019" y="1101844"/>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81" name="Straight Connector 80">
              <a:extLst>
                <a:ext uri="{FF2B5EF4-FFF2-40B4-BE49-F238E27FC236}">
                  <a16:creationId xmlns:a16="http://schemas.microsoft.com/office/drawing/2014/main" id="{95215706-FF5D-673F-9FD5-3C92DA110E2C}"/>
                </a:ext>
              </a:extLst>
            </p:cNvPr>
            <p:cNvCxnSpPr/>
            <p:nvPr/>
          </p:nvCxnSpPr>
          <p:spPr bwMode="auto">
            <a:xfrm>
              <a:off x="2478019" y="1110757"/>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82" name="Straight Connector 81">
              <a:extLst>
                <a:ext uri="{FF2B5EF4-FFF2-40B4-BE49-F238E27FC236}">
                  <a16:creationId xmlns:a16="http://schemas.microsoft.com/office/drawing/2014/main" id="{D797CB92-3C7A-5D02-0538-29BCC5A0E26B}"/>
                </a:ext>
              </a:extLst>
            </p:cNvPr>
            <p:cNvCxnSpPr/>
            <p:nvPr/>
          </p:nvCxnSpPr>
          <p:spPr bwMode="auto">
            <a:xfrm>
              <a:off x="2336428" y="1295423"/>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83" name="Oval 82">
              <a:extLst>
                <a:ext uri="{FF2B5EF4-FFF2-40B4-BE49-F238E27FC236}">
                  <a16:creationId xmlns:a16="http://schemas.microsoft.com/office/drawing/2014/main" id="{60F1D3CC-77A1-AC2B-BED6-F617A3DCA3FC}"/>
                </a:ext>
              </a:extLst>
            </p:cNvPr>
            <p:cNvSpPr/>
            <p:nvPr/>
          </p:nvSpPr>
          <p:spPr bwMode="auto">
            <a:xfrm>
              <a:off x="4388021" y="1052374"/>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84" name="TextBox 83">
              <a:extLst>
                <a:ext uri="{FF2B5EF4-FFF2-40B4-BE49-F238E27FC236}">
                  <a16:creationId xmlns:a16="http://schemas.microsoft.com/office/drawing/2014/main" id="{C1D95F68-F316-A887-31E7-B801D4537437}"/>
                </a:ext>
              </a:extLst>
            </p:cNvPr>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85" name="TextBox 84">
              <a:extLst>
                <a:ext uri="{FF2B5EF4-FFF2-40B4-BE49-F238E27FC236}">
                  <a16:creationId xmlns:a16="http://schemas.microsoft.com/office/drawing/2014/main" id="{443B0791-E049-2DF0-49D0-6BB4DB561635}"/>
                </a:ext>
              </a:extLst>
            </p:cNvPr>
            <p:cNvSpPr txBox="1"/>
            <p:nvPr/>
          </p:nvSpPr>
          <p:spPr>
            <a:xfrm>
              <a:off x="2973623" y="1211977"/>
              <a:ext cx="391528" cy="338554"/>
            </a:xfrm>
            <a:prstGeom prst="rect">
              <a:avLst/>
            </a:prstGeom>
            <a:noFill/>
          </p:spPr>
          <p:txBody>
            <a:bodyPr wrap="square" rtlCol="0">
              <a:spAutoFit/>
            </a:bodyPr>
            <a:lstStyle/>
            <a:p>
              <a:r>
                <a:rPr lang="en-US" sz="1600" dirty="0"/>
                <a:t>S</a:t>
              </a:r>
            </a:p>
          </p:txBody>
        </p:sp>
        <p:sp>
          <p:nvSpPr>
            <p:cNvPr id="86" name="Oval 85">
              <a:extLst>
                <a:ext uri="{FF2B5EF4-FFF2-40B4-BE49-F238E27FC236}">
                  <a16:creationId xmlns:a16="http://schemas.microsoft.com/office/drawing/2014/main" id="{C9F9A10A-F114-B286-1E6F-D19F40D924AC}"/>
                </a:ext>
              </a:extLst>
            </p:cNvPr>
            <p:cNvSpPr/>
            <p:nvPr/>
          </p:nvSpPr>
          <p:spPr bwMode="auto">
            <a:xfrm>
              <a:off x="5851250" y="1026911"/>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87" name="Straight Connector 86">
              <a:extLst>
                <a:ext uri="{FF2B5EF4-FFF2-40B4-BE49-F238E27FC236}">
                  <a16:creationId xmlns:a16="http://schemas.microsoft.com/office/drawing/2014/main" id="{7DE5B049-7BE0-3489-819A-14873CF7DBA1}"/>
                </a:ext>
              </a:extLst>
            </p:cNvPr>
            <p:cNvCxnSpPr>
              <a:stCxn id="86" idx="4"/>
              <a:endCxn id="67"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88" name="TextBox 87">
              <a:extLst>
                <a:ext uri="{FF2B5EF4-FFF2-40B4-BE49-F238E27FC236}">
                  <a16:creationId xmlns:a16="http://schemas.microsoft.com/office/drawing/2014/main" id="{E0BECBC8-64C8-9EAE-4E92-C05616A7F6F0}"/>
                </a:ext>
              </a:extLst>
            </p:cNvPr>
            <p:cNvSpPr txBox="1"/>
            <p:nvPr/>
          </p:nvSpPr>
          <p:spPr>
            <a:xfrm>
              <a:off x="5927499" y="1302970"/>
              <a:ext cx="391528" cy="338554"/>
            </a:xfrm>
            <a:prstGeom prst="rect">
              <a:avLst/>
            </a:prstGeom>
            <a:noFill/>
          </p:spPr>
          <p:txBody>
            <a:bodyPr wrap="square" rtlCol="0">
              <a:spAutoFit/>
            </a:bodyPr>
            <a:lstStyle/>
            <a:p>
              <a:r>
                <a:rPr lang="en-US" sz="1600" dirty="0"/>
                <a:t>D</a:t>
              </a:r>
            </a:p>
          </p:txBody>
        </p:sp>
      </p:grpSp>
      <p:sp>
        <p:nvSpPr>
          <p:cNvPr id="5" name="TextBox 4">
            <a:extLst>
              <a:ext uri="{FF2B5EF4-FFF2-40B4-BE49-F238E27FC236}">
                <a16:creationId xmlns:a16="http://schemas.microsoft.com/office/drawing/2014/main" id="{F1DE0907-F848-3D25-E7D2-8F5D792EAC63}"/>
              </a:ext>
            </a:extLst>
          </p:cNvPr>
          <p:cNvSpPr txBox="1"/>
          <p:nvPr/>
        </p:nvSpPr>
        <p:spPr>
          <a:xfrm>
            <a:off x="5302750" y="925351"/>
            <a:ext cx="1240616" cy="338554"/>
          </a:xfrm>
          <a:prstGeom prst="rect">
            <a:avLst/>
          </a:prstGeom>
          <a:noFill/>
        </p:spPr>
        <p:txBody>
          <a:bodyPr wrap="square" rtlCol="0">
            <a:spAutoFit/>
          </a:bodyPr>
          <a:lstStyle/>
          <a:p>
            <a:r>
              <a:rPr lang="en-US" sz="1600" dirty="0"/>
              <a:t>U</a:t>
            </a:r>
            <a:r>
              <a:rPr lang="en-US" sz="1600" baseline="-25000" dirty="0"/>
              <a:t>GS</a:t>
            </a:r>
            <a:r>
              <a:rPr lang="en-US" sz="1600" dirty="0"/>
              <a:t> = 0</a:t>
            </a:r>
            <a:endParaRPr lang="en-US" sz="1600" baseline="-25000" dirty="0"/>
          </a:p>
        </p:txBody>
      </p:sp>
      <p:sp>
        <p:nvSpPr>
          <p:cNvPr id="6" name="TextBox 5">
            <a:extLst>
              <a:ext uri="{FF2B5EF4-FFF2-40B4-BE49-F238E27FC236}">
                <a16:creationId xmlns:a16="http://schemas.microsoft.com/office/drawing/2014/main" id="{4DBED3BC-AF48-B91E-5412-5E090265F4EA}"/>
              </a:ext>
            </a:extLst>
          </p:cNvPr>
          <p:cNvSpPr txBox="1"/>
          <p:nvPr/>
        </p:nvSpPr>
        <p:spPr>
          <a:xfrm>
            <a:off x="7398905" y="1144861"/>
            <a:ext cx="980746" cy="338554"/>
          </a:xfrm>
          <a:prstGeom prst="rect">
            <a:avLst/>
          </a:prstGeom>
          <a:noFill/>
        </p:spPr>
        <p:txBody>
          <a:bodyPr wrap="square" rtlCol="0">
            <a:spAutoFit/>
          </a:bodyPr>
          <a:lstStyle/>
          <a:p>
            <a:r>
              <a:rPr lang="en-US" sz="1600" dirty="0"/>
              <a:t>+ U</a:t>
            </a:r>
            <a:r>
              <a:rPr lang="en-US" sz="1600" baseline="-25000" dirty="0"/>
              <a:t>DS</a:t>
            </a:r>
            <a:endParaRPr lang="en-US" sz="1600" dirty="0"/>
          </a:p>
        </p:txBody>
      </p:sp>
      <p:sp>
        <p:nvSpPr>
          <p:cNvPr id="106" name="TextBox 14">
            <a:extLst>
              <a:ext uri="{FF2B5EF4-FFF2-40B4-BE49-F238E27FC236}">
                <a16:creationId xmlns:a16="http://schemas.microsoft.com/office/drawing/2014/main" id="{9242552A-AFF7-4CB6-07CA-D1EE6D6B2AA8}"/>
              </a:ext>
            </a:extLst>
          </p:cNvPr>
          <p:cNvSpPr txBox="1">
            <a:spLocks noChangeArrowheads="1"/>
          </p:cNvSpPr>
          <p:nvPr/>
        </p:nvSpPr>
        <p:spPr bwMode="auto">
          <a:xfrm>
            <a:off x="3306589" y="4073515"/>
            <a:ext cx="369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i="0" dirty="0"/>
              <a:t>B</a:t>
            </a:r>
          </a:p>
        </p:txBody>
      </p:sp>
      <p:sp>
        <p:nvSpPr>
          <p:cNvPr id="108" name="TextBox 107">
            <a:extLst>
              <a:ext uri="{FF2B5EF4-FFF2-40B4-BE49-F238E27FC236}">
                <a16:creationId xmlns:a16="http://schemas.microsoft.com/office/drawing/2014/main" id="{5E1D94F5-5D46-6358-6AD6-8E35EA94B2FB}"/>
              </a:ext>
            </a:extLst>
          </p:cNvPr>
          <p:cNvSpPr txBox="1"/>
          <p:nvPr/>
        </p:nvSpPr>
        <p:spPr>
          <a:xfrm>
            <a:off x="217056" y="4913138"/>
            <a:ext cx="11720944" cy="307777"/>
          </a:xfrm>
          <a:prstGeom prst="rect">
            <a:avLst/>
          </a:prstGeom>
          <a:noFill/>
        </p:spPr>
        <p:txBody>
          <a:bodyPr wrap="square">
            <a:spAutoFit/>
          </a:bodyPr>
          <a:lstStyle/>
          <a:p>
            <a:pPr marL="457200" rtl="0" fontAlgn="base">
              <a:spcBef>
                <a:spcPts val="1100"/>
              </a:spcBef>
              <a:spcAft>
                <a:spcPts val="1100"/>
              </a:spcAft>
            </a:pPr>
            <a:r>
              <a:rPr lang="ru-RU" sz="1400" b="0" i="0" u="none" strike="noStrike" dirty="0">
                <a:solidFill>
                  <a:srgbClr val="1A1C1E"/>
                </a:solidFill>
                <a:effectLst/>
                <a:latin typeface="Arial" panose="020B0604020202020204" pitchFamily="34" charset="0"/>
              </a:rPr>
              <a:t>При нулево напрежение на гейта, пътят от дрейна към сорс е блокиран от обратно </a:t>
            </a:r>
            <a:r>
              <a:rPr lang="bg-BG" sz="1400" dirty="0">
                <a:solidFill>
                  <a:srgbClr val="1A1C1E"/>
                </a:solidFill>
                <a:latin typeface="Arial" panose="020B0604020202020204" pitchFamily="34" charset="0"/>
              </a:rPr>
              <a:t>включен</a:t>
            </a:r>
            <a:r>
              <a:rPr lang="ru-RU" sz="1400" b="0" i="0" u="none" strike="noStrike" dirty="0">
                <a:solidFill>
                  <a:srgbClr val="1A1C1E"/>
                </a:solidFill>
                <a:effectLst/>
                <a:latin typeface="Arial" panose="020B0604020202020204" pitchFamily="34" charset="0"/>
              </a:rPr>
              <a:t> PN преход. Не може да тече ток.</a:t>
            </a:r>
          </a:p>
        </p:txBody>
      </p:sp>
    </p:spTree>
    <p:extLst>
      <p:ext uri="{BB962C8B-B14F-4D97-AF65-F5344CB8AC3E}">
        <p14:creationId xmlns:p14="http://schemas.microsoft.com/office/powerpoint/2010/main" val="21932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7660-B7BF-82F7-8FF1-1E2A49C543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255009-CE71-9A29-85B4-78AC64FFFBA7}"/>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Принцип на действие: Създаване на канала</a:t>
            </a:r>
            <a:endParaRPr lang="bg-BG" sz="2400" dirty="0">
              <a:solidFill>
                <a:srgbClr val="0038A8"/>
              </a:solidFill>
              <a:latin typeface="+mj-lt"/>
              <a:cs typeface="Arial" panose="020B0604020202020204" pitchFamily="34" charset="0"/>
            </a:endParaRPr>
          </a:p>
        </p:txBody>
      </p:sp>
      <p:grpSp>
        <p:nvGrpSpPr>
          <p:cNvPr id="3" name="Group 2">
            <a:extLst>
              <a:ext uri="{FF2B5EF4-FFF2-40B4-BE49-F238E27FC236}">
                <a16:creationId xmlns:a16="http://schemas.microsoft.com/office/drawing/2014/main" id="{1F2E426E-6FBB-3258-3214-3BA9AF1D1F35}"/>
              </a:ext>
            </a:extLst>
          </p:cNvPr>
          <p:cNvGrpSpPr/>
          <p:nvPr/>
        </p:nvGrpSpPr>
        <p:grpSpPr>
          <a:xfrm>
            <a:off x="2710922" y="1140246"/>
            <a:ext cx="6077777" cy="3263792"/>
            <a:chOff x="1404588" y="975729"/>
            <a:chExt cx="6077777" cy="3263792"/>
          </a:xfrm>
        </p:grpSpPr>
        <p:grpSp>
          <p:nvGrpSpPr>
            <p:cNvPr id="7" name="Group 6">
              <a:extLst>
                <a:ext uri="{FF2B5EF4-FFF2-40B4-BE49-F238E27FC236}">
                  <a16:creationId xmlns:a16="http://schemas.microsoft.com/office/drawing/2014/main" id="{42DF0ADE-1319-AE5D-03DC-60ACA03A1E65}"/>
                </a:ext>
              </a:extLst>
            </p:cNvPr>
            <p:cNvGrpSpPr/>
            <p:nvPr/>
          </p:nvGrpSpPr>
          <p:grpSpPr>
            <a:xfrm>
              <a:off x="1404588" y="1145006"/>
              <a:ext cx="6077777" cy="3094515"/>
              <a:chOff x="1404588" y="1026911"/>
              <a:chExt cx="6077777" cy="3094515"/>
            </a:xfrm>
          </p:grpSpPr>
          <p:sp>
            <p:nvSpPr>
              <p:cNvPr id="97" name="Rectangle 96">
                <a:extLst>
                  <a:ext uri="{FF2B5EF4-FFF2-40B4-BE49-F238E27FC236}">
                    <a16:creationId xmlns:a16="http://schemas.microsoft.com/office/drawing/2014/main" id="{2402ED6C-DAF9-3A59-7656-AFB4C271D15C}"/>
                  </a:ext>
                </a:extLst>
              </p:cNvPr>
              <p:cNvSpPr/>
              <p:nvPr/>
            </p:nvSpPr>
            <p:spPr>
              <a:xfrm>
                <a:off x="1404588" y="1755824"/>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ectangle 97">
                <a:extLst>
                  <a:ext uri="{FF2B5EF4-FFF2-40B4-BE49-F238E27FC236}">
                    <a16:creationId xmlns:a16="http://schemas.microsoft.com/office/drawing/2014/main" id="{9A9E336F-8516-795B-4108-92040FBD472C}"/>
                  </a:ext>
                </a:extLst>
              </p:cNvPr>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6382BF06-9BE2-965B-135C-A913AE0DC49D}"/>
                  </a:ext>
                </a:extLst>
              </p:cNvPr>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E16DD18C-490D-5FE1-5744-4B38C2FEFA97}"/>
                  </a:ext>
                </a:extLst>
              </p:cNvPr>
              <p:cNvSpPr>
                <a:spLocks noChangeArrowheads="1"/>
              </p:cNvSpPr>
              <p:nvPr/>
            </p:nvSpPr>
            <p:spPr bwMode="auto">
              <a:xfrm>
                <a:off x="5579876"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101" name="Rectangle 100">
                <a:extLst>
                  <a:ext uri="{FF2B5EF4-FFF2-40B4-BE49-F238E27FC236}">
                    <a16:creationId xmlns:a16="http://schemas.microsoft.com/office/drawing/2014/main" id="{F7529D21-902A-93BE-C52C-DC25E9CFC9A9}"/>
                  </a:ext>
                </a:extLst>
              </p:cNvPr>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102" name="Rectangle 101">
                <a:extLst>
                  <a:ext uri="{FF2B5EF4-FFF2-40B4-BE49-F238E27FC236}">
                    <a16:creationId xmlns:a16="http://schemas.microsoft.com/office/drawing/2014/main" id="{BA0BBBFE-214E-5889-2621-6758855C349B}"/>
                  </a:ext>
                </a:extLst>
              </p:cNvPr>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103" name="Group 102">
                <a:extLst>
                  <a:ext uri="{FF2B5EF4-FFF2-40B4-BE49-F238E27FC236}">
                    <a16:creationId xmlns:a16="http://schemas.microsoft.com/office/drawing/2014/main" id="{A67C0052-A780-E1EF-DAB8-9825AC9EB022}"/>
                  </a:ext>
                </a:extLst>
              </p:cNvPr>
              <p:cNvGrpSpPr/>
              <p:nvPr/>
            </p:nvGrpSpPr>
            <p:grpSpPr>
              <a:xfrm>
                <a:off x="1420523" y="1750383"/>
                <a:ext cx="6061842" cy="1197181"/>
                <a:chOff x="1301635" y="1908011"/>
                <a:chExt cx="6061842" cy="1197181"/>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grpSpPr>
            <p:grpSp>
              <p:nvGrpSpPr>
                <p:cNvPr id="130" name="Group 129">
                  <a:extLst>
                    <a:ext uri="{FF2B5EF4-FFF2-40B4-BE49-F238E27FC236}">
                      <a16:creationId xmlns:a16="http://schemas.microsoft.com/office/drawing/2014/main" id="{41C73519-B9B2-AE56-E41A-35EBCF5EFC53}"/>
                    </a:ext>
                  </a:extLst>
                </p:cNvPr>
                <p:cNvGrpSpPr/>
                <p:nvPr/>
              </p:nvGrpSpPr>
              <p:grpSpPr>
                <a:xfrm>
                  <a:off x="1301635" y="1913475"/>
                  <a:ext cx="2477917" cy="959627"/>
                  <a:chOff x="1544637" y="2819400"/>
                  <a:chExt cx="2265363" cy="457200"/>
                </a:xfrm>
                <a:grpFill/>
              </p:grpSpPr>
              <p:sp>
                <p:nvSpPr>
                  <p:cNvPr id="136" name="Rectangle 135">
                    <a:extLst>
                      <a:ext uri="{FF2B5EF4-FFF2-40B4-BE49-F238E27FC236}">
                        <a16:creationId xmlns:a16="http://schemas.microsoft.com/office/drawing/2014/main" id="{B95E99F8-F4F8-92AF-9F7B-A26912F61D4F}"/>
                      </a:ext>
                    </a:extLst>
                  </p:cNvPr>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E81C29E5-E97C-AB20-97F5-293FC841D08D}"/>
                      </a:ext>
                    </a:extLst>
                  </p:cNvPr>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170A0C81-902E-4D9A-C5D6-E72F20BBAD30}"/>
                      </a:ext>
                    </a:extLst>
                  </p:cNvPr>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1" name="Group 130">
                  <a:extLst>
                    <a:ext uri="{FF2B5EF4-FFF2-40B4-BE49-F238E27FC236}">
                      <a16:creationId xmlns:a16="http://schemas.microsoft.com/office/drawing/2014/main" id="{A4DEFDEC-6349-31F6-FF49-E6EAB46E2C6D}"/>
                    </a:ext>
                  </a:extLst>
                </p:cNvPr>
                <p:cNvGrpSpPr/>
                <p:nvPr/>
              </p:nvGrpSpPr>
              <p:grpSpPr>
                <a:xfrm flipH="1">
                  <a:off x="4885560" y="1908011"/>
                  <a:ext cx="2477917" cy="1197181"/>
                  <a:chOff x="1544637" y="2819400"/>
                  <a:chExt cx="2265363" cy="570379"/>
                </a:xfrm>
                <a:grpFill/>
              </p:grpSpPr>
              <p:sp>
                <p:nvSpPr>
                  <p:cNvPr id="133" name="Rectangle 132">
                    <a:extLst>
                      <a:ext uri="{FF2B5EF4-FFF2-40B4-BE49-F238E27FC236}">
                        <a16:creationId xmlns:a16="http://schemas.microsoft.com/office/drawing/2014/main" id="{671D308C-80B6-ABB6-66DE-41F386308E08}"/>
                      </a:ext>
                    </a:extLst>
                  </p:cNvPr>
                  <p:cNvSpPr/>
                  <p:nvPr/>
                </p:nvSpPr>
                <p:spPr>
                  <a:xfrm>
                    <a:off x="1544637" y="2819400"/>
                    <a:ext cx="1960563" cy="56521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C3BA9379-F697-E941-C8D7-2D9577A68D5D}"/>
                      </a:ext>
                    </a:extLst>
                  </p:cNvPr>
                  <p:cNvSpPr/>
                  <p:nvPr/>
                </p:nvSpPr>
                <p:spPr>
                  <a:xfrm>
                    <a:off x="3276600" y="2819400"/>
                    <a:ext cx="533400" cy="5703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0D2B917C-8CEE-11C3-F90E-F6DD38E9442B}"/>
                      </a:ext>
                    </a:extLst>
                  </p:cNvPr>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2" name="Rectangle 131">
                  <a:extLst>
                    <a:ext uri="{FF2B5EF4-FFF2-40B4-BE49-F238E27FC236}">
                      <a16:creationId xmlns:a16="http://schemas.microsoft.com/office/drawing/2014/main" id="{E3B6F346-7C65-ECB8-A6DF-48875627D2EB}"/>
                    </a:ext>
                  </a:extLst>
                </p:cNvPr>
                <p:cNvSpPr/>
                <p:nvPr/>
              </p:nvSpPr>
              <p:spPr bwMode="auto">
                <a:xfrm>
                  <a:off x="3765906" y="1913870"/>
                  <a:ext cx="1119654" cy="466167"/>
                </a:xfrm>
                <a:prstGeom prst="rect">
                  <a:avLst/>
                </a:prstGeom>
                <a:grp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grpSp>
          <p:grpSp>
            <p:nvGrpSpPr>
              <p:cNvPr id="104" name="Group 103">
                <a:extLst>
                  <a:ext uri="{FF2B5EF4-FFF2-40B4-BE49-F238E27FC236}">
                    <a16:creationId xmlns:a16="http://schemas.microsoft.com/office/drawing/2014/main" id="{CF5E93CD-DDE4-0155-946D-65FE4DF96E33}"/>
                  </a:ext>
                </a:extLst>
              </p:cNvPr>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27" name="Rectangle 126">
                  <a:extLst>
                    <a:ext uri="{FF2B5EF4-FFF2-40B4-BE49-F238E27FC236}">
                      <a16:creationId xmlns:a16="http://schemas.microsoft.com/office/drawing/2014/main" id="{33D813AF-D176-10D0-C261-0D5581712EFE}"/>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19A2BAA0-A6F9-CAC4-2AF1-E6AADDD88656}"/>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4EC8963D-A3CA-CED9-1D0F-BE3009229EE2}"/>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 name="Group 104">
                <a:extLst>
                  <a:ext uri="{FF2B5EF4-FFF2-40B4-BE49-F238E27FC236}">
                    <a16:creationId xmlns:a16="http://schemas.microsoft.com/office/drawing/2014/main" id="{66526C6B-4A3B-CBE3-8966-1216DAE89CF1}"/>
                  </a:ext>
                </a:extLst>
              </p:cNvPr>
              <p:cNvGrpSpPr/>
              <p:nvPr/>
            </p:nvGrpSpPr>
            <p:grpSpPr>
              <a:xfrm flipH="1">
                <a:off x="5204268" y="1755823"/>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24" name="Rectangle 123">
                  <a:extLst>
                    <a:ext uri="{FF2B5EF4-FFF2-40B4-BE49-F238E27FC236}">
                      <a16:creationId xmlns:a16="http://schemas.microsoft.com/office/drawing/2014/main" id="{1EA354F8-AC23-E77C-9F85-9871CC557ACF}"/>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65A34345-6AA7-B339-C0A1-BEE8F852D9F3}"/>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21037CA0-9898-4DA4-EFEC-07EA7732B23E}"/>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TextBox 14">
                <a:extLst>
                  <a:ext uri="{FF2B5EF4-FFF2-40B4-BE49-F238E27FC236}">
                    <a16:creationId xmlns:a16="http://schemas.microsoft.com/office/drawing/2014/main" id="{AAEDC5DB-24EF-4A4B-8282-685ABED926D5}"/>
                  </a:ext>
                </a:extLst>
              </p:cNvPr>
              <p:cNvSpPr txBox="1">
                <a:spLocks noChangeArrowheads="1"/>
              </p:cNvSpPr>
              <p:nvPr/>
            </p:nvSpPr>
            <p:spPr bwMode="auto">
              <a:xfrm>
                <a:off x="4223279" y="3207786"/>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p>
            </p:txBody>
          </p:sp>
          <p:sp>
            <p:nvSpPr>
              <p:cNvPr id="109" name="TextBox 68">
                <a:extLst>
                  <a:ext uri="{FF2B5EF4-FFF2-40B4-BE49-F238E27FC236}">
                    <a16:creationId xmlns:a16="http://schemas.microsoft.com/office/drawing/2014/main" id="{ECD1671E-E201-5E93-4643-AB3B88129526}"/>
                  </a:ext>
                </a:extLst>
              </p:cNvPr>
              <p:cNvSpPr txBox="1">
                <a:spLocks noChangeArrowheads="1"/>
              </p:cNvSpPr>
              <p:nvPr/>
            </p:nvSpPr>
            <p:spPr bwMode="auto">
              <a:xfrm>
                <a:off x="6588809" y="184345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sp>
            <p:nvSpPr>
              <p:cNvPr id="110" name="TextBox 68">
                <a:extLst>
                  <a:ext uri="{FF2B5EF4-FFF2-40B4-BE49-F238E27FC236}">
                    <a16:creationId xmlns:a16="http://schemas.microsoft.com/office/drawing/2014/main" id="{67D1875F-514B-CBB8-ED01-55BD1D275F1A}"/>
                  </a:ext>
                </a:extLst>
              </p:cNvPr>
              <p:cNvSpPr txBox="1">
                <a:spLocks noChangeArrowheads="1"/>
              </p:cNvSpPr>
              <p:nvPr/>
            </p:nvSpPr>
            <p:spPr bwMode="auto">
              <a:xfrm>
                <a:off x="1783175" y="193095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111" name="Straight Connector 110">
                <a:extLst>
                  <a:ext uri="{FF2B5EF4-FFF2-40B4-BE49-F238E27FC236}">
                    <a16:creationId xmlns:a16="http://schemas.microsoft.com/office/drawing/2014/main" id="{445E6CE5-51A6-C3DB-C5B7-3161504E4A3C}"/>
                  </a:ext>
                </a:extLst>
              </p:cNvPr>
              <p:cNvCxnSpPr>
                <a:stCxn id="102"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12" name="Straight Connector 111">
                <a:extLst>
                  <a:ext uri="{FF2B5EF4-FFF2-40B4-BE49-F238E27FC236}">
                    <a16:creationId xmlns:a16="http://schemas.microsoft.com/office/drawing/2014/main" id="{439E5BEA-EAE4-AE6E-476F-607FE1903694}"/>
                  </a:ext>
                </a:extLst>
              </p:cNvPr>
              <p:cNvCxnSpPr>
                <a:stCxn id="99"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13" name="Straight Connector 112">
                <a:extLst>
                  <a:ext uri="{FF2B5EF4-FFF2-40B4-BE49-F238E27FC236}">
                    <a16:creationId xmlns:a16="http://schemas.microsoft.com/office/drawing/2014/main" id="{F9BA5380-C780-374B-CF7A-59FD6E516BB7}"/>
                  </a:ext>
                </a:extLst>
              </p:cNvPr>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14" name="Straight Connector 113">
                <a:extLst>
                  <a:ext uri="{FF2B5EF4-FFF2-40B4-BE49-F238E27FC236}">
                    <a16:creationId xmlns:a16="http://schemas.microsoft.com/office/drawing/2014/main" id="{FAB9CCB3-ADC8-FA0C-C414-97D55E92011B}"/>
                  </a:ext>
                </a:extLst>
              </p:cNvPr>
              <p:cNvCxnSpPr/>
              <p:nvPr/>
            </p:nvCxnSpPr>
            <p:spPr bwMode="auto">
              <a:xfrm>
                <a:off x="1809679" y="4121426"/>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15" name="Straight Connector 114">
                <a:extLst>
                  <a:ext uri="{FF2B5EF4-FFF2-40B4-BE49-F238E27FC236}">
                    <a16:creationId xmlns:a16="http://schemas.microsoft.com/office/drawing/2014/main" id="{5B4EC36D-1722-2D38-636D-16F8CDBB55E4}"/>
                  </a:ext>
                </a:extLst>
              </p:cNvPr>
              <p:cNvCxnSpPr/>
              <p:nvPr/>
            </p:nvCxnSpPr>
            <p:spPr bwMode="auto">
              <a:xfrm flipH="1">
                <a:off x="2478019" y="1101844"/>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16" name="Straight Connector 115">
                <a:extLst>
                  <a:ext uri="{FF2B5EF4-FFF2-40B4-BE49-F238E27FC236}">
                    <a16:creationId xmlns:a16="http://schemas.microsoft.com/office/drawing/2014/main" id="{1C46F82B-09E4-2BBA-B354-53A6CF72156D}"/>
                  </a:ext>
                </a:extLst>
              </p:cNvPr>
              <p:cNvCxnSpPr/>
              <p:nvPr/>
            </p:nvCxnSpPr>
            <p:spPr bwMode="auto">
              <a:xfrm>
                <a:off x="2478019" y="1110757"/>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17" name="Straight Connector 116">
                <a:extLst>
                  <a:ext uri="{FF2B5EF4-FFF2-40B4-BE49-F238E27FC236}">
                    <a16:creationId xmlns:a16="http://schemas.microsoft.com/office/drawing/2014/main" id="{D6F87489-D810-75FE-2BE8-8726882674DE}"/>
                  </a:ext>
                </a:extLst>
              </p:cNvPr>
              <p:cNvCxnSpPr/>
              <p:nvPr/>
            </p:nvCxnSpPr>
            <p:spPr bwMode="auto">
              <a:xfrm>
                <a:off x="2336428" y="1295423"/>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18" name="Oval 117">
                <a:extLst>
                  <a:ext uri="{FF2B5EF4-FFF2-40B4-BE49-F238E27FC236}">
                    <a16:creationId xmlns:a16="http://schemas.microsoft.com/office/drawing/2014/main" id="{79FD5B7C-E445-A559-F755-C894E12352B8}"/>
                  </a:ext>
                </a:extLst>
              </p:cNvPr>
              <p:cNvSpPr/>
              <p:nvPr/>
            </p:nvSpPr>
            <p:spPr bwMode="auto">
              <a:xfrm>
                <a:off x="4388021" y="1052374"/>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19" name="TextBox 118">
                <a:extLst>
                  <a:ext uri="{FF2B5EF4-FFF2-40B4-BE49-F238E27FC236}">
                    <a16:creationId xmlns:a16="http://schemas.microsoft.com/office/drawing/2014/main" id="{0774059B-E0C4-0DAD-125E-C07B26D75F22}"/>
                  </a:ext>
                </a:extLst>
              </p:cNvPr>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120" name="TextBox 119">
                <a:extLst>
                  <a:ext uri="{FF2B5EF4-FFF2-40B4-BE49-F238E27FC236}">
                    <a16:creationId xmlns:a16="http://schemas.microsoft.com/office/drawing/2014/main" id="{291B2AC8-24C4-3C76-4062-79F31C65710C}"/>
                  </a:ext>
                </a:extLst>
              </p:cNvPr>
              <p:cNvSpPr txBox="1"/>
              <p:nvPr/>
            </p:nvSpPr>
            <p:spPr>
              <a:xfrm>
                <a:off x="2973623" y="1211977"/>
                <a:ext cx="391528" cy="338554"/>
              </a:xfrm>
              <a:prstGeom prst="rect">
                <a:avLst/>
              </a:prstGeom>
              <a:noFill/>
            </p:spPr>
            <p:txBody>
              <a:bodyPr wrap="square" rtlCol="0">
                <a:spAutoFit/>
              </a:bodyPr>
              <a:lstStyle/>
              <a:p>
                <a:r>
                  <a:rPr lang="en-US" sz="1600" dirty="0"/>
                  <a:t>S</a:t>
                </a:r>
              </a:p>
            </p:txBody>
          </p:sp>
          <p:sp>
            <p:nvSpPr>
              <p:cNvPr id="121" name="Oval 120">
                <a:extLst>
                  <a:ext uri="{FF2B5EF4-FFF2-40B4-BE49-F238E27FC236}">
                    <a16:creationId xmlns:a16="http://schemas.microsoft.com/office/drawing/2014/main" id="{C0B5E119-4FFE-503D-15A9-A06DA6269480}"/>
                  </a:ext>
                </a:extLst>
              </p:cNvPr>
              <p:cNvSpPr/>
              <p:nvPr/>
            </p:nvSpPr>
            <p:spPr bwMode="auto">
              <a:xfrm>
                <a:off x="5851250" y="1026911"/>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122" name="Straight Connector 121">
                <a:extLst>
                  <a:ext uri="{FF2B5EF4-FFF2-40B4-BE49-F238E27FC236}">
                    <a16:creationId xmlns:a16="http://schemas.microsoft.com/office/drawing/2014/main" id="{5C7E88E8-BAA2-8D4C-9AD0-8F97F47A27C1}"/>
                  </a:ext>
                </a:extLst>
              </p:cNvPr>
              <p:cNvCxnSpPr>
                <a:stCxn id="121" idx="4"/>
                <a:endCxn id="100"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23" name="TextBox 122">
                <a:extLst>
                  <a:ext uri="{FF2B5EF4-FFF2-40B4-BE49-F238E27FC236}">
                    <a16:creationId xmlns:a16="http://schemas.microsoft.com/office/drawing/2014/main" id="{D07111BF-6E1D-CF32-C341-55A9CCAE9C8C}"/>
                  </a:ext>
                </a:extLst>
              </p:cNvPr>
              <p:cNvSpPr txBox="1"/>
              <p:nvPr/>
            </p:nvSpPr>
            <p:spPr>
              <a:xfrm>
                <a:off x="5927499" y="1302970"/>
                <a:ext cx="391528" cy="338554"/>
              </a:xfrm>
              <a:prstGeom prst="rect">
                <a:avLst/>
              </a:prstGeom>
              <a:noFill/>
            </p:spPr>
            <p:txBody>
              <a:bodyPr wrap="square" rtlCol="0">
                <a:spAutoFit/>
              </a:bodyPr>
              <a:lstStyle/>
              <a:p>
                <a:r>
                  <a:rPr lang="en-US" sz="1600" dirty="0"/>
                  <a:t>D</a:t>
                </a:r>
              </a:p>
            </p:txBody>
          </p:sp>
        </p:grpSp>
        <p:sp>
          <p:nvSpPr>
            <p:cNvPr id="8" name="TextBox 7">
              <a:extLst>
                <a:ext uri="{FF2B5EF4-FFF2-40B4-BE49-F238E27FC236}">
                  <a16:creationId xmlns:a16="http://schemas.microsoft.com/office/drawing/2014/main" id="{9F460889-8B3E-29DF-EA9D-639B0C9A0E45}"/>
                </a:ext>
              </a:extLst>
            </p:cNvPr>
            <p:cNvSpPr txBox="1"/>
            <p:nvPr/>
          </p:nvSpPr>
          <p:spPr>
            <a:xfrm>
              <a:off x="4610634" y="975729"/>
              <a:ext cx="1240616" cy="338554"/>
            </a:xfrm>
            <a:prstGeom prst="rect">
              <a:avLst/>
            </a:prstGeom>
            <a:noFill/>
          </p:spPr>
          <p:txBody>
            <a:bodyPr wrap="square" rtlCol="0">
              <a:spAutoFit/>
            </a:bodyPr>
            <a:lstStyle/>
            <a:p>
              <a:r>
                <a:rPr lang="en-US" sz="1600" dirty="0"/>
                <a:t>+U</a:t>
              </a:r>
              <a:r>
                <a:rPr lang="en-US" sz="1600" baseline="-25000" dirty="0"/>
                <a:t>GS</a:t>
              </a:r>
              <a:r>
                <a:rPr lang="en-US" sz="1600" dirty="0"/>
                <a:t> &lt; U</a:t>
              </a:r>
              <a:r>
                <a:rPr lang="en-US" sz="1600" baseline="-25000" dirty="0"/>
                <a:t>T</a:t>
              </a:r>
            </a:p>
          </p:txBody>
        </p:sp>
        <p:sp>
          <p:nvSpPr>
            <p:cNvPr id="9" name="TextBox 8">
              <a:extLst>
                <a:ext uri="{FF2B5EF4-FFF2-40B4-BE49-F238E27FC236}">
                  <a16:creationId xmlns:a16="http://schemas.microsoft.com/office/drawing/2014/main" id="{543C38AB-8CBA-78C9-1AF1-BA9A26D6D843}"/>
                </a:ext>
              </a:extLst>
            </p:cNvPr>
            <p:cNvSpPr txBox="1"/>
            <p:nvPr/>
          </p:nvSpPr>
          <p:spPr>
            <a:xfrm>
              <a:off x="6092571" y="980344"/>
              <a:ext cx="980746" cy="338554"/>
            </a:xfrm>
            <a:prstGeom prst="rect">
              <a:avLst/>
            </a:prstGeom>
            <a:noFill/>
          </p:spPr>
          <p:txBody>
            <a:bodyPr wrap="square" rtlCol="0">
              <a:spAutoFit/>
            </a:bodyPr>
            <a:lstStyle/>
            <a:p>
              <a:r>
                <a:rPr lang="en-US" sz="1600" dirty="0"/>
                <a:t>+ U</a:t>
              </a:r>
              <a:r>
                <a:rPr lang="en-US" sz="1600" baseline="-25000" dirty="0"/>
                <a:t>DS</a:t>
              </a:r>
              <a:endParaRPr lang="en-US" sz="1600" dirty="0"/>
            </a:p>
          </p:txBody>
        </p:sp>
        <p:grpSp>
          <p:nvGrpSpPr>
            <p:cNvPr id="11" name="Group 50">
              <a:extLst>
                <a:ext uri="{FF2B5EF4-FFF2-40B4-BE49-F238E27FC236}">
                  <a16:creationId xmlns:a16="http://schemas.microsoft.com/office/drawing/2014/main" id="{4AED26D6-9527-D93F-F589-DA134B53C1C9}"/>
                </a:ext>
              </a:extLst>
            </p:cNvPr>
            <p:cNvGrpSpPr>
              <a:grpSpLocks/>
            </p:cNvGrpSpPr>
            <p:nvPr/>
          </p:nvGrpSpPr>
          <p:grpSpPr bwMode="auto">
            <a:xfrm>
              <a:off x="1586352" y="2587137"/>
              <a:ext cx="196823" cy="150371"/>
              <a:chOff x="7917084" y="1956121"/>
              <a:chExt cx="289367" cy="231494"/>
            </a:xfrm>
          </p:grpSpPr>
          <p:sp>
            <p:nvSpPr>
              <p:cNvPr id="95" name="Rectangle 51">
                <a:extLst>
                  <a:ext uri="{FF2B5EF4-FFF2-40B4-BE49-F238E27FC236}">
                    <a16:creationId xmlns:a16="http://schemas.microsoft.com/office/drawing/2014/main" id="{A81D87FD-9F44-0662-3AEA-EF284F8A98A0}"/>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96" name="Straight Connector 52">
                <a:extLst>
                  <a:ext uri="{FF2B5EF4-FFF2-40B4-BE49-F238E27FC236}">
                    <a16:creationId xmlns:a16="http://schemas.microsoft.com/office/drawing/2014/main" id="{78A9E7E9-81E0-6369-530E-F5A1F0A4E87C}"/>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2" name="Group 50">
              <a:extLst>
                <a:ext uri="{FF2B5EF4-FFF2-40B4-BE49-F238E27FC236}">
                  <a16:creationId xmlns:a16="http://schemas.microsoft.com/office/drawing/2014/main" id="{828D503A-D4D0-C2DE-F139-A4BA76375707}"/>
                </a:ext>
              </a:extLst>
            </p:cNvPr>
            <p:cNvGrpSpPr>
              <a:grpSpLocks/>
            </p:cNvGrpSpPr>
            <p:nvPr/>
          </p:nvGrpSpPr>
          <p:grpSpPr bwMode="auto">
            <a:xfrm>
              <a:off x="2090328" y="2587137"/>
              <a:ext cx="196823" cy="150371"/>
              <a:chOff x="7917084" y="1956121"/>
              <a:chExt cx="289367" cy="231494"/>
            </a:xfrm>
          </p:grpSpPr>
          <p:sp>
            <p:nvSpPr>
              <p:cNvPr id="63" name="Rectangle 51">
                <a:extLst>
                  <a:ext uri="{FF2B5EF4-FFF2-40B4-BE49-F238E27FC236}">
                    <a16:creationId xmlns:a16="http://schemas.microsoft.com/office/drawing/2014/main" id="{9520A5D9-CE74-028F-401C-07570E6B5ECE}"/>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0" name="Straight Connector 52">
                <a:extLst>
                  <a:ext uri="{FF2B5EF4-FFF2-40B4-BE49-F238E27FC236}">
                    <a16:creationId xmlns:a16="http://schemas.microsoft.com/office/drawing/2014/main" id="{F03A29B0-918F-C644-DC85-51727FDD38C2}"/>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3" name="Group 50">
              <a:extLst>
                <a:ext uri="{FF2B5EF4-FFF2-40B4-BE49-F238E27FC236}">
                  <a16:creationId xmlns:a16="http://schemas.microsoft.com/office/drawing/2014/main" id="{F4F4C39C-F6F3-FC9E-BDFB-A9194C63D622}"/>
                </a:ext>
              </a:extLst>
            </p:cNvPr>
            <p:cNvGrpSpPr>
              <a:grpSpLocks/>
            </p:cNvGrpSpPr>
            <p:nvPr/>
          </p:nvGrpSpPr>
          <p:grpSpPr bwMode="auto">
            <a:xfrm>
              <a:off x="2574037" y="2587136"/>
              <a:ext cx="196823" cy="150371"/>
              <a:chOff x="7917084" y="1956121"/>
              <a:chExt cx="289367" cy="231494"/>
            </a:xfrm>
          </p:grpSpPr>
          <p:sp>
            <p:nvSpPr>
              <p:cNvPr id="61" name="Rectangle 51">
                <a:extLst>
                  <a:ext uri="{FF2B5EF4-FFF2-40B4-BE49-F238E27FC236}">
                    <a16:creationId xmlns:a16="http://schemas.microsoft.com/office/drawing/2014/main" id="{52D9D44E-D67B-5B2C-D206-80732817325A}"/>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2" name="Straight Connector 52">
                <a:extLst>
                  <a:ext uri="{FF2B5EF4-FFF2-40B4-BE49-F238E27FC236}">
                    <a16:creationId xmlns:a16="http://schemas.microsoft.com/office/drawing/2014/main" id="{BF668784-FEEC-5CC8-5253-2AF473ED4B79}"/>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4" name="Group 50">
              <a:extLst>
                <a:ext uri="{FF2B5EF4-FFF2-40B4-BE49-F238E27FC236}">
                  <a16:creationId xmlns:a16="http://schemas.microsoft.com/office/drawing/2014/main" id="{F48956A8-4AA5-5531-1AA0-E05CE6D25E2D}"/>
                </a:ext>
              </a:extLst>
            </p:cNvPr>
            <p:cNvGrpSpPr>
              <a:grpSpLocks/>
            </p:cNvGrpSpPr>
            <p:nvPr/>
          </p:nvGrpSpPr>
          <p:grpSpPr bwMode="auto">
            <a:xfrm>
              <a:off x="3038139" y="2587138"/>
              <a:ext cx="196823" cy="150371"/>
              <a:chOff x="7917084" y="1956121"/>
              <a:chExt cx="289367" cy="231494"/>
            </a:xfrm>
          </p:grpSpPr>
          <p:sp>
            <p:nvSpPr>
              <p:cNvPr id="59" name="Rectangle 51">
                <a:extLst>
                  <a:ext uri="{FF2B5EF4-FFF2-40B4-BE49-F238E27FC236}">
                    <a16:creationId xmlns:a16="http://schemas.microsoft.com/office/drawing/2014/main" id="{523B6EB0-509A-AF33-217C-FF2F6BBBCFAE}"/>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0" name="Straight Connector 52">
                <a:extLst>
                  <a:ext uri="{FF2B5EF4-FFF2-40B4-BE49-F238E27FC236}">
                    <a16:creationId xmlns:a16="http://schemas.microsoft.com/office/drawing/2014/main" id="{FF51D6CA-378E-263C-C1D9-6705A2908F27}"/>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5" name="Group 50">
              <a:extLst>
                <a:ext uri="{FF2B5EF4-FFF2-40B4-BE49-F238E27FC236}">
                  <a16:creationId xmlns:a16="http://schemas.microsoft.com/office/drawing/2014/main" id="{04999501-F75F-D04E-BFF6-7539B7F0D7C9}"/>
                </a:ext>
              </a:extLst>
            </p:cNvPr>
            <p:cNvGrpSpPr>
              <a:grpSpLocks/>
            </p:cNvGrpSpPr>
            <p:nvPr/>
          </p:nvGrpSpPr>
          <p:grpSpPr bwMode="auto">
            <a:xfrm>
              <a:off x="3534917" y="2511954"/>
              <a:ext cx="196823" cy="150371"/>
              <a:chOff x="7917084" y="1956121"/>
              <a:chExt cx="289367" cy="231494"/>
            </a:xfrm>
          </p:grpSpPr>
          <p:sp>
            <p:nvSpPr>
              <p:cNvPr id="57" name="Rectangle 51">
                <a:extLst>
                  <a:ext uri="{FF2B5EF4-FFF2-40B4-BE49-F238E27FC236}">
                    <a16:creationId xmlns:a16="http://schemas.microsoft.com/office/drawing/2014/main" id="{3764D746-2723-B73E-7D2D-C08AD0AEC3D1}"/>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8" name="Straight Connector 52">
                <a:extLst>
                  <a:ext uri="{FF2B5EF4-FFF2-40B4-BE49-F238E27FC236}">
                    <a16:creationId xmlns:a16="http://schemas.microsoft.com/office/drawing/2014/main" id="{F7F6F151-0C41-4D76-240E-AFDF59EFBC7C}"/>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6" name="Group 50">
              <a:extLst>
                <a:ext uri="{FF2B5EF4-FFF2-40B4-BE49-F238E27FC236}">
                  <a16:creationId xmlns:a16="http://schemas.microsoft.com/office/drawing/2014/main" id="{43F8983F-1250-8294-5D45-DB1915C72FAE}"/>
                </a:ext>
              </a:extLst>
            </p:cNvPr>
            <p:cNvGrpSpPr>
              <a:grpSpLocks/>
            </p:cNvGrpSpPr>
            <p:nvPr/>
          </p:nvGrpSpPr>
          <p:grpSpPr bwMode="auto">
            <a:xfrm>
              <a:off x="3714821" y="2173089"/>
              <a:ext cx="196823" cy="150371"/>
              <a:chOff x="7917084" y="1956121"/>
              <a:chExt cx="289367" cy="231494"/>
            </a:xfrm>
          </p:grpSpPr>
          <p:sp>
            <p:nvSpPr>
              <p:cNvPr id="55" name="Rectangle 51">
                <a:extLst>
                  <a:ext uri="{FF2B5EF4-FFF2-40B4-BE49-F238E27FC236}">
                    <a16:creationId xmlns:a16="http://schemas.microsoft.com/office/drawing/2014/main" id="{E8A8F8D3-C556-B745-6552-6DA7E737BB8F}"/>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6" name="Straight Connector 52">
                <a:extLst>
                  <a:ext uri="{FF2B5EF4-FFF2-40B4-BE49-F238E27FC236}">
                    <a16:creationId xmlns:a16="http://schemas.microsoft.com/office/drawing/2014/main" id="{0C650933-22DF-530F-34E4-3119B2B27B37}"/>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7" name="Group 50">
              <a:extLst>
                <a:ext uri="{FF2B5EF4-FFF2-40B4-BE49-F238E27FC236}">
                  <a16:creationId xmlns:a16="http://schemas.microsoft.com/office/drawing/2014/main" id="{54BED9C4-47B7-1744-698C-3C62E8A20499}"/>
                </a:ext>
              </a:extLst>
            </p:cNvPr>
            <p:cNvGrpSpPr>
              <a:grpSpLocks/>
            </p:cNvGrpSpPr>
            <p:nvPr/>
          </p:nvGrpSpPr>
          <p:grpSpPr bwMode="auto">
            <a:xfrm>
              <a:off x="3725196" y="1900283"/>
              <a:ext cx="196823" cy="150371"/>
              <a:chOff x="7917084" y="1956121"/>
              <a:chExt cx="289367" cy="231494"/>
            </a:xfrm>
          </p:grpSpPr>
          <p:sp>
            <p:nvSpPr>
              <p:cNvPr id="53" name="Rectangle 51">
                <a:extLst>
                  <a:ext uri="{FF2B5EF4-FFF2-40B4-BE49-F238E27FC236}">
                    <a16:creationId xmlns:a16="http://schemas.microsoft.com/office/drawing/2014/main" id="{6D257E9B-640F-81F4-0045-1932608F2223}"/>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4" name="Straight Connector 52">
                <a:extLst>
                  <a:ext uri="{FF2B5EF4-FFF2-40B4-BE49-F238E27FC236}">
                    <a16:creationId xmlns:a16="http://schemas.microsoft.com/office/drawing/2014/main" id="{997C1A34-4827-5708-9B21-F8FC460B4926}"/>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8" name="Group 50">
              <a:extLst>
                <a:ext uri="{FF2B5EF4-FFF2-40B4-BE49-F238E27FC236}">
                  <a16:creationId xmlns:a16="http://schemas.microsoft.com/office/drawing/2014/main" id="{7B400B9F-2035-5E74-63A6-EC90B3D9DC22}"/>
                </a:ext>
              </a:extLst>
            </p:cNvPr>
            <p:cNvGrpSpPr>
              <a:grpSpLocks/>
            </p:cNvGrpSpPr>
            <p:nvPr/>
          </p:nvGrpSpPr>
          <p:grpSpPr bwMode="auto">
            <a:xfrm>
              <a:off x="4099498" y="2169529"/>
              <a:ext cx="196823" cy="150371"/>
              <a:chOff x="7917084" y="1956121"/>
              <a:chExt cx="289367" cy="231494"/>
            </a:xfrm>
          </p:grpSpPr>
          <p:sp>
            <p:nvSpPr>
              <p:cNvPr id="51" name="Rectangle 51">
                <a:extLst>
                  <a:ext uri="{FF2B5EF4-FFF2-40B4-BE49-F238E27FC236}">
                    <a16:creationId xmlns:a16="http://schemas.microsoft.com/office/drawing/2014/main" id="{F92CF0F5-3980-1723-AD3A-8D407EE61706}"/>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2" name="Straight Connector 52">
                <a:extLst>
                  <a:ext uri="{FF2B5EF4-FFF2-40B4-BE49-F238E27FC236}">
                    <a16:creationId xmlns:a16="http://schemas.microsoft.com/office/drawing/2014/main" id="{831B60E4-E28E-F442-FB16-90686BF95063}"/>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9" name="Group 50">
              <a:extLst>
                <a:ext uri="{FF2B5EF4-FFF2-40B4-BE49-F238E27FC236}">
                  <a16:creationId xmlns:a16="http://schemas.microsoft.com/office/drawing/2014/main" id="{86438ED7-00A7-AF2C-1B00-86BEF7081A47}"/>
                </a:ext>
              </a:extLst>
            </p:cNvPr>
            <p:cNvGrpSpPr>
              <a:grpSpLocks/>
            </p:cNvGrpSpPr>
            <p:nvPr/>
          </p:nvGrpSpPr>
          <p:grpSpPr bwMode="auto">
            <a:xfrm>
              <a:off x="4096621" y="1896723"/>
              <a:ext cx="196823" cy="150371"/>
              <a:chOff x="7917084" y="1956121"/>
              <a:chExt cx="289367" cy="231494"/>
            </a:xfrm>
          </p:grpSpPr>
          <p:sp>
            <p:nvSpPr>
              <p:cNvPr id="49" name="Rectangle 51">
                <a:extLst>
                  <a:ext uri="{FF2B5EF4-FFF2-40B4-BE49-F238E27FC236}">
                    <a16:creationId xmlns:a16="http://schemas.microsoft.com/office/drawing/2014/main" id="{C6F6630E-BBCC-C7B1-E83C-F8FEC5AE9B3C}"/>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0" name="Straight Connector 52">
                <a:extLst>
                  <a:ext uri="{FF2B5EF4-FFF2-40B4-BE49-F238E27FC236}">
                    <a16:creationId xmlns:a16="http://schemas.microsoft.com/office/drawing/2014/main" id="{E7C038D8-F7B4-F274-2239-D2B703DF0EF9}"/>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0" name="Group 50">
              <a:extLst>
                <a:ext uri="{FF2B5EF4-FFF2-40B4-BE49-F238E27FC236}">
                  <a16:creationId xmlns:a16="http://schemas.microsoft.com/office/drawing/2014/main" id="{061F74C4-A750-0CA5-1E1C-51056C801554}"/>
                </a:ext>
              </a:extLst>
            </p:cNvPr>
            <p:cNvGrpSpPr>
              <a:grpSpLocks/>
            </p:cNvGrpSpPr>
            <p:nvPr/>
          </p:nvGrpSpPr>
          <p:grpSpPr bwMode="auto">
            <a:xfrm>
              <a:off x="4512222" y="2151101"/>
              <a:ext cx="196823" cy="150371"/>
              <a:chOff x="7917084" y="1956121"/>
              <a:chExt cx="289367" cy="231494"/>
            </a:xfrm>
          </p:grpSpPr>
          <p:sp>
            <p:nvSpPr>
              <p:cNvPr id="47" name="Rectangle 51">
                <a:extLst>
                  <a:ext uri="{FF2B5EF4-FFF2-40B4-BE49-F238E27FC236}">
                    <a16:creationId xmlns:a16="http://schemas.microsoft.com/office/drawing/2014/main" id="{CE064109-76E5-6924-6468-B42760935EB7}"/>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48" name="Straight Connector 52">
                <a:extLst>
                  <a:ext uri="{FF2B5EF4-FFF2-40B4-BE49-F238E27FC236}">
                    <a16:creationId xmlns:a16="http://schemas.microsoft.com/office/drawing/2014/main" id="{CD24454C-F22D-47F3-F476-E8034B410969}"/>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1" name="Group 50">
              <a:extLst>
                <a:ext uri="{FF2B5EF4-FFF2-40B4-BE49-F238E27FC236}">
                  <a16:creationId xmlns:a16="http://schemas.microsoft.com/office/drawing/2014/main" id="{2B25481F-F44F-D439-567B-49821D6CEEC6}"/>
                </a:ext>
              </a:extLst>
            </p:cNvPr>
            <p:cNvGrpSpPr>
              <a:grpSpLocks/>
            </p:cNvGrpSpPr>
            <p:nvPr/>
          </p:nvGrpSpPr>
          <p:grpSpPr bwMode="auto">
            <a:xfrm>
              <a:off x="4522597" y="1878295"/>
              <a:ext cx="196823" cy="150371"/>
              <a:chOff x="7917084" y="1956121"/>
              <a:chExt cx="289367" cy="231494"/>
            </a:xfrm>
          </p:grpSpPr>
          <p:sp>
            <p:nvSpPr>
              <p:cNvPr id="45" name="Rectangle 51">
                <a:extLst>
                  <a:ext uri="{FF2B5EF4-FFF2-40B4-BE49-F238E27FC236}">
                    <a16:creationId xmlns:a16="http://schemas.microsoft.com/office/drawing/2014/main" id="{C8206B54-CB19-78EE-3931-984D44059690}"/>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46" name="Straight Connector 52">
                <a:extLst>
                  <a:ext uri="{FF2B5EF4-FFF2-40B4-BE49-F238E27FC236}">
                    <a16:creationId xmlns:a16="http://schemas.microsoft.com/office/drawing/2014/main" id="{90C12D22-2617-DBD5-183B-8C15D7E72913}"/>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2" name="Group 50">
              <a:extLst>
                <a:ext uri="{FF2B5EF4-FFF2-40B4-BE49-F238E27FC236}">
                  <a16:creationId xmlns:a16="http://schemas.microsoft.com/office/drawing/2014/main" id="{3F1E6917-52C5-D87F-0277-B9F72DC15330}"/>
                </a:ext>
              </a:extLst>
            </p:cNvPr>
            <p:cNvGrpSpPr>
              <a:grpSpLocks/>
            </p:cNvGrpSpPr>
            <p:nvPr/>
          </p:nvGrpSpPr>
          <p:grpSpPr bwMode="auto">
            <a:xfrm>
              <a:off x="4896899" y="2147541"/>
              <a:ext cx="196823" cy="150371"/>
              <a:chOff x="7917084" y="1956121"/>
              <a:chExt cx="289367" cy="231494"/>
            </a:xfrm>
          </p:grpSpPr>
          <p:sp>
            <p:nvSpPr>
              <p:cNvPr id="43" name="Rectangle 51">
                <a:extLst>
                  <a:ext uri="{FF2B5EF4-FFF2-40B4-BE49-F238E27FC236}">
                    <a16:creationId xmlns:a16="http://schemas.microsoft.com/office/drawing/2014/main" id="{8E46C2B2-69A4-7DC5-14DC-E949C65C3A36}"/>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44" name="Straight Connector 52">
                <a:extLst>
                  <a:ext uri="{FF2B5EF4-FFF2-40B4-BE49-F238E27FC236}">
                    <a16:creationId xmlns:a16="http://schemas.microsoft.com/office/drawing/2014/main" id="{B7D2FFB0-205B-F397-32CA-59B6B7F9D6BB}"/>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3" name="Group 50">
              <a:extLst>
                <a:ext uri="{FF2B5EF4-FFF2-40B4-BE49-F238E27FC236}">
                  <a16:creationId xmlns:a16="http://schemas.microsoft.com/office/drawing/2014/main" id="{DAE283D4-BFAF-332E-C2C9-AC4A1C9C7653}"/>
                </a:ext>
              </a:extLst>
            </p:cNvPr>
            <p:cNvGrpSpPr>
              <a:grpSpLocks/>
            </p:cNvGrpSpPr>
            <p:nvPr/>
          </p:nvGrpSpPr>
          <p:grpSpPr bwMode="auto">
            <a:xfrm>
              <a:off x="4894022" y="1874735"/>
              <a:ext cx="196823" cy="150371"/>
              <a:chOff x="7917084" y="1956121"/>
              <a:chExt cx="289367" cy="231494"/>
            </a:xfrm>
          </p:grpSpPr>
          <p:sp>
            <p:nvSpPr>
              <p:cNvPr id="41" name="Rectangle 51">
                <a:extLst>
                  <a:ext uri="{FF2B5EF4-FFF2-40B4-BE49-F238E27FC236}">
                    <a16:creationId xmlns:a16="http://schemas.microsoft.com/office/drawing/2014/main" id="{B5F33891-179A-7987-6845-92ADF6DCBC9D}"/>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42" name="Straight Connector 52">
                <a:extLst>
                  <a:ext uri="{FF2B5EF4-FFF2-40B4-BE49-F238E27FC236}">
                    <a16:creationId xmlns:a16="http://schemas.microsoft.com/office/drawing/2014/main" id="{742EF72E-BCBE-F6A4-B326-30344533E36C}"/>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4" name="Group 50">
              <a:extLst>
                <a:ext uri="{FF2B5EF4-FFF2-40B4-BE49-F238E27FC236}">
                  <a16:creationId xmlns:a16="http://schemas.microsoft.com/office/drawing/2014/main" id="{B92FEBF3-8356-281A-1A4D-C369031F120A}"/>
                </a:ext>
              </a:extLst>
            </p:cNvPr>
            <p:cNvGrpSpPr>
              <a:grpSpLocks/>
            </p:cNvGrpSpPr>
            <p:nvPr/>
          </p:nvGrpSpPr>
          <p:grpSpPr bwMode="auto">
            <a:xfrm>
              <a:off x="5090845" y="2469031"/>
              <a:ext cx="196823" cy="150371"/>
              <a:chOff x="7917084" y="1956121"/>
              <a:chExt cx="289367" cy="231494"/>
            </a:xfrm>
          </p:grpSpPr>
          <p:sp>
            <p:nvSpPr>
              <p:cNvPr id="39" name="Rectangle 51">
                <a:extLst>
                  <a:ext uri="{FF2B5EF4-FFF2-40B4-BE49-F238E27FC236}">
                    <a16:creationId xmlns:a16="http://schemas.microsoft.com/office/drawing/2014/main" id="{FDA2E7CA-BAA9-650E-BF53-DB2B2B8E0762}"/>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40" name="Straight Connector 52">
                <a:extLst>
                  <a:ext uri="{FF2B5EF4-FFF2-40B4-BE49-F238E27FC236}">
                    <a16:creationId xmlns:a16="http://schemas.microsoft.com/office/drawing/2014/main" id="{160E79A8-E76E-FA19-BCCF-6879EBBF030F}"/>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5" name="Group 50">
              <a:extLst>
                <a:ext uri="{FF2B5EF4-FFF2-40B4-BE49-F238E27FC236}">
                  <a16:creationId xmlns:a16="http://schemas.microsoft.com/office/drawing/2014/main" id="{A86D016E-6F5B-9545-BB30-7AADEB3CB399}"/>
                </a:ext>
              </a:extLst>
            </p:cNvPr>
            <p:cNvGrpSpPr>
              <a:grpSpLocks/>
            </p:cNvGrpSpPr>
            <p:nvPr/>
          </p:nvGrpSpPr>
          <p:grpSpPr bwMode="auto">
            <a:xfrm>
              <a:off x="5595678" y="2584739"/>
              <a:ext cx="196823" cy="150371"/>
              <a:chOff x="7917084" y="1956121"/>
              <a:chExt cx="289367" cy="231494"/>
            </a:xfrm>
          </p:grpSpPr>
          <p:sp>
            <p:nvSpPr>
              <p:cNvPr id="37" name="Rectangle 51">
                <a:extLst>
                  <a:ext uri="{FF2B5EF4-FFF2-40B4-BE49-F238E27FC236}">
                    <a16:creationId xmlns:a16="http://schemas.microsoft.com/office/drawing/2014/main" id="{90DC21D4-ACAA-6627-9144-3836841BDF79}"/>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38" name="Straight Connector 52">
                <a:extLst>
                  <a:ext uri="{FF2B5EF4-FFF2-40B4-BE49-F238E27FC236}">
                    <a16:creationId xmlns:a16="http://schemas.microsoft.com/office/drawing/2014/main" id="{67E905AA-D522-E165-73D9-0A403788C8A7}"/>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6" name="Group 50">
              <a:extLst>
                <a:ext uri="{FF2B5EF4-FFF2-40B4-BE49-F238E27FC236}">
                  <a16:creationId xmlns:a16="http://schemas.microsoft.com/office/drawing/2014/main" id="{D386B01D-A71D-1429-F1CA-B7252A21356E}"/>
                </a:ext>
              </a:extLst>
            </p:cNvPr>
            <p:cNvGrpSpPr>
              <a:grpSpLocks/>
            </p:cNvGrpSpPr>
            <p:nvPr/>
          </p:nvGrpSpPr>
          <p:grpSpPr bwMode="auto">
            <a:xfrm>
              <a:off x="6099654" y="2584739"/>
              <a:ext cx="196823" cy="150371"/>
              <a:chOff x="7917084" y="1956121"/>
              <a:chExt cx="289367" cy="231494"/>
            </a:xfrm>
          </p:grpSpPr>
          <p:sp>
            <p:nvSpPr>
              <p:cNvPr id="35" name="Rectangle 51">
                <a:extLst>
                  <a:ext uri="{FF2B5EF4-FFF2-40B4-BE49-F238E27FC236}">
                    <a16:creationId xmlns:a16="http://schemas.microsoft.com/office/drawing/2014/main" id="{3E1E1AE8-B3E8-101D-7A77-1FD8DAB5D9D0}"/>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36" name="Straight Connector 52">
                <a:extLst>
                  <a:ext uri="{FF2B5EF4-FFF2-40B4-BE49-F238E27FC236}">
                    <a16:creationId xmlns:a16="http://schemas.microsoft.com/office/drawing/2014/main" id="{9A422A9F-B12C-578F-7B95-9564181AF8AD}"/>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7" name="Group 50">
              <a:extLst>
                <a:ext uri="{FF2B5EF4-FFF2-40B4-BE49-F238E27FC236}">
                  <a16:creationId xmlns:a16="http://schemas.microsoft.com/office/drawing/2014/main" id="{7EDDE476-688A-F435-244C-C716592DB231}"/>
                </a:ext>
              </a:extLst>
            </p:cNvPr>
            <p:cNvGrpSpPr>
              <a:grpSpLocks/>
            </p:cNvGrpSpPr>
            <p:nvPr/>
          </p:nvGrpSpPr>
          <p:grpSpPr bwMode="auto">
            <a:xfrm>
              <a:off x="6583363" y="2584738"/>
              <a:ext cx="196823" cy="150371"/>
              <a:chOff x="7917084" y="1956121"/>
              <a:chExt cx="289367" cy="231494"/>
            </a:xfrm>
          </p:grpSpPr>
          <p:sp>
            <p:nvSpPr>
              <p:cNvPr id="33" name="Rectangle 51">
                <a:extLst>
                  <a:ext uri="{FF2B5EF4-FFF2-40B4-BE49-F238E27FC236}">
                    <a16:creationId xmlns:a16="http://schemas.microsoft.com/office/drawing/2014/main" id="{5226685E-4EFC-33AE-C915-D1C681E548EB}"/>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34" name="Straight Connector 52">
                <a:extLst>
                  <a:ext uri="{FF2B5EF4-FFF2-40B4-BE49-F238E27FC236}">
                    <a16:creationId xmlns:a16="http://schemas.microsoft.com/office/drawing/2014/main" id="{5549F9EA-FBC4-3606-D3BA-E370F443DB8A}"/>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8" name="Group 50">
              <a:extLst>
                <a:ext uri="{FF2B5EF4-FFF2-40B4-BE49-F238E27FC236}">
                  <a16:creationId xmlns:a16="http://schemas.microsoft.com/office/drawing/2014/main" id="{324E49DE-0A6E-A8DA-DCCF-972AB0C09CD0}"/>
                </a:ext>
              </a:extLst>
            </p:cNvPr>
            <p:cNvGrpSpPr>
              <a:grpSpLocks/>
            </p:cNvGrpSpPr>
            <p:nvPr/>
          </p:nvGrpSpPr>
          <p:grpSpPr bwMode="auto">
            <a:xfrm>
              <a:off x="7047465" y="2584740"/>
              <a:ext cx="196823" cy="150371"/>
              <a:chOff x="7917084" y="1956121"/>
              <a:chExt cx="289367" cy="231494"/>
            </a:xfrm>
          </p:grpSpPr>
          <p:sp>
            <p:nvSpPr>
              <p:cNvPr id="31" name="Rectangle 51">
                <a:extLst>
                  <a:ext uri="{FF2B5EF4-FFF2-40B4-BE49-F238E27FC236}">
                    <a16:creationId xmlns:a16="http://schemas.microsoft.com/office/drawing/2014/main" id="{E5A11831-CD9D-693D-8B3A-286269A821A4}"/>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32" name="Straight Connector 52">
                <a:extLst>
                  <a:ext uri="{FF2B5EF4-FFF2-40B4-BE49-F238E27FC236}">
                    <a16:creationId xmlns:a16="http://schemas.microsoft.com/office/drawing/2014/main" id="{C44FF08B-A990-17FC-A5E9-1BC149FDC96F}"/>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sp>
          <p:nvSpPr>
            <p:cNvPr id="29" name="TextBox 76">
              <a:extLst>
                <a:ext uri="{FF2B5EF4-FFF2-40B4-BE49-F238E27FC236}">
                  <a16:creationId xmlns:a16="http://schemas.microsoft.com/office/drawing/2014/main" id="{E984CEE6-9E33-AB92-C97C-FAE76C2D0B01}"/>
                </a:ext>
              </a:extLst>
            </p:cNvPr>
            <p:cNvSpPr txBox="1">
              <a:spLocks noChangeArrowheads="1"/>
            </p:cNvSpPr>
            <p:nvPr/>
          </p:nvSpPr>
          <p:spPr bwMode="auto">
            <a:xfrm>
              <a:off x="3704475" y="2871855"/>
              <a:ext cx="14124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t>Обеднен слой</a:t>
              </a:r>
              <a:endParaRPr lang="en-US" sz="1400" i="0" dirty="0"/>
            </a:p>
            <a:p>
              <a:r>
                <a:rPr lang="bg-BG" sz="1400" i="0" dirty="0"/>
                <a:t>под гейта</a:t>
              </a:r>
              <a:endParaRPr lang="en-US" sz="1400" i="0" dirty="0"/>
            </a:p>
          </p:txBody>
        </p:sp>
        <p:cxnSp>
          <p:nvCxnSpPr>
            <p:cNvPr id="30" name="Straight Connector 29">
              <a:extLst>
                <a:ext uri="{FF2B5EF4-FFF2-40B4-BE49-F238E27FC236}">
                  <a16:creationId xmlns:a16="http://schemas.microsoft.com/office/drawing/2014/main" id="{E080B551-66C4-0FED-F0AE-778AD633B1ED}"/>
                </a:ext>
              </a:extLst>
            </p:cNvPr>
            <p:cNvCxnSpPr>
              <a:cxnSpLocks/>
            </p:cNvCxnSpPr>
            <p:nvPr/>
          </p:nvCxnSpPr>
          <p:spPr bwMode="auto">
            <a:xfrm flipH="1" flipV="1">
              <a:off x="4336696" y="2153078"/>
              <a:ext cx="22933" cy="695275"/>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sp>
        <p:nvSpPr>
          <p:cNvPr id="139" name="Rectangle 9">
            <a:extLst>
              <a:ext uri="{FF2B5EF4-FFF2-40B4-BE49-F238E27FC236}">
                <a16:creationId xmlns:a16="http://schemas.microsoft.com/office/drawing/2014/main" id="{B910B4F2-69A4-3A05-A8EC-01871708FA8A}"/>
              </a:ext>
            </a:extLst>
          </p:cNvPr>
          <p:cNvSpPr>
            <a:spLocks noChangeArrowheads="1"/>
          </p:cNvSpPr>
          <p:nvPr/>
        </p:nvSpPr>
        <p:spPr bwMode="auto">
          <a:xfrm>
            <a:off x="323020" y="4849500"/>
            <a:ext cx="1152128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ru-RU" sz="1400" dirty="0"/>
              <a:t>Сега прилагаме положително напрежение от гейта към сорс. Тъй като гейтът е изолиран, не може да тече постоянен ток. Вместо това се създава електрическо поле, което прониква в окиса и в подложката от P-тип.</a:t>
            </a:r>
          </a:p>
          <a:p>
            <a:endParaRPr lang="bg-BG" sz="1400" dirty="0"/>
          </a:p>
          <a:p>
            <a:r>
              <a:rPr lang="ru-RU" sz="1400" dirty="0"/>
              <a:t>Това положително поле привлича малкото свободни електрони (неосновни токоносители) в P-подложката и избутва мажоритарните дупки. </a:t>
            </a:r>
            <a:r>
              <a:rPr lang="bg-BG" sz="1400" dirty="0"/>
              <a:t>Под гейта се образува </a:t>
            </a:r>
            <a:r>
              <a:rPr lang="bg-BG" sz="1400" b="1" dirty="0"/>
              <a:t>обеднен слой</a:t>
            </a:r>
            <a:r>
              <a:rPr lang="bg-BG" sz="1400" b="1" dirty="0">
                <a:solidFill>
                  <a:schemeClr val="tx2"/>
                </a:solidFill>
              </a:rPr>
              <a:t>, </a:t>
            </a:r>
            <a:r>
              <a:rPr lang="bg-BG" sz="1400" dirty="0"/>
              <a:t>който съдържа предимно некомпенсираните заряди на отрицателните акцепторни йони. Ток не тече. </a:t>
            </a:r>
          </a:p>
        </p:txBody>
      </p:sp>
      <p:sp>
        <p:nvSpPr>
          <p:cNvPr id="140" name="TextBox 76">
            <a:extLst>
              <a:ext uri="{FF2B5EF4-FFF2-40B4-BE49-F238E27FC236}">
                <a16:creationId xmlns:a16="http://schemas.microsoft.com/office/drawing/2014/main" id="{55C6CEA7-73E1-0EAA-6D6C-6D2BA776B678}"/>
              </a:ext>
            </a:extLst>
          </p:cNvPr>
          <p:cNvSpPr txBox="1">
            <a:spLocks noChangeArrowheads="1"/>
          </p:cNvSpPr>
          <p:nvPr/>
        </p:nvSpPr>
        <p:spPr bwMode="auto">
          <a:xfrm>
            <a:off x="9320098" y="2562830"/>
            <a:ext cx="14124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t>Обеднен слой</a:t>
            </a:r>
            <a:endParaRPr lang="en-US" sz="1400" i="0" dirty="0"/>
          </a:p>
          <a:p>
            <a:r>
              <a:rPr lang="bg-BG" sz="1400" i="0" dirty="0"/>
              <a:t>в </a:t>
            </a:r>
            <a:r>
              <a:rPr lang="en-US" sz="1400" i="0" dirty="0" err="1"/>
              <a:t>pn</a:t>
            </a:r>
            <a:r>
              <a:rPr lang="en-US" sz="1400" i="0" dirty="0"/>
              <a:t> </a:t>
            </a:r>
            <a:r>
              <a:rPr lang="bg-BG" sz="1400" i="0" dirty="0"/>
              <a:t>прехода</a:t>
            </a:r>
            <a:endParaRPr lang="en-US" sz="1400" i="0" dirty="0"/>
          </a:p>
        </p:txBody>
      </p:sp>
      <p:cxnSp>
        <p:nvCxnSpPr>
          <p:cNvPr id="141" name="Straight Connector 140">
            <a:extLst>
              <a:ext uri="{FF2B5EF4-FFF2-40B4-BE49-F238E27FC236}">
                <a16:creationId xmlns:a16="http://schemas.microsoft.com/office/drawing/2014/main" id="{C85DA903-18BD-6254-6342-7C2250BE66EF}"/>
              </a:ext>
            </a:extLst>
          </p:cNvPr>
          <p:cNvCxnSpPr>
            <a:cxnSpLocks/>
          </p:cNvCxnSpPr>
          <p:nvPr/>
        </p:nvCxnSpPr>
        <p:spPr bwMode="auto">
          <a:xfrm flipH="1" flipV="1">
            <a:off x="8656470" y="2827420"/>
            <a:ext cx="543053" cy="640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42" name="TextBox 14">
            <a:extLst>
              <a:ext uri="{FF2B5EF4-FFF2-40B4-BE49-F238E27FC236}">
                <a16:creationId xmlns:a16="http://schemas.microsoft.com/office/drawing/2014/main" id="{CE477FDB-87CD-BB85-9DB8-8E4C9C29A90D}"/>
              </a:ext>
            </a:extLst>
          </p:cNvPr>
          <p:cNvSpPr txBox="1">
            <a:spLocks noChangeArrowheads="1"/>
          </p:cNvSpPr>
          <p:nvPr/>
        </p:nvSpPr>
        <p:spPr bwMode="auto">
          <a:xfrm>
            <a:off x="3306589" y="4073515"/>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i="0" dirty="0"/>
              <a:t>B</a:t>
            </a:r>
          </a:p>
        </p:txBody>
      </p:sp>
    </p:spTree>
    <p:extLst>
      <p:ext uri="{BB962C8B-B14F-4D97-AF65-F5344CB8AC3E}">
        <p14:creationId xmlns:p14="http://schemas.microsoft.com/office/powerpoint/2010/main" val="2934821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FCE582-4214-6ED2-7660-E2EAF71AC00D}"/>
              </a:ext>
            </a:extLst>
          </p:cNvPr>
          <p:cNvSpPr/>
          <p:nvPr/>
        </p:nvSpPr>
        <p:spPr>
          <a:xfrm>
            <a:off x="2711624" y="2060848"/>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A713366-E569-8180-A2A2-A80C830F0BF8}"/>
              </a:ext>
            </a:extLst>
          </p:cNvPr>
          <p:cNvSpPr/>
          <p:nvPr/>
        </p:nvSpPr>
        <p:spPr>
          <a:xfrm>
            <a:off x="4824587" y="1908448"/>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4E1191D-1D45-2218-D681-16E9C33C4B8D}"/>
              </a:ext>
            </a:extLst>
          </p:cNvPr>
          <p:cNvSpPr/>
          <p:nvPr/>
        </p:nvSpPr>
        <p:spPr>
          <a:xfrm>
            <a:off x="4824587" y="1794148"/>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4418354-8270-4D1E-6B59-DACFF23DD6E1}"/>
              </a:ext>
            </a:extLst>
          </p:cNvPr>
          <p:cNvSpPr>
            <a:spLocks noChangeArrowheads="1"/>
          </p:cNvSpPr>
          <p:nvPr/>
        </p:nvSpPr>
        <p:spPr bwMode="auto">
          <a:xfrm>
            <a:off x="6886912" y="1989994"/>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6" name="Rectangle 5">
            <a:extLst>
              <a:ext uri="{FF2B5EF4-FFF2-40B4-BE49-F238E27FC236}">
                <a16:creationId xmlns:a16="http://schemas.microsoft.com/office/drawing/2014/main" id="{E78F6736-2AAB-5949-8D6C-CEC93A8D9C6B}"/>
              </a:ext>
            </a:extLst>
          </p:cNvPr>
          <p:cNvSpPr>
            <a:spLocks noChangeArrowheads="1"/>
          </p:cNvSpPr>
          <p:nvPr/>
        </p:nvSpPr>
        <p:spPr bwMode="auto">
          <a:xfrm>
            <a:off x="3943897" y="1989994"/>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7" name="Rectangle 6">
            <a:extLst>
              <a:ext uri="{FF2B5EF4-FFF2-40B4-BE49-F238E27FC236}">
                <a16:creationId xmlns:a16="http://schemas.microsoft.com/office/drawing/2014/main" id="{EDFB8228-3D0C-D77F-AC0D-B6EBA1E2AA12}"/>
              </a:ext>
            </a:extLst>
          </p:cNvPr>
          <p:cNvSpPr>
            <a:spLocks noChangeArrowheads="1"/>
          </p:cNvSpPr>
          <p:nvPr/>
        </p:nvSpPr>
        <p:spPr bwMode="auto">
          <a:xfrm>
            <a:off x="2932945" y="3977736"/>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8" name="Group 7">
            <a:extLst>
              <a:ext uri="{FF2B5EF4-FFF2-40B4-BE49-F238E27FC236}">
                <a16:creationId xmlns:a16="http://schemas.microsoft.com/office/drawing/2014/main" id="{5CEF7D1C-D033-1BC9-60AF-DD22D4CB7749}"/>
              </a:ext>
            </a:extLst>
          </p:cNvPr>
          <p:cNvGrpSpPr/>
          <p:nvPr/>
        </p:nvGrpSpPr>
        <p:grpSpPr>
          <a:xfrm>
            <a:off x="2727559" y="2055403"/>
            <a:ext cx="6061842" cy="1185527"/>
            <a:chOff x="1301635" y="1908007"/>
            <a:chExt cx="6061842" cy="1185527"/>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grpSpPr>
        <p:grpSp>
          <p:nvGrpSpPr>
            <p:cNvPr id="9" name="Group 8">
              <a:extLst>
                <a:ext uri="{FF2B5EF4-FFF2-40B4-BE49-F238E27FC236}">
                  <a16:creationId xmlns:a16="http://schemas.microsoft.com/office/drawing/2014/main" id="{88B513E7-CCD3-BEDF-0AA7-B626EADA2014}"/>
                </a:ext>
              </a:extLst>
            </p:cNvPr>
            <p:cNvGrpSpPr/>
            <p:nvPr/>
          </p:nvGrpSpPr>
          <p:grpSpPr>
            <a:xfrm>
              <a:off x="1301635" y="1913475"/>
              <a:ext cx="2477917" cy="959627"/>
              <a:chOff x="1544637" y="2819400"/>
              <a:chExt cx="2265363" cy="457200"/>
            </a:xfrm>
            <a:grpFill/>
          </p:grpSpPr>
          <p:sp>
            <p:nvSpPr>
              <p:cNvPr id="15" name="Rectangle 14">
                <a:extLst>
                  <a:ext uri="{FF2B5EF4-FFF2-40B4-BE49-F238E27FC236}">
                    <a16:creationId xmlns:a16="http://schemas.microsoft.com/office/drawing/2014/main" id="{FA9A23FE-866D-DE72-2C3E-0A61E0977498}"/>
                  </a:ext>
                </a:extLst>
              </p:cNvPr>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7C0E096-17B7-E943-26DE-787377BA44A5}"/>
                  </a:ext>
                </a:extLst>
              </p:cNvPr>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B0BF216-9C2B-BADE-3912-32A50F42AD39}"/>
                  </a:ext>
                </a:extLst>
              </p:cNvPr>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E5E5AF0D-6429-8FB5-D93D-F7455EECFC22}"/>
                </a:ext>
              </a:extLst>
            </p:cNvPr>
            <p:cNvGrpSpPr/>
            <p:nvPr/>
          </p:nvGrpSpPr>
          <p:grpSpPr>
            <a:xfrm flipH="1">
              <a:off x="4885560" y="1908007"/>
              <a:ext cx="2477917" cy="1185527"/>
              <a:chOff x="1544637" y="2819400"/>
              <a:chExt cx="2265363" cy="564827"/>
            </a:xfrm>
            <a:grpFill/>
          </p:grpSpPr>
          <p:sp>
            <p:nvSpPr>
              <p:cNvPr id="12" name="Rectangle 11">
                <a:extLst>
                  <a:ext uri="{FF2B5EF4-FFF2-40B4-BE49-F238E27FC236}">
                    <a16:creationId xmlns:a16="http://schemas.microsoft.com/office/drawing/2014/main" id="{3FEBBAEE-D07D-FF40-D646-3BAC5353A8E0}"/>
                  </a:ext>
                </a:extLst>
              </p:cNvPr>
              <p:cNvSpPr/>
              <p:nvPr/>
            </p:nvSpPr>
            <p:spPr>
              <a:xfrm>
                <a:off x="1544637" y="2819400"/>
                <a:ext cx="1960563" cy="5588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7C3B64A-9D3D-6060-7659-F365FF927CC2}"/>
                  </a:ext>
                </a:extLst>
              </p:cNvPr>
              <p:cNvSpPr/>
              <p:nvPr/>
            </p:nvSpPr>
            <p:spPr>
              <a:xfrm>
                <a:off x="3276600" y="2819400"/>
                <a:ext cx="533400" cy="5648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5EF18D-C6C7-51AD-86A0-348A3FD6D31C}"/>
                  </a:ext>
                </a:extLst>
              </p:cNvPr>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60FB1C0D-68AB-BA62-7ED3-68D6EBE7928B}"/>
                </a:ext>
              </a:extLst>
            </p:cNvPr>
            <p:cNvSpPr/>
            <p:nvPr/>
          </p:nvSpPr>
          <p:spPr bwMode="auto">
            <a:xfrm>
              <a:off x="3765906" y="1913870"/>
              <a:ext cx="1119654" cy="466167"/>
            </a:xfrm>
            <a:prstGeom prst="rect">
              <a:avLst/>
            </a:prstGeom>
            <a:grp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grpSp>
      <p:grpSp>
        <p:nvGrpSpPr>
          <p:cNvPr id="18" name="Group 17">
            <a:extLst>
              <a:ext uri="{FF2B5EF4-FFF2-40B4-BE49-F238E27FC236}">
                <a16:creationId xmlns:a16="http://schemas.microsoft.com/office/drawing/2014/main" id="{9A0A5AE0-5B0A-32E9-E871-3952DDBA42BA}"/>
              </a:ext>
            </a:extLst>
          </p:cNvPr>
          <p:cNvGrpSpPr/>
          <p:nvPr/>
        </p:nvGrpSpPr>
        <p:grpSpPr>
          <a:xfrm>
            <a:off x="2711624" y="2060847"/>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9" name="Rectangle 18">
              <a:extLst>
                <a:ext uri="{FF2B5EF4-FFF2-40B4-BE49-F238E27FC236}">
                  <a16:creationId xmlns:a16="http://schemas.microsoft.com/office/drawing/2014/main" id="{E3099813-8161-48B7-D7E8-679B1FA9F3C4}"/>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0F0274D-7391-8B20-F026-353F5A2D7E2B}"/>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7A011E8-511C-DC90-317B-C5CEF93B5391}"/>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81B2C6F2-CAA2-DF00-EC89-E0D91F7DDD79}"/>
              </a:ext>
            </a:extLst>
          </p:cNvPr>
          <p:cNvGrpSpPr/>
          <p:nvPr/>
        </p:nvGrpSpPr>
        <p:grpSpPr>
          <a:xfrm flipH="1">
            <a:off x="6511304" y="2060847"/>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23" name="Rectangle 22">
              <a:extLst>
                <a:ext uri="{FF2B5EF4-FFF2-40B4-BE49-F238E27FC236}">
                  <a16:creationId xmlns:a16="http://schemas.microsoft.com/office/drawing/2014/main" id="{20A1E06D-1FF0-1735-6840-EEE04DBE455D}"/>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52A10A1-184A-AC0F-3B35-BF87D6E83C45}"/>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B43FEC9-CA33-4DAA-C690-7E544184FA3D}"/>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14">
            <a:extLst>
              <a:ext uri="{FF2B5EF4-FFF2-40B4-BE49-F238E27FC236}">
                <a16:creationId xmlns:a16="http://schemas.microsoft.com/office/drawing/2014/main" id="{0DEC536C-9E9E-6786-5307-DBAFB8642A78}"/>
              </a:ext>
            </a:extLst>
          </p:cNvPr>
          <p:cNvSpPr txBox="1">
            <a:spLocks noChangeArrowheads="1"/>
          </p:cNvSpPr>
          <p:nvPr/>
        </p:nvSpPr>
        <p:spPr bwMode="auto">
          <a:xfrm>
            <a:off x="5143985" y="3555865"/>
            <a:ext cx="337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p>
        </p:txBody>
      </p:sp>
      <p:sp>
        <p:nvSpPr>
          <p:cNvPr id="27" name="TextBox 68">
            <a:extLst>
              <a:ext uri="{FF2B5EF4-FFF2-40B4-BE49-F238E27FC236}">
                <a16:creationId xmlns:a16="http://schemas.microsoft.com/office/drawing/2014/main" id="{C609BED1-C25E-1DD6-5599-5238E1DFC290}"/>
              </a:ext>
            </a:extLst>
          </p:cNvPr>
          <p:cNvSpPr txBox="1">
            <a:spLocks noChangeArrowheads="1"/>
          </p:cNvSpPr>
          <p:nvPr/>
        </p:nvSpPr>
        <p:spPr bwMode="auto">
          <a:xfrm>
            <a:off x="7915208" y="2290286"/>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sp>
        <p:nvSpPr>
          <p:cNvPr id="28" name="TextBox 68">
            <a:extLst>
              <a:ext uri="{FF2B5EF4-FFF2-40B4-BE49-F238E27FC236}">
                <a16:creationId xmlns:a16="http://schemas.microsoft.com/office/drawing/2014/main" id="{712EF658-B527-7FFE-9A83-6A6F779F975B}"/>
              </a:ext>
            </a:extLst>
          </p:cNvPr>
          <p:cNvSpPr txBox="1">
            <a:spLocks noChangeArrowheads="1"/>
          </p:cNvSpPr>
          <p:nvPr/>
        </p:nvSpPr>
        <p:spPr bwMode="auto">
          <a:xfrm>
            <a:off x="3090211" y="2235975"/>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29" name="Straight Connector 28">
            <a:extLst>
              <a:ext uri="{FF2B5EF4-FFF2-40B4-BE49-F238E27FC236}">
                <a16:creationId xmlns:a16="http://schemas.microsoft.com/office/drawing/2014/main" id="{9D55675A-72AA-1ABA-A470-3C51FF3C8C8E}"/>
              </a:ext>
            </a:extLst>
          </p:cNvPr>
          <p:cNvCxnSpPr>
            <a:stCxn id="7" idx="2"/>
          </p:cNvCxnSpPr>
          <p:nvPr/>
        </p:nvCxnSpPr>
        <p:spPr bwMode="auto">
          <a:xfrm>
            <a:off x="3263566" y="4055109"/>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13609433-BFA7-FC56-7BAF-B6CF022F9768}"/>
              </a:ext>
            </a:extLst>
          </p:cNvPr>
          <p:cNvCxnSpPr>
            <a:stCxn id="4" idx="0"/>
          </p:cNvCxnSpPr>
          <p:nvPr/>
        </p:nvCxnSpPr>
        <p:spPr bwMode="auto">
          <a:xfrm flipV="1">
            <a:off x="5744146" y="1466071"/>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1" name="Straight Connector 30">
            <a:extLst>
              <a:ext uri="{FF2B5EF4-FFF2-40B4-BE49-F238E27FC236}">
                <a16:creationId xmlns:a16="http://schemas.microsoft.com/office/drawing/2014/main" id="{EDDE35BE-9B12-834C-A078-EC69A67A96F1}"/>
              </a:ext>
            </a:extLst>
          </p:cNvPr>
          <p:cNvCxnSpPr/>
          <p:nvPr/>
        </p:nvCxnSpPr>
        <p:spPr bwMode="auto">
          <a:xfrm flipV="1">
            <a:off x="4274518" y="1399500"/>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2" name="Straight Connector 31">
            <a:extLst>
              <a:ext uri="{FF2B5EF4-FFF2-40B4-BE49-F238E27FC236}">
                <a16:creationId xmlns:a16="http://schemas.microsoft.com/office/drawing/2014/main" id="{C364D976-2F4F-4B7D-1D94-5250FFBFCF2A}"/>
              </a:ext>
            </a:extLst>
          </p:cNvPr>
          <p:cNvCxnSpPr/>
          <p:nvPr/>
        </p:nvCxnSpPr>
        <p:spPr bwMode="auto">
          <a:xfrm>
            <a:off x="3116715" y="4426450"/>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BC6CBC81-1D66-B518-8198-77DB8FD44A8E}"/>
              </a:ext>
            </a:extLst>
          </p:cNvPr>
          <p:cNvCxnSpPr/>
          <p:nvPr/>
        </p:nvCxnSpPr>
        <p:spPr bwMode="auto">
          <a:xfrm flipH="1">
            <a:off x="3785055" y="1406868"/>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4" name="Straight Connector 33">
            <a:extLst>
              <a:ext uri="{FF2B5EF4-FFF2-40B4-BE49-F238E27FC236}">
                <a16:creationId xmlns:a16="http://schemas.microsoft.com/office/drawing/2014/main" id="{DE9EC623-3BD3-9ADD-7203-19E8585722E7}"/>
              </a:ext>
            </a:extLst>
          </p:cNvPr>
          <p:cNvCxnSpPr/>
          <p:nvPr/>
        </p:nvCxnSpPr>
        <p:spPr bwMode="auto">
          <a:xfrm>
            <a:off x="3785055" y="1415781"/>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5" name="Straight Connector 34">
            <a:extLst>
              <a:ext uri="{FF2B5EF4-FFF2-40B4-BE49-F238E27FC236}">
                <a16:creationId xmlns:a16="http://schemas.microsoft.com/office/drawing/2014/main" id="{946B78B8-40B4-DD4B-8A13-ACD04F2DDA64}"/>
              </a:ext>
            </a:extLst>
          </p:cNvPr>
          <p:cNvCxnSpPr/>
          <p:nvPr/>
        </p:nvCxnSpPr>
        <p:spPr bwMode="auto">
          <a:xfrm>
            <a:off x="3643464" y="1600447"/>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6" name="Oval 35">
            <a:extLst>
              <a:ext uri="{FF2B5EF4-FFF2-40B4-BE49-F238E27FC236}">
                <a16:creationId xmlns:a16="http://schemas.microsoft.com/office/drawing/2014/main" id="{C718C6A5-296A-C5A7-FB1F-9933F6B7CBC8}"/>
              </a:ext>
            </a:extLst>
          </p:cNvPr>
          <p:cNvSpPr/>
          <p:nvPr/>
        </p:nvSpPr>
        <p:spPr bwMode="auto">
          <a:xfrm>
            <a:off x="5695057" y="1357398"/>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37" name="TextBox 36">
            <a:extLst>
              <a:ext uri="{FF2B5EF4-FFF2-40B4-BE49-F238E27FC236}">
                <a16:creationId xmlns:a16="http://schemas.microsoft.com/office/drawing/2014/main" id="{1E21780D-B547-92BB-C940-02FB228D950C}"/>
              </a:ext>
            </a:extLst>
          </p:cNvPr>
          <p:cNvSpPr txBox="1"/>
          <p:nvPr/>
        </p:nvSpPr>
        <p:spPr>
          <a:xfrm>
            <a:off x="5868194" y="1455594"/>
            <a:ext cx="391528" cy="338554"/>
          </a:xfrm>
          <a:prstGeom prst="rect">
            <a:avLst/>
          </a:prstGeom>
          <a:noFill/>
        </p:spPr>
        <p:txBody>
          <a:bodyPr wrap="square" rtlCol="0">
            <a:spAutoFit/>
          </a:bodyPr>
          <a:lstStyle/>
          <a:p>
            <a:r>
              <a:rPr lang="en-US" sz="1600" dirty="0"/>
              <a:t>G</a:t>
            </a:r>
          </a:p>
        </p:txBody>
      </p:sp>
      <p:sp>
        <p:nvSpPr>
          <p:cNvPr id="38" name="TextBox 37">
            <a:extLst>
              <a:ext uri="{FF2B5EF4-FFF2-40B4-BE49-F238E27FC236}">
                <a16:creationId xmlns:a16="http://schemas.microsoft.com/office/drawing/2014/main" id="{0A33DB59-4FBD-AB5D-77DC-8A04B9AE1C05}"/>
              </a:ext>
            </a:extLst>
          </p:cNvPr>
          <p:cNvSpPr txBox="1"/>
          <p:nvPr/>
        </p:nvSpPr>
        <p:spPr>
          <a:xfrm>
            <a:off x="4280659" y="1517001"/>
            <a:ext cx="391528" cy="338554"/>
          </a:xfrm>
          <a:prstGeom prst="rect">
            <a:avLst/>
          </a:prstGeom>
          <a:noFill/>
        </p:spPr>
        <p:txBody>
          <a:bodyPr wrap="square" rtlCol="0">
            <a:spAutoFit/>
          </a:bodyPr>
          <a:lstStyle/>
          <a:p>
            <a:r>
              <a:rPr lang="en-US" sz="1600" dirty="0"/>
              <a:t>S</a:t>
            </a:r>
          </a:p>
        </p:txBody>
      </p:sp>
      <p:sp>
        <p:nvSpPr>
          <p:cNvPr id="39" name="Oval 38">
            <a:extLst>
              <a:ext uri="{FF2B5EF4-FFF2-40B4-BE49-F238E27FC236}">
                <a16:creationId xmlns:a16="http://schemas.microsoft.com/office/drawing/2014/main" id="{9B89EE6D-1EF6-9DF0-D7EA-163FEF3B42F5}"/>
              </a:ext>
            </a:extLst>
          </p:cNvPr>
          <p:cNvSpPr/>
          <p:nvPr/>
        </p:nvSpPr>
        <p:spPr bwMode="auto">
          <a:xfrm>
            <a:off x="7158286" y="1331935"/>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40" name="Straight Connector 39">
            <a:extLst>
              <a:ext uri="{FF2B5EF4-FFF2-40B4-BE49-F238E27FC236}">
                <a16:creationId xmlns:a16="http://schemas.microsoft.com/office/drawing/2014/main" id="{87CE93D2-9D61-BC2E-B0B1-F2B69C662C15}"/>
              </a:ext>
            </a:extLst>
          </p:cNvPr>
          <p:cNvCxnSpPr>
            <a:stCxn id="39" idx="4"/>
            <a:endCxn id="5" idx="0"/>
          </p:cNvCxnSpPr>
          <p:nvPr/>
        </p:nvCxnSpPr>
        <p:spPr bwMode="auto">
          <a:xfrm>
            <a:off x="7217533" y="1465939"/>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41" name="TextBox 40">
            <a:extLst>
              <a:ext uri="{FF2B5EF4-FFF2-40B4-BE49-F238E27FC236}">
                <a16:creationId xmlns:a16="http://schemas.microsoft.com/office/drawing/2014/main" id="{57082D55-65B7-6C54-0E19-3AF5EBFB780C}"/>
              </a:ext>
            </a:extLst>
          </p:cNvPr>
          <p:cNvSpPr txBox="1"/>
          <p:nvPr/>
        </p:nvSpPr>
        <p:spPr>
          <a:xfrm>
            <a:off x="7234535" y="1607994"/>
            <a:ext cx="391528" cy="338554"/>
          </a:xfrm>
          <a:prstGeom prst="rect">
            <a:avLst/>
          </a:prstGeom>
          <a:noFill/>
        </p:spPr>
        <p:txBody>
          <a:bodyPr wrap="square" rtlCol="0">
            <a:spAutoFit/>
          </a:bodyPr>
          <a:lstStyle/>
          <a:p>
            <a:r>
              <a:rPr lang="en-US" sz="1600" dirty="0"/>
              <a:t>D</a:t>
            </a:r>
          </a:p>
        </p:txBody>
      </p:sp>
      <p:sp>
        <p:nvSpPr>
          <p:cNvPr id="42" name="TextBox 41">
            <a:extLst>
              <a:ext uri="{FF2B5EF4-FFF2-40B4-BE49-F238E27FC236}">
                <a16:creationId xmlns:a16="http://schemas.microsoft.com/office/drawing/2014/main" id="{11962B04-8D11-8399-3DBF-96188A165C30}"/>
              </a:ext>
            </a:extLst>
          </p:cNvPr>
          <p:cNvSpPr txBox="1"/>
          <p:nvPr/>
        </p:nvSpPr>
        <p:spPr>
          <a:xfrm>
            <a:off x="5917670" y="1162658"/>
            <a:ext cx="1240616" cy="338554"/>
          </a:xfrm>
          <a:prstGeom prst="rect">
            <a:avLst/>
          </a:prstGeom>
          <a:noFill/>
        </p:spPr>
        <p:txBody>
          <a:bodyPr wrap="square" rtlCol="0">
            <a:spAutoFit/>
          </a:bodyPr>
          <a:lstStyle/>
          <a:p>
            <a:r>
              <a:rPr lang="en-US" sz="1600" dirty="0"/>
              <a:t>+U</a:t>
            </a:r>
            <a:r>
              <a:rPr lang="en-US" sz="1600" baseline="-25000" dirty="0"/>
              <a:t>GS</a:t>
            </a:r>
            <a:r>
              <a:rPr lang="en-US" sz="1600" dirty="0"/>
              <a:t> </a:t>
            </a:r>
            <a:r>
              <a:rPr lang="bg-BG" sz="1600" dirty="0"/>
              <a:t>≥</a:t>
            </a:r>
            <a:r>
              <a:rPr lang="en-US" sz="1600" dirty="0"/>
              <a:t> U</a:t>
            </a:r>
            <a:r>
              <a:rPr lang="en-US" sz="1600" baseline="-25000" dirty="0"/>
              <a:t>T</a:t>
            </a:r>
          </a:p>
        </p:txBody>
      </p:sp>
      <p:sp>
        <p:nvSpPr>
          <p:cNvPr id="43" name="TextBox 42">
            <a:extLst>
              <a:ext uri="{FF2B5EF4-FFF2-40B4-BE49-F238E27FC236}">
                <a16:creationId xmlns:a16="http://schemas.microsoft.com/office/drawing/2014/main" id="{DE4CBBB4-BDDB-CA5D-4A0D-DF0A5BEABC23}"/>
              </a:ext>
            </a:extLst>
          </p:cNvPr>
          <p:cNvSpPr txBox="1"/>
          <p:nvPr/>
        </p:nvSpPr>
        <p:spPr>
          <a:xfrm>
            <a:off x="7399607" y="1167273"/>
            <a:ext cx="980746" cy="338554"/>
          </a:xfrm>
          <a:prstGeom prst="rect">
            <a:avLst/>
          </a:prstGeom>
          <a:noFill/>
        </p:spPr>
        <p:txBody>
          <a:bodyPr wrap="square" rtlCol="0">
            <a:spAutoFit/>
          </a:bodyPr>
          <a:lstStyle/>
          <a:p>
            <a:r>
              <a:rPr lang="en-US" sz="1600" dirty="0"/>
              <a:t>+ U</a:t>
            </a:r>
            <a:r>
              <a:rPr lang="en-US" sz="1600" baseline="-25000" dirty="0"/>
              <a:t>DS</a:t>
            </a:r>
            <a:endParaRPr lang="en-US" sz="1600" dirty="0"/>
          </a:p>
        </p:txBody>
      </p:sp>
      <p:grpSp>
        <p:nvGrpSpPr>
          <p:cNvPr id="45" name="Group 50">
            <a:extLst>
              <a:ext uri="{FF2B5EF4-FFF2-40B4-BE49-F238E27FC236}">
                <a16:creationId xmlns:a16="http://schemas.microsoft.com/office/drawing/2014/main" id="{661A5D95-2D19-D2A4-6C8E-8B0A50F59D57}"/>
              </a:ext>
            </a:extLst>
          </p:cNvPr>
          <p:cNvGrpSpPr>
            <a:grpSpLocks/>
          </p:cNvGrpSpPr>
          <p:nvPr/>
        </p:nvGrpSpPr>
        <p:grpSpPr bwMode="auto">
          <a:xfrm>
            <a:off x="2893388" y="2774066"/>
            <a:ext cx="196823" cy="150371"/>
            <a:chOff x="7917084" y="1956121"/>
            <a:chExt cx="289367" cy="231494"/>
          </a:xfrm>
        </p:grpSpPr>
        <p:sp>
          <p:nvSpPr>
            <p:cNvPr id="46" name="Rectangle 51">
              <a:extLst>
                <a:ext uri="{FF2B5EF4-FFF2-40B4-BE49-F238E27FC236}">
                  <a16:creationId xmlns:a16="http://schemas.microsoft.com/office/drawing/2014/main" id="{BD7F9BBB-6B42-4D9B-E918-7946093B9E36}"/>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47" name="Straight Connector 52">
              <a:extLst>
                <a:ext uri="{FF2B5EF4-FFF2-40B4-BE49-F238E27FC236}">
                  <a16:creationId xmlns:a16="http://schemas.microsoft.com/office/drawing/2014/main" id="{CCB4E56F-8FC2-0D05-FA56-0C58AC55448E}"/>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48" name="Group 50">
            <a:extLst>
              <a:ext uri="{FF2B5EF4-FFF2-40B4-BE49-F238E27FC236}">
                <a16:creationId xmlns:a16="http://schemas.microsoft.com/office/drawing/2014/main" id="{35815451-D28D-1C1B-4195-855A8EAF45EB}"/>
              </a:ext>
            </a:extLst>
          </p:cNvPr>
          <p:cNvGrpSpPr>
            <a:grpSpLocks/>
          </p:cNvGrpSpPr>
          <p:nvPr/>
        </p:nvGrpSpPr>
        <p:grpSpPr bwMode="auto">
          <a:xfrm>
            <a:off x="3397364" y="2774066"/>
            <a:ext cx="196823" cy="150371"/>
            <a:chOff x="7917084" y="1956121"/>
            <a:chExt cx="289367" cy="231494"/>
          </a:xfrm>
        </p:grpSpPr>
        <p:sp>
          <p:nvSpPr>
            <p:cNvPr id="49" name="Rectangle 51">
              <a:extLst>
                <a:ext uri="{FF2B5EF4-FFF2-40B4-BE49-F238E27FC236}">
                  <a16:creationId xmlns:a16="http://schemas.microsoft.com/office/drawing/2014/main" id="{9D23DC78-756E-0CD8-79F5-BF22EDDE7BCD}"/>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0" name="Straight Connector 52">
              <a:extLst>
                <a:ext uri="{FF2B5EF4-FFF2-40B4-BE49-F238E27FC236}">
                  <a16:creationId xmlns:a16="http://schemas.microsoft.com/office/drawing/2014/main" id="{47A46907-0FBC-2F53-9520-45D09A43E0B6}"/>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51" name="Group 50">
            <a:extLst>
              <a:ext uri="{FF2B5EF4-FFF2-40B4-BE49-F238E27FC236}">
                <a16:creationId xmlns:a16="http://schemas.microsoft.com/office/drawing/2014/main" id="{DA4534F4-85FB-41B3-C2E1-91030E28D89A}"/>
              </a:ext>
            </a:extLst>
          </p:cNvPr>
          <p:cNvGrpSpPr>
            <a:grpSpLocks/>
          </p:cNvGrpSpPr>
          <p:nvPr/>
        </p:nvGrpSpPr>
        <p:grpSpPr bwMode="auto">
          <a:xfrm>
            <a:off x="3881073" y="2774065"/>
            <a:ext cx="196823" cy="150371"/>
            <a:chOff x="7917084" y="1956121"/>
            <a:chExt cx="289367" cy="231494"/>
          </a:xfrm>
        </p:grpSpPr>
        <p:sp>
          <p:nvSpPr>
            <p:cNvPr id="52" name="Rectangle 51">
              <a:extLst>
                <a:ext uri="{FF2B5EF4-FFF2-40B4-BE49-F238E27FC236}">
                  <a16:creationId xmlns:a16="http://schemas.microsoft.com/office/drawing/2014/main" id="{45B6FD57-EFC7-6317-5639-6A0251C086A3}"/>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3" name="Straight Connector 52">
              <a:extLst>
                <a:ext uri="{FF2B5EF4-FFF2-40B4-BE49-F238E27FC236}">
                  <a16:creationId xmlns:a16="http://schemas.microsoft.com/office/drawing/2014/main" id="{EA461B2C-A739-07E2-B031-690DF7D723C7}"/>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54" name="Group 50">
            <a:extLst>
              <a:ext uri="{FF2B5EF4-FFF2-40B4-BE49-F238E27FC236}">
                <a16:creationId xmlns:a16="http://schemas.microsoft.com/office/drawing/2014/main" id="{13F866DB-7063-8E2F-D61C-EFA5DA6CED44}"/>
              </a:ext>
            </a:extLst>
          </p:cNvPr>
          <p:cNvGrpSpPr>
            <a:grpSpLocks/>
          </p:cNvGrpSpPr>
          <p:nvPr/>
        </p:nvGrpSpPr>
        <p:grpSpPr bwMode="auto">
          <a:xfrm>
            <a:off x="4345175" y="2774067"/>
            <a:ext cx="196823" cy="150371"/>
            <a:chOff x="7917084" y="1956121"/>
            <a:chExt cx="289367" cy="231494"/>
          </a:xfrm>
        </p:grpSpPr>
        <p:sp>
          <p:nvSpPr>
            <p:cNvPr id="55" name="Rectangle 51">
              <a:extLst>
                <a:ext uri="{FF2B5EF4-FFF2-40B4-BE49-F238E27FC236}">
                  <a16:creationId xmlns:a16="http://schemas.microsoft.com/office/drawing/2014/main" id="{BE6E820D-E5B2-053C-71E7-FC00634713AB}"/>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6" name="Straight Connector 52">
              <a:extLst>
                <a:ext uri="{FF2B5EF4-FFF2-40B4-BE49-F238E27FC236}">
                  <a16:creationId xmlns:a16="http://schemas.microsoft.com/office/drawing/2014/main" id="{6E52083B-03D2-EF6D-3119-D6FC21B91A8A}"/>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57" name="Group 50">
            <a:extLst>
              <a:ext uri="{FF2B5EF4-FFF2-40B4-BE49-F238E27FC236}">
                <a16:creationId xmlns:a16="http://schemas.microsoft.com/office/drawing/2014/main" id="{ADB00879-28C6-18AE-1928-54E3E02F7513}"/>
              </a:ext>
            </a:extLst>
          </p:cNvPr>
          <p:cNvGrpSpPr>
            <a:grpSpLocks/>
          </p:cNvGrpSpPr>
          <p:nvPr/>
        </p:nvGrpSpPr>
        <p:grpSpPr bwMode="auto">
          <a:xfrm>
            <a:off x="4841953" y="2698883"/>
            <a:ext cx="196823" cy="150371"/>
            <a:chOff x="7917084" y="1956121"/>
            <a:chExt cx="289367" cy="231494"/>
          </a:xfrm>
        </p:grpSpPr>
        <p:sp>
          <p:nvSpPr>
            <p:cNvPr id="58" name="Rectangle 51">
              <a:extLst>
                <a:ext uri="{FF2B5EF4-FFF2-40B4-BE49-F238E27FC236}">
                  <a16:creationId xmlns:a16="http://schemas.microsoft.com/office/drawing/2014/main" id="{F2069B0C-2AD3-9F2C-1EF0-23A6AAF81987}"/>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9" name="Straight Connector 52">
              <a:extLst>
                <a:ext uri="{FF2B5EF4-FFF2-40B4-BE49-F238E27FC236}">
                  <a16:creationId xmlns:a16="http://schemas.microsoft.com/office/drawing/2014/main" id="{A1496710-AC51-2AD7-4E4A-0306E9208814}"/>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60" name="Group 50">
            <a:extLst>
              <a:ext uri="{FF2B5EF4-FFF2-40B4-BE49-F238E27FC236}">
                <a16:creationId xmlns:a16="http://schemas.microsoft.com/office/drawing/2014/main" id="{F9E48521-6A79-8970-58EC-C33918B23F6D}"/>
              </a:ext>
            </a:extLst>
          </p:cNvPr>
          <p:cNvGrpSpPr>
            <a:grpSpLocks/>
          </p:cNvGrpSpPr>
          <p:nvPr/>
        </p:nvGrpSpPr>
        <p:grpSpPr bwMode="auto">
          <a:xfrm>
            <a:off x="5021857" y="2360018"/>
            <a:ext cx="196823" cy="150371"/>
            <a:chOff x="7917084" y="1956121"/>
            <a:chExt cx="289367" cy="231494"/>
          </a:xfrm>
        </p:grpSpPr>
        <p:sp>
          <p:nvSpPr>
            <p:cNvPr id="61" name="Rectangle 51">
              <a:extLst>
                <a:ext uri="{FF2B5EF4-FFF2-40B4-BE49-F238E27FC236}">
                  <a16:creationId xmlns:a16="http://schemas.microsoft.com/office/drawing/2014/main" id="{937FE981-6052-EA3E-C8A1-C8BE2F1CFD87}"/>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2" name="Straight Connector 52">
              <a:extLst>
                <a:ext uri="{FF2B5EF4-FFF2-40B4-BE49-F238E27FC236}">
                  <a16:creationId xmlns:a16="http://schemas.microsoft.com/office/drawing/2014/main" id="{B09A2C69-CAA7-58DE-17DC-9E7B5223E7FA}"/>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63" name="Group 50">
            <a:extLst>
              <a:ext uri="{FF2B5EF4-FFF2-40B4-BE49-F238E27FC236}">
                <a16:creationId xmlns:a16="http://schemas.microsoft.com/office/drawing/2014/main" id="{440C2785-1583-BBE5-F5CB-889DCC95BD2B}"/>
              </a:ext>
            </a:extLst>
          </p:cNvPr>
          <p:cNvGrpSpPr>
            <a:grpSpLocks/>
          </p:cNvGrpSpPr>
          <p:nvPr/>
        </p:nvGrpSpPr>
        <p:grpSpPr bwMode="auto">
          <a:xfrm>
            <a:off x="5406534" y="2356458"/>
            <a:ext cx="196823" cy="150371"/>
            <a:chOff x="7917084" y="1956121"/>
            <a:chExt cx="289367" cy="231494"/>
          </a:xfrm>
        </p:grpSpPr>
        <p:sp>
          <p:nvSpPr>
            <p:cNvPr id="64" name="Rectangle 51">
              <a:extLst>
                <a:ext uri="{FF2B5EF4-FFF2-40B4-BE49-F238E27FC236}">
                  <a16:creationId xmlns:a16="http://schemas.microsoft.com/office/drawing/2014/main" id="{C5F6A630-EAA6-3D2A-9959-A6BFEE83B50A}"/>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5" name="Straight Connector 52">
              <a:extLst>
                <a:ext uri="{FF2B5EF4-FFF2-40B4-BE49-F238E27FC236}">
                  <a16:creationId xmlns:a16="http://schemas.microsoft.com/office/drawing/2014/main" id="{86083558-21C5-6A2C-29D4-78468AD79844}"/>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66" name="Group 50">
            <a:extLst>
              <a:ext uri="{FF2B5EF4-FFF2-40B4-BE49-F238E27FC236}">
                <a16:creationId xmlns:a16="http://schemas.microsoft.com/office/drawing/2014/main" id="{1579C2D0-1E05-0DD6-825F-E3970B179A31}"/>
              </a:ext>
            </a:extLst>
          </p:cNvPr>
          <p:cNvGrpSpPr>
            <a:grpSpLocks/>
          </p:cNvGrpSpPr>
          <p:nvPr/>
        </p:nvGrpSpPr>
        <p:grpSpPr bwMode="auto">
          <a:xfrm>
            <a:off x="5819258" y="2338030"/>
            <a:ext cx="196823" cy="150371"/>
            <a:chOff x="7917084" y="1956121"/>
            <a:chExt cx="289367" cy="231494"/>
          </a:xfrm>
        </p:grpSpPr>
        <p:sp>
          <p:nvSpPr>
            <p:cNvPr id="67" name="Rectangle 51">
              <a:extLst>
                <a:ext uri="{FF2B5EF4-FFF2-40B4-BE49-F238E27FC236}">
                  <a16:creationId xmlns:a16="http://schemas.microsoft.com/office/drawing/2014/main" id="{C30CC4D6-B4EF-04D2-97E1-5E50330A91EE}"/>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8" name="Straight Connector 52">
              <a:extLst>
                <a:ext uri="{FF2B5EF4-FFF2-40B4-BE49-F238E27FC236}">
                  <a16:creationId xmlns:a16="http://schemas.microsoft.com/office/drawing/2014/main" id="{ACDF9D72-320E-CEC2-B54B-DE5789E7108F}"/>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69" name="Group 50">
            <a:extLst>
              <a:ext uri="{FF2B5EF4-FFF2-40B4-BE49-F238E27FC236}">
                <a16:creationId xmlns:a16="http://schemas.microsoft.com/office/drawing/2014/main" id="{4EF8171E-4976-8F89-382F-9911F5B3F53B}"/>
              </a:ext>
            </a:extLst>
          </p:cNvPr>
          <p:cNvGrpSpPr>
            <a:grpSpLocks/>
          </p:cNvGrpSpPr>
          <p:nvPr/>
        </p:nvGrpSpPr>
        <p:grpSpPr bwMode="auto">
          <a:xfrm>
            <a:off x="6203935" y="2334470"/>
            <a:ext cx="196823" cy="150371"/>
            <a:chOff x="7917084" y="1956121"/>
            <a:chExt cx="289367" cy="231494"/>
          </a:xfrm>
        </p:grpSpPr>
        <p:sp>
          <p:nvSpPr>
            <p:cNvPr id="70" name="Rectangle 51">
              <a:extLst>
                <a:ext uri="{FF2B5EF4-FFF2-40B4-BE49-F238E27FC236}">
                  <a16:creationId xmlns:a16="http://schemas.microsoft.com/office/drawing/2014/main" id="{035A3BA9-3E1A-3164-BB27-D8D900EC8891}"/>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1" name="Straight Connector 52">
              <a:extLst>
                <a:ext uri="{FF2B5EF4-FFF2-40B4-BE49-F238E27FC236}">
                  <a16:creationId xmlns:a16="http://schemas.microsoft.com/office/drawing/2014/main" id="{690A2C4C-343D-2F9F-8DAE-ACB304206716}"/>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72" name="Group 50">
            <a:extLst>
              <a:ext uri="{FF2B5EF4-FFF2-40B4-BE49-F238E27FC236}">
                <a16:creationId xmlns:a16="http://schemas.microsoft.com/office/drawing/2014/main" id="{71D51BCC-3CCD-D747-0455-98EA80402082}"/>
              </a:ext>
            </a:extLst>
          </p:cNvPr>
          <p:cNvGrpSpPr>
            <a:grpSpLocks/>
          </p:cNvGrpSpPr>
          <p:nvPr/>
        </p:nvGrpSpPr>
        <p:grpSpPr bwMode="auto">
          <a:xfrm>
            <a:off x="6397881" y="2655960"/>
            <a:ext cx="196823" cy="150371"/>
            <a:chOff x="7917084" y="1956121"/>
            <a:chExt cx="289367" cy="231494"/>
          </a:xfrm>
        </p:grpSpPr>
        <p:sp>
          <p:nvSpPr>
            <p:cNvPr id="73" name="Rectangle 51">
              <a:extLst>
                <a:ext uri="{FF2B5EF4-FFF2-40B4-BE49-F238E27FC236}">
                  <a16:creationId xmlns:a16="http://schemas.microsoft.com/office/drawing/2014/main" id="{0DFF626D-0055-C975-AE86-76E9AD74D4AE}"/>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4" name="Straight Connector 52">
              <a:extLst>
                <a:ext uri="{FF2B5EF4-FFF2-40B4-BE49-F238E27FC236}">
                  <a16:creationId xmlns:a16="http://schemas.microsoft.com/office/drawing/2014/main" id="{65EA07A9-0A19-1704-5999-3CCE7474C4EE}"/>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75" name="Group 50">
            <a:extLst>
              <a:ext uri="{FF2B5EF4-FFF2-40B4-BE49-F238E27FC236}">
                <a16:creationId xmlns:a16="http://schemas.microsoft.com/office/drawing/2014/main" id="{B8CB7818-8A3B-32CE-D504-018BD14AB850}"/>
              </a:ext>
            </a:extLst>
          </p:cNvPr>
          <p:cNvGrpSpPr>
            <a:grpSpLocks/>
          </p:cNvGrpSpPr>
          <p:nvPr/>
        </p:nvGrpSpPr>
        <p:grpSpPr bwMode="auto">
          <a:xfrm>
            <a:off x="6902714" y="2771668"/>
            <a:ext cx="196823" cy="150371"/>
            <a:chOff x="7917084" y="1956121"/>
            <a:chExt cx="289367" cy="231494"/>
          </a:xfrm>
        </p:grpSpPr>
        <p:sp>
          <p:nvSpPr>
            <p:cNvPr id="76" name="Rectangle 51">
              <a:extLst>
                <a:ext uri="{FF2B5EF4-FFF2-40B4-BE49-F238E27FC236}">
                  <a16:creationId xmlns:a16="http://schemas.microsoft.com/office/drawing/2014/main" id="{09210E61-E1AB-E6CA-F1CF-E16D4163D84A}"/>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7" name="Straight Connector 52">
              <a:extLst>
                <a:ext uri="{FF2B5EF4-FFF2-40B4-BE49-F238E27FC236}">
                  <a16:creationId xmlns:a16="http://schemas.microsoft.com/office/drawing/2014/main" id="{8AE5DBA3-D545-085F-7A7C-3E7F7192EBE0}"/>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78" name="Group 50">
            <a:extLst>
              <a:ext uri="{FF2B5EF4-FFF2-40B4-BE49-F238E27FC236}">
                <a16:creationId xmlns:a16="http://schemas.microsoft.com/office/drawing/2014/main" id="{9CEE9CDE-EF05-5B74-F37B-6519346B6794}"/>
              </a:ext>
            </a:extLst>
          </p:cNvPr>
          <p:cNvGrpSpPr>
            <a:grpSpLocks/>
          </p:cNvGrpSpPr>
          <p:nvPr/>
        </p:nvGrpSpPr>
        <p:grpSpPr bwMode="auto">
          <a:xfrm>
            <a:off x="7406690" y="2771668"/>
            <a:ext cx="196823" cy="150371"/>
            <a:chOff x="7917084" y="1956121"/>
            <a:chExt cx="289367" cy="231494"/>
          </a:xfrm>
        </p:grpSpPr>
        <p:sp>
          <p:nvSpPr>
            <p:cNvPr id="79" name="Rectangle 51">
              <a:extLst>
                <a:ext uri="{FF2B5EF4-FFF2-40B4-BE49-F238E27FC236}">
                  <a16:creationId xmlns:a16="http://schemas.microsoft.com/office/drawing/2014/main" id="{C9521BB1-5680-CE5D-A9D2-F8C8C12BA072}"/>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0" name="Straight Connector 52">
              <a:extLst>
                <a:ext uri="{FF2B5EF4-FFF2-40B4-BE49-F238E27FC236}">
                  <a16:creationId xmlns:a16="http://schemas.microsoft.com/office/drawing/2014/main" id="{083A85DD-3209-7586-9CDC-62E3E201FED9}"/>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81" name="Group 50">
            <a:extLst>
              <a:ext uri="{FF2B5EF4-FFF2-40B4-BE49-F238E27FC236}">
                <a16:creationId xmlns:a16="http://schemas.microsoft.com/office/drawing/2014/main" id="{8B4A5A92-E393-080C-B876-4CB28C28CEB8}"/>
              </a:ext>
            </a:extLst>
          </p:cNvPr>
          <p:cNvGrpSpPr>
            <a:grpSpLocks/>
          </p:cNvGrpSpPr>
          <p:nvPr/>
        </p:nvGrpSpPr>
        <p:grpSpPr bwMode="auto">
          <a:xfrm>
            <a:off x="7890399" y="2771667"/>
            <a:ext cx="196823" cy="150371"/>
            <a:chOff x="7917084" y="1956121"/>
            <a:chExt cx="289367" cy="231494"/>
          </a:xfrm>
        </p:grpSpPr>
        <p:sp>
          <p:nvSpPr>
            <p:cNvPr id="82" name="Rectangle 51">
              <a:extLst>
                <a:ext uri="{FF2B5EF4-FFF2-40B4-BE49-F238E27FC236}">
                  <a16:creationId xmlns:a16="http://schemas.microsoft.com/office/drawing/2014/main" id="{7D2302EB-D69F-A083-1453-86F3BAE409F0}"/>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3" name="Straight Connector 52">
              <a:extLst>
                <a:ext uri="{FF2B5EF4-FFF2-40B4-BE49-F238E27FC236}">
                  <a16:creationId xmlns:a16="http://schemas.microsoft.com/office/drawing/2014/main" id="{A2440200-BEED-F14A-C68C-401533DD7060}"/>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84" name="Group 50">
            <a:extLst>
              <a:ext uri="{FF2B5EF4-FFF2-40B4-BE49-F238E27FC236}">
                <a16:creationId xmlns:a16="http://schemas.microsoft.com/office/drawing/2014/main" id="{91A3BDD9-A765-74A4-0A0D-73015ECBC9BA}"/>
              </a:ext>
            </a:extLst>
          </p:cNvPr>
          <p:cNvGrpSpPr>
            <a:grpSpLocks/>
          </p:cNvGrpSpPr>
          <p:nvPr/>
        </p:nvGrpSpPr>
        <p:grpSpPr bwMode="auto">
          <a:xfrm>
            <a:off x="8354501" y="2771669"/>
            <a:ext cx="196823" cy="150371"/>
            <a:chOff x="7917084" y="1956121"/>
            <a:chExt cx="289367" cy="231494"/>
          </a:xfrm>
        </p:grpSpPr>
        <p:sp>
          <p:nvSpPr>
            <p:cNvPr id="85" name="Rectangle 51">
              <a:extLst>
                <a:ext uri="{FF2B5EF4-FFF2-40B4-BE49-F238E27FC236}">
                  <a16:creationId xmlns:a16="http://schemas.microsoft.com/office/drawing/2014/main" id="{7A812F1B-62B7-C612-F8BB-CA3FFD155A2D}"/>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6" name="Straight Connector 52">
              <a:extLst>
                <a:ext uri="{FF2B5EF4-FFF2-40B4-BE49-F238E27FC236}">
                  <a16:creationId xmlns:a16="http://schemas.microsoft.com/office/drawing/2014/main" id="{25DE826D-45DA-B776-D3F4-3A492A817813}"/>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sp>
        <p:nvSpPr>
          <p:cNvPr id="87" name="Rectangle 86">
            <a:extLst>
              <a:ext uri="{FF2B5EF4-FFF2-40B4-BE49-F238E27FC236}">
                <a16:creationId xmlns:a16="http://schemas.microsoft.com/office/drawing/2014/main" id="{1927D534-6769-466E-96B4-FF5343DA74F5}"/>
              </a:ext>
            </a:extLst>
          </p:cNvPr>
          <p:cNvSpPr/>
          <p:nvPr/>
        </p:nvSpPr>
        <p:spPr bwMode="auto">
          <a:xfrm>
            <a:off x="4952850" y="2067367"/>
            <a:ext cx="1558454" cy="175411"/>
          </a:xfrm>
          <a:prstGeom prst="rect">
            <a:avLst/>
          </a:prstGeom>
          <a:solidFill>
            <a:srgbClr val="0038A8"/>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88" name="TextBox 87">
            <a:extLst>
              <a:ext uri="{FF2B5EF4-FFF2-40B4-BE49-F238E27FC236}">
                <a16:creationId xmlns:a16="http://schemas.microsoft.com/office/drawing/2014/main" id="{08313D16-B1F6-4FEA-39B1-19C1A5496705}"/>
              </a:ext>
            </a:extLst>
          </p:cNvPr>
          <p:cNvSpPr txBox="1">
            <a:spLocks noChangeArrowheads="1"/>
          </p:cNvSpPr>
          <p:nvPr/>
        </p:nvSpPr>
        <p:spPr bwMode="auto">
          <a:xfrm>
            <a:off x="5352050" y="3212465"/>
            <a:ext cx="13426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lgn="ctr"/>
            <a:r>
              <a:rPr lang="bg-BG" sz="1400" i="0" dirty="0"/>
              <a:t>Проводящ </a:t>
            </a:r>
          </a:p>
          <a:p>
            <a:pPr algn="ctr"/>
            <a:r>
              <a:rPr lang="en-US" sz="1400" i="0" dirty="0"/>
              <a:t>n </a:t>
            </a:r>
            <a:r>
              <a:rPr lang="bg-BG" sz="1400" i="0" dirty="0"/>
              <a:t>канал</a:t>
            </a:r>
            <a:endParaRPr lang="en-US" sz="1400" i="0" dirty="0"/>
          </a:p>
        </p:txBody>
      </p:sp>
      <p:cxnSp>
        <p:nvCxnSpPr>
          <p:cNvPr id="89" name="Straight Connector 88">
            <a:extLst>
              <a:ext uri="{FF2B5EF4-FFF2-40B4-BE49-F238E27FC236}">
                <a16:creationId xmlns:a16="http://schemas.microsoft.com/office/drawing/2014/main" id="{194D3869-ABF6-6B24-F007-54EF21F72F32}"/>
              </a:ext>
            </a:extLst>
          </p:cNvPr>
          <p:cNvCxnSpPr/>
          <p:nvPr/>
        </p:nvCxnSpPr>
        <p:spPr bwMode="auto">
          <a:xfrm flipH="1">
            <a:off x="4952850" y="2152134"/>
            <a:ext cx="24137" cy="1126178"/>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90" name="Straight Connector 89">
            <a:extLst>
              <a:ext uri="{FF2B5EF4-FFF2-40B4-BE49-F238E27FC236}">
                <a16:creationId xmlns:a16="http://schemas.microsoft.com/office/drawing/2014/main" id="{45AA3512-F3DD-94DA-1238-EEAFF885A4E3}"/>
              </a:ext>
            </a:extLst>
          </p:cNvPr>
          <p:cNvCxnSpPr>
            <a:cxnSpLocks/>
            <a:stCxn id="25" idx="3"/>
          </p:cNvCxnSpPr>
          <p:nvPr/>
        </p:nvCxnSpPr>
        <p:spPr bwMode="auto">
          <a:xfrm>
            <a:off x="6511304" y="2214910"/>
            <a:ext cx="26674" cy="979811"/>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91" name="Straight Arrow Connector 90">
            <a:extLst>
              <a:ext uri="{FF2B5EF4-FFF2-40B4-BE49-F238E27FC236}">
                <a16:creationId xmlns:a16="http://schemas.microsoft.com/office/drawing/2014/main" id="{75E7E340-C9D5-2222-018F-C9AC557060F6}"/>
              </a:ext>
            </a:extLst>
          </p:cNvPr>
          <p:cNvCxnSpPr/>
          <p:nvPr/>
        </p:nvCxnSpPr>
        <p:spPr bwMode="auto">
          <a:xfrm>
            <a:off x="4952850" y="3126010"/>
            <a:ext cx="1594616"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92" name="TextBox 91">
            <a:extLst>
              <a:ext uri="{FF2B5EF4-FFF2-40B4-BE49-F238E27FC236}">
                <a16:creationId xmlns:a16="http://schemas.microsoft.com/office/drawing/2014/main" id="{EF84718F-4E05-C13E-661F-B0EBDF4E4122}"/>
              </a:ext>
            </a:extLst>
          </p:cNvPr>
          <p:cNvSpPr txBox="1"/>
          <p:nvPr/>
        </p:nvSpPr>
        <p:spPr>
          <a:xfrm>
            <a:off x="5556119" y="2806331"/>
            <a:ext cx="459962" cy="338554"/>
          </a:xfrm>
          <a:prstGeom prst="rect">
            <a:avLst/>
          </a:prstGeom>
          <a:noFill/>
        </p:spPr>
        <p:txBody>
          <a:bodyPr wrap="square" rtlCol="0">
            <a:spAutoFit/>
          </a:bodyPr>
          <a:lstStyle/>
          <a:p>
            <a:r>
              <a:rPr lang="en-US" sz="1600" dirty="0"/>
              <a:t>L</a:t>
            </a:r>
          </a:p>
        </p:txBody>
      </p:sp>
      <p:cxnSp>
        <p:nvCxnSpPr>
          <p:cNvPr id="93" name="Straight Connector 92">
            <a:extLst>
              <a:ext uri="{FF2B5EF4-FFF2-40B4-BE49-F238E27FC236}">
                <a16:creationId xmlns:a16="http://schemas.microsoft.com/office/drawing/2014/main" id="{7439BBB0-EDBB-0B3A-87B8-454C0658C160}"/>
              </a:ext>
            </a:extLst>
          </p:cNvPr>
          <p:cNvCxnSpPr/>
          <p:nvPr/>
        </p:nvCxnSpPr>
        <p:spPr bwMode="auto">
          <a:xfrm>
            <a:off x="5604371" y="2185222"/>
            <a:ext cx="527645" cy="104310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94" name="Rectangle 9">
            <a:extLst>
              <a:ext uri="{FF2B5EF4-FFF2-40B4-BE49-F238E27FC236}">
                <a16:creationId xmlns:a16="http://schemas.microsoft.com/office/drawing/2014/main" id="{498EA10F-6FA4-E381-80CC-BC15AF9B00A6}"/>
              </a:ext>
            </a:extLst>
          </p:cNvPr>
          <p:cNvSpPr>
            <a:spLocks noChangeArrowheads="1"/>
          </p:cNvSpPr>
          <p:nvPr/>
        </p:nvSpPr>
        <p:spPr bwMode="auto">
          <a:xfrm>
            <a:off x="305879" y="4949013"/>
            <a:ext cx="11449272"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bg-BG" sz="1400" dirty="0"/>
              <a:t>При увеличаване на положителното напрежение </a:t>
            </a:r>
            <a:r>
              <a:rPr lang="en-US" sz="1400" i="1" dirty="0"/>
              <a:t>U</a:t>
            </a:r>
            <a:r>
              <a:rPr lang="en-US" sz="1400" i="1" baseline="-25000" dirty="0"/>
              <a:t>GS</a:t>
            </a:r>
            <a:r>
              <a:rPr lang="bg-BG" sz="1400" i="1" dirty="0"/>
              <a:t> </a:t>
            </a:r>
            <a:r>
              <a:rPr lang="bg-BG" sz="1400" dirty="0"/>
              <a:t>към повърхността се привличат електрони, които създават слой с </a:t>
            </a:r>
            <a:r>
              <a:rPr lang="bg-BG" sz="1400" b="1" dirty="0"/>
              <a:t>инверсна</a:t>
            </a:r>
            <a:r>
              <a:rPr lang="bg-BG" sz="1400" dirty="0"/>
              <a:t> проводимост, т.е. полупроводника в канала става от </a:t>
            </a:r>
            <a:r>
              <a:rPr lang="en-US" sz="1400" dirty="0"/>
              <a:t>N-</a:t>
            </a:r>
            <a:r>
              <a:rPr lang="bg-BG" sz="1400" dirty="0"/>
              <a:t>тип. </a:t>
            </a:r>
          </a:p>
          <a:p>
            <a:endParaRPr lang="en-US" sz="1400" dirty="0"/>
          </a:p>
          <a:p>
            <a:r>
              <a:rPr lang="bg-BG" sz="1400" dirty="0"/>
              <a:t>Напрежението </a:t>
            </a:r>
            <a:r>
              <a:rPr lang="en-US" sz="1400" i="1" dirty="0"/>
              <a:t>U</a:t>
            </a:r>
            <a:r>
              <a:rPr lang="en-US" sz="1400" i="1" baseline="-25000" dirty="0"/>
              <a:t>GS</a:t>
            </a:r>
            <a:r>
              <a:rPr lang="bg-BG" sz="1400" dirty="0"/>
              <a:t>, при което се създава инверсен слой в подложката и протича минимален дрейнов ток се нарича </a:t>
            </a:r>
            <a:r>
              <a:rPr lang="bg-BG" sz="1400" b="1" dirty="0"/>
              <a:t>прагово напрежение</a:t>
            </a:r>
            <a:r>
              <a:rPr lang="en-US" sz="1400" b="1" dirty="0"/>
              <a:t> </a:t>
            </a:r>
            <a:r>
              <a:rPr lang="en-US" sz="1400" b="1" i="1" dirty="0"/>
              <a:t>U</a:t>
            </a:r>
            <a:r>
              <a:rPr lang="en-US" sz="1400" b="1" i="1" baseline="-25000" dirty="0"/>
              <a:t>T</a:t>
            </a:r>
            <a:r>
              <a:rPr lang="bg-BG" sz="1400" dirty="0"/>
              <a:t>.  Ако </a:t>
            </a:r>
            <a:r>
              <a:rPr lang="en-US" sz="1400" dirty="0"/>
              <a:t>U</a:t>
            </a:r>
            <a:r>
              <a:rPr lang="en-US" sz="1400" baseline="-25000" dirty="0"/>
              <a:t>GS </a:t>
            </a:r>
            <a:r>
              <a:rPr lang="en-US" sz="1400" dirty="0"/>
              <a:t>&gt; U</a:t>
            </a:r>
            <a:r>
              <a:rPr lang="en-US" sz="1400" baseline="-25000" dirty="0"/>
              <a:t>T</a:t>
            </a:r>
            <a:r>
              <a:rPr lang="bg-BG" sz="1400" dirty="0"/>
              <a:t> каналът </a:t>
            </a:r>
            <a:r>
              <a:rPr lang="bg-BG" sz="1400" b="1" dirty="0"/>
              <a:t>се обогатява </a:t>
            </a:r>
            <a:r>
              <a:rPr lang="bg-BG" sz="1400" dirty="0"/>
              <a:t>с токоносители и токът </a:t>
            </a:r>
            <a:r>
              <a:rPr lang="en-US" sz="1400" i="1" dirty="0"/>
              <a:t>I</a:t>
            </a:r>
            <a:r>
              <a:rPr lang="en-US" sz="1400" i="1" baseline="-25000" dirty="0"/>
              <a:t>D</a:t>
            </a:r>
            <a:r>
              <a:rPr lang="en-US" sz="1400" dirty="0"/>
              <a:t> </a:t>
            </a:r>
            <a:r>
              <a:rPr lang="bg-BG" sz="1400" dirty="0"/>
              <a:t>нараства.</a:t>
            </a:r>
            <a:endParaRPr lang="en-US" sz="1400" dirty="0"/>
          </a:p>
        </p:txBody>
      </p:sp>
      <p:sp>
        <p:nvSpPr>
          <p:cNvPr id="95" name="TextBox 14">
            <a:extLst>
              <a:ext uri="{FF2B5EF4-FFF2-40B4-BE49-F238E27FC236}">
                <a16:creationId xmlns:a16="http://schemas.microsoft.com/office/drawing/2014/main" id="{06A3F7D0-4C3F-8761-F817-20BB700865C7}"/>
              </a:ext>
            </a:extLst>
          </p:cNvPr>
          <p:cNvSpPr txBox="1">
            <a:spLocks noChangeArrowheads="1"/>
          </p:cNvSpPr>
          <p:nvPr/>
        </p:nvSpPr>
        <p:spPr bwMode="auto">
          <a:xfrm>
            <a:off x="3312682" y="4091229"/>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i="0" dirty="0"/>
              <a:t>B</a:t>
            </a:r>
          </a:p>
        </p:txBody>
      </p:sp>
      <p:sp>
        <p:nvSpPr>
          <p:cNvPr id="96" name="TextBox 95">
            <a:extLst>
              <a:ext uri="{FF2B5EF4-FFF2-40B4-BE49-F238E27FC236}">
                <a16:creationId xmlns:a16="http://schemas.microsoft.com/office/drawing/2014/main" id="{445AB875-5096-42E7-C99A-030531FB9639}"/>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Принцип на действие: Създаване на канала</a:t>
            </a:r>
            <a:endParaRPr lang="bg-BG" sz="2400" dirty="0">
              <a:solidFill>
                <a:srgbClr val="0038A8"/>
              </a:solidFill>
              <a:latin typeface="+mj-lt"/>
              <a:cs typeface="Arial" panose="020B0604020202020204" pitchFamily="34" charset="0"/>
            </a:endParaRPr>
          </a:p>
        </p:txBody>
      </p:sp>
    </p:spTree>
    <p:extLst>
      <p:ext uri="{BB962C8B-B14F-4D97-AF65-F5344CB8AC3E}">
        <p14:creationId xmlns:p14="http://schemas.microsoft.com/office/powerpoint/2010/main" val="3196714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DE4C13-04C5-931F-BF60-B9CEE69153A8}"/>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Режими на работа на </a:t>
            </a:r>
            <a:r>
              <a:rPr lang="en-US" sz="2400" dirty="0">
                <a:solidFill>
                  <a:srgbClr val="0038A8"/>
                </a:solidFill>
                <a:latin typeface="+mj-lt"/>
                <a:cs typeface="Arial" panose="020B0604020202020204" pitchFamily="34" charset="0"/>
              </a:rPr>
              <a:t>MOSFET - </a:t>
            </a:r>
            <a:r>
              <a:rPr lang="bg-BG" sz="2400" dirty="0">
                <a:solidFill>
                  <a:srgbClr val="0038A8"/>
                </a:solidFill>
                <a:latin typeface="+mj-lt"/>
                <a:cs typeface="Arial" panose="020B0604020202020204" pitchFamily="34" charset="0"/>
              </a:rPr>
              <a:t>Режим на „отсечка“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5E84D7DA-0758-7E38-B886-4C853A02027D}"/>
              </a:ext>
            </a:extLst>
          </p:cNvPr>
          <p:cNvSpPr txBox="1"/>
          <p:nvPr/>
        </p:nvSpPr>
        <p:spPr>
          <a:xfrm>
            <a:off x="577273" y="1122218"/>
            <a:ext cx="5460149" cy="954107"/>
          </a:xfrm>
          <a:prstGeom prst="rect">
            <a:avLst/>
          </a:prstGeom>
          <a:noFill/>
        </p:spPr>
        <p:txBody>
          <a:bodyPr wrap="none" rtlCol="0">
            <a:spAutoFit/>
          </a:bodyPr>
          <a:lstStyle/>
          <a:p>
            <a:r>
              <a:rPr lang="en-US" sz="1400" dirty="0" err="1"/>
              <a:t>Ugs</a:t>
            </a:r>
            <a:r>
              <a:rPr lang="en-US" sz="1400" dirty="0"/>
              <a:t> &lt; Ut </a:t>
            </a:r>
            <a:r>
              <a:rPr lang="bg-BG" sz="1400" dirty="0"/>
              <a:t>Режим на „отсечка“ (</a:t>
            </a:r>
            <a:r>
              <a:rPr lang="de-DE" sz="1400" dirty="0" err="1"/>
              <a:t>cut</a:t>
            </a:r>
            <a:r>
              <a:rPr lang="de-DE" sz="1400" dirty="0"/>
              <a:t>-off)</a:t>
            </a:r>
            <a:r>
              <a:rPr lang="bg-BG" sz="1400" dirty="0"/>
              <a:t>. </a:t>
            </a:r>
            <a:endParaRPr lang="en-US" sz="1400" dirty="0"/>
          </a:p>
          <a:p>
            <a:r>
              <a:rPr lang="bg-BG" sz="1400" dirty="0"/>
              <a:t>Канал не съществува, ток не протича, транзисторът е „запушен“.</a:t>
            </a:r>
          </a:p>
          <a:p>
            <a:r>
              <a:rPr lang="en-US" sz="1400" dirty="0"/>
              <a:t>MOSFET </a:t>
            </a:r>
            <a:r>
              <a:rPr lang="bg-BG" sz="1400" dirty="0"/>
              <a:t>клюът е в състояние „отворен“ (</a:t>
            </a:r>
            <a:r>
              <a:rPr lang="en-US" sz="1400" dirty="0"/>
              <a:t>off).</a:t>
            </a:r>
            <a:endParaRPr lang="bg-BG" sz="1400" dirty="0"/>
          </a:p>
          <a:p>
            <a:endParaRPr lang="bg-BG" sz="1400" dirty="0"/>
          </a:p>
        </p:txBody>
      </p:sp>
      <p:grpSp>
        <p:nvGrpSpPr>
          <p:cNvPr id="4" name="Group 3">
            <a:extLst>
              <a:ext uri="{FF2B5EF4-FFF2-40B4-BE49-F238E27FC236}">
                <a16:creationId xmlns:a16="http://schemas.microsoft.com/office/drawing/2014/main" id="{1BC0DA03-F68E-8177-5270-367B7C794D7E}"/>
              </a:ext>
            </a:extLst>
          </p:cNvPr>
          <p:cNvGrpSpPr/>
          <p:nvPr/>
        </p:nvGrpSpPr>
        <p:grpSpPr>
          <a:xfrm>
            <a:off x="2794049" y="2704213"/>
            <a:ext cx="6065044" cy="3094515"/>
            <a:chOff x="1404588" y="1026911"/>
            <a:chExt cx="6065044" cy="3094515"/>
          </a:xfrm>
        </p:grpSpPr>
        <p:sp>
          <p:nvSpPr>
            <p:cNvPr id="5" name="Rectangle 4">
              <a:extLst>
                <a:ext uri="{FF2B5EF4-FFF2-40B4-BE49-F238E27FC236}">
                  <a16:creationId xmlns:a16="http://schemas.microsoft.com/office/drawing/2014/main" id="{36A4C20F-DF2A-6C0B-DDD2-BFFE685B2ADA}"/>
                </a:ext>
              </a:extLst>
            </p:cNvPr>
            <p:cNvSpPr/>
            <p:nvPr/>
          </p:nvSpPr>
          <p:spPr>
            <a:xfrm>
              <a:off x="1404588" y="1755824"/>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D0DD5741-53EC-7077-D3FD-3256E9789DB3}"/>
                </a:ext>
              </a:extLst>
            </p:cNvPr>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6EAC25F-54B9-1A9A-6802-8302795187E8}"/>
                </a:ext>
              </a:extLst>
            </p:cNvPr>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191CBC-3F40-EA1D-0E3C-01EC962E7F89}"/>
                </a:ext>
              </a:extLst>
            </p:cNvPr>
            <p:cNvSpPr>
              <a:spLocks noChangeArrowheads="1"/>
            </p:cNvSpPr>
            <p:nvPr/>
          </p:nvSpPr>
          <p:spPr bwMode="auto">
            <a:xfrm>
              <a:off x="5579876"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9" name="Rectangle 8">
              <a:extLst>
                <a:ext uri="{FF2B5EF4-FFF2-40B4-BE49-F238E27FC236}">
                  <a16:creationId xmlns:a16="http://schemas.microsoft.com/office/drawing/2014/main" id="{0F9E50D9-64F1-2F8A-4258-6BED74A419B9}"/>
                </a:ext>
              </a:extLst>
            </p:cNvPr>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10" name="Rectangle 9">
              <a:extLst>
                <a:ext uri="{FF2B5EF4-FFF2-40B4-BE49-F238E27FC236}">
                  <a16:creationId xmlns:a16="http://schemas.microsoft.com/office/drawing/2014/main" id="{58ED3F2D-63EC-5110-D95A-91565E6706D2}"/>
                </a:ext>
              </a:extLst>
            </p:cNvPr>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11" name="Group 10">
              <a:extLst>
                <a:ext uri="{FF2B5EF4-FFF2-40B4-BE49-F238E27FC236}">
                  <a16:creationId xmlns:a16="http://schemas.microsoft.com/office/drawing/2014/main" id="{3E7F0CAA-238E-C0CA-78E5-66643F094E2C}"/>
                </a:ext>
              </a:extLst>
            </p:cNvPr>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32" name="Rectangle 31">
                <a:extLst>
                  <a:ext uri="{FF2B5EF4-FFF2-40B4-BE49-F238E27FC236}">
                    <a16:creationId xmlns:a16="http://schemas.microsoft.com/office/drawing/2014/main" id="{855FF8D4-2B74-E7E9-6B73-3BB1D35FD7A7}"/>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45CFF86-07F5-CFF8-6907-B21F91110469}"/>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8DECB6F6-0459-DE42-1BAA-4C8A4606360F}"/>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A4D93530-6B40-A24F-8AE5-1E9BA79550E9}"/>
                </a:ext>
              </a:extLst>
            </p:cNvPr>
            <p:cNvGrpSpPr/>
            <p:nvPr/>
          </p:nvGrpSpPr>
          <p:grpSpPr>
            <a:xfrm flipH="1">
              <a:off x="5204268" y="1755823"/>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29" name="Rectangle 28">
                <a:extLst>
                  <a:ext uri="{FF2B5EF4-FFF2-40B4-BE49-F238E27FC236}">
                    <a16:creationId xmlns:a16="http://schemas.microsoft.com/office/drawing/2014/main" id="{9A0F5C8F-E4FF-37D9-5A18-B70585CC4786}"/>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5E4296D-AB6B-13F6-6320-423AA361B997}"/>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6240AF8-8C3C-4FEE-AAC7-0EA1DF5F4EF2}"/>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4">
              <a:extLst>
                <a:ext uri="{FF2B5EF4-FFF2-40B4-BE49-F238E27FC236}">
                  <a16:creationId xmlns:a16="http://schemas.microsoft.com/office/drawing/2014/main" id="{05F7464B-1AE6-DFE7-7A1D-D165C80ECAC6}"/>
                </a:ext>
              </a:extLst>
            </p:cNvPr>
            <p:cNvSpPr txBox="1">
              <a:spLocks noChangeArrowheads="1"/>
            </p:cNvSpPr>
            <p:nvPr/>
          </p:nvSpPr>
          <p:spPr bwMode="auto">
            <a:xfrm>
              <a:off x="4223279" y="3207786"/>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p>
          </p:txBody>
        </p:sp>
        <p:sp>
          <p:nvSpPr>
            <p:cNvPr id="14" name="TextBox 68">
              <a:extLst>
                <a:ext uri="{FF2B5EF4-FFF2-40B4-BE49-F238E27FC236}">
                  <a16:creationId xmlns:a16="http://schemas.microsoft.com/office/drawing/2014/main" id="{A50A5B65-21C7-978C-1848-A4EE8A036253}"/>
                </a:ext>
              </a:extLst>
            </p:cNvPr>
            <p:cNvSpPr txBox="1">
              <a:spLocks noChangeArrowheads="1"/>
            </p:cNvSpPr>
            <p:nvPr/>
          </p:nvSpPr>
          <p:spPr bwMode="auto">
            <a:xfrm>
              <a:off x="6588809" y="184345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sp>
          <p:nvSpPr>
            <p:cNvPr id="15" name="TextBox 68">
              <a:extLst>
                <a:ext uri="{FF2B5EF4-FFF2-40B4-BE49-F238E27FC236}">
                  <a16:creationId xmlns:a16="http://schemas.microsoft.com/office/drawing/2014/main" id="{41908B21-8CA5-A719-AA13-A152805F1BDE}"/>
                </a:ext>
              </a:extLst>
            </p:cNvPr>
            <p:cNvSpPr txBox="1">
              <a:spLocks noChangeArrowheads="1"/>
            </p:cNvSpPr>
            <p:nvPr/>
          </p:nvSpPr>
          <p:spPr bwMode="auto">
            <a:xfrm>
              <a:off x="1783175" y="193095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16" name="Straight Connector 15">
              <a:extLst>
                <a:ext uri="{FF2B5EF4-FFF2-40B4-BE49-F238E27FC236}">
                  <a16:creationId xmlns:a16="http://schemas.microsoft.com/office/drawing/2014/main" id="{28B5AC68-740D-EC1F-F30E-7F533B3FF859}"/>
                </a:ext>
              </a:extLst>
            </p:cNvPr>
            <p:cNvCxnSpPr>
              <a:stCxn id="10"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3054CFB8-0062-4C3F-95A5-6755C400348E}"/>
                </a:ext>
              </a:extLst>
            </p:cNvPr>
            <p:cNvCxnSpPr>
              <a:stCxn id="7"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8" name="Straight Connector 17">
              <a:extLst>
                <a:ext uri="{FF2B5EF4-FFF2-40B4-BE49-F238E27FC236}">
                  <a16:creationId xmlns:a16="http://schemas.microsoft.com/office/drawing/2014/main" id="{D28A09F8-0CA1-2714-110C-FE844764BAA9}"/>
                </a:ext>
              </a:extLst>
            </p:cNvPr>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B7896A61-17A7-F27E-EEFD-36297056B91F}"/>
                </a:ext>
              </a:extLst>
            </p:cNvPr>
            <p:cNvCxnSpPr/>
            <p:nvPr/>
          </p:nvCxnSpPr>
          <p:spPr bwMode="auto">
            <a:xfrm>
              <a:off x="1809679" y="4121426"/>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275B0A4E-E0D7-CFEB-3AD9-3D7B436D2D8B}"/>
                </a:ext>
              </a:extLst>
            </p:cNvPr>
            <p:cNvCxnSpPr/>
            <p:nvPr/>
          </p:nvCxnSpPr>
          <p:spPr bwMode="auto">
            <a:xfrm flipH="1">
              <a:off x="2478019" y="1101844"/>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4D9166F5-2CA2-37E6-5066-EB1CAB9D2CB2}"/>
                </a:ext>
              </a:extLst>
            </p:cNvPr>
            <p:cNvCxnSpPr/>
            <p:nvPr/>
          </p:nvCxnSpPr>
          <p:spPr bwMode="auto">
            <a:xfrm>
              <a:off x="2478019" y="1110757"/>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2" name="Straight Connector 21">
              <a:extLst>
                <a:ext uri="{FF2B5EF4-FFF2-40B4-BE49-F238E27FC236}">
                  <a16:creationId xmlns:a16="http://schemas.microsoft.com/office/drawing/2014/main" id="{3128E184-141F-A633-005A-85BA14A9DAC6}"/>
                </a:ext>
              </a:extLst>
            </p:cNvPr>
            <p:cNvCxnSpPr/>
            <p:nvPr/>
          </p:nvCxnSpPr>
          <p:spPr bwMode="auto">
            <a:xfrm>
              <a:off x="2336428" y="1295423"/>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23" name="Oval 22">
              <a:extLst>
                <a:ext uri="{FF2B5EF4-FFF2-40B4-BE49-F238E27FC236}">
                  <a16:creationId xmlns:a16="http://schemas.microsoft.com/office/drawing/2014/main" id="{728B2042-27D8-033F-0DB2-924CFA613DDC}"/>
                </a:ext>
              </a:extLst>
            </p:cNvPr>
            <p:cNvSpPr/>
            <p:nvPr/>
          </p:nvSpPr>
          <p:spPr bwMode="auto">
            <a:xfrm>
              <a:off x="4388021" y="1052374"/>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24" name="TextBox 23">
              <a:extLst>
                <a:ext uri="{FF2B5EF4-FFF2-40B4-BE49-F238E27FC236}">
                  <a16:creationId xmlns:a16="http://schemas.microsoft.com/office/drawing/2014/main" id="{A4AB0591-BF67-7C83-7F53-987434146334}"/>
                </a:ext>
              </a:extLst>
            </p:cNvPr>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25" name="TextBox 24">
              <a:extLst>
                <a:ext uri="{FF2B5EF4-FFF2-40B4-BE49-F238E27FC236}">
                  <a16:creationId xmlns:a16="http://schemas.microsoft.com/office/drawing/2014/main" id="{07F9936E-D127-B626-8226-00583A5C2FDA}"/>
                </a:ext>
              </a:extLst>
            </p:cNvPr>
            <p:cNvSpPr txBox="1"/>
            <p:nvPr/>
          </p:nvSpPr>
          <p:spPr>
            <a:xfrm>
              <a:off x="2973623" y="1211977"/>
              <a:ext cx="391528" cy="338554"/>
            </a:xfrm>
            <a:prstGeom prst="rect">
              <a:avLst/>
            </a:prstGeom>
            <a:noFill/>
          </p:spPr>
          <p:txBody>
            <a:bodyPr wrap="square" rtlCol="0">
              <a:spAutoFit/>
            </a:bodyPr>
            <a:lstStyle/>
            <a:p>
              <a:r>
                <a:rPr lang="en-US" sz="1600" dirty="0"/>
                <a:t>S</a:t>
              </a:r>
            </a:p>
          </p:txBody>
        </p:sp>
        <p:sp>
          <p:nvSpPr>
            <p:cNvPr id="26" name="Oval 25">
              <a:extLst>
                <a:ext uri="{FF2B5EF4-FFF2-40B4-BE49-F238E27FC236}">
                  <a16:creationId xmlns:a16="http://schemas.microsoft.com/office/drawing/2014/main" id="{1141D1CC-329F-7CB0-FBEC-199AD3EEBA70}"/>
                </a:ext>
              </a:extLst>
            </p:cNvPr>
            <p:cNvSpPr/>
            <p:nvPr/>
          </p:nvSpPr>
          <p:spPr bwMode="auto">
            <a:xfrm>
              <a:off x="5851250" y="1026911"/>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27" name="Straight Connector 26">
              <a:extLst>
                <a:ext uri="{FF2B5EF4-FFF2-40B4-BE49-F238E27FC236}">
                  <a16:creationId xmlns:a16="http://schemas.microsoft.com/office/drawing/2014/main" id="{7EFA4020-1FB2-CE0A-D57A-9645CEE47F81}"/>
                </a:ext>
              </a:extLst>
            </p:cNvPr>
            <p:cNvCxnSpPr>
              <a:stCxn id="26" idx="4"/>
              <a:endCxn id="8"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8" name="TextBox 27">
              <a:extLst>
                <a:ext uri="{FF2B5EF4-FFF2-40B4-BE49-F238E27FC236}">
                  <a16:creationId xmlns:a16="http://schemas.microsoft.com/office/drawing/2014/main" id="{C2F76435-E1F9-3AC5-0F58-F1AA8CAEF02E}"/>
                </a:ext>
              </a:extLst>
            </p:cNvPr>
            <p:cNvSpPr txBox="1"/>
            <p:nvPr/>
          </p:nvSpPr>
          <p:spPr>
            <a:xfrm>
              <a:off x="5927499" y="1302970"/>
              <a:ext cx="391528" cy="338554"/>
            </a:xfrm>
            <a:prstGeom prst="rect">
              <a:avLst/>
            </a:prstGeom>
            <a:noFill/>
          </p:spPr>
          <p:txBody>
            <a:bodyPr wrap="square" rtlCol="0">
              <a:spAutoFit/>
            </a:bodyPr>
            <a:lstStyle/>
            <a:p>
              <a:r>
                <a:rPr lang="en-US" sz="1600" dirty="0"/>
                <a:t>D</a:t>
              </a:r>
            </a:p>
          </p:txBody>
        </p:sp>
      </p:grpSp>
      <p:sp>
        <p:nvSpPr>
          <p:cNvPr id="35" name="TextBox 34">
            <a:extLst>
              <a:ext uri="{FF2B5EF4-FFF2-40B4-BE49-F238E27FC236}">
                <a16:creationId xmlns:a16="http://schemas.microsoft.com/office/drawing/2014/main" id="{DF9E7D3C-4B30-7C83-7783-F24FF98EF273}"/>
              </a:ext>
            </a:extLst>
          </p:cNvPr>
          <p:cNvSpPr txBox="1"/>
          <p:nvPr/>
        </p:nvSpPr>
        <p:spPr>
          <a:xfrm>
            <a:off x="5385877" y="2320041"/>
            <a:ext cx="1240616" cy="338554"/>
          </a:xfrm>
          <a:prstGeom prst="rect">
            <a:avLst/>
          </a:prstGeom>
          <a:noFill/>
        </p:spPr>
        <p:txBody>
          <a:bodyPr wrap="square" rtlCol="0">
            <a:spAutoFit/>
          </a:bodyPr>
          <a:lstStyle/>
          <a:p>
            <a:r>
              <a:rPr lang="en-US" sz="1600" dirty="0"/>
              <a:t>U</a:t>
            </a:r>
            <a:r>
              <a:rPr lang="en-US" sz="1600" baseline="-25000" dirty="0"/>
              <a:t>GS</a:t>
            </a:r>
            <a:r>
              <a:rPr lang="en-US" sz="1600" dirty="0"/>
              <a:t> = 0</a:t>
            </a:r>
            <a:endParaRPr lang="en-US" sz="1600" baseline="-25000" dirty="0"/>
          </a:p>
        </p:txBody>
      </p:sp>
      <p:sp>
        <p:nvSpPr>
          <p:cNvPr id="36" name="TextBox 35">
            <a:extLst>
              <a:ext uri="{FF2B5EF4-FFF2-40B4-BE49-F238E27FC236}">
                <a16:creationId xmlns:a16="http://schemas.microsoft.com/office/drawing/2014/main" id="{31B5FBCF-A6F1-011D-6417-5C7D927EC3CB}"/>
              </a:ext>
            </a:extLst>
          </p:cNvPr>
          <p:cNvSpPr txBox="1"/>
          <p:nvPr/>
        </p:nvSpPr>
        <p:spPr>
          <a:xfrm>
            <a:off x="7482032" y="2539551"/>
            <a:ext cx="980746" cy="338554"/>
          </a:xfrm>
          <a:prstGeom prst="rect">
            <a:avLst/>
          </a:prstGeom>
          <a:noFill/>
        </p:spPr>
        <p:txBody>
          <a:bodyPr wrap="square" rtlCol="0">
            <a:spAutoFit/>
          </a:bodyPr>
          <a:lstStyle/>
          <a:p>
            <a:r>
              <a:rPr lang="en-US" sz="1600" dirty="0"/>
              <a:t>+ U</a:t>
            </a:r>
            <a:r>
              <a:rPr lang="en-US" sz="1600" baseline="-25000" dirty="0"/>
              <a:t>DS</a:t>
            </a:r>
            <a:endParaRPr lang="en-US" sz="1600" dirty="0"/>
          </a:p>
        </p:txBody>
      </p:sp>
      <p:sp>
        <p:nvSpPr>
          <p:cNvPr id="37" name="TextBox 14">
            <a:extLst>
              <a:ext uri="{FF2B5EF4-FFF2-40B4-BE49-F238E27FC236}">
                <a16:creationId xmlns:a16="http://schemas.microsoft.com/office/drawing/2014/main" id="{241CF31A-409F-DB5E-2F6D-67D34679C8C9}"/>
              </a:ext>
            </a:extLst>
          </p:cNvPr>
          <p:cNvSpPr txBox="1">
            <a:spLocks noChangeArrowheads="1"/>
          </p:cNvSpPr>
          <p:nvPr/>
        </p:nvSpPr>
        <p:spPr bwMode="auto">
          <a:xfrm>
            <a:off x="3389716" y="5468205"/>
            <a:ext cx="3694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i="0" dirty="0"/>
              <a:t>B</a:t>
            </a:r>
          </a:p>
        </p:txBody>
      </p:sp>
    </p:spTree>
    <p:extLst>
      <p:ext uri="{BB962C8B-B14F-4D97-AF65-F5344CB8AC3E}">
        <p14:creationId xmlns:p14="http://schemas.microsoft.com/office/powerpoint/2010/main" val="3086534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343B5-4E0A-EE67-0651-84D9B7E2FC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8E3FCC-F199-9767-C600-AF7A9A259B8A}"/>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Режими на работа на </a:t>
            </a:r>
            <a:r>
              <a:rPr lang="en-US" sz="2400" dirty="0">
                <a:solidFill>
                  <a:srgbClr val="0038A8"/>
                </a:solidFill>
                <a:latin typeface="+mj-lt"/>
                <a:cs typeface="Arial" panose="020B0604020202020204" pitchFamily="34" charset="0"/>
              </a:rPr>
              <a:t>MOSFET – </a:t>
            </a:r>
            <a:r>
              <a:rPr lang="bg-BG" sz="2400" dirty="0">
                <a:solidFill>
                  <a:srgbClr val="0038A8"/>
                </a:solidFill>
                <a:latin typeface="+mj-lt"/>
                <a:cs typeface="Arial" panose="020B0604020202020204" pitchFamily="34" charset="0"/>
              </a:rPr>
              <a:t>Омичен или линеен режим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AD342000-3968-8B66-5384-638BF9FCD23A}"/>
              </a:ext>
            </a:extLst>
          </p:cNvPr>
          <p:cNvSpPr txBox="1"/>
          <p:nvPr/>
        </p:nvSpPr>
        <p:spPr>
          <a:xfrm>
            <a:off x="426522" y="893276"/>
            <a:ext cx="11338956" cy="954107"/>
          </a:xfrm>
          <a:prstGeom prst="rect">
            <a:avLst/>
          </a:prstGeom>
          <a:noFill/>
        </p:spPr>
        <p:txBody>
          <a:bodyPr wrap="square" rtlCol="0">
            <a:spAutoFit/>
          </a:bodyPr>
          <a:lstStyle/>
          <a:p>
            <a:r>
              <a:rPr lang="bg-BG" sz="1400" dirty="0"/>
              <a:t>При </a:t>
            </a:r>
            <a:r>
              <a:rPr lang="en-US" sz="1400" dirty="0" err="1"/>
              <a:t>Ugs</a:t>
            </a:r>
            <a:r>
              <a:rPr lang="en-US" sz="1400" dirty="0"/>
              <a:t> </a:t>
            </a:r>
            <a:r>
              <a:rPr lang="bg-BG" sz="1400" dirty="0"/>
              <a:t>&gt; </a:t>
            </a:r>
            <a:r>
              <a:rPr lang="en-US" sz="1400" dirty="0"/>
              <a:t>Ut </a:t>
            </a:r>
            <a:r>
              <a:rPr lang="bg-BG" sz="1400" dirty="0"/>
              <a:t>се образува канал.  Ако подадем малко напрежение между дрейна и сорса (</a:t>
            </a:r>
            <a:r>
              <a:rPr lang="en-US" sz="1400" dirty="0" err="1"/>
              <a:t>Uds</a:t>
            </a:r>
            <a:r>
              <a:rPr lang="bg-BG" sz="1400" dirty="0"/>
              <a:t>) ще протече дрейнов ток </a:t>
            </a:r>
            <a:r>
              <a:rPr lang="en-US" sz="1400" i="1" dirty="0"/>
              <a:t>I</a:t>
            </a:r>
            <a:r>
              <a:rPr lang="en-US" sz="1400" i="1" baseline="-25000" dirty="0"/>
              <a:t>D</a:t>
            </a:r>
            <a:endParaRPr lang="bg-BG" sz="1400" i="1" baseline="-25000" dirty="0"/>
          </a:p>
          <a:p>
            <a:r>
              <a:rPr lang="ru-RU" sz="1400" dirty="0"/>
              <a:t>В това състояние каналът действа като обикновен резистор. Колкото по-високо е напрежението на гейта, толкова повече електрони привличаме в канала и той има по-ниското съпротивление. Това е състоянието, което искаме за затворен ключ – път с много ниско съпротивление.</a:t>
            </a:r>
          </a:p>
        </p:txBody>
      </p:sp>
      <p:sp>
        <p:nvSpPr>
          <p:cNvPr id="38" name="Rectangle 37">
            <a:extLst>
              <a:ext uri="{FF2B5EF4-FFF2-40B4-BE49-F238E27FC236}">
                <a16:creationId xmlns:a16="http://schemas.microsoft.com/office/drawing/2014/main" id="{3D61115B-FDDF-E04B-48DF-75351E3512DB}"/>
              </a:ext>
            </a:extLst>
          </p:cNvPr>
          <p:cNvSpPr/>
          <p:nvPr/>
        </p:nvSpPr>
        <p:spPr>
          <a:xfrm>
            <a:off x="653893" y="4193128"/>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8935A22-866B-E750-97CF-9AB9D6939943}"/>
              </a:ext>
            </a:extLst>
          </p:cNvPr>
          <p:cNvSpPr/>
          <p:nvPr/>
        </p:nvSpPr>
        <p:spPr>
          <a:xfrm>
            <a:off x="2766856" y="4040728"/>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0C39E9D-C4AD-990D-D2FD-122FEC1E07FA}"/>
              </a:ext>
            </a:extLst>
          </p:cNvPr>
          <p:cNvSpPr/>
          <p:nvPr/>
        </p:nvSpPr>
        <p:spPr>
          <a:xfrm>
            <a:off x="2766856" y="3926428"/>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6A9E8924-29C6-E382-023C-38479675E8B7}"/>
              </a:ext>
            </a:extLst>
          </p:cNvPr>
          <p:cNvSpPr>
            <a:spLocks noChangeArrowheads="1"/>
          </p:cNvSpPr>
          <p:nvPr/>
        </p:nvSpPr>
        <p:spPr bwMode="auto">
          <a:xfrm>
            <a:off x="4829181" y="4122274"/>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42" name="Rectangle 41">
            <a:extLst>
              <a:ext uri="{FF2B5EF4-FFF2-40B4-BE49-F238E27FC236}">
                <a16:creationId xmlns:a16="http://schemas.microsoft.com/office/drawing/2014/main" id="{BE6FE7BA-4CF9-4FCA-62B0-12DF9E13B64F}"/>
              </a:ext>
            </a:extLst>
          </p:cNvPr>
          <p:cNvSpPr>
            <a:spLocks noChangeArrowheads="1"/>
          </p:cNvSpPr>
          <p:nvPr/>
        </p:nvSpPr>
        <p:spPr bwMode="auto">
          <a:xfrm>
            <a:off x="1886166" y="4122274"/>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43" name="Rectangle 42">
            <a:extLst>
              <a:ext uri="{FF2B5EF4-FFF2-40B4-BE49-F238E27FC236}">
                <a16:creationId xmlns:a16="http://schemas.microsoft.com/office/drawing/2014/main" id="{110E6FE0-81FA-0C62-2B35-29D9EF2FE98F}"/>
              </a:ext>
            </a:extLst>
          </p:cNvPr>
          <p:cNvSpPr>
            <a:spLocks noChangeArrowheads="1"/>
          </p:cNvSpPr>
          <p:nvPr/>
        </p:nvSpPr>
        <p:spPr bwMode="auto">
          <a:xfrm>
            <a:off x="875214" y="6110016"/>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44" name="Group 43">
            <a:extLst>
              <a:ext uri="{FF2B5EF4-FFF2-40B4-BE49-F238E27FC236}">
                <a16:creationId xmlns:a16="http://schemas.microsoft.com/office/drawing/2014/main" id="{B8F9449E-F274-74B8-1DC9-429F4E457ACD}"/>
              </a:ext>
            </a:extLst>
          </p:cNvPr>
          <p:cNvGrpSpPr/>
          <p:nvPr/>
        </p:nvGrpSpPr>
        <p:grpSpPr>
          <a:xfrm>
            <a:off x="669828" y="4187683"/>
            <a:ext cx="6061842" cy="1185527"/>
            <a:chOff x="1301635" y="1908007"/>
            <a:chExt cx="6061842" cy="1185527"/>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grpSpPr>
        <p:grpSp>
          <p:nvGrpSpPr>
            <p:cNvPr id="45" name="Group 44">
              <a:extLst>
                <a:ext uri="{FF2B5EF4-FFF2-40B4-BE49-F238E27FC236}">
                  <a16:creationId xmlns:a16="http://schemas.microsoft.com/office/drawing/2014/main" id="{F5C3B9BE-2F13-DA45-B70C-D7560CCBA265}"/>
                </a:ext>
              </a:extLst>
            </p:cNvPr>
            <p:cNvGrpSpPr/>
            <p:nvPr/>
          </p:nvGrpSpPr>
          <p:grpSpPr>
            <a:xfrm>
              <a:off x="1301635" y="1913475"/>
              <a:ext cx="2477917" cy="959627"/>
              <a:chOff x="1544637" y="2819400"/>
              <a:chExt cx="2265363" cy="457200"/>
            </a:xfrm>
            <a:grpFill/>
          </p:grpSpPr>
          <p:sp>
            <p:nvSpPr>
              <p:cNvPr id="51" name="Rectangle 50">
                <a:extLst>
                  <a:ext uri="{FF2B5EF4-FFF2-40B4-BE49-F238E27FC236}">
                    <a16:creationId xmlns:a16="http://schemas.microsoft.com/office/drawing/2014/main" id="{549F5D78-A8C8-105B-3999-5DE27DF60BDE}"/>
                  </a:ext>
                </a:extLst>
              </p:cNvPr>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DE2C4FE1-2339-3646-C08C-EBB9BCE4FB7B}"/>
                  </a:ext>
                </a:extLst>
              </p:cNvPr>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3680CDC-BF2C-0BB7-C664-627F77D84B83}"/>
                  </a:ext>
                </a:extLst>
              </p:cNvPr>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EFBA07EA-79E6-D440-AD64-EFC9766633E5}"/>
                </a:ext>
              </a:extLst>
            </p:cNvPr>
            <p:cNvGrpSpPr/>
            <p:nvPr/>
          </p:nvGrpSpPr>
          <p:grpSpPr>
            <a:xfrm flipH="1">
              <a:off x="4885560" y="1908007"/>
              <a:ext cx="2477917" cy="1185527"/>
              <a:chOff x="1544637" y="2819400"/>
              <a:chExt cx="2265363" cy="564827"/>
            </a:xfrm>
            <a:grpFill/>
          </p:grpSpPr>
          <p:sp>
            <p:nvSpPr>
              <p:cNvPr id="48" name="Rectangle 47">
                <a:extLst>
                  <a:ext uri="{FF2B5EF4-FFF2-40B4-BE49-F238E27FC236}">
                    <a16:creationId xmlns:a16="http://schemas.microsoft.com/office/drawing/2014/main" id="{594531D4-87B2-E702-DD82-681280DD5923}"/>
                  </a:ext>
                </a:extLst>
              </p:cNvPr>
              <p:cNvSpPr/>
              <p:nvPr/>
            </p:nvSpPr>
            <p:spPr>
              <a:xfrm>
                <a:off x="1544637" y="2819400"/>
                <a:ext cx="1960563" cy="5588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A4FF2E0E-B972-DEF8-13B0-701C4C4BDC87}"/>
                  </a:ext>
                </a:extLst>
              </p:cNvPr>
              <p:cNvSpPr/>
              <p:nvPr/>
            </p:nvSpPr>
            <p:spPr>
              <a:xfrm>
                <a:off x="3276600" y="2819400"/>
                <a:ext cx="533400" cy="56482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32C5AE6-38FA-1DF4-C0C0-0F1C83A0FFF1}"/>
                  </a:ext>
                </a:extLst>
              </p:cNvPr>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Rectangle 46">
              <a:extLst>
                <a:ext uri="{FF2B5EF4-FFF2-40B4-BE49-F238E27FC236}">
                  <a16:creationId xmlns:a16="http://schemas.microsoft.com/office/drawing/2014/main" id="{648ED42E-1778-305B-C09E-E3A1B3BD3F70}"/>
                </a:ext>
              </a:extLst>
            </p:cNvPr>
            <p:cNvSpPr/>
            <p:nvPr/>
          </p:nvSpPr>
          <p:spPr bwMode="auto">
            <a:xfrm>
              <a:off x="3765906" y="1913870"/>
              <a:ext cx="1119654" cy="466167"/>
            </a:xfrm>
            <a:prstGeom prst="rect">
              <a:avLst/>
            </a:prstGeom>
            <a:grp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grpSp>
      <p:grpSp>
        <p:nvGrpSpPr>
          <p:cNvPr id="54" name="Group 53">
            <a:extLst>
              <a:ext uri="{FF2B5EF4-FFF2-40B4-BE49-F238E27FC236}">
                <a16:creationId xmlns:a16="http://schemas.microsoft.com/office/drawing/2014/main" id="{A0FA2139-F60C-72AA-8A28-721FB29448E1}"/>
              </a:ext>
            </a:extLst>
          </p:cNvPr>
          <p:cNvGrpSpPr/>
          <p:nvPr/>
        </p:nvGrpSpPr>
        <p:grpSpPr>
          <a:xfrm>
            <a:off x="653893" y="4193127"/>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55" name="Rectangle 54">
              <a:extLst>
                <a:ext uri="{FF2B5EF4-FFF2-40B4-BE49-F238E27FC236}">
                  <a16:creationId xmlns:a16="http://schemas.microsoft.com/office/drawing/2014/main" id="{18748735-4BF1-7244-E04F-C6868A4352D0}"/>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FE8884F7-E2EE-37D9-4C1A-4589005D5C50}"/>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1F89CFF-B29F-C9BC-391E-C8B2989C5DB2}"/>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96A304A0-E87C-EEDA-F64F-EE320C60E3B8}"/>
              </a:ext>
            </a:extLst>
          </p:cNvPr>
          <p:cNvGrpSpPr/>
          <p:nvPr/>
        </p:nvGrpSpPr>
        <p:grpSpPr>
          <a:xfrm flipH="1">
            <a:off x="4453573" y="4193127"/>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59" name="Rectangle 58">
              <a:extLst>
                <a:ext uri="{FF2B5EF4-FFF2-40B4-BE49-F238E27FC236}">
                  <a16:creationId xmlns:a16="http://schemas.microsoft.com/office/drawing/2014/main" id="{59C13180-E128-A311-383A-D69D93C8B9D5}"/>
                </a:ext>
              </a:extLst>
            </p:cNvPr>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04C3D3E4-77C6-F673-12C9-775936FC93F8}"/>
                </a:ext>
              </a:extLst>
            </p:cNvPr>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0B0F08D-E3EB-C8D1-609C-77CE5A56F051}"/>
                </a:ext>
              </a:extLst>
            </p:cNvPr>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TextBox 14">
            <a:extLst>
              <a:ext uri="{FF2B5EF4-FFF2-40B4-BE49-F238E27FC236}">
                <a16:creationId xmlns:a16="http://schemas.microsoft.com/office/drawing/2014/main" id="{53820544-F87A-43D0-84A5-7B599582A011}"/>
              </a:ext>
            </a:extLst>
          </p:cNvPr>
          <p:cNvSpPr txBox="1">
            <a:spLocks noChangeArrowheads="1"/>
          </p:cNvSpPr>
          <p:nvPr/>
        </p:nvSpPr>
        <p:spPr bwMode="auto">
          <a:xfrm>
            <a:off x="3086254" y="5688145"/>
            <a:ext cx="3371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p>
        </p:txBody>
      </p:sp>
      <p:sp>
        <p:nvSpPr>
          <p:cNvPr id="63" name="TextBox 68">
            <a:extLst>
              <a:ext uri="{FF2B5EF4-FFF2-40B4-BE49-F238E27FC236}">
                <a16:creationId xmlns:a16="http://schemas.microsoft.com/office/drawing/2014/main" id="{28F10650-2DEB-CDFD-2AD3-C69EEADA5EBE}"/>
              </a:ext>
            </a:extLst>
          </p:cNvPr>
          <p:cNvSpPr txBox="1">
            <a:spLocks noChangeArrowheads="1"/>
          </p:cNvSpPr>
          <p:nvPr/>
        </p:nvSpPr>
        <p:spPr bwMode="auto">
          <a:xfrm>
            <a:off x="5857477" y="4422566"/>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sp>
        <p:nvSpPr>
          <p:cNvPr id="64" name="TextBox 68">
            <a:extLst>
              <a:ext uri="{FF2B5EF4-FFF2-40B4-BE49-F238E27FC236}">
                <a16:creationId xmlns:a16="http://schemas.microsoft.com/office/drawing/2014/main" id="{D19C13F2-9A13-9768-E9A8-97D899BA56CB}"/>
              </a:ext>
            </a:extLst>
          </p:cNvPr>
          <p:cNvSpPr txBox="1">
            <a:spLocks noChangeArrowheads="1"/>
          </p:cNvSpPr>
          <p:nvPr/>
        </p:nvSpPr>
        <p:spPr bwMode="auto">
          <a:xfrm>
            <a:off x="1032480" y="4368255"/>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65" name="Straight Connector 64">
            <a:extLst>
              <a:ext uri="{FF2B5EF4-FFF2-40B4-BE49-F238E27FC236}">
                <a16:creationId xmlns:a16="http://schemas.microsoft.com/office/drawing/2014/main" id="{82E0047A-833D-C984-200B-DC103E5D3E00}"/>
              </a:ext>
            </a:extLst>
          </p:cNvPr>
          <p:cNvCxnSpPr>
            <a:stCxn id="43" idx="2"/>
          </p:cNvCxnSpPr>
          <p:nvPr/>
        </p:nvCxnSpPr>
        <p:spPr bwMode="auto">
          <a:xfrm>
            <a:off x="1205835" y="6187389"/>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66" name="Straight Connector 65">
            <a:extLst>
              <a:ext uri="{FF2B5EF4-FFF2-40B4-BE49-F238E27FC236}">
                <a16:creationId xmlns:a16="http://schemas.microsoft.com/office/drawing/2014/main" id="{4CAAD572-5F30-E0D7-27A9-70DF63E1060E}"/>
              </a:ext>
            </a:extLst>
          </p:cNvPr>
          <p:cNvCxnSpPr>
            <a:stCxn id="40" idx="0"/>
          </p:cNvCxnSpPr>
          <p:nvPr/>
        </p:nvCxnSpPr>
        <p:spPr bwMode="auto">
          <a:xfrm flipV="1">
            <a:off x="3686415" y="3598351"/>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67" name="Straight Connector 66">
            <a:extLst>
              <a:ext uri="{FF2B5EF4-FFF2-40B4-BE49-F238E27FC236}">
                <a16:creationId xmlns:a16="http://schemas.microsoft.com/office/drawing/2014/main" id="{F9657E15-DE37-8636-6E07-9D82FEDA818D}"/>
              </a:ext>
            </a:extLst>
          </p:cNvPr>
          <p:cNvCxnSpPr/>
          <p:nvPr/>
        </p:nvCxnSpPr>
        <p:spPr bwMode="auto">
          <a:xfrm flipV="1">
            <a:off x="2216787" y="3531780"/>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68" name="Straight Connector 67">
            <a:extLst>
              <a:ext uri="{FF2B5EF4-FFF2-40B4-BE49-F238E27FC236}">
                <a16:creationId xmlns:a16="http://schemas.microsoft.com/office/drawing/2014/main" id="{BC310275-A761-3B41-CBEF-EA7630F7637D}"/>
              </a:ext>
            </a:extLst>
          </p:cNvPr>
          <p:cNvCxnSpPr/>
          <p:nvPr/>
        </p:nvCxnSpPr>
        <p:spPr bwMode="auto">
          <a:xfrm>
            <a:off x="1058984" y="6558730"/>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69" name="Straight Connector 68">
            <a:extLst>
              <a:ext uri="{FF2B5EF4-FFF2-40B4-BE49-F238E27FC236}">
                <a16:creationId xmlns:a16="http://schemas.microsoft.com/office/drawing/2014/main" id="{9E4C0505-E6AA-2DB7-0E74-AF4EDDD9CC25}"/>
              </a:ext>
            </a:extLst>
          </p:cNvPr>
          <p:cNvCxnSpPr/>
          <p:nvPr/>
        </p:nvCxnSpPr>
        <p:spPr bwMode="auto">
          <a:xfrm flipH="1">
            <a:off x="1727324" y="3539148"/>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0" name="Straight Connector 69">
            <a:extLst>
              <a:ext uri="{FF2B5EF4-FFF2-40B4-BE49-F238E27FC236}">
                <a16:creationId xmlns:a16="http://schemas.microsoft.com/office/drawing/2014/main" id="{70BEA67D-6E4B-F4A7-1BD6-6A49964E0747}"/>
              </a:ext>
            </a:extLst>
          </p:cNvPr>
          <p:cNvCxnSpPr/>
          <p:nvPr/>
        </p:nvCxnSpPr>
        <p:spPr bwMode="auto">
          <a:xfrm>
            <a:off x="1727324" y="3548061"/>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1" name="Straight Connector 70">
            <a:extLst>
              <a:ext uri="{FF2B5EF4-FFF2-40B4-BE49-F238E27FC236}">
                <a16:creationId xmlns:a16="http://schemas.microsoft.com/office/drawing/2014/main" id="{CEE4A137-FE53-EA03-C51C-87AF1DCD4E31}"/>
              </a:ext>
            </a:extLst>
          </p:cNvPr>
          <p:cNvCxnSpPr/>
          <p:nvPr/>
        </p:nvCxnSpPr>
        <p:spPr bwMode="auto">
          <a:xfrm>
            <a:off x="1585733" y="3732727"/>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72" name="Oval 71">
            <a:extLst>
              <a:ext uri="{FF2B5EF4-FFF2-40B4-BE49-F238E27FC236}">
                <a16:creationId xmlns:a16="http://schemas.microsoft.com/office/drawing/2014/main" id="{993D19E4-0B2F-F9DD-BEBA-23B36B630FC3}"/>
              </a:ext>
            </a:extLst>
          </p:cNvPr>
          <p:cNvSpPr/>
          <p:nvPr/>
        </p:nvSpPr>
        <p:spPr bwMode="auto">
          <a:xfrm>
            <a:off x="3637326" y="3489678"/>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73" name="TextBox 72">
            <a:extLst>
              <a:ext uri="{FF2B5EF4-FFF2-40B4-BE49-F238E27FC236}">
                <a16:creationId xmlns:a16="http://schemas.microsoft.com/office/drawing/2014/main" id="{86AEA4A7-5235-2B59-2FAE-7CAC608BFFA3}"/>
              </a:ext>
            </a:extLst>
          </p:cNvPr>
          <p:cNvSpPr txBox="1"/>
          <p:nvPr/>
        </p:nvSpPr>
        <p:spPr>
          <a:xfrm>
            <a:off x="3810463" y="3587874"/>
            <a:ext cx="391528" cy="338554"/>
          </a:xfrm>
          <a:prstGeom prst="rect">
            <a:avLst/>
          </a:prstGeom>
          <a:noFill/>
        </p:spPr>
        <p:txBody>
          <a:bodyPr wrap="square" rtlCol="0">
            <a:spAutoFit/>
          </a:bodyPr>
          <a:lstStyle/>
          <a:p>
            <a:r>
              <a:rPr lang="en-US" sz="1600" dirty="0"/>
              <a:t>G</a:t>
            </a:r>
          </a:p>
        </p:txBody>
      </p:sp>
      <p:sp>
        <p:nvSpPr>
          <p:cNvPr id="74" name="TextBox 73">
            <a:extLst>
              <a:ext uri="{FF2B5EF4-FFF2-40B4-BE49-F238E27FC236}">
                <a16:creationId xmlns:a16="http://schemas.microsoft.com/office/drawing/2014/main" id="{B516C3FD-9C14-A560-2B9E-E447B968F11E}"/>
              </a:ext>
            </a:extLst>
          </p:cNvPr>
          <p:cNvSpPr txBox="1"/>
          <p:nvPr/>
        </p:nvSpPr>
        <p:spPr>
          <a:xfrm>
            <a:off x="2222928" y="3649281"/>
            <a:ext cx="391528" cy="338554"/>
          </a:xfrm>
          <a:prstGeom prst="rect">
            <a:avLst/>
          </a:prstGeom>
          <a:noFill/>
        </p:spPr>
        <p:txBody>
          <a:bodyPr wrap="square" rtlCol="0">
            <a:spAutoFit/>
          </a:bodyPr>
          <a:lstStyle/>
          <a:p>
            <a:r>
              <a:rPr lang="en-US" sz="1600" dirty="0"/>
              <a:t>S</a:t>
            </a:r>
          </a:p>
        </p:txBody>
      </p:sp>
      <p:sp>
        <p:nvSpPr>
          <p:cNvPr id="75" name="Oval 74">
            <a:extLst>
              <a:ext uri="{FF2B5EF4-FFF2-40B4-BE49-F238E27FC236}">
                <a16:creationId xmlns:a16="http://schemas.microsoft.com/office/drawing/2014/main" id="{CB1EE604-4C8D-C96A-0A94-42EAA3541271}"/>
              </a:ext>
            </a:extLst>
          </p:cNvPr>
          <p:cNvSpPr/>
          <p:nvPr/>
        </p:nvSpPr>
        <p:spPr bwMode="auto">
          <a:xfrm>
            <a:off x="5100555" y="3464215"/>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76" name="Straight Connector 75">
            <a:extLst>
              <a:ext uri="{FF2B5EF4-FFF2-40B4-BE49-F238E27FC236}">
                <a16:creationId xmlns:a16="http://schemas.microsoft.com/office/drawing/2014/main" id="{3790DB79-3C05-60AC-F833-19B31D66AE1F}"/>
              </a:ext>
            </a:extLst>
          </p:cNvPr>
          <p:cNvCxnSpPr>
            <a:stCxn id="75" idx="4"/>
            <a:endCxn id="41" idx="0"/>
          </p:cNvCxnSpPr>
          <p:nvPr/>
        </p:nvCxnSpPr>
        <p:spPr bwMode="auto">
          <a:xfrm>
            <a:off x="5159802" y="3598219"/>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77" name="TextBox 76">
            <a:extLst>
              <a:ext uri="{FF2B5EF4-FFF2-40B4-BE49-F238E27FC236}">
                <a16:creationId xmlns:a16="http://schemas.microsoft.com/office/drawing/2014/main" id="{EA0F6DEA-3B8B-2CD1-BDA1-254DF69235E1}"/>
              </a:ext>
            </a:extLst>
          </p:cNvPr>
          <p:cNvSpPr txBox="1"/>
          <p:nvPr/>
        </p:nvSpPr>
        <p:spPr>
          <a:xfrm>
            <a:off x="5176804" y="3740274"/>
            <a:ext cx="391528" cy="338554"/>
          </a:xfrm>
          <a:prstGeom prst="rect">
            <a:avLst/>
          </a:prstGeom>
          <a:noFill/>
        </p:spPr>
        <p:txBody>
          <a:bodyPr wrap="square" rtlCol="0">
            <a:spAutoFit/>
          </a:bodyPr>
          <a:lstStyle/>
          <a:p>
            <a:r>
              <a:rPr lang="en-US" sz="1600" dirty="0"/>
              <a:t>D</a:t>
            </a:r>
          </a:p>
        </p:txBody>
      </p:sp>
      <p:sp>
        <p:nvSpPr>
          <p:cNvPr id="78" name="TextBox 77">
            <a:extLst>
              <a:ext uri="{FF2B5EF4-FFF2-40B4-BE49-F238E27FC236}">
                <a16:creationId xmlns:a16="http://schemas.microsoft.com/office/drawing/2014/main" id="{550F6143-EFE0-5F7F-D153-B5593EF701DD}"/>
              </a:ext>
            </a:extLst>
          </p:cNvPr>
          <p:cNvSpPr txBox="1"/>
          <p:nvPr/>
        </p:nvSpPr>
        <p:spPr>
          <a:xfrm>
            <a:off x="3859939" y="3294938"/>
            <a:ext cx="1240616" cy="338554"/>
          </a:xfrm>
          <a:prstGeom prst="rect">
            <a:avLst/>
          </a:prstGeom>
          <a:noFill/>
        </p:spPr>
        <p:txBody>
          <a:bodyPr wrap="square" rtlCol="0">
            <a:spAutoFit/>
          </a:bodyPr>
          <a:lstStyle/>
          <a:p>
            <a:r>
              <a:rPr lang="en-US" sz="1600" dirty="0"/>
              <a:t>+U</a:t>
            </a:r>
            <a:r>
              <a:rPr lang="en-US" sz="1600" baseline="-25000" dirty="0"/>
              <a:t>GS</a:t>
            </a:r>
            <a:r>
              <a:rPr lang="en-US" sz="1600" dirty="0"/>
              <a:t> </a:t>
            </a:r>
            <a:r>
              <a:rPr lang="bg-BG" sz="1600" dirty="0"/>
              <a:t>≥</a:t>
            </a:r>
            <a:r>
              <a:rPr lang="en-US" sz="1600" dirty="0"/>
              <a:t> U</a:t>
            </a:r>
            <a:r>
              <a:rPr lang="en-US" sz="1600" baseline="-25000" dirty="0"/>
              <a:t>T</a:t>
            </a:r>
          </a:p>
        </p:txBody>
      </p:sp>
      <p:sp>
        <p:nvSpPr>
          <p:cNvPr id="79" name="TextBox 78">
            <a:extLst>
              <a:ext uri="{FF2B5EF4-FFF2-40B4-BE49-F238E27FC236}">
                <a16:creationId xmlns:a16="http://schemas.microsoft.com/office/drawing/2014/main" id="{9EA6A71E-92DB-9573-9EFB-577EC9F0033C}"/>
              </a:ext>
            </a:extLst>
          </p:cNvPr>
          <p:cNvSpPr txBox="1"/>
          <p:nvPr/>
        </p:nvSpPr>
        <p:spPr>
          <a:xfrm>
            <a:off x="5341876" y="3299553"/>
            <a:ext cx="980746" cy="338554"/>
          </a:xfrm>
          <a:prstGeom prst="rect">
            <a:avLst/>
          </a:prstGeom>
          <a:noFill/>
        </p:spPr>
        <p:txBody>
          <a:bodyPr wrap="square" rtlCol="0">
            <a:spAutoFit/>
          </a:bodyPr>
          <a:lstStyle/>
          <a:p>
            <a:r>
              <a:rPr lang="en-US" sz="1600" dirty="0"/>
              <a:t>+ U</a:t>
            </a:r>
            <a:r>
              <a:rPr lang="en-US" sz="1600" baseline="-25000" dirty="0"/>
              <a:t>DS</a:t>
            </a:r>
            <a:endParaRPr lang="en-US" sz="1600" dirty="0"/>
          </a:p>
        </p:txBody>
      </p:sp>
      <p:grpSp>
        <p:nvGrpSpPr>
          <p:cNvPr id="81" name="Group 50">
            <a:extLst>
              <a:ext uri="{FF2B5EF4-FFF2-40B4-BE49-F238E27FC236}">
                <a16:creationId xmlns:a16="http://schemas.microsoft.com/office/drawing/2014/main" id="{DF8D85DC-00D0-1DF4-8097-333CD03B4ECF}"/>
              </a:ext>
            </a:extLst>
          </p:cNvPr>
          <p:cNvGrpSpPr>
            <a:grpSpLocks/>
          </p:cNvGrpSpPr>
          <p:nvPr/>
        </p:nvGrpSpPr>
        <p:grpSpPr bwMode="auto">
          <a:xfrm>
            <a:off x="835657" y="4906346"/>
            <a:ext cx="196823" cy="150371"/>
            <a:chOff x="7917084" y="1956121"/>
            <a:chExt cx="289367" cy="231494"/>
          </a:xfrm>
        </p:grpSpPr>
        <p:sp>
          <p:nvSpPr>
            <p:cNvPr id="82" name="Rectangle 51">
              <a:extLst>
                <a:ext uri="{FF2B5EF4-FFF2-40B4-BE49-F238E27FC236}">
                  <a16:creationId xmlns:a16="http://schemas.microsoft.com/office/drawing/2014/main" id="{79E33D68-2240-AF9B-9084-26E39D7B9DC1}"/>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3" name="Straight Connector 52">
              <a:extLst>
                <a:ext uri="{FF2B5EF4-FFF2-40B4-BE49-F238E27FC236}">
                  <a16:creationId xmlns:a16="http://schemas.microsoft.com/office/drawing/2014/main" id="{310943D9-62D2-6F5C-7102-180AEC408D2C}"/>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84" name="Group 50">
            <a:extLst>
              <a:ext uri="{FF2B5EF4-FFF2-40B4-BE49-F238E27FC236}">
                <a16:creationId xmlns:a16="http://schemas.microsoft.com/office/drawing/2014/main" id="{31CA95AE-9F22-D136-41BB-0AEE7A9C18C5}"/>
              </a:ext>
            </a:extLst>
          </p:cNvPr>
          <p:cNvGrpSpPr>
            <a:grpSpLocks/>
          </p:cNvGrpSpPr>
          <p:nvPr/>
        </p:nvGrpSpPr>
        <p:grpSpPr bwMode="auto">
          <a:xfrm>
            <a:off x="1339633" y="4906346"/>
            <a:ext cx="196823" cy="150371"/>
            <a:chOff x="7917084" y="1956121"/>
            <a:chExt cx="289367" cy="231494"/>
          </a:xfrm>
        </p:grpSpPr>
        <p:sp>
          <p:nvSpPr>
            <p:cNvPr id="85" name="Rectangle 51">
              <a:extLst>
                <a:ext uri="{FF2B5EF4-FFF2-40B4-BE49-F238E27FC236}">
                  <a16:creationId xmlns:a16="http://schemas.microsoft.com/office/drawing/2014/main" id="{61A1B0AE-FA8E-097A-C880-2443DA444470}"/>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6" name="Straight Connector 52">
              <a:extLst>
                <a:ext uri="{FF2B5EF4-FFF2-40B4-BE49-F238E27FC236}">
                  <a16:creationId xmlns:a16="http://schemas.microsoft.com/office/drawing/2014/main" id="{315FE1EE-DB2E-C99C-0ED1-895465856893}"/>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87" name="Group 86">
            <a:extLst>
              <a:ext uri="{FF2B5EF4-FFF2-40B4-BE49-F238E27FC236}">
                <a16:creationId xmlns:a16="http://schemas.microsoft.com/office/drawing/2014/main" id="{1B104C5B-CC30-90BF-A6A3-06B1B378F5D9}"/>
              </a:ext>
            </a:extLst>
          </p:cNvPr>
          <p:cNvGrpSpPr>
            <a:grpSpLocks/>
          </p:cNvGrpSpPr>
          <p:nvPr/>
        </p:nvGrpSpPr>
        <p:grpSpPr bwMode="auto">
          <a:xfrm>
            <a:off x="1823342" y="4906345"/>
            <a:ext cx="196823" cy="150371"/>
            <a:chOff x="7917084" y="1956121"/>
            <a:chExt cx="289367" cy="231494"/>
          </a:xfrm>
        </p:grpSpPr>
        <p:sp>
          <p:nvSpPr>
            <p:cNvPr id="88" name="Rectangle 87">
              <a:extLst>
                <a:ext uri="{FF2B5EF4-FFF2-40B4-BE49-F238E27FC236}">
                  <a16:creationId xmlns:a16="http://schemas.microsoft.com/office/drawing/2014/main" id="{F5B31016-FEB1-E326-1A37-A32874A8331E}"/>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9" name="Straight Connector 88">
              <a:extLst>
                <a:ext uri="{FF2B5EF4-FFF2-40B4-BE49-F238E27FC236}">
                  <a16:creationId xmlns:a16="http://schemas.microsoft.com/office/drawing/2014/main" id="{6B656B89-48DB-D061-4A90-B309CF22BA79}"/>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90" name="Group 50">
            <a:extLst>
              <a:ext uri="{FF2B5EF4-FFF2-40B4-BE49-F238E27FC236}">
                <a16:creationId xmlns:a16="http://schemas.microsoft.com/office/drawing/2014/main" id="{F6636E1C-A390-0269-3815-4A09D7460F3E}"/>
              </a:ext>
            </a:extLst>
          </p:cNvPr>
          <p:cNvGrpSpPr>
            <a:grpSpLocks/>
          </p:cNvGrpSpPr>
          <p:nvPr/>
        </p:nvGrpSpPr>
        <p:grpSpPr bwMode="auto">
          <a:xfrm>
            <a:off x="2287444" y="4906347"/>
            <a:ext cx="196823" cy="150371"/>
            <a:chOff x="7917084" y="1956121"/>
            <a:chExt cx="289367" cy="231494"/>
          </a:xfrm>
        </p:grpSpPr>
        <p:sp>
          <p:nvSpPr>
            <p:cNvPr id="91" name="Rectangle 51">
              <a:extLst>
                <a:ext uri="{FF2B5EF4-FFF2-40B4-BE49-F238E27FC236}">
                  <a16:creationId xmlns:a16="http://schemas.microsoft.com/office/drawing/2014/main" id="{DFFBFEC7-6A9D-F9C0-5238-67360ABDAF21}"/>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92" name="Straight Connector 52">
              <a:extLst>
                <a:ext uri="{FF2B5EF4-FFF2-40B4-BE49-F238E27FC236}">
                  <a16:creationId xmlns:a16="http://schemas.microsoft.com/office/drawing/2014/main" id="{FC0153C9-66F2-DA6C-C080-B6580B62754B}"/>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93" name="Group 50">
            <a:extLst>
              <a:ext uri="{FF2B5EF4-FFF2-40B4-BE49-F238E27FC236}">
                <a16:creationId xmlns:a16="http://schemas.microsoft.com/office/drawing/2014/main" id="{BB2184BA-202C-3741-2330-79939660851C}"/>
              </a:ext>
            </a:extLst>
          </p:cNvPr>
          <p:cNvGrpSpPr>
            <a:grpSpLocks/>
          </p:cNvGrpSpPr>
          <p:nvPr/>
        </p:nvGrpSpPr>
        <p:grpSpPr bwMode="auto">
          <a:xfrm>
            <a:off x="2784222" y="4831163"/>
            <a:ext cx="196823" cy="150371"/>
            <a:chOff x="7917084" y="1956121"/>
            <a:chExt cx="289367" cy="231494"/>
          </a:xfrm>
        </p:grpSpPr>
        <p:sp>
          <p:nvSpPr>
            <p:cNvPr id="94" name="Rectangle 51">
              <a:extLst>
                <a:ext uri="{FF2B5EF4-FFF2-40B4-BE49-F238E27FC236}">
                  <a16:creationId xmlns:a16="http://schemas.microsoft.com/office/drawing/2014/main" id="{E64796FC-028F-4094-E4EA-EADD4A2DF009}"/>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95" name="Straight Connector 52">
              <a:extLst>
                <a:ext uri="{FF2B5EF4-FFF2-40B4-BE49-F238E27FC236}">
                  <a16:creationId xmlns:a16="http://schemas.microsoft.com/office/drawing/2014/main" id="{FD338D27-01FD-6306-9A04-15D571A6FC59}"/>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96" name="Group 50">
            <a:extLst>
              <a:ext uri="{FF2B5EF4-FFF2-40B4-BE49-F238E27FC236}">
                <a16:creationId xmlns:a16="http://schemas.microsoft.com/office/drawing/2014/main" id="{E34D895B-F13F-5E92-5496-DBC2B4D2B342}"/>
              </a:ext>
            </a:extLst>
          </p:cNvPr>
          <p:cNvGrpSpPr>
            <a:grpSpLocks/>
          </p:cNvGrpSpPr>
          <p:nvPr/>
        </p:nvGrpSpPr>
        <p:grpSpPr bwMode="auto">
          <a:xfrm>
            <a:off x="2964126" y="4492298"/>
            <a:ext cx="196823" cy="150371"/>
            <a:chOff x="7917084" y="1956121"/>
            <a:chExt cx="289367" cy="231494"/>
          </a:xfrm>
        </p:grpSpPr>
        <p:sp>
          <p:nvSpPr>
            <p:cNvPr id="97" name="Rectangle 51">
              <a:extLst>
                <a:ext uri="{FF2B5EF4-FFF2-40B4-BE49-F238E27FC236}">
                  <a16:creationId xmlns:a16="http://schemas.microsoft.com/office/drawing/2014/main" id="{9F980645-9680-D0BA-21BF-8A4D1634071D}"/>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98" name="Straight Connector 52">
              <a:extLst>
                <a:ext uri="{FF2B5EF4-FFF2-40B4-BE49-F238E27FC236}">
                  <a16:creationId xmlns:a16="http://schemas.microsoft.com/office/drawing/2014/main" id="{FC2770E0-40E9-666E-B4DE-F208A9D5C25B}"/>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99" name="Group 50">
            <a:extLst>
              <a:ext uri="{FF2B5EF4-FFF2-40B4-BE49-F238E27FC236}">
                <a16:creationId xmlns:a16="http://schemas.microsoft.com/office/drawing/2014/main" id="{DD8A9A11-E815-C223-5158-095A99A94F27}"/>
              </a:ext>
            </a:extLst>
          </p:cNvPr>
          <p:cNvGrpSpPr>
            <a:grpSpLocks/>
          </p:cNvGrpSpPr>
          <p:nvPr/>
        </p:nvGrpSpPr>
        <p:grpSpPr bwMode="auto">
          <a:xfrm>
            <a:off x="3348803" y="4488738"/>
            <a:ext cx="196823" cy="150371"/>
            <a:chOff x="7917084" y="1956121"/>
            <a:chExt cx="289367" cy="231494"/>
          </a:xfrm>
        </p:grpSpPr>
        <p:sp>
          <p:nvSpPr>
            <p:cNvPr id="100" name="Rectangle 51">
              <a:extLst>
                <a:ext uri="{FF2B5EF4-FFF2-40B4-BE49-F238E27FC236}">
                  <a16:creationId xmlns:a16="http://schemas.microsoft.com/office/drawing/2014/main" id="{1DAD0341-4623-4001-EA2D-2E5B6EA96705}"/>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01" name="Straight Connector 52">
              <a:extLst>
                <a:ext uri="{FF2B5EF4-FFF2-40B4-BE49-F238E27FC236}">
                  <a16:creationId xmlns:a16="http://schemas.microsoft.com/office/drawing/2014/main" id="{C53C47C7-8B57-D525-4C26-67963F38BAEB}"/>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02" name="Group 50">
            <a:extLst>
              <a:ext uri="{FF2B5EF4-FFF2-40B4-BE49-F238E27FC236}">
                <a16:creationId xmlns:a16="http://schemas.microsoft.com/office/drawing/2014/main" id="{1FB12DB5-16EF-2DC0-EACD-4E7048E902AC}"/>
              </a:ext>
            </a:extLst>
          </p:cNvPr>
          <p:cNvGrpSpPr>
            <a:grpSpLocks/>
          </p:cNvGrpSpPr>
          <p:nvPr/>
        </p:nvGrpSpPr>
        <p:grpSpPr bwMode="auto">
          <a:xfrm>
            <a:off x="3761527" y="4470310"/>
            <a:ext cx="196823" cy="150371"/>
            <a:chOff x="7917084" y="1956121"/>
            <a:chExt cx="289367" cy="231494"/>
          </a:xfrm>
        </p:grpSpPr>
        <p:sp>
          <p:nvSpPr>
            <p:cNvPr id="103" name="Rectangle 51">
              <a:extLst>
                <a:ext uri="{FF2B5EF4-FFF2-40B4-BE49-F238E27FC236}">
                  <a16:creationId xmlns:a16="http://schemas.microsoft.com/office/drawing/2014/main" id="{9E4D1197-FA79-E898-B5F1-9C764B01B7A8}"/>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04" name="Straight Connector 52">
              <a:extLst>
                <a:ext uri="{FF2B5EF4-FFF2-40B4-BE49-F238E27FC236}">
                  <a16:creationId xmlns:a16="http://schemas.microsoft.com/office/drawing/2014/main" id="{F2467C31-84AC-73E3-E1CE-791E985A496E}"/>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05" name="Group 50">
            <a:extLst>
              <a:ext uri="{FF2B5EF4-FFF2-40B4-BE49-F238E27FC236}">
                <a16:creationId xmlns:a16="http://schemas.microsoft.com/office/drawing/2014/main" id="{72E9A764-F3B5-CCFF-3E72-9B80B5D0AD71}"/>
              </a:ext>
            </a:extLst>
          </p:cNvPr>
          <p:cNvGrpSpPr>
            <a:grpSpLocks/>
          </p:cNvGrpSpPr>
          <p:nvPr/>
        </p:nvGrpSpPr>
        <p:grpSpPr bwMode="auto">
          <a:xfrm>
            <a:off x="4146204" y="4466750"/>
            <a:ext cx="196823" cy="150371"/>
            <a:chOff x="7917084" y="1956121"/>
            <a:chExt cx="289367" cy="231494"/>
          </a:xfrm>
        </p:grpSpPr>
        <p:sp>
          <p:nvSpPr>
            <p:cNvPr id="106" name="Rectangle 51">
              <a:extLst>
                <a:ext uri="{FF2B5EF4-FFF2-40B4-BE49-F238E27FC236}">
                  <a16:creationId xmlns:a16="http://schemas.microsoft.com/office/drawing/2014/main" id="{D0A55088-4C58-5697-12E7-DE6AB13DAFB1}"/>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07" name="Straight Connector 52">
              <a:extLst>
                <a:ext uri="{FF2B5EF4-FFF2-40B4-BE49-F238E27FC236}">
                  <a16:creationId xmlns:a16="http://schemas.microsoft.com/office/drawing/2014/main" id="{25029758-69C3-80AD-D728-FB2F74CC1D4F}"/>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08" name="Group 50">
            <a:extLst>
              <a:ext uri="{FF2B5EF4-FFF2-40B4-BE49-F238E27FC236}">
                <a16:creationId xmlns:a16="http://schemas.microsoft.com/office/drawing/2014/main" id="{487339FB-1D7E-CC24-4FB6-C00905565C5E}"/>
              </a:ext>
            </a:extLst>
          </p:cNvPr>
          <p:cNvGrpSpPr>
            <a:grpSpLocks/>
          </p:cNvGrpSpPr>
          <p:nvPr/>
        </p:nvGrpSpPr>
        <p:grpSpPr bwMode="auto">
          <a:xfrm>
            <a:off x="4340150" y="4788240"/>
            <a:ext cx="196823" cy="150371"/>
            <a:chOff x="7917084" y="1956121"/>
            <a:chExt cx="289367" cy="231494"/>
          </a:xfrm>
        </p:grpSpPr>
        <p:sp>
          <p:nvSpPr>
            <p:cNvPr id="109" name="Rectangle 51">
              <a:extLst>
                <a:ext uri="{FF2B5EF4-FFF2-40B4-BE49-F238E27FC236}">
                  <a16:creationId xmlns:a16="http://schemas.microsoft.com/office/drawing/2014/main" id="{AE0115AA-E71B-1317-91F6-5A141CEA8F00}"/>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10" name="Straight Connector 52">
              <a:extLst>
                <a:ext uri="{FF2B5EF4-FFF2-40B4-BE49-F238E27FC236}">
                  <a16:creationId xmlns:a16="http://schemas.microsoft.com/office/drawing/2014/main" id="{964C1782-221E-0AAD-5086-F144F21F60CE}"/>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11" name="Group 50">
            <a:extLst>
              <a:ext uri="{FF2B5EF4-FFF2-40B4-BE49-F238E27FC236}">
                <a16:creationId xmlns:a16="http://schemas.microsoft.com/office/drawing/2014/main" id="{24F2514B-6EF2-669B-935B-F56F8ED2E51F}"/>
              </a:ext>
            </a:extLst>
          </p:cNvPr>
          <p:cNvGrpSpPr>
            <a:grpSpLocks/>
          </p:cNvGrpSpPr>
          <p:nvPr/>
        </p:nvGrpSpPr>
        <p:grpSpPr bwMode="auto">
          <a:xfrm>
            <a:off x="4844983" y="4903948"/>
            <a:ext cx="196823" cy="150371"/>
            <a:chOff x="7917084" y="1956121"/>
            <a:chExt cx="289367" cy="231494"/>
          </a:xfrm>
        </p:grpSpPr>
        <p:sp>
          <p:nvSpPr>
            <p:cNvPr id="112" name="Rectangle 51">
              <a:extLst>
                <a:ext uri="{FF2B5EF4-FFF2-40B4-BE49-F238E27FC236}">
                  <a16:creationId xmlns:a16="http://schemas.microsoft.com/office/drawing/2014/main" id="{B7DE97E5-B687-AD8E-BB11-F9376C5C1C02}"/>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13" name="Straight Connector 52">
              <a:extLst>
                <a:ext uri="{FF2B5EF4-FFF2-40B4-BE49-F238E27FC236}">
                  <a16:creationId xmlns:a16="http://schemas.microsoft.com/office/drawing/2014/main" id="{D6CE1D9E-DDD7-09A6-657C-A7132EC7535C}"/>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14" name="Group 50">
            <a:extLst>
              <a:ext uri="{FF2B5EF4-FFF2-40B4-BE49-F238E27FC236}">
                <a16:creationId xmlns:a16="http://schemas.microsoft.com/office/drawing/2014/main" id="{A14CD94D-DA0A-1734-694D-6E738B5E2CBC}"/>
              </a:ext>
            </a:extLst>
          </p:cNvPr>
          <p:cNvGrpSpPr>
            <a:grpSpLocks/>
          </p:cNvGrpSpPr>
          <p:nvPr/>
        </p:nvGrpSpPr>
        <p:grpSpPr bwMode="auto">
          <a:xfrm>
            <a:off x="5348959" y="4903948"/>
            <a:ext cx="196823" cy="150371"/>
            <a:chOff x="7917084" y="1956121"/>
            <a:chExt cx="289367" cy="231494"/>
          </a:xfrm>
        </p:grpSpPr>
        <p:sp>
          <p:nvSpPr>
            <p:cNvPr id="115" name="Rectangle 51">
              <a:extLst>
                <a:ext uri="{FF2B5EF4-FFF2-40B4-BE49-F238E27FC236}">
                  <a16:creationId xmlns:a16="http://schemas.microsoft.com/office/drawing/2014/main" id="{891E82F9-E8DD-2C26-E4D7-EA9F0A24203F}"/>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16" name="Straight Connector 52">
              <a:extLst>
                <a:ext uri="{FF2B5EF4-FFF2-40B4-BE49-F238E27FC236}">
                  <a16:creationId xmlns:a16="http://schemas.microsoft.com/office/drawing/2014/main" id="{AC34803B-CD93-07BC-39CB-9CE1F9D4C076}"/>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17" name="Group 50">
            <a:extLst>
              <a:ext uri="{FF2B5EF4-FFF2-40B4-BE49-F238E27FC236}">
                <a16:creationId xmlns:a16="http://schemas.microsoft.com/office/drawing/2014/main" id="{7FE421AC-28C1-DFAF-1C7B-CEA349C1C378}"/>
              </a:ext>
            </a:extLst>
          </p:cNvPr>
          <p:cNvGrpSpPr>
            <a:grpSpLocks/>
          </p:cNvGrpSpPr>
          <p:nvPr/>
        </p:nvGrpSpPr>
        <p:grpSpPr bwMode="auto">
          <a:xfrm>
            <a:off x="5832668" y="4903947"/>
            <a:ext cx="196823" cy="150371"/>
            <a:chOff x="7917084" y="1956121"/>
            <a:chExt cx="289367" cy="231494"/>
          </a:xfrm>
        </p:grpSpPr>
        <p:sp>
          <p:nvSpPr>
            <p:cNvPr id="118" name="Rectangle 51">
              <a:extLst>
                <a:ext uri="{FF2B5EF4-FFF2-40B4-BE49-F238E27FC236}">
                  <a16:creationId xmlns:a16="http://schemas.microsoft.com/office/drawing/2014/main" id="{D627E1A9-8FEF-BDBC-B4CC-EB3438497D8B}"/>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19" name="Straight Connector 52">
              <a:extLst>
                <a:ext uri="{FF2B5EF4-FFF2-40B4-BE49-F238E27FC236}">
                  <a16:creationId xmlns:a16="http://schemas.microsoft.com/office/drawing/2014/main" id="{032E58D8-24B2-1DB0-5CB1-7BEFF0CC5181}"/>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120" name="Group 50">
            <a:extLst>
              <a:ext uri="{FF2B5EF4-FFF2-40B4-BE49-F238E27FC236}">
                <a16:creationId xmlns:a16="http://schemas.microsoft.com/office/drawing/2014/main" id="{D554E52C-04A9-0EE1-6145-DAC74786CEF0}"/>
              </a:ext>
            </a:extLst>
          </p:cNvPr>
          <p:cNvGrpSpPr>
            <a:grpSpLocks/>
          </p:cNvGrpSpPr>
          <p:nvPr/>
        </p:nvGrpSpPr>
        <p:grpSpPr bwMode="auto">
          <a:xfrm>
            <a:off x="6296770" y="4903949"/>
            <a:ext cx="196823" cy="150371"/>
            <a:chOff x="7917084" y="1956121"/>
            <a:chExt cx="289367" cy="231494"/>
          </a:xfrm>
        </p:grpSpPr>
        <p:sp>
          <p:nvSpPr>
            <p:cNvPr id="121" name="Rectangle 51">
              <a:extLst>
                <a:ext uri="{FF2B5EF4-FFF2-40B4-BE49-F238E27FC236}">
                  <a16:creationId xmlns:a16="http://schemas.microsoft.com/office/drawing/2014/main" id="{A47DD0A1-0BE5-81E2-3BEE-17716F8582E4}"/>
                </a:ext>
              </a:extLst>
            </p:cNvPr>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122" name="Straight Connector 52">
              <a:extLst>
                <a:ext uri="{FF2B5EF4-FFF2-40B4-BE49-F238E27FC236}">
                  <a16:creationId xmlns:a16="http://schemas.microsoft.com/office/drawing/2014/main" id="{3567E043-AF6B-5F26-62C3-B7C02C5DD445}"/>
                </a:ext>
              </a:extLst>
            </p:cNvPr>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sp>
        <p:nvSpPr>
          <p:cNvPr id="123" name="Rectangle 122">
            <a:extLst>
              <a:ext uri="{FF2B5EF4-FFF2-40B4-BE49-F238E27FC236}">
                <a16:creationId xmlns:a16="http://schemas.microsoft.com/office/drawing/2014/main" id="{35DD5C6C-B6CB-D4D8-91F5-DCD0C26BFB46}"/>
              </a:ext>
            </a:extLst>
          </p:cNvPr>
          <p:cNvSpPr/>
          <p:nvPr/>
        </p:nvSpPr>
        <p:spPr bwMode="auto">
          <a:xfrm>
            <a:off x="2895119" y="4199647"/>
            <a:ext cx="1558454" cy="175411"/>
          </a:xfrm>
          <a:prstGeom prst="rect">
            <a:avLst/>
          </a:prstGeom>
          <a:solidFill>
            <a:srgbClr val="0038A8"/>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24" name="TextBox 123">
            <a:extLst>
              <a:ext uri="{FF2B5EF4-FFF2-40B4-BE49-F238E27FC236}">
                <a16:creationId xmlns:a16="http://schemas.microsoft.com/office/drawing/2014/main" id="{76547A67-688B-58D0-BA1C-9D51B5EC04A8}"/>
              </a:ext>
            </a:extLst>
          </p:cNvPr>
          <p:cNvSpPr txBox="1">
            <a:spLocks noChangeArrowheads="1"/>
          </p:cNvSpPr>
          <p:nvPr/>
        </p:nvSpPr>
        <p:spPr bwMode="auto">
          <a:xfrm>
            <a:off x="3294319" y="5344745"/>
            <a:ext cx="13426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pPr algn="ctr"/>
            <a:r>
              <a:rPr lang="bg-BG" sz="1400" i="0" dirty="0"/>
              <a:t>Проводящ </a:t>
            </a:r>
          </a:p>
          <a:p>
            <a:pPr algn="ctr"/>
            <a:r>
              <a:rPr lang="en-US" sz="1400" i="0" dirty="0"/>
              <a:t>n </a:t>
            </a:r>
            <a:r>
              <a:rPr lang="bg-BG" sz="1400" i="0" dirty="0"/>
              <a:t>канал</a:t>
            </a:r>
            <a:endParaRPr lang="en-US" sz="1400" i="0" dirty="0"/>
          </a:p>
        </p:txBody>
      </p:sp>
      <p:cxnSp>
        <p:nvCxnSpPr>
          <p:cNvPr id="125" name="Straight Connector 124">
            <a:extLst>
              <a:ext uri="{FF2B5EF4-FFF2-40B4-BE49-F238E27FC236}">
                <a16:creationId xmlns:a16="http://schemas.microsoft.com/office/drawing/2014/main" id="{563E6808-BB08-62A4-AE7A-609A0738C37C}"/>
              </a:ext>
            </a:extLst>
          </p:cNvPr>
          <p:cNvCxnSpPr/>
          <p:nvPr/>
        </p:nvCxnSpPr>
        <p:spPr bwMode="auto">
          <a:xfrm flipH="1">
            <a:off x="2895119" y="4284414"/>
            <a:ext cx="24137" cy="1126178"/>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126" name="Straight Connector 125">
            <a:extLst>
              <a:ext uri="{FF2B5EF4-FFF2-40B4-BE49-F238E27FC236}">
                <a16:creationId xmlns:a16="http://schemas.microsoft.com/office/drawing/2014/main" id="{954EF95F-FDF5-EEC8-B6C1-B21075C0B9DA}"/>
              </a:ext>
            </a:extLst>
          </p:cNvPr>
          <p:cNvCxnSpPr>
            <a:cxnSpLocks/>
            <a:stCxn id="61" idx="3"/>
          </p:cNvCxnSpPr>
          <p:nvPr/>
        </p:nvCxnSpPr>
        <p:spPr bwMode="auto">
          <a:xfrm>
            <a:off x="4453573" y="4347190"/>
            <a:ext cx="26674" cy="979811"/>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127" name="Straight Arrow Connector 126">
            <a:extLst>
              <a:ext uri="{FF2B5EF4-FFF2-40B4-BE49-F238E27FC236}">
                <a16:creationId xmlns:a16="http://schemas.microsoft.com/office/drawing/2014/main" id="{D6775D72-2BAC-3B9F-A821-933A092D9CDF}"/>
              </a:ext>
            </a:extLst>
          </p:cNvPr>
          <p:cNvCxnSpPr/>
          <p:nvPr/>
        </p:nvCxnSpPr>
        <p:spPr bwMode="auto">
          <a:xfrm>
            <a:off x="2895119" y="5258290"/>
            <a:ext cx="1594616"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128" name="TextBox 127">
            <a:extLst>
              <a:ext uri="{FF2B5EF4-FFF2-40B4-BE49-F238E27FC236}">
                <a16:creationId xmlns:a16="http://schemas.microsoft.com/office/drawing/2014/main" id="{D5E7234A-24F2-1311-43C4-53AA48C0A7CE}"/>
              </a:ext>
            </a:extLst>
          </p:cNvPr>
          <p:cNvSpPr txBox="1"/>
          <p:nvPr/>
        </p:nvSpPr>
        <p:spPr>
          <a:xfrm>
            <a:off x="3498388" y="4938611"/>
            <a:ext cx="459962" cy="338554"/>
          </a:xfrm>
          <a:prstGeom prst="rect">
            <a:avLst/>
          </a:prstGeom>
          <a:noFill/>
        </p:spPr>
        <p:txBody>
          <a:bodyPr wrap="square" rtlCol="0">
            <a:spAutoFit/>
          </a:bodyPr>
          <a:lstStyle/>
          <a:p>
            <a:r>
              <a:rPr lang="en-US" sz="1600" dirty="0"/>
              <a:t>L</a:t>
            </a:r>
          </a:p>
        </p:txBody>
      </p:sp>
      <p:cxnSp>
        <p:nvCxnSpPr>
          <p:cNvPr id="129" name="Straight Connector 128">
            <a:extLst>
              <a:ext uri="{FF2B5EF4-FFF2-40B4-BE49-F238E27FC236}">
                <a16:creationId xmlns:a16="http://schemas.microsoft.com/office/drawing/2014/main" id="{AC859EAB-CA37-BC8C-B085-9D4717E0A424}"/>
              </a:ext>
            </a:extLst>
          </p:cNvPr>
          <p:cNvCxnSpPr/>
          <p:nvPr/>
        </p:nvCxnSpPr>
        <p:spPr bwMode="auto">
          <a:xfrm>
            <a:off x="3546640" y="4317502"/>
            <a:ext cx="527645" cy="1043103"/>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30" name="TextBox 14">
            <a:extLst>
              <a:ext uri="{FF2B5EF4-FFF2-40B4-BE49-F238E27FC236}">
                <a16:creationId xmlns:a16="http://schemas.microsoft.com/office/drawing/2014/main" id="{D866773D-8C8E-9BB1-F7A6-FF0A7A940D2E}"/>
              </a:ext>
            </a:extLst>
          </p:cNvPr>
          <p:cNvSpPr txBox="1">
            <a:spLocks noChangeArrowheads="1"/>
          </p:cNvSpPr>
          <p:nvPr/>
        </p:nvSpPr>
        <p:spPr bwMode="auto">
          <a:xfrm>
            <a:off x="1254951" y="6223509"/>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i="0" dirty="0"/>
              <a:t>B</a:t>
            </a:r>
          </a:p>
        </p:txBody>
      </p:sp>
      <p:pic>
        <p:nvPicPr>
          <p:cNvPr id="131" name="Picture 130">
            <a:extLst>
              <a:ext uri="{FF2B5EF4-FFF2-40B4-BE49-F238E27FC236}">
                <a16:creationId xmlns:a16="http://schemas.microsoft.com/office/drawing/2014/main" id="{F02DDD88-3669-5FC7-B90A-64959FEA7204}"/>
              </a:ext>
            </a:extLst>
          </p:cNvPr>
          <p:cNvPicPr>
            <a:picLocks noChangeAspect="1"/>
          </p:cNvPicPr>
          <p:nvPr/>
        </p:nvPicPr>
        <p:blipFill>
          <a:blip r:embed="rId2"/>
          <a:stretch>
            <a:fillRect/>
          </a:stretch>
        </p:blipFill>
        <p:spPr>
          <a:xfrm>
            <a:off x="7378686" y="2947010"/>
            <a:ext cx="4159421" cy="3425405"/>
          </a:xfrm>
          <a:prstGeom prst="rect">
            <a:avLst/>
          </a:prstGeom>
        </p:spPr>
      </p:pic>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3EABC112-8116-BB3E-D719-4917A5BD5D2B}"/>
                  </a:ext>
                </a:extLst>
              </p:cNvPr>
              <p:cNvSpPr txBox="1"/>
              <p:nvPr/>
            </p:nvSpPr>
            <p:spPr>
              <a:xfrm>
                <a:off x="8163513" y="2405334"/>
                <a:ext cx="23644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𝐷</m:t>
                          </m:r>
                        </m:sub>
                      </m:sSub>
                      <m:r>
                        <a:rPr lang="bg-BG" b="0" i="1" smtClean="0">
                          <a:latin typeface="Cambria Math" panose="02040503050406030204" pitchFamily="18" charset="0"/>
                        </a:rPr>
                        <m:t>=</m:t>
                      </m:r>
                      <m:sSub>
                        <m:sSubPr>
                          <m:ctrlPr>
                            <a:rPr lang="bg-BG"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𝑑</m:t>
                          </m:r>
                        </m:sub>
                      </m:sSub>
                      <m:sSub>
                        <m:sSubPr>
                          <m:ctrlPr>
                            <a:rPr lang="bg-BG"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𝐷𝑆</m:t>
                          </m:r>
                        </m:sub>
                      </m:sSub>
                    </m:oMath>
                  </m:oMathPara>
                </a14:m>
                <a:endParaRPr lang="bg-BG" dirty="0"/>
              </a:p>
            </p:txBody>
          </p:sp>
        </mc:Choice>
        <mc:Fallback xmlns="">
          <p:sp>
            <p:nvSpPr>
              <p:cNvPr id="132" name="TextBox 131">
                <a:extLst>
                  <a:ext uri="{FF2B5EF4-FFF2-40B4-BE49-F238E27FC236}">
                    <a16:creationId xmlns:a16="http://schemas.microsoft.com/office/drawing/2014/main" id="{3EABC112-8116-BB3E-D719-4917A5BD5D2B}"/>
                  </a:ext>
                </a:extLst>
              </p:cNvPr>
              <p:cNvSpPr txBox="1">
                <a:spLocks noRot="1" noChangeAspect="1" noMove="1" noResize="1" noEditPoints="1" noAdjustHandles="1" noChangeArrowheads="1" noChangeShapeType="1" noTextEdit="1"/>
              </p:cNvSpPr>
              <p:nvPr/>
            </p:nvSpPr>
            <p:spPr>
              <a:xfrm>
                <a:off x="8163513" y="2405334"/>
                <a:ext cx="2364480" cy="369332"/>
              </a:xfrm>
              <a:prstGeom prst="rect">
                <a:avLst/>
              </a:prstGeom>
              <a:blipFill>
                <a:blip r:embed="rId3"/>
                <a:stretch>
                  <a:fillRect b="-6667"/>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5E509BFE-966B-D107-1EDB-0078AD8B18CF}"/>
                  </a:ext>
                </a:extLst>
              </p:cNvPr>
              <p:cNvSpPr txBox="1"/>
              <p:nvPr/>
            </p:nvSpPr>
            <p:spPr>
              <a:xfrm>
                <a:off x="8677728" y="2794573"/>
                <a:ext cx="3361871"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bg-BG" sz="1800" b="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𝑑</m:t>
                          </m:r>
                        </m:sub>
                      </m:sSub>
                      <m:r>
                        <a:rPr lang="en-US" sz="1800" b="0" i="0" smtClean="0">
                          <a:latin typeface="Cambria Math" panose="02040503050406030204" pitchFamily="18" charset="0"/>
                        </a:rPr>
                        <m:t>−</m:t>
                      </m:r>
                      <m:r>
                        <a:rPr lang="bg-BG" sz="1800" b="0" i="0" smtClean="0">
                          <a:latin typeface="Cambria Math" panose="02040503050406030204" pitchFamily="18" charset="0"/>
                        </a:rPr>
                        <m:t>проводимост на канала</m:t>
                      </m:r>
                    </m:oMath>
                  </m:oMathPara>
                </a14:m>
                <a:endParaRPr lang="bg-BG" sz="1800" b="0" i="1" dirty="0">
                  <a:latin typeface="Cambria Math" panose="02040503050406030204" pitchFamily="18" charset="0"/>
                </a:endParaRPr>
              </a:p>
            </p:txBody>
          </p:sp>
        </mc:Choice>
        <mc:Fallback xmlns="">
          <p:sp>
            <p:nvSpPr>
              <p:cNvPr id="134" name="TextBox 133">
                <a:extLst>
                  <a:ext uri="{FF2B5EF4-FFF2-40B4-BE49-F238E27FC236}">
                    <a16:creationId xmlns:a16="http://schemas.microsoft.com/office/drawing/2014/main" id="{5E509BFE-966B-D107-1EDB-0078AD8B18CF}"/>
                  </a:ext>
                </a:extLst>
              </p:cNvPr>
              <p:cNvSpPr txBox="1">
                <a:spLocks noRot="1" noChangeAspect="1" noMove="1" noResize="1" noEditPoints="1" noAdjustHandles="1" noChangeArrowheads="1" noChangeShapeType="1" noTextEdit="1"/>
              </p:cNvSpPr>
              <p:nvPr/>
            </p:nvSpPr>
            <p:spPr>
              <a:xfrm>
                <a:off x="8677728" y="2794573"/>
                <a:ext cx="3361871" cy="369332"/>
              </a:xfrm>
              <a:prstGeom prst="rect">
                <a:avLst/>
              </a:prstGeom>
              <a:blipFill>
                <a:blip r:embed="rId4"/>
                <a:stretch>
                  <a:fillRect b="-8197"/>
                </a:stretch>
              </a:blipFill>
            </p:spPr>
            <p:txBody>
              <a:bodyPr/>
              <a:lstStyle/>
              <a:p>
                <a:r>
                  <a:rPr lang="bg-BG">
                    <a:noFill/>
                  </a:rPr>
                  <a:t> </a:t>
                </a:r>
              </a:p>
            </p:txBody>
          </p:sp>
        </mc:Fallback>
      </mc:AlternateContent>
    </p:spTree>
    <p:extLst>
      <p:ext uri="{BB962C8B-B14F-4D97-AF65-F5344CB8AC3E}">
        <p14:creationId xmlns:p14="http://schemas.microsoft.com/office/powerpoint/2010/main" val="4001271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385004" y="2598147"/>
            <a:ext cx="6077777" cy="3094515"/>
            <a:chOff x="1404588" y="1026911"/>
            <a:chExt cx="6077777" cy="3094515"/>
          </a:xfrm>
        </p:grpSpPr>
        <p:sp>
          <p:nvSpPr>
            <p:cNvPr id="87" name="Rectangle 86"/>
            <p:cNvSpPr/>
            <p:nvPr/>
          </p:nvSpPr>
          <p:spPr>
            <a:xfrm>
              <a:off x="1404588" y="1755824"/>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a:spLocks noChangeArrowheads="1"/>
            </p:cNvSpPr>
            <p:nvPr/>
          </p:nvSpPr>
          <p:spPr bwMode="auto">
            <a:xfrm>
              <a:off x="5579876"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92" name="Rectangle 91"/>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94" name="Rectangle 93"/>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95" name="Group 94"/>
            <p:cNvGrpSpPr/>
            <p:nvPr/>
          </p:nvGrpSpPr>
          <p:grpSpPr>
            <a:xfrm>
              <a:off x="1420523" y="1750382"/>
              <a:ext cx="6061842" cy="965092"/>
              <a:chOff x="1301635" y="1908010"/>
              <a:chExt cx="6061842" cy="965092"/>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grpSpPr>
          <p:grpSp>
            <p:nvGrpSpPr>
              <p:cNvPr id="122" name="Group 121"/>
              <p:cNvGrpSpPr/>
              <p:nvPr/>
            </p:nvGrpSpPr>
            <p:grpSpPr>
              <a:xfrm>
                <a:off x="1301635" y="1913475"/>
                <a:ext cx="2477917" cy="959627"/>
                <a:chOff x="1544637" y="2819400"/>
                <a:chExt cx="2265363" cy="457200"/>
              </a:xfrm>
              <a:grpFill/>
            </p:grpSpPr>
            <p:sp>
              <p:nvSpPr>
                <p:cNvPr id="128" name="Rectangle 127"/>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p:cNvGrpSpPr/>
              <p:nvPr/>
            </p:nvGrpSpPr>
            <p:grpSpPr>
              <a:xfrm flipH="1">
                <a:off x="4885560" y="1908010"/>
                <a:ext cx="2477917" cy="959627"/>
                <a:chOff x="1544637" y="2819400"/>
                <a:chExt cx="2265363" cy="457200"/>
              </a:xfrm>
              <a:grpFill/>
            </p:grpSpPr>
            <p:sp>
              <p:nvSpPr>
                <p:cNvPr id="125" name="Rectangle 124"/>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Rectangle 123"/>
              <p:cNvSpPr/>
              <p:nvPr/>
            </p:nvSpPr>
            <p:spPr bwMode="auto">
              <a:xfrm>
                <a:off x="3765906" y="1913870"/>
                <a:ext cx="1119654" cy="466167"/>
              </a:xfrm>
              <a:prstGeom prst="rect">
                <a:avLst/>
              </a:prstGeom>
              <a:grp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grpSp>
        <p:grpSp>
          <p:nvGrpSpPr>
            <p:cNvPr id="96" name="Group 95"/>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19" name="Rectangle 118"/>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p:cNvGrpSpPr/>
            <p:nvPr/>
          </p:nvGrpSpPr>
          <p:grpSpPr>
            <a:xfrm flipH="1">
              <a:off x="5204268" y="1755823"/>
              <a:ext cx="2265363" cy="616251"/>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16" name="Rectangle 115"/>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TextBox 14"/>
            <p:cNvSpPr txBox="1">
              <a:spLocks noChangeArrowheads="1"/>
            </p:cNvSpPr>
            <p:nvPr/>
          </p:nvSpPr>
          <p:spPr bwMode="auto">
            <a:xfrm>
              <a:off x="1625909" y="3163530"/>
              <a:ext cx="3306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endParaRPr lang="en-US" sz="1600" i="0" dirty="0"/>
            </a:p>
          </p:txBody>
        </p:sp>
        <p:sp>
          <p:nvSpPr>
            <p:cNvPr id="99" name="TextBox 68"/>
            <p:cNvSpPr txBox="1">
              <a:spLocks noChangeArrowheads="1"/>
            </p:cNvSpPr>
            <p:nvPr/>
          </p:nvSpPr>
          <p:spPr bwMode="auto">
            <a:xfrm>
              <a:off x="6608172" y="198526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sp>
          <p:nvSpPr>
            <p:cNvPr id="100" name="TextBox 68"/>
            <p:cNvSpPr txBox="1">
              <a:spLocks noChangeArrowheads="1"/>
            </p:cNvSpPr>
            <p:nvPr/>
          </p:nvSpPr>
          <p:spPr bwMode="auto">
            <a:xfrm>
              <a:off x="1783175" y="193095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103" name="Straight Connector 102"/>
            <p:cNvCxnSpPr>
              <a:stCxn id="94"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 name="Straight Connector 103"/>
            <p:cNvCxnSpPr>
              <a:stCxn id="89"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5" name="Straight Connector 104"/>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6" name="Straight Connector 105"/>
            <p:cNvCxnSpPr/>
            <p:nvPr/>
          </p:nvCxnSpPr>
          <p:spPr bwMode="auto">
            <a:xfrm>
              <a:off x="1809679" y="4121426"/>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7" name="Straight Connector 106"/>
            <p:cNvCxnSpPr/>
            <p:nvPr/>
          </p:nvCxnSpPr>
          <p:spPr bwMode="auto">
            <a:xfrm flipH="1">
              <a:off x="2478019" y="1101844"/>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8" name="Straight Connector 107"/>
            <p:cNvCxnSpPr/>
            <p:nvPr/>
          </p:nvCxnSpPr>
          <p:spPr bwMode="auto">
            <a:xfrm>
              <a:off x="2478019" y="1110757"/>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9" name="Straight Connector 108"/>
            <p:cNvCxnSpPr/>
            <p:nvPr/>
          </p:nvCxnSpPr>
          <p:spPr bwMode="auto">
            <a:xfrm>
              <a:off x="2336428" y="1295423"/>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10" name="Oval 109"/>
            <p:cNvSpPr/>
            <p:nvPr/>
          </p:nvSpPr>
          <p:spPr bwMode="auto">
            <a:xfrm>
              <a:off x="4388021" y="1052374"/>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11" name="TextBox 110"/>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112" name="TextBox 111"/>
            <p:cNvSpPr txBox="1"/>
            <p:nvPr/>
          </p:nvSpPr>
          <p:spPr>
            <a:xfrm>
              <a:off x="2973623" y="1211977"/>
              <a:ext cx="391528" cy="338554"/>
            </a:xfrm>
            <a:prstGeom prst="rect">
              <a:avLst/>
            </a:prstGeom>
            <a:noFill/>
          </p:spPr>
          <p:txBody>
            <a:bodyPr wrap="square" rtlCol="0">
              <a:spAutoFit/>
            </a:bodyPr>
            <a:lstStyle/>
            <a:p>
              <a:r>
                <a:rPr lang="en-US" sz="1600" dirty="0"/>
                <a:t>S</a:t>
              </a:r>
            </a:p>
          </p:txBody>
        </p:sp>
        <p:sp>
          <p:nvSpPr>
            <p:cNvPr id="113" name="Oval 112"/>
            <p:cNvSpPr/>
            <p:nvPr/>
          </p:nvSpPr>
          <p:spPr bwMode="auto">
            <a:xfrm>
              <a:off x="5851250" y="1026911"/>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114" name="Straight Connector 113"/>
            <p:cNvCxnSpPr>
              <a:stCxn id="113" idx="4"/>
              <a:endCxn id="91"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15" name="TextBox 114"/>
            <p:cNvSpPr txBox="1"/>
            <p:nvPr/>
          </p:nvSpPr>
          <p:spPr>
            <a:xfrm>
              <a:off x="5927499" y="1302970"/>
              <a:ext cx="391528" cy="338554"/>
            </a:xfrm>
            <a:prstGeom prst="rect">
              <a:avLst/>
            </a:prstGeom>
            <a:noFill/>
          </p:spPr>
          <p:txBody>
            <a:bodyPr wrap="square" rtlCol="0">
              <a:spAutoFit/>
            </a:bodyPr>
            <a:lstStyle/>
            <a:p>
              <a:r>
                <a:rPr lang="en-US" sz="1600" dirty="0"/>
                <a:t>D</a:t>
              </a:r>
            </a:p>
          </p:txBody>
        </p:sp>
      </p:grpSp>
      <p:sp>
        <p:nvSpPr>
          <p:cNvPr id="20" name="TextBox 19"/>
          <p:cNvSpPr txBox="1"/>
          <p:nvPr/>
        </p:nvSpPr>
        <p:spPr>
          <a:xfrm>
            <a:off x="3591050" y="2428870"/>
            <a:ext cx="1240616" cy="338554"/>
          </a:xfrm>
          <a:prstGeom prst="rect">
            <a:avLst/>
          </a:prstGeom>
          <a:noFill/>
        </p:spPr>
        <p:txBody>
          <a:bodyPr wrap="square" rtlCol="0">
            <a:spAutoFit/>
          </a:bodyPr>
          <a:lstStyle/>
          <a:p>
            <a:r>
              <a:rPr lang="en-US" sz="1600" dirty="0"/>
              <a:t>+U</a:t>
            </a:r>
            <a:r>
              <a:rPr lang="en-US" sz="1600" baseline="-25000" dirty="0"/>
              <a:t>GS</a:t>
            </a:r>
            <a:r>
              <a:rPr lang="en-US" sz="1600" dirty="0"/>
              <a:t> </a:t>
            </a:r>
            <a:endParaRPr lang="en-US" sz="1600" baseline="-25000" dirty="0"/>
          </a:p>
        </p:txBody>
      </p:sp>
      <p:grpSp>
        <p:nvGrpSpPr>
          <p:cNvPr id="25" name="Group 50"/>
          <p:cNvGrpSpPr>
            <a:grpSpLocks/>
          </p:cNvGrpSpPr>
          <p:nvPr/>
        </p:nvGrpSpPr>
        <p:grpSpPr bwMode="auto">
          <a:xfrm>
            <a:off x="566768" y="4040278"/>
            <a:ext cx="196823" cy="150371"/>
            <a:chOff x="7917084" y="1956121"/>
            <a:chExt cx="289367" cy="231494"/>
          </a:xfrm>
        </p:grpSpPr>
        <p:sp>
          <p:nvSpPr>
            <p:cNvPr id="8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6" name="Group 50"/>
          <p:cNvGrpSpPr>
            <a:grpSpLocks/>
          </p:cNvGrpSpPr>
          <p:nvPr/>
        </p:nvGrpSpPr>
        <p:grpSpPr bwMode="auto">
          <a:xfrm>
            <a:off x="1070744" y="4040278"/>
            <a:ext cx="196823" cy="150371"/>
            <a:chOff x="7917084" y="1956121"/>
            <a:chExt cx="289367" cy="231494"/>
          </a:xfrm>
        </p:grpSpPr>
        <p:sp>
          <p:nvSpPr>
            <p:cNvPr id="8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7" name="Group 50"/>
          <p:cNvGrpSpPr>
            <a:grpSpLocks/>
          </p:cNvGrpSpPr>
          <p:nvPr/>
        </p:nvGrpSpPr>
        <p:grpSpPr bwMode="auto">
          <a:xfrm>
            <a:off x="1554453" y="4040277"/>
            <a:ext cx="196823" cy="150371"/>
            <a:chOff x="7917084" y="1956121"/>
            <a:chExt cx="289367" cy="231494"/>
          </a:xfrm>
        </p:grpSpPr>
        <p:sp>
          <p:nvSpPr>
            <p:cNvPr id="8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8" name="Group 50"/>
          <p:cNvGrpSpPr>
            <a:grpSpLocks/>
          </p:cNvGrpSpPr>
          <p:nvPr/>
        </p:nvGrpSpPr>
        <p:grpSpPr bwMode="auto">
          <a:xfrm>
            <a:off x="2018555" y="4040279"/>
            <a:ext cx="196823" cy="150371"/>
            <a:chOff x="7917084" y="1956121"/>
            <a:chExt cx="289367" cy="231494"/>
          </a:xfrm>
        </p:grpSpPr>
        <p:sp>
          <p:nvSpPr>
            <p:cNvPr id="7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1" name="Group 50"/>
          <p:cNvGrpSpPr>
            <a:grpSpLocks/>
          </p:cNvGrpSpPr>
          <p:nvPr/>
        </p:nvGrpSpPr>
        <p:grpSpPr bwMode="auto">
          <a:xfrm>
            <a:off x="2515333" y="3965095"/>
            <a:ext cx="196823" cy="150371"/>
            <a:chOff x="7917084" y="1956121"/>
            <a:chExt cx="289367" cy="231494"/>
          </a:xfrm>
        </p:grpSpPr>
        <p:sp>
          <p:nvSpPr>
            <p:cNvPr id="76"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7"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2" name="Group 50"/>
          <p:cNvGrpSpPr>
            <a:grpSpLocks/>
          </p:cNvGrpSpPr>
          <p:nvPr/>
        </p:nvGrpSpPr>
        <p:grpSpPr bwMode="auto">
          <a:xfrm>
            <a:off x="2695237" y="3626230"/>
            <a:ext cx="196823" cy="150371"/>
            <a:chOff x="7917084" y="1956121"/>
            <a:chExt cx="289367" cy="231494"/>
          </a:xfrm>
        </p:grpSpPr>
        <p:sp>
          <p:nvSpPr>
            <p:cNvPr id="7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3" name="Group 50"/>
          <p:cNvGrpSpPr>
            <a:grpSpLocks/>
          </p:cNvGrpSpPr>
          <p:nvPr/>
        </p:nvGrpSpPr>
        <p:grpSpPr bwMode="auto">
          <a:xfrm>
            <a:off x="3079914" y="3622670"/>
            <a:ext cx="196823" cy="150371"/>
            <a:chOff x="7917084" y="1956121"/>
            <a:chExt cx="289367" cy="231494"/>
          </a:xfrm>
        </p:grpSpPr>
        <p:sp>
          <p:nvSpPr>
            <p:cNvPr id="7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4" name="Group 50"/>
          <p:cNvGrpSpPr>
            <a:grpSpLocks/>
          </p:cNvGrpSpPr>
          <p:nvPr/>
        </p:nvGrpSpPr>
        <p:grpSpPr bwMode="auto">
          <a:xfrm>
            <a:off x="3492638" y="3604242"/>
            <a:ext cx="196823" cy="150371"/>
            <a:chOff x="7917084" y="1956121"/>
            <a:chExt cx="289367" cy="231494"/>
          </a:xfrm>
        </p:grpSpPr>
        <p:sp>
          <p:nvSpPr>
            <p:cNvPr id="7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5" name="Group 50"/>
          <p:cNvGrpSpPr>
            <a:grpSpLocks/>
          </p:cNvGrpSpPr>
          <p:nvPr/>
        </p:nvGrpSpPr>
        <p:grpSpPr bwMode="auto">
          <a:xfrm>
            <a:off x="3877315" y="3600682"/>
            <a:ext cx="196823" cy="150371"/>
            <a:chOff x="7917084" y="1956121"/>
            <a:chExt cx="289367" cy="231494"/>
          </a:xfrm>
        </p:grpSpPr>
        <p:sp>
          <p:nvSpPr>
            <p:cNvPr id="6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6" name="Group 50"/>
          <p:cNvGrpSpPr>
            <a:grpSpLocks/>
          </p:cNvGrpSpPr>
          <p:nvPr/>
        </p:nvGrpSpPr>
        <p:grpSpPr bwMode="auto">
          <a:xfrm>
            <a:off x="4071261" y="3922172"/>
            <a:ext cx="196823" cy="150371"/>
            <a:chOff x="7917084" y="1956121"/>
            <a:chExt cx="289367" cy="231494"/>
          </a:xfrm>
        </p:grpSpPr>
        <p:sp>
          <p:nvSpPr>
            <p:cNvPr id="66"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7"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7" name="Group 50"/>
          <p:cNvGrpSpPr>
            <a:grpSpLocks/>
          </p:cNvGrpSpPr>
          <p:nvPr/>
        </p:nvGrpSpPr>
        <p:grpSpPr bwMode="auto">
          <a:xfrm>
            <a:off x="4576094" y="4037880"/>
            <a:ext cx="196823" cy="150371"/>
            <a:chOff x="7917084" y="1956121"/>
            <a:chExt cx="289367" cy="231494"/>
          </a:xfrm>
        </p:grpSpPr>
        <p:sp>
          <p:nvSpPr>
            <p:cNvPr id="6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8" name="Group 50"/>
          <p:cNvGrpSpPr>
            <a:grpSpLocks/>
          </p:cNvGrpSpPr>
          <p:nvPr/>
        </p:nvGrpSpPr>
        <p:grpSpPr bwMode="auto">
          <a:xfrm>
            <a:off x="5080070" y="4037880"/>
            <a:ext cx="196823" cy="150371"/>
            <a:chOff x="7917084" y="1956121"/>
            <a:chExt cx="289367" cy="231494"/>
          </a:xfrm>
        </p:grpSpPr>
        <p:sp>
          <p:nvSpPr>
            <p:cNvPr id="6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9" name="Group 50"/>
          <p:cNvGrpSpPr>
            <a:grpSpLocks/>
          </p:cNvGrpSpPr>
          <p:nvPr/>
        </p:nvGrpSpPr>
        <p:grpSpPr bwMode="auto">
          <a:xfrm>
            <a:off x="5563779" y="4037879"/>
            <a:ext cx="196823" cy="150371"/>
            <a:chOff x="7917084" y="1956121"/>
            <a:chExt cx="289367" cy="231494"/>
          </a:xfrm>
        </p:grpSpPr>
        <p:sp>
          <p:nvSpPr>
            <p:cNvPr id="6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40" name="Group 50"/>
          <p:cNvGrpSpPr>
            <a:grpSpLocks/>
          </p:cNvGrpSpPr>
          <p:nvPr/>
        </p:nvGrpSpPr>
        <p:grpSpPr bwMode="auto">
          <a:xfrm>
            <a:off x="6027881" y="4037881"/>
            <a:ext cx="196823" cy="150371"/>
            <a:chOff x="7917084" y="1956121"/>
            <a:chExt cx="289367" cy="231494"/>
          </a:xfrm>
        </p:grpSpPr>
        <p:sp>
          <p:nvSpPr>
            <p:cNvPr id="5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sp>
        <p:nvSpPr>
          <p:cNvPr id="41" name="Rectangle 40"/>
          <p:cNvSpPr/>
          <p:nvPr/>
        </p:nvSpPr>
        <p:spPr bwMode="auto">
          <a:xfrm>
            <a:off x="2626230" y="3333579"/>
            <a:ext cx="1558454" cy="175411"/>
          </a:xfrm>
          <a:prstGeom prst="rect">
            <a:avLst/>
          </a:prstGeom>
          <a:solidFill>
            <a:srgbClr val="0038A8"/>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53" name="Straight Connector 52"/>
          <p:cNvCxnSpPr/>
          <p:nvPr/>
        </p:nvCxnSpPr>
        <p:spPr bwMode="auto">
          <a:xfrm flipH="1">
            <a:off x="2626230" y="3418346"/>
            <a:ext cx="24137" cy="1126178"/>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54" name="Straight Connector 53"/>
          <p:cNvCxnSpPr>
            <a:stCxn id="118" idx="3"/>
          </p:cNvCxnSpPr>
          <p:nvPr/>
        </p:nvCxnSpPr>
        <p:spPr bwMode="auto">
          <a:xfrm>
            <a:off x="4184684" y="3481122"/>
            <a:ext cx="26674" cy="979811"/>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55" name="Straight Arrow Connector 54"/>
          <p:cNvCxnSpPr/>
          <p:nvPr/>
        </p:nvCxnSpPr>
        <p:spPr bwMode="auto">
          <a:xfrm>
            <a:off x="2626230" y="4392222"/>
            <a:ext cx="1594616"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56" name="TextBox 55"/>
          <p:cNvSpPr txBox="1"/>
          <p:nvPr/>
        </p:nvSpPr>
        <p:spPr>
          <a:xfrm>
            <a:off x="3229499" y="4072543"/>
            <a:ext cx="459962" cy="338554"/>
          </a:xfrm>
          <a:prstGeom prst="rect">
            <a:avLst/>
          </a:prstGeom>
          <a:noFill/>
        </p:spPr>
        <p:txBody>
          <a:bodyPr wrap="square" rtlCol="0">
            <a:spAutoFit/>
          </a:bodyPr>
          <a:lstStyle/>
          <a:p>
            <a:r>
              <a:rPr lang="en-US" sz="1600" dirty="0"/>
              <a:t>L</a:t>
            </a:r>
          </a:p>
        </p:txBody>
      </p:sp>
      <p:sp>
        <p:nvSpPr>
          <p:cNvPr id="131" name="Isosceles Triangle 130"/>
          <p:cNvSpPr/>
          <p:nvPr/>
        </p:nvSpPr>
        <p:spPr bwMode="auto">
          <a:xfrm rot="5100000">
            <a:off x="3545223" y="2393084"/>
            <a:ext cx="321418" cy="2164601"/>
          </a:xfrm>
          <a:prstGeom prst="triangle">
            <a:avLst/>
          </a:prstGeom>
          <a:solidFill>
            <a:srgbClr val="0038A8"/>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32" name="TextBox 131"/>
          <p:cNvSpPr txBox="1"/>
          <p:nvPr/>
        </p:nvSpPr>
        <p:spPr>
          <a:xfrm>
            <a:off x="4887459" y="2428870"/>
            <a:ext cx="1309574" cy="584775"/>
          </a:xfrm>
          <a:prstGeom prst="rect">
            <a:avLst/>
          </a:prstGeom>
          <a:noFill/>
        </p:spPr>
        <p:txBody>
          <a:bodyPr wrap="square" rtlCol="0">
            <a:spAutoFit/>
          </a:bodyPr>
          <a:lstStyle/>
          <a:p>
            <a:r>
              <a:rPr lang="en-US" sz="1600" dirty="0"/>
              <a:t>+ U</a:t>
            </a:r>
            <a:r>
              <a:rPr lang="en-US" sz="1600" baseline="-25000" dirty="0"/>
              <a:t>DS</a:t>
            </a:r>
            <a:r>
              <a:rPr lang="bg-BG" sz="1600" dirty="0"/>
              <a:t>&lt; </a:t>
            </a:r>
            <a:r>
              <a:rPr lang="en-US" sz="1600" dirty="0" err="1"/>
              <a:t>U</a:t>
            </a:r>
            <a:r>
              <a:rPr lang="en-US" sz="1600" baseline="-25000" dirty="0" err="1"/>
              <a:t>Dsat</a:t>
            </a:r>
            <a:endParaRPr lang="en-US" sz="1600" baseline="-25000" dirty="0"/>
          </a:p>
          <a:p>
            <a:endParaRPr lang="en-US" sz="1600" dirty="0"/>
          </a:p>
        </p:txBody>
      </p:sp>
      <p:sp>
        <p:nvSpPr>
          <p:cNvPr id="133" name="Rectangle 9"/>
          <p:cNvSpPr>
            <a:spLocks noChangeArrowheads="1"/>
          </p:cNvSpPr>
          <p:nvPr/>
        </p:nvSpPr>
        <p:spPr bwMode="auto">
          <a:xfrm>
            <a:off x="238784" y="5737068"/>
            <a:ext cx="1144927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bg-BG" sz="1400" dirty="0"/>
              <a:t>Напрежението, което индуцира канала, е разлика между постоянното </a:t>
            </a:r>
            <a:r>
              <a:rPr lang="en-US" sz="1400" dirty="0"/>
              <a:t>U</a:t>
            </a:r>
            <a:r>
              <a:rPr lang="en-US" sz="1400" baseline="-25000" dirty="0"/>
              <a:t>GS</a:t>
            </a:r>
            <a:r>
              <a:rPr lang="bg-BG" sz="1400" dirty="0"/>
              <a:t> и вътрешния пад в канала и съответно намалява от </a:t>
            </a:r>
            <a:r>
              <a:rPr lang="en-US" sz="1400" dirty="0"/>
              <a:t>S</a:t>
            </a:r>
            <a:r>
              <a:rPr lang="bg-BG" sz="1400" dirty="0"/>
              <a:t> към </a:t>
            </a:r>
            <a:r>
              <a:rPr lang="en-US" sz="1400" dirty="0"/>
              <a:t>D</a:t>
            </a:r>
            <a:r>
              <a:rPr lang="bg-BG" sz="1400" dirty="0"/>
              <a:t> (виж обясненията на следващият екран).</a:t>
            </a:r>
          </a:p>
          <a:p>
            <a:r>
              <a:rPr lang="bg-BG" sz="1400" dirty="0"/>
              <a:t>Това довежда до изменение на сечението на канала</a:t>
            </a:r>
            <a:r>
              <a:rPr lang="en-US" sz="1400" dirty="0"/>
              <a:t> </a:t>
            </a:r>
            <a:r>
              <a:rPr lang="bg-BG" sz="1400" dirty="0"/>
              <a:t>и до намаляване на проводимостта. Зависимостта на дрейновия ток от напрежението дрейн-сорс престава да бъде линейна.</a:t>
            </a:r>
            <a:endParaRPr lang="en-US" sz="1400" dirty="0"/>
          </a:p>
        </p:txBody>
      </p:sp>
      <p:cxnSp>
        <p:nvCxnSpPr>
          <p:cNvPr id="134" name="Straight Arrow Connector 133"/>
          <p:cNvCxnSpPr/>
          <p:nvPr/>
        </p:nvCxnSpPr>
        <p:spPr bwMode="auto">
          <a:xfrm>
            <a:off x="4772917" y="2716902"/>
            <a:ext cx="0" cy="391447"/>
          </a:xfrm>
          <a:prstGeom prst="straightConnector1">
            <a:avLst/>
          </a:prstGeom>
          <a:ln>
            <a:solidFill>
              <a:srgbClr val="FF0000"/>
            </a:solidFill>
            <a:headEnd type="none" w="med" len="med"/>
            <a:tailEnd type="arrow"/>
          </a:ln>
        </p:spPr>
        <p:style>
          <a:lnRef idx="2">
            <a:schemeClr val="dk1"/>
          </a:lnRef>
          <a:fillRef idx="0">
            <a:schemeClr val="dk1"/>
          </a:fillRef>
          <a:effectRef idx="1">
            <a:schemeClr val="dk1"/>
          </a:effectRef>
          <a:fontRef idx="minor">
            <a:schemeClr val="tx1"/>
          </a:fontRef>
        </p:style>
      </p:cxnSp>
      <p:pic>
        <p:nvPicPr>
          <p:cNvPr id="5" name="Picture 4">
            <a:extLst>
              <a:ext uri="{FF2B5EF4-FFF2-40B4-BE49-F238E27FC236}">
                <a16:creationId xmlns:a16="http://schemas.microsoft.com/office/drawing/2014/main" id="{9E32D54C-15B4-2B46-4982-006A9962F7C7}"/>
              </a:ext>
            </a:extLst>
          </p:cNvPr>
          <p:cNvPicPr>
            <a:picLocks noChangeAspect="1"/>
          </p:cNvPicPr>
          <p:nvPr/>
        </p:nvPicPr>
        <p:blipFill>
          <a:blip r:embed="rId2"/>
          <a:stretch>
            <a:fillRect/>
          </a:stretch>
        </p:blipFill>
        <p:spPr>
          <a:xfrm>
            <a:off x="8041442" y="2912625"/>
            <a:ext cx="2514951" cy="2486372"/>
          </a:xfrm>
          <a:prstGeom prst="rect">
            <a:avLst/>
          </a:prstGeom>
        </p:spPr>
      </p:pic>
      <p:sp>
        <p:nvSpPr>
          <p:cNvPr id="2" name="TextBox 1">
            <a:extLst>
              <a:ext uri="{FF2B5EF4-FFF2-40B4-BE49-F238E27FC236}">
                <a16:creationId xmlns:a16="http://schemas.microsoft.com/office/drawing/2014/main" id="{167CC156-7EAB-788B-BDBB-946E063EDAA3}"/>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Режими на работа на </a:t>
            </a:r>
            <a:r>
              <a:rPr lang="en-US" sz="2400" dirty="0">
                <a:solidFill>
                  <a:srgbClr val="0038A8"/>
                </a:solidFill>
                <a:latin typeface="+mj-lt"/>
                <a:cs typeface="Arial" panose="020B0604020202020204" pitchFamily="34" charset="0"/>
              </a:rPr>
              <a:t>MOSFET – </a:t>
            </a:r>
            <a:r>
              <a:rPr lang="bg-BG" sz="2400" dirty="0">
                <a:solidFill>
                  <a:srgbClr val="0038A8"/>
                </a:solidFill>
                <a:latin typeface="+mj-lt"/>
                <a:cs typeface="Arial" panose="020B0604020202020204" pitchFamily="34" charset="0"/>
              </a:rPr>
              <a:t>Режим на насищане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523E6465-40D1-54AA-2AFA-39BD06612002}"/>
              </a:ext>
            </a:extLst>
          </p:cNvPr>
          <p:cNvSpPr txBox="1"/>
          <p:nvPr/>
        </p:nvSpPr>
        <p:spPr>
          <a:xfrm>
            <a:off x="293942" y="871696"/>
            <a:ext cx="11338956" cy="1600438"/>
          </a:xfrm>
          <a:prstGeom prst="rect">
            <a:avLst/>
          </a:prstGeom>
          <a:noFill/>
        </p:spPr>
        <p:txBody>
          <a:bodyPr wrap="square" rtlCol="0">
            <a:spAutoFit/>
          </a:bodyPr>
          <a:lstStyle/>
          <a:p>
            <a:r>
              <a:rPr lang="bg-BG" sz="1400" dirty="0"/>
              <a:t>При </a:t>
            </a:r>
            <a:r>
              <a:rPr lang="en-US" sz="1400" dirty="0" err="1"/>
              <a:t>Ugs</a:t>
            </a:r>
            <a:r>
              <a:rPr lang="en-US" sz="1400" dirty="0"/>
              <a:t> </a:t>
            </a:r>
            <a:r>
              <a:rPr lang="bg-BG" sz="1400" dirty="0"/>
              <a:t>&gt; </a:t>
            </a:r>
            <a:r>
              <a:rPr lang="en-US" sz="1400" dirty="0"/>
              <a:t>Ut </a:t>
            </a:r>
            <a:r>
              <a:rPr lang="bg-BG" sz="1400" dirty="0"/>
              <a:t>се образува канал.  Ако подадем малко напрежение между дрейна и сорса (</a:t>
            </a:r>
            <a:r>
              <a:rPr lang="en-US" sz="1400" dirty="0" err="1"/>
              <a:t>Uds</a:t>
            </a:r>
            <a:r>
              <a:rPr lang="bg-BG" sz="1400" dirty="0"/>
              <a:t>) ще протече дрейнов ток </a:t>
            </a:r>
            <a:r>
              <a:rPr lang="en-US" sz="1400" i="1" dirty="0"/>
              <a:t>I</a:t>
            </a:r>
            <a:r>
              <a:rPr lang="en-US" sz="1400" i="1" baseline="-25000" dirty="0"/>
              <a:t>D</a:t>
            </a:r>
            <a:endParaRPr lang="bg-BG" sz="1400" i="1" baseline="-25000" dirty="0"/>
          </a:p>
          <a:p>
            <a:r>
              <a:rPr lang="ru-RU" sz="1400" dirty="0"/>
              <a:t>В това състояние каналът действа като обикновен резистор. Колкото по-високо е напрежението на гейта, толкова повече електрони привличаме в канала и той има по-ниското съпротивление. Това е състоянието, което искаме за затворен ключ – път с много ниско съпротивление.</a:t>
            </a:r>
          </a:p>
          <a:p>
            <a:endParaRPr lang="ru-RU" sz="1400" dirty="0"/>
          </a:p>
          <a:p>
            <a:r>
              <a:rPr lang="ru-RU" sz="1400" dirty="0"/>
              <a:t>Какво ще стане, ако запазим </a:t>
            </a:r>
            <a:r>
              <a:rPr lang="en-US" sz="1400" dirty="0" err="1"/>
              <a:t>Ugs</a:t>
            </a:r>
            <a:r>
              <a:rPr lang="en-US" sz="1400" dirty="0"/>
              <a:t> </a:t>
            </a:r>
            <a:r>
              <a:rPr lang="ru-RU" sz="1400" dirty="0"/>
              <a:t>постоянно, но увеличете напрежението </a:t>
            </a:r>
            <a:r>
              <a:rPr lang="en-US" sz="1400" dirty="0" err="1"/>
              <a:t>Uds</a:t>
            </a:r>
            <a:r>
              <a:rPr lang="ru-RU" sz="1400" dirty="0"/>
              <a:t>? Формата на канала започва да се променя. Електрическото поле от дрейна започва да «се бори» с полето от гейта.</a:t>
            </a:r>
          </a:p>
        </p:txBody>
      </p:sp>
    </p:spTree>
    <p:extLst>
      <p:ext uri="{BB962C8B-B14F-4D97-AF65-F5344CB8AC3E}">
        <p14:creationId xmlns:p14="http://schemas.microsoft.com/office/powerpoint/2010/main" val="521026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3DDD8-7BF8-A61C-42BE-19BE81B1364A}"/>
            </a:ext>
          </a:extLst>
        </p:cNvPr>
        <p:cNvGrpSpPr/>
        <p:nvPr/>
      </p:nvGrpSpPr>
      <p:grpSpPr>
        <a:xfrm>
          <a:off x="0" y="0"/>
          <a:ext cx="0" cy="0"/>
          <a:chOff x="0" y="0"/>
          <a:chExt cx="0" cy="0"/>
        </a:xfrm>
      </p:grpSpPr>
      <p:sp>
        <p:nvSpPr>
          <p:cNvPr id="133" name="Rectangle 9">
            <a:extLst>
              <a:ext uri="{FF2B5EF4-FFF2-40B4-BE49-F238E27FC236}">
                <a16:creationId xmlns:a16="http://schemas.microsoft.com/office/drawing/2014/main" id="{16C5AEFA-A345-B709-93D1-53B47DAB0D11}"/>
              </a:ext>
            </a:extLst>
          </p:cNvPr>
          <p:cNvSpPr>
            <a:spLocks noChangeArrowheads="1"/>
          </p:cNvSpPr>
          <p:nvPr/>
        </p:nvSpPr>
        <p:spPr bwMode="auto">
          <a:xfrm>
            <a:off x="191344" y="895269"/>
            <a:ext cx="1144927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bg-BG" sz="1400" dirty="0"/>
              <a:t>Напрежението, което индуцира канала, е разлика между постоянното </a:t>
            </a:r>
            <a:r>
              <a:rPr lang="en-US" sz="1400" dirty="0"/>
              <a:t>U</a:t>
            </a:r>
            <a:r>
              <a:rPr lang="en-US" sz="1400" baseline="-25000" dirty="0"/>
              <a:t>GS</a:t>
            </a:r>
            <a:r>
              <a:rPr lang="bg-BG" sz="1400" dirty="0"/>
              <a:t> и вътрешния пад в канала и съответно намалява от </a:t>
            </a:r>
            <a:r>
              <a:rPr lang="en-US" sz="1400" dirty="0"/>
              <a:t>S</a:t>
            </a:r>
            <a:r>
              <a:rPr lang="bg-BG" sz="1400" dirty="0"/>
              <a:t> към </a:t>
            </a:r>
            <a:r>
              <a:rPr lang="en-US" sz="1400" dirty="0"/>
              <a:t>D</a:t>
            </a:r>
            <a:r>
              <a:rPr lang="bg-BG" sz="1400" dirty="0"/>
              <a:t>. </a:t>
            </a:r>
            <a:endParaRPr lang="en-US" sz="140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B6C1AEE-F39F-D3DD-A15D-155B42A9177F}"/>
                  </a:ext>
                </a:extLst>
              </p:cNvPr>
              <p:cNvSpPr txBox="1"/>
              <p:nvPr/>
            </p:nvSpPr>
            <p:spPr>
              <a:xfrm>
                <a:off x="735194" y="1911044"/>
                <a:ext cx="22881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a:rPr>
                            <m:t>𝑐</m:t>
                          </m:r>
                          <m:r>
                            <a:rPr lang="en-US" b="0" i="1" smtClean="0">
                              <a:latin typeface="Cambria Math"/>
                            </a:rPr>
                            <m:t>h</m:t>
                          </m:r>
                        </m:sub>
                      </m:sSub>
                      <m:r>
                        <a:rPr lang="en-US" i="1" smtClean="0">
                          <a:latin typeface="Cambria Math"/>
                        </a:rPr>
                        <m:t>=</m:t>
                      </m:r>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a:rPr>
                            <m:t>𝐺𝑆</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𝐷</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𝑅</m:t>
                          </m:r>
                        </m:e>
                        <m:sub>
                          <m:r>
                            <a:rPr lang="en-US" b="0" i="1" smtClean="0">
                              <a:latin typeface="Cambria Math"/>
                            </a:rPr>
                            <m:t>𝑐</m:t>
                          </m:r>
                          <m:r>
                            <a:rPr lang="en-US" b="0" i="1" smtClean="0">
                              <a:latin typeface="Cambria Math"/>
                            </a:rPr>
                            <m:t>h</m:t>
                          </m:r>
                        </m:sub>
                      </m:sSub>
                    </m:oMath>
                  </m:oMathPara>
                </a14:m>
                <a:endParaRPr lang="en-US" dirty="0"/>
              </a:p>
            </p:txBody>
          </p:sp>
        </mc:Choice>
        <mc:Fallback xmlns="">
          <p:sp>
            <p:nvSpPr>
              <p:cNvPr id="2" name="TextBox 1">
                <a:extLst>
                  <a:ext uri="{FF2B5EF4-FFF2-40B4-BE49-F238E27FC236}">
                    <a16:creationId xmlns:a16="http://schemas.microsoft.com/office/drawing/2014/main" id="{FB6C1AEE-F39F-D3DD-A15D-155B42A9177F}"/>
                  </a:ext>
                </a:extLst>
              </p:cNvPr>
              <p:cNvSpPr txBox="1">
                <a:spLocks noRot="1" noChangeAspect="1" noMove="1" noResize="1" noEditPoints="1" noAdjustHandles="1" noChangeArrowheads="1" noChangeShapeType="1" noTextEdit="1"/>
              </p:cNvSpPr>
              <p:nvPr/>
            </p:nvSpPr>
            <p:spPr>
              <a:xfrm>
                <a:off x="735194" y="1911044"/>
                <a:ext cx="2288126" cy="369332"/>
              </a:xfrm>
              <a:prstGeom prst="rect">
                <a:avLst/>
              </a:prstGeom>
              <a:blipFill>
                <a:blip r:embed="rId2"/>
                <a:stretch>
                  <a:fillRect b="-1639"/>
                </a:stretch>
              </a:blipFill>
            </p:spPr>
            <p:txBody>
              <a:bodyPr/>
              <a:lstStyle/>
              <a:p>
                <a:r>
                  <a:rPr lang="bg-BG">
                    <a:noFill/>
                  </a:rPr>
                  <a:t> </a:t>
                </a:r>
              </a:p>
            </p:txBody>
          </p:sp>
        </mc:Fallback>
      </mc:AlternateContent>
      <p:sp>
        <p:nvSpPr>
          <p:cNvPr id="44" name="Rectangle 43">
            <a:extLst>
              <a:ext uri="{FF2B5EF4-FFF2-40B4-BE49-F238E27FC236}">
                <a16:creationId xmlns:a16="http://schemas.microsoft.com/office/drawing/2014/main" id="{8793A473-FE69-FC16-1577-ADB7425AC269}"/>
              </a:ext>
            </a:extLst>
          </p:cNvPr>
          <p:cNvSpPr/>
          <p:nvPr/>
        </p:nvSpPr>
        <p:spPr>
          <a:xfrm>
            <a:off x="3704181" y="4149087"/>
            <a:ext cx="735635" cy="25546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latin typeface="Cambria Math" panose="02040503050406030204" pitchFamily="18" charset="0"/>
                <a:ea typeface="Cambria Math" panose="02040503050406030204" pitchFamily="18" charset="0"/>
              </a:rPr>
              <a:t>R</a:t>
            </a:r>
          </a:p>
        </p:txBody>
      </p:sp>
      <p:sp>
        <p:nvSpPr>
          <p:cNvPr id="47" name="Rectangle 46">
            <a:extLst>
              <a:ext uri="{FF2B5EF4-FFF2-40B4-BE49-F238E27FC236}">
                <a16:creationId xmlns:a16="http://schemas.microsoft.com/office/drawing/2014/main" id="{34118053-DAF1-D0FE-282B-0D308F2704BD}"/>
              </a:ext>
            </a:extLst>
          </p:cNvPr>
          <p:cNvSpPr/>
          <p:nvPr/>
        </p:nvSpPr>
        <p:spPr>
          <a:xfrm>
            <a:off x="4787080" y="4149080"/>
            <a:ext cx="735635" cy="25546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latin typeface="Cambria Math" panose="02040503050406030204" pitchFamily="18" charset="0"/>
                <a:ea typeface="Cambria Math" panose="02040503050406030204" pitchFamily="18" charset="0"/>
              </a:rPr>
              <a:t>R</a:t>
            </a:r>
          </a:p>
        </p:txBody>
      </p:sp>
      <p:cxnSp>
        <p:nvCxnSpPr>
          <p:cNvPr id="49" name="Connector: Elbow 48">
            <a:extLst>
              <a:ext uri="{FF2B5EF4-FFF2-40B4-BE49-F238E27FC236}">
                <a16:creationId xmlns:a16="http://schemas.microsoft.com/office/drawing/2014/main" id="{B9D4A4DD-888F-1B6D-9053-EF03889E57E4}"/>
              </a:ext>
            </a:extLst>
          </p:cNvPr>
          <p:cNvCxnSpPr>
            <a:stCxn id="44" idx="3"/>
            <a:endCxn id="47" idx="1"/>
          </p:cNvCxnSpPr>
          <p:nvPr/>
        </p:nvCxnSpPr>
        <p:spPr>
          <a:xfrm flipV="1">
            <a:off x="4439816" y="4276812"/>
            <a:ext cx="347264" cy="7"/>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5EB4CD9A-044C-EDA1-58BC-7654EBF15A78}"/>
              </a:ext>
            </a:extLst>
          </p:cNvPr>
          <p:cNvSpPr/>
          <p:nvPr/>
        </p:nvSpPr>
        <p:spPr>
          <a:xfrm>
            <a:off x="5887244" y="4149080"/>
            <a:ext cx="735635" cy="25546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solidFill>
                <a:latin typeface="Cambria Math" panose="02040503050406030204" pitchFamily="18" charset="0"/>
                <a:ea typeface="Cambria Math" panose="02040503050406030204" pitchFamily="18" charset="0"/>
              </a:rPr>
              <a:t>R</a:t>
            </a:r>
          </a:p>
        </p:txBody>
      </p:sp>
      <p:cxnSp>
        <p:nvCxnSpPr>
          <p:cNvPr id="52" name="Connector: Elbow 51">
            <a:extLst>
              <a:ext uri="{FF2B5EF4-FFF2-40B4-BE49-F238E27FC236}">
                <a16:creationId xmlns:a16="http://schemas.microsoft.com/office/drawing/2014/main" id="{07971512-E4BC-2DC2-F4C8-639C0880B99D}"/>
              </a:ext>
            </a:extLst>
          </p:cNvPr>
          <p:cNvCxnSpPr>
            <a:endCxn id="51" idx="1"/>
          </p:cNvCxnSpPr>
          <p:nvPr/>
        </p:nvCxnSpPr>
        <p:spPr>
          <a:xfrm flipV="1">
            <a:off x="5539980" y="4276812"/>
            <a:ext cx="347264" cy="7"/>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89404CF4-DBAA-D5F4-EB4E-E5A2B2201C53}"/>
              </a:ext>
            </a:extLst>
          </p:cNvPr>
          <p:cNvCxnSpPr/>
          <p:nvPr/>
        </p:nvCxnSpPr>
        <p:spPr>
          <a:xfrm flipV="1">
            <a:off x="6622879" y="4281617"/>
            <a:ext cx="347264" cy="7"/>
          </a:xfrm>
          <a:prstGeom prst="bentConnector3">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FE68338C-57CC-E0CD-AF99-7B5E044B1ACA}"/>
              </a:ext>
            </a:extLst>
          </p:cNvPr>
          <p:cNvSpPr/>
          <p:nvPr/>
        </p:nvSpPr>
        <p:spPr>
          <a:xfrm>
            <a:off x="3361010" y="3449750"/>
            <a:ext cx="3615111" cy="88292"/>
          </a:xfrm>
          <a:prstGeom prst="rect">
            <a:avLst/>
          </a:prstGeom>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bg-BG"/>
          </a:p>
        </p:txBody>
      </p:sp>
      <p:cxnSp>
        <p:nvCxnSpPr>
          <p:cNvPr id="102" name="Straight Connector 101">
            <a:extLst>
              <a:ext uri="{FF2B5EF4-FFF2-40B4-BE49-F238E27FC236}">
                <a16:creationId xmlns:a16="http://schemas.microsoft.com/office/drawing/2014/main" id="{139D6B93-63B7-979B-8276-5AA6D811C594}"/>
              </a:ext>
            </a:extLst>
          </p:cNvPr>
          <p:cNvCxnSpPr>
            <a:cxnSpLocks/>
            <a:endCxn id="93" idx="0"/>
          </p:cNvCxnSpPr>
          <p:nvPr/>
        </p:nvCxnSpPr>
        <p:spPr>
          <a:xfrm>
            <a:off x="5165874" y="2873686"/>
            <a:ext cx="2692" cy="576064"/>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6A66AC82-359E-AD86-9FBD-F64A0935697F}"/>
                  </a:ext>
                </a:extLst>
              </p:cNvPr>
              <p:cNvSpPr txBox="1"/>
              <p:nvPr/>
            </p:nvSpPr>
            <p:spPr>
              <a:xfrm>
                <a:off x="5087888" y="2714464"/>
                <a:ext cx="755724" cy="36933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a:rPr>
                            <m:t>𝐺𝑆</m:t>
                          </m:r>
                        </m:sub>
                      </m:sSub>
                    </m:oMath>
                  </m:oMathPara>
                </a14:m>
                <a:endParaRPr lang="en-US" dirty="0">
                  <a:solidFill>
                    <a:schemeClr val="tx1"/>
                  </a:solidFill>
                </a:endParaRPr>
              </a:p>
            </p:txBody>
          </p:sp>
        </mc:Choice>
        <mc:Fallback xmlns="">
          <p:sp>
            <p:nvSpPr>
              <p:cNvPr id="143" name="TextBox 142">
                <a:extLst>
                  <a:ext uri="{FF2B5EF4-FFF2-40B4-BE49-F238E27FC236}">
                    <a16:creationId xmlns:a16="http://schemas.microsoft.com/office/drawing/2014/main" id="{6A66AC82-359E-AD86-9FBD-F64A0935697F}"/>
                  </a:ext>
                </a:extLst>
              </p:cNvPr>
              <p:cNvSpPr txBox="1">
                <a:spLocks noRot="1" noChangeAspect="1" noMove="1" noResize="1" noEditPoints="1" noAdjustHandles="1" noChangeArrowheads="1" noChangeShapeType="1" noTextEdit="1"/>
              </p:cNvSpPr>
              <p:nvPr/>
            </p:nvSpPr>
            <p:spPr>
              <a:xfrm>
                <a:off x="5087888" y="2714464"/>
                <a:ext cx="755724" cy="369332"/>
              </a:xfrm>
              <a:prstGeom prst="rect">
                <a:avLst/>
              </a:prstGeom>
              <a:blipFill>
                <a:blip r:embed="rId3"/>
                <a:stretch>
                  <a:fillRect/>
                </a:stretch>
              </a:blipFill>
            </p:spPr>
            <p:txBody>
              <a:bodyPr/>
              <a:lstStyle/>
              <a:p>
                <a:r>
                  <a:rPr lang="bg-BG">
                    <a:noFill/>
                  </a:rPr>
                  <a:t> </a:t>
                </a:r>
              </a:p>
            </p:txBody>
          </p:sp>
        </mc:Fallback>
      </mc:AlternateContent>
      <p:cxnSp>
        <p:nvCxnSpPr>
          <p:cNvPr id="147" name="Straight Arrow Connector 146">
            <a:extLst>
              <a:ext uri="{FF2B5EF4-FFF2-40B4-BE49-F238E27FC236}">
                <a16:creationId xmlns:a16="http://schemas.microsoft.com/office/drawing/2014/main" id="{3EBAD4FE-0311-3A1E-33ED-9C0ADC5DC43D}"/>
              </a:ext>
            </a:extLst>
          </p:cNvPr>
          <p:cNvCxnSpPr>
            <a:cxnSpLocks/>
          </p:cNvCxnSpPr>
          <p:nvPr/>
        </p:nvCxnSpPr>
        <p:spPr>
          <a:xfrm flipH="1">
            <a:off x="3355032" y="4869160"/>
            <a:ext cx="361511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3E3BCA13-0D2A-E6CC-060B-65791164AECB}"/>
                  </a:ext>
                </a:extLst>
              </p:cNvPr>
              <p:cNvSpPr txBox="1"/>
              <p:nvPr/>
            </p:nvSpPr>
            <p:spPr>
              <a:xfrm>
                <a:off x="2084425" y="4885444"/>
                <a:ext cx="615632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𝐷</m:t>
                          </m:r>
                        </m:sub>
                      </m:sSub>
                      <m:r>
                        <a:rPr lang="en-US" b="0" i="1" smtClean="0">
                          <a:latin typeface="Cambria Math"/>
                        </a:rPr>
                        <m:t> </m:t>
                      </m:r>
                    </m:oMath>
                  </m:oMathPara>
                </a14:m>
                <a:endParaRPr lang="bg-BG" dirty="0"/>
              </a:p>
            </p:txBody>
          </p:sp>
        </mc:Choice>
        <mc:Fallback xmlns="">
          <p:sp>
            <p:nvSpPr>
              <p:cNvPr id="149" name="TextBox 148">
                <a:extLst>
                  <a:ext uri="{FF2B5EF4-FFF2-40B4-BE49-F238E27FC236}">
                    <a16:creationId xmlns:a16="http://schemas.microsoft.com/office/drawing/2014/main" id="{3E3BCA13-0D2A-E6CC-060B-65791164AECB}"/>
                  </a:ext>
                </a:extLst>
              </p:cNvPr>
              <p:cNvSpPr txBox="1">
                <a:spLocks noRot="1" noChangeAspect="1" noMove="1" noResize="1" noEditPoints="1" noAdjustHandles="1" noChangeArrowheads="1" noChangeShapeType="1" noTextEdit="1"/>
              </p:cNvSpPr>
              <p:nvPr/>
            </p:nvSpPr>
            <p:spPr>
              <a:xfrm>
                <a:off x="2084425" y="4885444"/>
                <a:ext cx="6156324" cy="369332"/>
              </a:xfrm>
              <a:prstGeom prst="rect">
                <a:avLst/>
              </a:prstGeom>
              <a:blipFill>
                <a:blip r:embed="rId4"/>
                <a:stretch>
                  <a:fillRect/>
                </a:stretch>
              </a:blipFill>
            </p:spPr>
            <p:txBody>
              <a:bodyPr/>
              <a:lstStyle/>
              <a:p>
                <a:r>
                  <a:rPr lang="bg-BG">
                    <a:noFill/>
                  </a:rPr>
                  <a:t> </a:t>
                </a:r>
              </a:p>
            </p:txBody>
          </p:sp>
        </mc:Fallback>
      </mc:AlternateContent>
      <p:cxnSp>
        <p:nvCxnSpPr>
          <p:cNvPr id="157" name="Connector: Elbow 156">
            <a:extLst>
              <a:ext uri="{FF2B5EF4-FFF2-40B4-BE49-F238E27FC236}">
                <a16:creationId xmlns:a16="http://schemas.microsoft.com/office/drawing/2014/main" id="{010EB1E3-F9CB-4A0E-081B-9364249848B4}"/>
              </a:ext>
            </a:extLst>
          </p:cNvPr>
          <p:cNvCxnSpPr>
            <a:cxnSpLocks/>
          </p:cNvCxnSpPr>
          <p:nvPr/>
        </p:nvCxnSpPr>
        <p:spPr>
          <a:xfrm rot="10800000" flipV="1">
            <a:off x="2907199" y="4276818"/>
            <a:ext cx="776533" cy="376317"/>
          </a:xfrm>
          <a:prstGeom prst="bentConnector3">
            <a:avLst>
              <a:gd name="adj1" fmla="val 104788"/>
            </a:avLst>
          </a:prstGeom>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0BC248EA-A6D6-D028-D479-310BA932CF50}"/>
              </a:ext>
            </a:extLst>
          </p:cNvPr>
          <p:cNvCxnSpPr>
            <a:cxnSpLocks/>
          </p:cNvCxnSpPr>
          <p:nvPr/>
        </p:nvCxnSpPr>
        <p:spPr>
          <a:xfrm>
            <a:off x="2711624" y="4653135"/>
            <a:ext cx="311696"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C4F08B96-7E90-5E78-8D74-34FF76A023F4}"/>
                  </a:ext>
                </a:extLst>
              </p:cNvPr>
              <p:cNvSpPr txBox="1"/>
              <p:nvPr/>
            </p:nvSpPr>
            <p:spPr>
              <a:xfrm>
                <a:off x="6796511" y="4055124"/>
                <a:ext cx="99623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panose="02040503050406030204" pitchFamily="18" charset="0"/>
                            </a:rPr>
                            <m:t>𝐷</m:t>
                          </m:r>
                          <m:r>
                            <a:rPr lang="en-US" b="0" i="1" smtClean="0">
                              <a:latin typeface="Cambria Math"/>
                            </a:rPr>
                            <m:t>𝑆</m:t>
                          </m:r>
                        </m:sub>
                      </m:sSub>
                    </m:oMath>
                  </m:oMathPara>
                </a14:m>
                <a:endParaRPr lang="bg-BG" dirty="0"/>
              </a:p>
            </p:txBody>
          </p:sp>
        </mc:Choice>
        <mc:Fallback xmlns="">
          <p:sp>
            <p:nvSpPr>
              <p:cNvPr id="165" name="TextBox 164">
                <a:extLst>
                  <a:ext uri="{FF2B5EF4-FFF2-40B4-BE49-F238E27FC236}">
                    <a16:creationId xmlns:a16="http://schemas.microsoft.com/office/drawing/2014/main" id="{C4F08B96-7E90-5E78-8D74-34FF76A023F4}"/>
                  </a:ext>
                </a:extLst>
              </p:cNvPr>
              <p:cNvSpPr txBox="1">
                <a:spLocks noRot="1" noChangeAspect="1" noMove="1" noResize="1" noEditPoints="1" noAdjustHandles="1" noChangeArrowheads="1" noChangeShapeType="1" noTextEdit="1"/>
              </p:cNvSpPr>
              <p:nvPr/>
            </p:nvSpPr>
            <p:spPr>
              <a:xfrm>
                <a:off x="6796511" y="4055124"/>
                <a:ext cx="996230" cy="369332"/>
              </a:xfrm>
              <a:prstGeom prst="rect">
                <a:avLst/>
              </a:prstGeom>
              <a:blipFill>
                <a:blip r:embed="rId5"/>
                <a:stretch>
                  <a:fillRect/>
                </a:stretch>
              </a:blipFill>
            </p:spPr>
            <p:txBody>
              <a:bodyPr/>
              <a:lstStyle/>
              <a:p>
                <a:r>
                  <a:rPr lang="bg-BG">
                    <a:noFill/>
                  </a:rPr>
                  <a:t> </a:t>
                </a:r>
              </a:p>
            </p:txBody>
          </p:sp>
        </mc:Fallback>
      </mc:AlternateContent>
      <p:cxnSp>
        <p:nvCxnSpPr>
          <p:cNvPr id="167" name="Straight Arrow Connector 166">
            <a:extLst>
              <a:ext uri="{FF2B5EF4-FFF2-40B4-BE49-F238E27FC236}">
                <a16:creationId xmlns:a16="http://schemas.microsoft.com/office/drawing/2014/main" id="{AF369F91-8650-0B9C-3BAC-3D2DD51E5DC9}"/>
              </a:ext>
            </a:extLst>
          </p:cNvPr>
          <p:cNvCxnSpPr/>
          <p:nvPr/>
        </p:nvCxnSpPr>
        <p:spPr>
          <a:xfrm>
            <a:off x="4583832" y="3645024"/>
            <a:ext cx="0" cy="594766"/>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740DEDEA-05B7-1186-B19C-35FE1E29E877}"/>
              </a:ext>
            </a:extLst>
          </p:cNvPr>
          <p:cNvCxnSpPr/>
          <p:nvPr/>
        </p:nvCxnSpPr>
        <p:spPr>
          <a:xfrm>
            <a:off x="5713612" y="3645024"/>
            <a:ext cx="0" cy="594766"/>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B66EA817-D33D-76F0-BCFF-BB3D1D06266E}"/>
              </a:ext>
            </a:extLst>
          </p:cNvPr>
          <p:cNvCxnSpPr/>
          <p:nvPr/>
        </p:nvCxnSpPr>
        <p:spPr>
          <a:xfrm>
            <a:off x="6843392" y="3645024"/>
            <a:ext cx="0" cy="594766"/>
          </a:xfrm>
          <a:prstGeom prst="straightConnector1">
            <a:avLst/>
          </a:prstGeom>
          <a:ln>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E310A59D-1C37-B1C0-9B42-B7C1D4BD54CA}"/>
                  </a:ext>
                </a:extLst>
              </p:cNvPr>
              <p:cNvSpPr txBox="1"/>
              <p:nvPr/>
            </p:nvSpPr>
            <p:spPr>
              <a:xfrm>
                <a:off x="3785467" y="3619800"/>
                <a:ext cx="10016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panose="02040503050406030204" pitchFamily="18" charset="0"/>
                            </a:rPr>
                            <m:t>𝑐</m:t>
                          </m:r>
                          <m:r>
                            <a:rPr lang="en-US" b="0" i="1" smtClean="0">
                              <a:latin typeface="Cambria Math" panose="02040503050406030204" pitchFamily="18" charset="0"/>
                            </a:rPr>
                            <m:t>h</m:t>
                          </m:r>
                          <m:r>
                            <a:rPr lang="en-US" b="0" i="1" smtClean="0">
                              <a:latin typeface="Cambria Math" panose="02040503050406030204" pitchFamily="18" charset="0"/>
                            </a:rPr>
                            <m:t>1</m:t>
                          </m:r>
                        </m:sub>
                      </m:sSub>
                    </m:oMath>
                  </m:oMathPara>
                </a14:m>
                <a:endParaRPr lang="bg-BG" dirty="0"/>
              </a:p>
            </p:txBody>
          </p:sp>
        </mc:Choice>
        <mc:Fallback xmlns="">
          <p:sp>
            <p:nvSpPr>
              <p:cNvPr id="172" name="TextBox 171">
                <a:extLst>
                  <a:ext uri="{FF2B5EF4-FFF2-40B4-BE49-F238E27FC236}">
                    <a16:creationId xmlns:a16="http://schemas.microsoft.com/office/drawing/2014/main" id="{E310A59D-1C37-B1C0-9B42-B7C1D4BD54CA}"/>
                  </a:ext>
                </a:extLst>
              </p:cNvPr>
              <p:cNvSpPr txBox="1">
                <a:spLocks noRot="1" noChangeAspect="1" noMove="1" noResize="1" noEditPoints="1" noAdjustHandles="1" noChangeArrowheads="1" noChangeShapeType="1" noTextEdit="1"/>
              </p:cNvSpPr>
              <p:nvPr/>
            </p:nvSpPr>
            <p:spPr>
              <a:xfrm>
                <a:off x="3785467" y="3619800"/>
                <a:ext cx="1001613" cy="369332"/>
              </a:xfrm>
              <a:prstGeom prst="rect">
                <a:avLst/>
              </a:prstGeom>
              <a:blipFill>
                <a:blip r:embed="rId6"/>
                <a:stretch>
                  <a:fillRect b="-1667"/>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01998208-BBB1-6B2C-8786-0C7417FE90C7}"/>
                  </a:ext>
                </a:extLst>
              </p:cNvPr>
              <p:cNvSpPr txBox="1"/>
              <p:nvPr/>
            </p:nvSpPr>
            <p:spPr>
              <a:xfrm>
                <a:off x="4931096" y="3625803"/>
                <a:ext cx="10016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panose="02040503050406030204" pitchFamily="18" charset="0"/>
                            </a:rPr>
                            <m:t>𝑐</m:t>
                          </m:r>
                          <m:r>
                            <a:rPr lang="en-US" b="0" i="1" smtClean="0">
                              <a:latin typeface="Cambria Math" panose="02040503050406030204" pitchFamily="18" charset="0"/>
                            </a:rPr>
                            <m:t>h</m:t>
                          </m:r>
                          <m:r>
                            <a:rPr lang="en-US" b="0" i="1" smtClean="0">
                              <a:latin typeface="Cambria Math" panose="02040503050406030204" pitchFamily="18" charset="0"/>
                            </a:rPr>
                            <m:t>2</m:t>
                          </m:r>
                        </m:sub>
                      </m:sSub>
                    </m:oMath>
                  </m:oMathPara>
                </a14:m>
                <a:endParaRPr lang="bg-BG" dirty="0"/>
              </a:p>
            </p:txBody>
          </p:sp>
        </mc:Choice>
        <mc:Fallback xmlns="">
          <p:sp>
            <p:nvSpPr>
              <p:cNvPr id="173" name="TextBox 172">
                <a:extLst>
                  <a:ext uri="{FF2B5EF4-FFF2-40B4-BE49-F238E27FC236}">
                    <a16:creationId xmlns:a16="http://schemas.microsoft.com/office/drawing/2014/main" id="{01998208-BBB1-6B2C-8786-0C7417FE90C7}"/>
                  </a:ext>
                </a:extLst>
              </p:cNvPr>
              <p:cNvSpPr txBox="1">
                <a:spLocks noRot="1" noChangeAspect="1" noMove="1" noResize="1" noEditPoints="1" noAdjustHandles="1" noChangeArrowheads="1" noChangeShapeType="1" noTextEdit="1"/>
              </p:cNvSpPr>
              <p:nvPr/>
            </p:nvSpPr>
            <p:spPr>
              <a:xfrm>
                <a:off x="4931096" y="3625803"/>
                <a:ext cx="1001613" cy="369332"/>
              </a:xfrm>
              <a:prstGeom prst="rect">
                <a:avLst/>
              </a:prstGeom>
              <a:blipFill>
                <a:blip r:embed="rId7"/>
                <a:stretch>
                  <a:fillRect b="-1667"/>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F0AF07A2-0286-CB2D-4D6B-A70DBAF39543}"/>
                  </a:ext>
                </a:extLst>
              </p:cNvPr>
              <p:cNvSpPr txBox="1"/>
              <p:nvPr/>
            </p:nvSpPr>
            <p:spPr>
              <a:xfrm>
                <a:off x="6076725" y="3631806"/>
                <a:ext cx="100161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panose="02040503050406030204" pitchFamily="18" charset="0"/>
                            </a:rPr>
                            <m:t>𝑐</m:t>
                          </m:r>
                          <m:r>
                            <a:rPr lang="en-US" b="0" i="1" smtClean="0">
                              <a:latin typeface="Cambria Math" panose="02040503050406030204" pitchFamily="18" charset="0"/>
                            </a:rPr>
                            <m:t>h</m:t>
                          </m:r>
                          <m:r>
                            <a:rPr lang="en-US" b="0" i="1" smtClean="0">
                              <a:latin typeface="Cambria Math" panose="02040503050406030204" pitchFamily="18" charset="0"/>
                            </a:rPr>
                            <m:t>3</m:t>
                          </m:r>
                        </m:sub>
                      </m:sSub>
                    </m:oMath>
                  </m:oMathPara>
                </a14:m>
                <a:endParaRPr lang="bg-BG" dirty="0"/>
              </a:p>
            </p:txBody>
          </p:sp>
        </mc:Choice>
        <mc:Fallback xmlns="">
          <p:sp>
            <p:nvSpPr>
              <p:cNvPr id="174" name="TextBox 173">
                <a:extLst>
                  <a:ext uri="{FF2B5EF4-FFF2-40B4-BE49-F238E27FC236}">
                    <a16:creationId xmlns:a16="http://schemas.microsoft.com/office/drawing/2014/main" id="{F0AF07A2-0286-CB2D-4D6B-A70DBAF39543}"/>
                  </a:ext>
                </a:extLst>
              </p:cNvPr>
              <p:cNvSpPr txBox="1">
                <a:spLocks noRot="1" noChangeAspect="1" noMove="1" noResize="1" noEditPoints="1" noAdjustHandles="1" noChangeArrowheads="1" noChangeShapeType="1" noTextEdit="1"/>
              </p:cNvSpPr>
              <p:nvPr/>
            </p:nvSpPr>
            <p:spPr>
              <a:xfrm>
                <a:off x="6076725" y="3631806"/>
                <a:ext cx="1001613" cy="369332"/>
              </a:xfrm>
              <a:prstGeom prst="rect">
                <a:avLst/>
              </a:prstGeom>
              <a:blipFill>
                <a:blip r:embed="rId8"/>
                <a:stretch>
                  <a:fillRect b="-1667"/>
                </a:stretch>
              </a:blipFill>
            </p:spPr>
            <p:txBody>
              <a:bodyPr/>
              <a:lstStyle/>
              <a:p>
                <a:r>
                  <a:rPr lang="bg-BG">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440C7655-CA67-4BDA-41A6-CDC54D712D6D}"/>
                  </a:ext>
                </a:extLst>
              </p:cNvPr>
              <p:cNvSpPr txBox="1"/>
              <p:nvPr/>
            </p:nvSpPr>
            <p:spPr>
              <a:xfrm>
                <a:off x="4218051" y="5715764"/>
                <a:ext cx="6153150"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𝑈</m:t>
                        </m:r>
                      </m:e>
                      <m:sub>
                        <m:r>
                          <a:rPr lang="en-US" b="0" i="1" smtClean="0">
                            <a:latin typeface="Cambria Math" panose="02040503050406030204" pitchFamily="18" charset="0"/>
                          </a:rPr>
                          <m:t>𝑐</m:t>
                        </m:r>
                        <m:r>
                          <a:rPr lang="en-US" b="0" i="1" smtClean="0">
                            <a:latin typeface="Cambria Math" panose="02040503050406030204" pitchFamily="18" charset="0"/>
                          </a:rPr>
                          <m:t>h</m:t>
                        </m:r>
                        <m:r>
                          <a:rPr lang="en-US" b="0" i="1" smtClean="0">
                            <a:latin typeface="Cambria Math" panose="02040503050406030204" pitchFamily="18" charset="0"/>
                          </a:rPr>
                          <m:t>3</m:t>
                        </m:r>
                      </m:sub>
                    </m:sSub>
                    <m:r>
                      <a:rPr lang="en-US" b="0" i="1" smtClean="0">
                        <a:latin typeface="Cambria Math" panose="02040503050406030204" pitchFamily="18" charset="0"/>
                      </a:rPr>
                      <m:t>&lt;</m:t>
                    </m:r>
                    <m:sSub>
                      <m:sSubPr>
                        <m:ctrlPr>
                          <a:rPr lang="en-US" i="1">
                            <a:latin typeface="Cambria Math" panose="02040503050406030204" pitchFamily="18" charset="0"/>
                          </a:rPr>
                        </m:ctrlPr>
                      </m:sSubPr>
                      <m:e>
                        <m:r>
                          <a:rPr lang="en-US" i="1">
                            <a:latin typeface="Cambria Math"/>
                          </a:rPr>
                          <m:t>𝑈</m:t>
                        </m:r>
                      </m:e>
                      <m:sub>
                        <m:r>
                          <a:rPr lang="en-US" i="1">
                            <a:latin typeface="Cambria Math" panose="02040503050406030204" pitchFamily="18" charset="0"/>
                          </a:rPr>
                          <m:t>𝑐</m:t>
                        </m:r>
                        <m:r>
                          <a:rPr lang="en-US" i="1">
                            <a:latin typeface="Cambria Math" panose="02040503050406030204" pitchFamily="18" charset="0"/>
                          </a:rPr>
                          <m:t>h</m:t>
                        </m:r>
                        <m:r>
                          <a:rPr lang="en-US" b="0" i="1" smtClean="0">
                            <a:latin typeface="Cambria Math" panose="02040503050406030204" pitchFamily="18" charset="0"/>
                          </a:rPr>
                          <m:t>2</m:t>
                        </m:r>
                      </m:sub>
                    </m:sSub>
                  </m:oMath>
                </a14:m>
                <a:r>
                  <a:rPr lang="en-US" dirty="0"/>
                  <a:t>&lt; </a:t>
                </a:r>
                <a14:m>
                  <m:oMath xmlns:m="http://schemas.openxmlformats.org/officeDocument/2006/math">
                    <m:sSub>
                      <m:sSubPr>
                        <m:ctrlPr>
                          <a:rPr lang="en-US" i="1">
                            <a:latin typeface="Cambria Math" panose="02040503050406030204" pitchFamily="18" charset="0"/>
                          </a:rPr>
                        </m:ctrlPr>
                      </m:sSubPr>
                      <m:e>
                        <m:r>
                          <a:rPr lang="en-US" i="1">
                            <a:latin typeface="Cambria Math"/>
                          </a:rPr>
                          <m:t>𝑈</m:t>
                        </m:r>
                      </m:e>
                      <m:sub>
                        <m:r>
                          <a:rPr lang="en-US" i="1">
                            <a:latin typeface="Cambria Math" panose="02040503050406030204" pitchFamily="18" charset="0"/>
                          </a:rPr>
                          <m:t>𝑐</m:t>
                        </m:r>
                        <m:r>
                          <a:rPr lang="en-US" i="1">
                            <a:latin typeface="Cambria Math" panose="02040503050406030204" pitchFamily="18" charset="0"/>
                          </a:rPr>
                          <m:t>h</m:t>
                        </m:r>
                        <m:r>
                          <a:rPr lang="en-US" i="1">
                            <a:latin typeface="Cambria Math" panose="02040503050406030204" pitchFamily="18" charset="0"/>
                          </a:rPr>
                          <m:t>1</m:t>
                        </m:r>
                      </m:sub>
                    </m:sSub>
                  </m:oMath>
                </a14:m>
                <a:endParaRPr lang="bg-BG" dirty="0"/>
              </a:p>
            </p:txBody>
          </p:sp>
        </mc:Choice>
        <mc:Fallback xmlns="">
          <p:sp>
            <p:nvSpPr>
              <p:cNvPr id="176" name="TextBox 175">
                <a:extLst>
                  <a:ext uri="{FF2B5EF4-FFF2-40B4-BE49-F238E27FC236}">
                    <a16:creationId xmlns:a16="http://schemas.microsoft.com/office/drawing/2014/main" id="{440C7655-CA67-4BDA-41A6-CDC54D712D6D}"/>
                  </a:ext>
                </a:extLst>
              </p:cNvPr>
              <p:cNvSpPr txBox="1">
                <a:spLocks noRot="1" noChangeAspect="1" noMove="1" noResize="1" noEditPoints="1" noAdjustHandles="1" noChangeArrowheads="1" noChangeShapeType="1" noTextEdit="1"/>
              </p:cNvSpPr>
              <p:nvPr/>
            </p:nvSpPr>
            <p:spPr>
              <a:xfrm>
                <a:off x="4218051" y="5715764"/>
                <a:ext cx="6153150" cy="369332"/>
              </a:xfrm>
              <a:prstGeom prst="rect">
                <a:avLst/>
              </a:prstGeom>
              <a:blipFill>
                <a:blip r:embed="rId9"/>
                <a:stretch>
                  <a:fillRect t="-10000" b="-26667"/>
                </a:stretch>
              </a:blipFill>
            </p:spPr>
            <p:txBody>
              <a:bodyPr/>
              <a:lstStyle/>
              <a:p>
                <a:r>
                  <a:rPr lang="bg-BG">
                    <a:noFill/>
                  </a:rPr>
                  <a:t> </a:t>
                </a:r>
              </a:p>
            </p:txBody>
          </p:sp>
        </mc:Fallback>
      </mc:AlternateContent>
    </p:spTree>
    <p:extLst>
      <p:ext uri="{BB962C8B-B14F-4D97-AF65-F5344CB8AC3E}">
        <p14:creationId xmlns:p14="http://schemas.microsoft.com/office/powerpoint/2010/main" val="2367886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1066062" y="1196752"/>
            <a:ext cx="6077777" cy="3094515"/>
            <a:chOff x="1404588" y="1026911"/>
            <a:chExt cx="6077777" cy="3094515"/>
          </a:xfrm>
        </p:grpSpPr>
        <p:sp>
          <p:nvSpPr>
            <p:cNvPr id="87" name="Rectangle 86"/>
            <p:cNvSpPr/>
            <p:nvPr/>
          </p:nvSpPr>
          <p:spPr>
            <a:xfrm>
              <a:off x="1404588" y="1755824"/>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94" name="Rectangle 93"/>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95" name="Group 94"/>
            <p:cNvGrpSpPr/>
            <p:nvPr/>
          </p:nvGrpSpPr>
          <p:grpSpPr>
            <a:xfrm>
              <a:off x="1420523" y="1750382"/>
              <a:ext cx="6061842" cy="965092"/>
              <a:chOff x="1301635" y="1908010"/>
              <a:chExt cx="6061842" cy="965092"/>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grpSpPr>
          <p:grpSp>
            <p:nvGrpSpPr>
              <p:cNvPr id="122" name="Group 121"/>
              <p:cNvGrpSpPr/>
              <p:nvPr/>
            </p:nvGrpSpPr>
            <p:grpSpPr>
              <a:xfrm>
                <a:off x="1301635" y="1913475"/>
                <a:ext cx="2477917" cy="959627"/>
                <a:chOff x="1544637" y="2819400"/>
                <a:chExt cx="2265363" cy="457200"/>
              </a:xfrm>
              <a:grpFill/>
            </p:grpSpPr>
            <p:sp>
              <p:nvSpPr>
                <p:cNvPr id="128" name="Rectangle 127"/>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p:cNvGrpSpPr/>
              <p:nvPr/>
            </p:nvGrpSpPr>
            <p:grpSpPr>
              <a:xfrm flipH="1">
                <a:off x="4885560" y="1908010"/>
                <a:ext cx="2477917" cy="959627"/>
                <a:chOff x="1544637" y="2819400"/>
                <a:chExt cx="2265363" cy="457200"/>
              </a:xfrm>
              <a:grpFill/>
            </p:grpSpPr>
            <p:sp>
              <p:nvSpPr>
                <p:cNvPr id="125" name="Rectangle 124"/>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Rectangle 123"/>
              <p:cNvSpPr/>
              <p:nvPr/>
            </p:nvSpPr>
            <p:spPr bwMode="auto">
              <a:xfrm>
                <a:off x="3765906" y="1913870"/>
                <a:ext cx="1119654" cy="466167"/>
              </a:xfrm>
              <a:prstGeom prst="rect">
                <a:avLst/>
              </a:prstGeom>
              <a:grp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grpSp>
        <p:grpSp>
          <p:nvGrpSpPr>
            <p:cNvPr id="96" name="Group 95"/>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19" name="Rectangle 118"/>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p:cNvGrpSpPr/>
            <p:nvPr/>
          </p:nvGrpSpPr>
          <p:grpSpPr>
            <a:xfrm flipH="1">
              <a:off x="5204268" y="1755821"/>
              <a:ext cx="2265363" cy="616252"/>
              <a:chOff x="1544637" y="2819400"/>
              <a:chExt cx="2265363" cy="457201"/>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17" name="Oval 116"/>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1544637" y="2819401"/>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TextBox 14"/>
            <p:cNvSpPr txBox="1">
              <a:spLocks noChangeArrowheads="1"/>
            </p:cNvSpPr>
            <p:nvPr/>
          </p:nvSpPr>
          <p:spPr bwMode="auto">
            <a:xfrm>
              <a:off x="1625909" y="3163530"/>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endParaRPr lang="en-US" sz="1600" i="0" dirty="0"/>
            </a:p>
          </p:txBody>
        </p:sp>
        <p:sp>
          <p:nvSpPr>
            <p:cNvPr id="99" name="TextBox 68"/>
            <p:cNvSpPr txBox="1">
              <a:spLocks noChangeArrowheads="1"/>
            </p:cNvSpPr>
            <p:nvPr/>
          </p:nvSpPr>
          <p:spPr bwMode="auto">
            <a:xfrm>
              <a:off x="6608172" y="198526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t>n+</a:t>
              </a:r>
            </a:p>
          </p:txBody>
        </p:sp>
        <p:sp>
          <p:nvSpPr>
            <p:cNvPr id="100" name="TextBox 68"/>
            <p:cNvSpPr txBox="1">
              <a:spLocks noChangeArrowheads="1"/>
            </p:cNvSpPr>
            <p:nvPr/>
          </p:nvSpPr>
          <p:spPr bwMode="auto">
            <a:xfrm>
              <a:off x="2199714" y="191196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103" name="Straight Connector 102"/>
            <p:cNvCxnSpPr>
              <a:stCxn id="94"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 name="Straight Connector 103"/>
            <p:cNvCxnSpPr>
              <a:stCxn id="89"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5" name="Straight Connector 104"/>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6" name="Straight Connector 105"/>
            <p:cNvCxnSpPr/>
            <p:nvPr/>
          </p:nvCxnSpPr>
          <p:spPr bwMode="auto">
            <a:xfrm>
              <a:off x="1809679" y="4121426"/>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7" name="Straight Connector 106"/>
            <p:cNvCxnSpPr/>
            <p:nvPr/>
          </p:nvCxnSpPr>
          <p:spPr bwMode="auto">
            <a:xfrm flipH="1">
              <a:off x="2478019" y="1101844"/>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8" name="Straight Connector 107"/>
            <p:cNvCxnSpPr/>
            <p:nvPr/>
          </p:nvCxnSpPr>
          <p:spPr bwMode="auto">
            <a:xfrm>
              <a:off x="2478019" y="1110757"/>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9" name="Straight Connector 108"/>
            <p:cNvCxnSpPr/>
            <p:nvPr/>
          </p:nvCxnSpPr>
          <p:spPr bwMode="auto">
            <a:xfrm>
              <a:off x="2336428" y="1295423"/>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10" name="Oval 109"/>
            <p:cNvSpPr/>
            <p:nvPr/>
          </p:nvSpPr>
          <p:spPr bwMode="auto">
            <a:xfrm>
              <a:off x="4388021" y="1052374"/>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11" name="TextBox 110"/>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112" name="TextBox 111"/>
            <p:cNvSpPr txBox="1"/>
            <p:nvPr/>
          </p:nvSpPr>
          <p:spPr>
            <a:xfrm>
              <a:off x="2973623" y="1211977"/>
              <a:ext cx="391528" cy="338554"/>
            </a:xfrm>
            <a:prstGeom prst="rect">
              <a:avLst/>
            </a:prstGeom>
            <a:noFill/>
          </p:spPr>
          <p:txBody>
            <a:bodyPr wrap="square" rtlCol="0">
              <a:spAutoFit/>
            </a:bodyPr>
            <a:lstStyle/>
            <a:p>
              <a:r>
                <a:rPr lang="en-US" sz="1600" dirty="0"/>
                <a:t>S</a:t>
              </a:r>
            </a:p>
          </p:txBody>
        </p:sp>
        <p:sp>
          <p:nvSpPr>
            <p:cNvPr id="113" name="Oval 112"/>
            <p:cNvSpPr/>
            <p:nvPr/>
          </p:nvSpPr>
          <p:spPr bwMode="auto">
            <a:xfrm>
              <a:off x="5851250" y="1026911"/>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114" name="Straight Connector 113"/>
            <p:cNvCxnSpPr>
              <a:stCxn id="113" idx="4"/>
              <a:endCxn id="91"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15" name="TextBox 114"/>
            <p:cNvSpPr txBox="1"/>
            <p:nvPr/>
          </p:nvSpPr>
          <p:spPr>
            <a:xfrm>
              <a:off x="5927499" y="1302970"/>
              <a:ext cx="391528" cy="338554"/>
            </a:xfrm>
            <a:prstGeom prst="rect">
              <a:avLst/>
            </a:prstGeom>
            <a:noFill/>
          </p:spPr>
          <p:txBody>
            <a:bodyPr wrap="square" rtlCol="0">
              <a:spAutoFit/>
            </a:bodyPr>
            <a:lstStyle/>
            <a:p>
              <a:r>
                <a:rPr lang="en-US" sz="1600" dirty="0"/>
                <a:t>D</a:t>
              </a:r>
            </a:p>
          </p:txBody>
        </p:sp>
        <p:sp>
          <p:nvSpPr>
            <p:cNvPr id="88" name="Rectangle 87"/>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a:spLocks noChangeArrowheads="1"/>
            </p:cNvSpPr>
            <p:nvPr/>
          </p:nvSpPr>
          <p:spPr bwMode="auto">
            <a:xfrm>
              <a:off x="5579876" y="1684970"/>
              <a:ext cx="661242" cy="162140"/>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2" name="TextBox 68">
              <a:extLst>
                <a:ext uri="{FF2B5EF4-FFF2-40B4-BE49-F238E27FC236}">
                  <a16:creationId xmlns:a16="http://schemas.microsoft.com/office/drawing/2014/main" id="{3C5E4D90-6C19-A38D-5EB4-BE876444949C}"/>
                </a:ext>
              </a:extLst>
            </p:cNvPr>
            <p:cNvSpPr txBox="1">
              <a:spLocks noChangeArrowheads="1"/>
            </p:cNvSpPr>
            <p:nvPr/>
          </p:nvSpPr>
          <p:spPr bwMode="auto">
            <a:xfrm>
              <a:off x="6582712" y="194917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grpSp>
      <p:sp>
        <p:nvSpPr>
          <p:cNvPr id="20" name="TextBox 19"/>
          <p:cNvSpPr txBox="1"/>
          <p:nvPr/>
        </p:nvSpPr>
        <p:spPr>
          <a:xfrm>
            <a:off x="4272108" y="1027475"/>
            <a:ext cx="1240616" cy="338554"/>
          </a:xfrm>
          <a:prstGeom prst="rect">
            <a:avLst/>
          </a:prstGeom>
          <a:noFill/>
        </p:spPr>
        <p:txBody>
          <a:bodyPr wrap="square" rtlCol="0">
            <a:spAutoFit/>
          </a:bodyPr>
          <a:lstStyle/>
          <a:p>
            <a:r>
              <a:rPr lang="en-US" sz="1600" dirty="0"/>
              <a:t>+U</a:t>
            </a:r>
            <a:r>
              <a:rPr lang="en-US" sz="1600" baseline="-25000" dirty="0"/>
              <a:t>GS</a:t>
            </a:r>
            <a:r>
              <a:rPr lang="en-US" sz="1600" dirty="0"/>
              <a:t> </a:t>
            </a:r>
            <a:r>
              <a:rPr lang="bg-BG" sz="1600" dirty="0"/>
              <a:t>≥</a:t>
            </a:r>
            <a:r>
              <a:rPr lang="en-US" sz="1600" dirty="0"/>
              <a:t> U</a:t>
            </a:r>
            <a:r>
              <a:rPr lang="en-US" sz="1600" baseline="-25000" dirty="0"/>
              <a:t>T</a:t>
            </a:r>
          </a:p>
        </p:txBody>
      </p:sp>
      <p:grpSp>
        <p:nvGrpSpPr>
          <p:cNvPr id="25" name="Group 50"/>
          <p:cNvGrpSpPr>
            <a:grpSpLocks/>
          </p:cNvGrpSpPr>
          <p:nvPr/>
        </p:nvGrpSpPr>
        <p:grpSpPr bwMode="auto">
          <a:xfrm>
            <a:off x="1247826" y="2638883"/>
            <a:ext cx="196823" cy="150371"/>
            <a:chOff x="7917084" y="1956121"/>
            <a:chExt cx="289367" cy="231494"/>
          </a:xfrm>
        </p:grpSpPr>
        <p:sp>
          <p:nvSpPr>
            <p:cNvPr id="8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6" name="Group 50"/>
          <p:cNvGrpSpPr>
            <a:grpSpLocks/>
          </p:cNvGrpSpPr>
          <p:nvPr/>
        </p:nvGrpSpPr>
        <p:grpSpPr bwMode="auto">
          <a:xfrm>
            <a:off x="1751802" y="2638883"/>
            <a:ext cx="196823" cy="150371"/>
            <a:chOff x="7917084" y="1956121"/>
            <a:chExt cx="289367" cy="231494"/>
          </a:xfrm>
        </p:grpSpPr>
        <p:sp>
          <p:nvSpPr>
            <p:cNvPr id="8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7" name="Group 50"/>
          <p:cNvGrpSpPr>
            <a:grpSpLocks/>
          </p:cNvGrpSpPr>
          <p:nvPr/>
        </p:nvGrpSpPr>
        <p:grpSpPr bwMode="auto">
          <a:xfrm>
            <a:off x="2235511" y="2638882"/>
            <a:ext cx="196823" cy="150371"/>
            <a:chOff x="7917084" y="1956121"/>
            <a:chExt cx="289367" cy="231494"/>
          </a:xfrm>
        </p:grpSpPr>
        <p:sp>
          <p:nvSpPr>
            <p:cNvPr id="8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8" name="Group 50"/>
          <p:cNvGrpSpPr>
            <a:grpSpLocks/>
          </p:cNvGrpSpPr>
          <p:nvPr/>
        </p:nvGrpSpPr>
        <p:grpSpPr bwMode="auto">
          <a:xfrm>
            <a:off x="2699613" y="2638884"/>
            <a:ext cx="196823" cy="150371"/>
            <a:chOff x="7917084" y="1956121"/>
            <a:chExt cx="289367" cy="231494"/>
          </a:xfrm>
        </p:grpSpPr>
        <p:sp>
          <p:nvSpPr>
            <p:cNvPr id="7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1" name="Group 50"/>
          <p:cNvGrpSpPr>
            <a:grpSpLocks/>
          </p:cNvGrpSpPr>
          <p:nvPr/>
        </p:nvGrpSpPr>
        <p:grpSpPr bwMode="auto">
          <a:xfrm>
            <a:off x="3196391" y="2563700"/>
            <a:ext cx="196823" cy="150371"/>
            <a:chOff x="7917084" y="1956121"/>
            <a:chExt cx="289367" cy="231494"/>
          </a:xfrm>
        </p:grpSpPr>
        <p:sp>
          <p:nvSpPr>
            <p:cNvPr id="76"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7"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2" name="Group 50"/>
          <p:cNvGrpSpPr>
            <a:grpSpLocks/>
          </p:cNvGrpSpPr>
          <p:nvPr/>
        </p:nvGrpSpPr>
        <p:grpSpPr bwMode="auto">
          <a:xfrm>
            <a:off x="3376295" y="2224835"/>
            <a:ext cx="196823" cy="150371"/>
            <a:chOff x="7917084" y="1956121"/>
            <a:chExt cx="289367" cy="231494"/>
          </a:xfrm>
        </p:grpSpPr>
        <p:sp>
          <p:nvSpPr>
            <p:cNvPr id="7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3" name="Group 50"/>
          <p:cNvGrpSpPr>
            <a:grpSpLocks/>
          </p:cNvGrpSpPr>
          <p:nvPr/>
        </p:nvGrpSpPr>
        <p:grpSpPr bwMode="auto">
          <a:xfrm>
            <a:off x="3760972" y="2221275"/>
            <a:ext cx="196823" cy="150371"/>
            <a:chOff x="7917084" y="1956121"/>
            <a:chExt cx="289367" cy="231494"/>
          </a:xfrm>
        </p:grpSpPr>
        <p:sp>
          <p:nvSpPr>
            <p:cNvPr id="7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4" name="Group 50"/>
          <p:cNvGrpSpPr>
            <a:grpSpLocks/>
          </p:cNvGrpSpPr>
          <p:nvPr/>
        </p:nvGrpSpPr>
        <p:grpSpPr bwMode="auto">
          <a:xfrm>
            <a:off x="4173696" y="2202847"/>
            <a:ext cx="196823" cy="150371"/>
            <a:chOff x="7917084" y="1956121"/>
            <a:chExt cx="289367" cy="231494"/>
          </a:xfrm>
        </p:grpSpPr>
        <p:sp>
          <p:nvSpPr>
            <p:cNvPr id="7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5" name="Group 50"/>
          <p:cNvGrpSpPr>
            <a:grpSpLocks/>
          </p:cNvGrpSpPr>
          <p:nvPr/>
        </p:nvGrpSpPr>
        <p:grpSpPr bwMode="auto">
          <a:xfrm>
            <a:off x="4558373" y="2199287"/>
            <a:ext cx="196823" cy="150371"/>
            <a:chOff x="7917084" y="1956121"/>
            <a:chExt cx="289367" cy="231494"/>
          </a:xfrm>
        </p:grpSpPr>
        <p:sp>
          <p:nvSpPr>
            <p:cNvPr id="6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6" name="Group 50"/>
          <p:cNvGrpSpPr>
            <a:grpSpLocks/>
          </p:cNvGrpSpPr>
          <p:nvPr/>
        </p:nvGrpSpPr>
        <p:grpSpPr bwMode="auto">
          <a:xfrm>
            <a:off x="4752319" y="2520777"/>
            <a:ext cx="196823" cy="150371"/>
            <a:chOff x="7917084" y="1956121"/>
            <a:chExt cx="289367" cy="231494"/>
          </a:xfrm>
        </p:grpSpPr>
        <p:sp>
          <p:nvSpPr>
            <p:cNvPr id="66"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7"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7" name="Group 50"/>
          <p:cNvGrpSpPr>
            <a:grpSpLocks/>
          </p:cNvGrpSpPr>
          <p:nvPr/>
        </p:nvGrpSpPr>
        <p:grpSpPr bwMode="auto">
          <a:xfrm>
            <a:off x="5257152" y="2636485"/>
            <a:ext cx="196823" cy="150371"/>
            <a:chOff x="7917084" y="1956121"/>
            <a:chExt cx="289367" cy="231494"/>
          </a:xfrm>
        </p:grpSpPr>
        <p:sp>
          <p:nvSpPr>
            <p:cNvPr id="6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8" name="Group 50"/>
          <p:cNvGrpSpPr>
            <a:grpSpLocks/>
          </p:cNvGrpSpPr>
          <p:nvPr/>
        </p:nvGrpSpPr>
        <p:grpSpPr bwMode="auto">
          <a:xfrm>
            <a:off x="5761128" y="2636485"/>
            <a:ext cx="196823" cy="150371"/>
            <a:chOff x="7917084" y="1956121"/>
            <a:chExt cx="289367" cy="231494"/>
          </a:xfrm>
        </p:grpSpPr>
        <p:sp>
          <p:nvSpPr>
            <p:cNvPr id="6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9" name="Group 50"/>
          <p:cNvGrpSpPr>
            <a:grpSpLocks/>
          </p:cNvGrpSpPr>
          <p:nvPr/>
        </p:nvGrpSpPr>
        <p:grpSpPr bwMode="auto">
          <a:xfrm>
            <a:off x="6244837" y="2636484"/>
            <a:ext cx="196823" cy="150371"/>
            <a:chOff x="7917084" y="1956121"/>
            <a:chExt cx="289367" cy="231494"/>
          </a:xfrm>
        </p:grpSpPr>
        <p:sp>
          <p:nvSpPr>
            <p:cNvPr id="6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40" name="Group 50"/>
          <p:cNvGrpSpPr>
            <a:grpSpLocks/>
          </p:cNvGrpSpPr>
          <p:nvPr/>
        </p:nvGrpSpPr>
        <p:grpSpPr bwMode="auto">
          <a:xfrm>
            <a:off x="6708939" y="2636486"/>
            <a:ext cx="196823" cy="150371"/>
            <a:chOff x="7917084" y="1956121"/>
            <a:chExt cx="289367" cy="231494"/>
          </a:xfrm>
        </p:grpSpPr>
        <p:sp>
          <p:nvSpPr>
            <p:cNvPr id="5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cxnSp>
        <p:nvCxnSpPr>
          <p:cNvPr id="53" name="Straight Connector 52"/>
          <p:cNvCxnSpPr/>
          <p:nvPr/>
        </p:nvCxnSpPr>
        <p:spPr bwMode="auto">
          <a:xfrm flipH="1">
            <a:off x="3307288" y="2016951"/>
            <a:ext cx="24137" cy="1126178"/>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54" name="Straight Connector 53"/>
          <p:cNvCxnSpPr>
            <a:stCxn id="118" idx="3"/>
          </p:cNvCxnSpPr>
          <p:nvPr/>
        </p:nvCxnSpPr>
        <p:spPr bwMode="auto">
          <a:xfrm>
            <a:off x="4865742" y="2079727"/>
            <a:ext cx="26674" cy="979811"/>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55" name="Straight Arrow Connector 54"/>
          <p:cNvCxnSpPr/>
          <p:nvPr/>
        </p:nvCxnSpPr>
        <p:spPr bwMode="auto">
          <a:xfrm>
            <a:off x="3307288" y="2990827"/>
            <a:ext cx="1594616" cy="0"/>
          </a:xfrm>
          <a:prstGeom prst="straightConnector1">
            <a:avLst/>
          </a:prstGeom>
          <a:solidFill>
            <a:schemeClr val="accent1"/>
          </a:solidFill>
          <a:ln w="12700" cap="flat" cmpd="sng" algn="ctr">
            <a:solidFill>
              <a:schemeClr val="tx1"/>
            </a:solidFill>
            <a:prstDash val="solid"/>
            <a:round/>
            <a:headEnd type="arrow"/>
            <a:tailEnd type="arrow"/>
          </a:ln>
          <a:effectLst/>
        </p:spPr>
      </p:cxnSp>
      <p:sp>
        <p:nvSpPr>
          <p:cNvPr id="56" name="TextBox 55"/>
          <p:cNvSpPr txBox="1"/>
          <p:nvPr/>
        </p:nvSpPr>
        <p:spPr>
          <a:xfrm>
            <a:off x="3910557" y="2671148"/>
            <a:ext cx="459962" cy="338554"/>
          </a:xfrm>
          <a:prstGeom prst="rect">
            <a:avLst/>
          </a:prstGeom>
          <a:noFill/>
        </p:spPr>
        <p:txBody>
          <a:bodyPr wrap="square" rtlCol="0">
            <a:spAutoFit/>
          </a:bodyPr>
          <a:lstStyle/>
          <a:p>
            <a:r>
              <a:rPr lang="en-US" sz="1600" dirty="0"/>
              <a:t>L</a:t>
            </a:r>
          </a:p>
        </p:txBody>
      </p:sp>
      <p:sp>
        <p:nvSpPr>
          <p:cNvPr id="132" name="TextBox 131"/>
          <p:cNvSpPr txBox="1"/>
          <p:nvPr/>
        </p:nvSpPr>
        <p:spPr>
          <a:xfrm>
            <a:off x="5568516" y="1027476"/>
            <a:ext cx="1309574" cy="584775"/>
          </a:xfrm>
          <a:prstGeom prst="rect">
            <a:avLst/>
          </a:prstGeom>
          <a:noFill/>
        </p:spPr>
        <p:txBody>
          <a:bodyPr wrap="square" rtlCol="0">
            <a:spAutoFit/>
          </a:bodyPr>
          <a:lstStyle/>
          <a:p>
            <a:r>
              <a:rPr lang="en-US" sz="1600" dirty="0"/>
              <a:t>+ U</a:t>
            </a:r>
            <a:r>
              <a:rPr lang="en-US" sz="1600" baseline="-25000" dirty="0"/>
              <a:t>DS</a:t>
            </a:r>
            <a:r>
              <a:rPr lang="en-US" sz="1600" dirty="0"/>
              <a:t>=</a:t>
            </a:r>
            <a:r>
              <a:rPr lang="en-US" sz="1600" dirty="0" err="1"/>
              <a:t>U</a:t>
            </a:r>
            <a:r>
              <a:rPr lang="en-US" sz="1600" baseline="-25000" dirty="0" err="1"/>
              <a:t>Dsat</a:t>
            </a:r>
            <a:endParaRPr lang="en-US" sz="1600" baseline="-25000" dirty="0"/>
          </a:p>
          <a:p>
            <a:endParaRPr lang="en-US" sz="1600" dirty="0"/>
          </a:p>
        </p:txBody>
      </p:sp>
      <p:cxnSp>
        <p:nvCxnSpPr>
          <p:cNvPr id="134" name="Straight Arrow Connector 133"/>
          <p:cNvCxnSpPr/>
          <p:nvPr/>
        </p:nvCxnSpPr>
        <p:spPr bwMode="auto">
          <a:xfrm>
            <a:off x="5453974" y="1315508"/>
            <a:ext cx="0" cy="391447"/>
          </a:xfrm>
          <a:prstGeom prst="straightConnector1">
            <a:avLst/>
          </a:prstGeom>
          <a:ln>
            <a:solidFill>
              <a:srgbClr val="FF0000"/>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36" name="Isosceles Triangle 135"/>
          <p:cNvSpPr/>
          <p:nvPr/>
        </p:nvSpPr>
        <p:spPr bwMode="auto">
          <a:xfrm rot="4980000">
            <a:off x="3885830" y="1175418"/>
            <a:ext cx="404695" cy="1688899"/>
          </a:xfrm>
          <a:prstGeom prst="triangle">
            <a:avLst/>
          </a:prstGeom>
          <a:solidFill>
            <a:srgbClr val="0038A8"/>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37" name="Rectangle 136"/>
          <p:cNvSpPr/>
          <p:nvPr/>
        </p:nvSpPr>
        <p:spPr>
          <a:xfrm flipH="1">
            <a:off x="5169577" y="1963580"/>
            <a:ext cx="1960563" cy="560857"/>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rPr>
              <a:t>n+</a:t>
            </a:r>
          </a:p>
        </p:txBody>
      </p:sp>
      <mc:AlternateContent xmlns:mc="http://schemas.openxmlformats.org/markup-compatibility/2006" xmlns:a14="http://schemas.microsoft.com/office/drawing/2010/main">
        <mc:Choice Requires="a14">
          <p:sp>
            <p:nvSpPr>
              <p:cNvPr id="140" name="TextBox 53"/>
              <p:cNvSpPr txBox="1">
                <a:spLocks noChangeArrowheads="1"/>
              </p:cNvSpPr>
              <p:nvPr/>
            </p:nvSpPr>
            <p:spPr bwMode="auto">
              <a:xfrm>
                <a:off x="4677205" y="4430959"/>
                <a:ext cx="2933559"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n-US" sz="1800" dirty="0"/>
                  <a:t>U</a:t>
                </a:r>
                <a:r>
                  <a:rPr lang="en-US" sz="1800" baseline="-25000" dirty="0"/>
                  <a:t>DS(sat)</a:t>
                </a:r>
                <a:r>
                  <a:rPr lang="en-US" sz="1800" dirty="0"/>
                  <a:t> = U</a:t>
                </a:r>
                <a:r>
                  <a:rPr lang="en-US" sz="1800" baseline="-25000" dirty="0"/>
                  <a:t>GS </a:t>
                </a:r>
                <a14:m>
                  <m:oMath xmlns:m="http://schemas.openxmlformats.org/officeDocument/2006/math">
                    <m:r>
                      <a:rPr lang="en-US" sz="1800">
                        <a:latin typeface="Cambria Math"/>
                      </a:rPr>
                      <m:t>−</m:t>
                    </m:r>
                  </m:oMath>
                </a14:m>
                <a:r>
                  <a:rPr lang="en-US" sz="1800" dirty="0"/>
                  <a:t> U</a:t>
                </a:r>
                <a:r>
                  <a:rPr lang="en-US" sz="1800" baseline="-25000" dirty="0"/>
                  <a:t>T</a:t>
                </a:r>
              </a:p>
            </p:txBody>
          </p:sp>
        </mc:Choice>
        <mc:Fallback xmlns="">
          <p:sp>
            <p:nvSpPr>
              <p:cNvPr id="140" name="TextBox 53"/>
              <p:cNvSpPr txBox="1">
                <a:spLocks noRot="1" noChangeAspect="1" noMove="1" noResize="1" noEditPoints="1" noAdjustHandles="1" noChangeArrowheads="1" noChangeShapeType="1" noTextEdit="1"/>
              </p:cNvSpPr>
              <p:nvPr/>
            </p:nvSpPr>
            <p:spPr bwMode="auto">
              <a:xfrm>
                <a:off x="4677205" y="4430959"/>
                <a:ext cx="2933559" cy="369332"/>
              </a:xfrm>
              <a:prstGeom prst="rect">
                <a:avLst/>
              </a:prstGeom>
              <a:blipFill>
                <a:blip r:embed="rId3"/>
                <a:stretch>
                  <a:fillRect l="-1663" t="-10000" b="-266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bg-BG">
                    <a:noFill/>
                  </a:rPr>
                  <a:t> </a:t>
                </a:r>
              </a:p>
            </p:txBody>
          </p:sp>
        </mc:Fallback>
      </mc:AlternateContent>
      <p:sp>
        <p:nvSpPr>
          <p:cNvPr id="141" name="Rectangle 9"/>
          <p:cNvSpPr>
            <a:spLocks noChangeArrowheads="1"/>
          </p:cNvSpPr>
          <p:nvPr/>
        </p:nvSpPr>
        <p:spPr bwMode="auto">
          <a:xfrm>
            <a:off x="418692" y="4941168"/>
            <a:ext cx="1130525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bg-BG" sz="1400" dirty="0"/>
              <a:t>При достигане на напрежението на насищане </a:t>
            </a:r>
            <a:r>
              <a:rPr lang="en-US" sz="1400" i="1" dirty="0"/>
              <a:t>U</a:t>
            </a:r>
            <a:r>
              <a:rPr lang="en-US" sz="1400" i="1" baseline="-25000" dirty="0"/>
              <a:t>DS(</a:t>
            </a:r>
            <a:r>
              <a:rPr lang="en-US" sz="1400" baseline="-25000" dirty="0"/>
              <a:t>sat)</a:t>
            </a:r>
            <a:r>
              <a:rPr lang="en-US" sz="1400" dirty="0"/>
              <a:t> </a:t>
            </a:r>
            <a:r>
              <a:rPr lang="bg-BG" sz="1400" dirty="0"/>
              <a:t>каналът в областта до дрейна се “прищипва” (</a:t>
            </a:r>
            <a:r>
              <a:rPr lang="de-DE" sz="1400" dirty="0" err="1"/>
              <a:t>pinch</a:t>
            </a:r>
            <a:r>
              <a:rPr lang="de-DE" sz="1400" dirty="0"/>
              <a:t>-off</a:t>
            </a:r>
            <a:r>
              <a:rPr lang="bg-BG" sz="1400" dirty="0"/>
              <a:t>)</a:t>
            </a:r>
            <a:r>
              <a:rPr lang="en-US" sz="1400" dirty="0"/>
              <a:t>, </a:t>
            </a:r>
            <a:r>
              <a:rPr lang="bg-BG" sz="1400" dirty="0"/>
              <a:t>защото индуциращото го напрежение  в тази точка става равно на праговото. </a:t>
            </a:r>
            <a:endParaRPr lang="en-US" sz="1400" dirty="0"/>
          </a:p>
          <a:p>
            <a:endParaRPr lang="en-US" sz="1400" dirty="0"/>
          </a:p>
          <a:p>
            <a:r>
              <a:rPr lang="bg-BG" sz="1400" dirty="0"/>
              <a:t>По-нататъшното увеличаване на </a:t>
            </a:r>
            <a:r>
              <a:rPr lang="en-US" sz="1400" i="1" dirty="0"/>
              <a:t>U</a:t>
            </a:r>
            <a:r>
              <a:rPr lang="en-US" sz="1400" i="1" baseline="-25000" dirty="0"/>
              <a:t>DS</a:t>
            </a:r>
            <a:r>
              <a:rPr lang="en-US" sz="1400" dirty="0"/>
              <a:t> </a:t>
            </a:r>
            <a:r>
              <a:rPr lang="bg-BG" sz="1400" dirty="0"/>
              <a:t>води до насищане на тока </a:t>
            </a:r>
            <a:r>
              <a:rPr lang="en-US" sz="1400" i="1" dirty="0"/>
              <a:t>I</a:t>
            </a:r>
            <a:r>
              <a:rPr lang="en-US" sz="1400" i="1" baseline="-25000" dirty="0"/>
              <a:t>D</a:t>
            </a:r>
            <a:r>
              <a:rPr lang="en-US" sz="1400" dirty="0"/>
              <a:t>. </a:t>
            </a:r>
            <a:r>
              <a:rPr lang="bg-BG" sz="1400" dirty="0"/>
              <a:t>Това е областта на </a:t>
            </a:r>
            <a:r>
              <a:rPr lang="bg-BG" sz="1400" b="1" dirty="0"/>
              <a:t>насищане.</a:t>
            </a:r>
            <a:endParaRPr lang="en-US" sz="1400" dirty="0"/>
          </a:p>
        </p:txBody>
      </p:sp>
      <p:pic>
        <p:nvPicPr>
          <p:cNvPr id="4" name="Picture 3">
            <a:extLst>
              <a:ext uri="{FF2B5EF4-FFF2-40B4-BE49-F238E27FC236}">
                <a16:creationId xmlns:a16="http://schemas.microsoft.com/office/drawing/2014/main" id="{9C725CB3-FB48-13D1-1968-859A3DA8E8DB}"/>
              </a:ext>
            </a:extLst>
          </p:cNvPr>
          <p:cNvPicPr>
            <a:picLocks noChangeAspect="1"/>
          </p:cNvPicPr>
          <p:nvPr/>
        </p:nvPicPr>
        <p:blipFill>
          <a:blip r:embed="rId4"/>
          <a:stretch>
            <a:fillRect/>
          </a:stretch>
        </p:blipFill>
        <p:spPr>
          <a:xfrm>
            <a:off x="8067564" y="1599864"/>
            <a:ext cx="2629267" cy="2514951"/>
          </a:xfrm>
          <a:prstGeom prst="rect">
            <a:avLst/>
          </a:prstGeom>
        </p:spPr>
      </p:pic>
      <p:sp>
        <p:nvSpPr>
          <p:cNvPr id="3" name="TextBox 2">
            <a:extLst>
              <a:ext uri="{FF2B5EF4-FFF2-40B4-BE49-F238E27FC236}">
                <a16:creationId xmlns:a16="http://schemas.microsoft.com/office/drawing/2014/main" id="{F3C42577-F894-9EA7-29DB-114DA2428F99}"/>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Режими на работа на </a:t>
            </a:r>
            <a:r>
              <a:rPr lang="en-US" sz="2400" dirty="0">
                <a:solidFill>
                  <a:srgbClr val="0038A8"/>
                </a:solidFill>
                <a:latin typeface="+mj-lt"/>
                <a:cs typeface="Arial" panose="020B0604020202020204" pitchFamily="34" charset="0"/>
              </a:rPr>
              <a:t>MOSFET – </a:t>
            </a:r>
            <a:r>
              <a:rPr lang="bg-BG" sz="2400" dirty="0">
                <a:solidFill>
                  <a:srgbClr val="0038A8"/>
                </a:solidFill>
                <a:latin typeface="+mj-lt"/>
                <a:cs typeface="Arial" panose="020B0604020202020204" pitchFamily="34" charset="0"/>
              </a:rPr>
              <a:t>Режим на насищане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Tree>
    <p:extLst>
      <p:ext uri="{BB962C8B-B14F-4D97-AF65-F5344CB8AC3E}">
        <p14:creationId xmlns:p14="http://schemas.microsoft.com/office/powerpoint/2010/main" val="3698225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983432" y="804746"/>
            <a:ext cx="6077777" cy="3263792"/>
            <a:chOff x="1404588" y="975729"/>
            <a:chExt cx="6077777" cy="3263792"/>
          </a:xfrm>
        </p:grpSpPr>
        <p:grpSp>
          <p:nvGrpSpPr>
            <p:cNvPr id="19" name="Group 18"/>
            <p:cNvGrpSpPr/>
            <p:nvPr/>
          </p:nvGrpSpPr>
          <p:grpSpPr>
            <a:xfrm>
              <a:off x="1404588" y="1145006"/>
              <a:ext cx="6077777" cy="3094515"/>
              <a:chOff x="1404588" y="1026911"/>
              <a:chExt cx="6077777" cy="3094515"/>
            </a:xfrm>
          </p:grpSpPr>
          <p:sp>
            <p:nvSpPr>
              <p:cNvPr id="87" name="Rectangle 86"/>
              <p:cNvSpPr/>
              <p:nvPr/>
            </p:nvSpPr>
            <p:spPr>
              <a:xfrm>
                <a:off x="1404588" y="1755824"/>
                <a:ext cx="6065044" cy="1905000"/>
              </a:xfrm>
              <a:prstGeom prst="rect">
                <a:avLst/>
              </a:prstGeom>
              <a:solidFill>
                <a:srgbClr val="FF0000"/>
              </a:solidFill>
              <a:ln w="6350">
                <a:solidFill>
                  <a:srgbClr val="FF8C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3517551" y="1489124"/>
                <a:ext cx="1839118" cy="1143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a:spLocks noChangeArrowheads="1"/>
              </p:cNvSpPr>
              <p:nvPr/>
            </p:nvSpPr>
            <p:spPr bwMode="auto">
              <a:xfrm>
                <a:off x="2636861" y="1684970"/>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94" name="Rectangle 93"/>
              <p:cNvSpPr>
                <a:spLocks noChangeArrowheads="1"/>
              </p:cNvSpPr>
              <p:nvPr/>
            </p:nvSpPr>
            <p:spPr bwMode="auto">
              <a:xfrm>
                <a:off x="1625909" y="3672712"/>
                <a:ext cx="661242" cy="77373"/>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grpSp>
            <p:nvGrpSpPr>
              <p:cNvPr id="95" name="Group 94"/>
              <p:cNvGrpSpPr/>
              <p:nvPr/>
            </p:nvGrpSpPr>
            <p:grpSpPr>
              <a:xfrm>
                <a:off x="1420523" y="1750382"/>
                <a:ext cx="6061842" cy="965092"/>
                <a:chOff x="1301635" y="1908010"/>
                <a:chExt cx="6061842" cy="965092"/>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grpSpPr>
            <p:grpSp>
              <p:nvGrpSpPr>
                <p:cNvPr id="122" name="Group 121"/>
                <p:cNvGrpSpPr/>
                <p:nvPr/>
              </p:nvGrpSpPr>
              <p:grpSpPr>
                <a:xfrm>
                  <a:off x="1301635" y="1913475"/>
                  <a:ext cx="2477917" cy="959627"/>
                  <a:chOff x="1544637" y="2819400"/>
                  <a:chExt cx="2265363" cy="457200"/>
                </a:xfrm>
                <a:grpFill/>
              </p:grpSpPr>
              <p:sp>
                <p:nvSpPr>
                  <p:cNvPr id="128" name="Rectangle 127"/>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 name="Group 122"/>
                <p:cNvGrpSpPr/>
                <p:nvPr/>
              </p:nvGrpSpPr>
              <p:grpSpPr>
                <a:xfrm flipH="1">
                  <a:off x="4885560" y="1908010"/>
                  <a:ext cx="2477917" cy="959627"/>
                  <a:chOff x="1544637" y="2819400"/>
                  <a:chExt cx="2265363" cy="457200"/>
                </a:xfrm>
                <a:grpFill/>
              </p:grpSpPr>
              <p:sp>
                <p:nvSpPr>
                  <p:cNvPr id="125" name="Rectangle 124"/>
                  <p:cNvSpPr/>
                  <p:nvPr/>
                </p:nvSpPr>
                <p:spPr>
                  <a:xfrm>
                    <a:off x="1544637" y="2819400"/>
                    <a:ext cx="1960563"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p:cNvSpPr/>
                  <p:nvPr/>
                </p:nvSpPr>
                <p:spPr>
                  <a:xfrm>
                    <a:off x="3276600" y="2819400"/>
                    <a:ext cx="533400" cy="457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p:cNvSpPr/>
                  <p:nvPr/>
                </p:nvSpPr>
                <p:spPr>
                  <a:xfrm>
                    <a:off x="3505200" y="2819400"/>
                    <a:ext cx="304800" cy="2286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4" name="Rectangle 123"/>
                <p:cNvSpPr/>
                <p:nvPr/>
              </p:nvSpPr>
              <p:spPr bwMode="auto">
                <a:xfrm>
                  <a:off x="3765906" y="1913870"/>
                  <a:ext cx="1119654" cy="466167"/>
                </a:xfrm>
                <a:prstGeom prst="rect">
                  <a:avLst/>
                </a:prstGeom>
                <a:grp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grpSp>
          <p:grpSp>
            <p:nvGrpSpPr>
              <p:cNvPr id="96" name="Group 95"/>
              <p:cNvGrpSpPr/>
              <p:nvPr/>
            </p:nvGrpSpPr>
            <p:grpSpPr>
              <a:xfrm>
                <a:off x="1404588" y="1755823"/>
                <a:ext cx="2265363" cy="645927"/>
                <a:chOff x="1544637" y="2819400"/>
                <a:chExt cx="2265363" cy="457200"/>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19" name="Rectangle 118"/>
                <p:cNvSpPr/>
                <p:nvPr/>
              </p:nvSpPr>
              <p:spPr>
                <a:xfrm>
                  <a:off x="1544637" y="2819400"/>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p:cNvGrpSpPr/>
              <p:nvPr/>
            </p:nvGrpSpPr>
            <p:grpSpPr>
              <a:xfrm flipH="1">
                <a:off x="5204268" y="1755821"/>
                <a:ext cx="2265363" cy="616252"/>
                <a:chOff x="1544637" y="2819400"/>
                <a:chExt cx="2265363" cy="457201"/>
              </a:xfr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5400000" scaled="1"/>
                <a:tileRect/>
              </a:gradFill>
            </p:grpSpPr>
            <p:sp>
              <p:nvSpPr>
                <p:cNvPr id="117" name="Oval 116"/>
                <p:cNvSpPr/>
                <p:nvPr/>
              </p:nvSpPr>
              <p:spPr>
                <a:xfrm>
                  <a:off x="3276600" y="2819400"/>
                  <a:ext cx="533400" cy="457200"/>
                </a:xfrm>
                <a:prstGeom prst="ellipse">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3505200" y="2819400"/>
                  <a:ext cx="304800" cy="2286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1544637" y="2819401"/>
                  <a:ext cx="1960563" cy="457200"/>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TextBox 14"/>
              <p:cNvSpPr txBox="1">
                <a:spLocks noChangeArrowheads="1"/>
              </p:cNvSpPr>
              <p:nvPr/>
            </p:nvSpPr>
            <p:spPr bwMode="auto">
              <a:xfrm>
                <a:off x="1625909" y="3163530"/>
                <a:ext cx="1704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600" dirty="0"/>
                  <a:t>p</a:t>
                </a:r>
                <a:endParaRPr lang="en-US" sz="1600" i="0" dirty="0"/>
              </a:p>
            </p:txBody>
          </p:sp>
          <p:sp>
            <p:nvSpPr>
              <p:cNvPr id="99" name="TextBox 68"/>
              <p:cNvSpPr txBox="1">
                <a:spLocks noChangeArrowheads="1"/>
              </p:cNvSpPr>
              <p:nvPr/>
            </p:nvSpPr>
            <p:spPr bwMode="auto">
              <a:xfrm>
                <a:off x="6608172" y="1985262"/>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t>n+</a:t>
                </a:r>
              </a:p>
            </p:txBody>
          </p:sp>
          <p:sp>
            <p:nvSpPr>
              <p:cNvPr id="100" name="TextBox 68"/>
              <p:cNvSpPr txBox="1">
                <a:spLocks noChangeArrowheads="1"/>
              </p:cNvSpPr>
              <p:nvPr/>
            </p:nvSpPr>
            <p:spPr bwMode="auto">
              <a:xfrm>
                <a:off x="1783175" y="1930951"/>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cxnSp>
            <p:nvCxnSpPr>
              <p:cNvPr id="103" name="Straight Connector 102"/>
              <p:cNvCxnSpPr>
                <a:stCxn id="94" idx="2"/>
              </p:cNvCxnSpPr>
              <p:nvPr/>
            </p:nvCxnSpPr>
            <p:spPr bwMode="auto">
              <a:xfrm>
                <a:off x="1956530" y="3750085"/>
                <a:ext cx="0" cy="37134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4" name="Straight Connector 103"/>
              <p:cNvCxnSpPr>
                <a:stCxn id="89" idx="0"/>
              </p:cNvCxnSpPr>
              <p:nvPr/>
            </p:nvCxnSpPr>
            <p:spPr bwMode="auto">
              <a:xfrm flipV="1">
                <a:off x="4437110" y="1161047"/>
                <a:ext cx="7511" cy="328077"/>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5" name="Straight Connector 104"/>
              <p:cNvCxnSpPr/>
              <p:nvPr/>
            </p:nvCxnSpPr>
            <p:spPr bwMode="auto">
              <a:xfrm flipV="1">
                <a:off x="2967482" y="1094476"/>
                <a:ext cx="0" cy="683258"/>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6" name="Straight Connector 105"/>
              <p:cNvCxnSpPr/>
              <p:nvPr/>
            </p:nvCxnSpPr>
            <p:spPr bwMode="auto">
              <a:xfrm>
                <a:off x="1809679" y="4121426"/>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7" name="Straight Connector 106"/>
              <p:cNvCxnSpPr/>
              <p:nvPr/>
            </p:nvCxnSpPr>
            <p:spPr bwMode="auto">
              <a:xfrm flipH="1">
                <a:off x="2478019" y="1101844"/>
                <a:ext cx="47470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8" name="Straight Connector 107"/>
              <p:cNvCxnSpPr/>
              <p:nvPr/>
            </p:nvCxnSpPr>
            <p:spPr bwMode="auto">
              <a:xfrm>
                <a:off x="2478019" y="1110757"/>
                <a:ext cx="0" cy="184666"/>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09" name="Straight Connector 108"/>
              <p:cNvCxnSpPr/>
              <p:nvPr/>
            </p:nvCxnSpPr>
            <p:spPr bwMode="auto">
              <a:xfrm>
                <a:off x="2336428" y="1295423"/>
                <a:ext cx="309517"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10" name="Oval 109"/>
              <p:cNvSpPr/>
              <p:nvPr/>
            </p:nvSpPr>
            <p:spPr bwMode="auto">
              <a:xfrm>
                <a:off x="4388021" y="1052374"/>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sp>
            <p:nvSpPr>
              <p:cNvPr id="111" name="TextBox 110"/>
              <p:cNvSpPr txBox="1"/>
              <p:nvPr/>
            </p:nvSpPr>
            <p:spPr>
              <a:xfrm>
                <a:off x="4561158" y="1150570"/>
                <a:ext cx="391528" cy="338554"/>
              </a:xfrm>
              <a:prstGeom prst="rect">
                <a:avLst/>
              </a:prstGeom>
              <a:noFill/>
            </p:spPr>
            <p:txBody>
              <a:bodyPr wrap="square" rtlCol="0">
                <a:spAutoFit/>
              </a:bodyPr>
              <a:lstStyle/>
              <a:p>
                <a:r>
                  <a:rPr lang="en-US" sz="1600" dirty="0"/>
                  <a:t>G</a:t>
                </a:r>
              </a:p>
            </p:txBody>
          </p:sp>
          <p:sp>
            <p:nvSpPr>
              <p:cNvPr id="112" name="TextBox 111"/>
              <p:cNvSpPr txBox="1"/>
              <p:nvPr/>
            </p:nvSpPr>
            <p:spPr>
              <a:xfrm>
                <a:off x="2973623" y="1211977"/>
                <a:ext cx="391528" cy="338554"/>
              </a:xfrm>
              <a:prstGeom prst="rect">
                <a:avLst/>
              </a:prstGeom>
              <a:noFill/>
            </p:spPr>
            <p:txBody>
              <a:bodyPr wrap="square" rtlCol="0">
                <a:spAutoFit/>
              </a:bodyPr>
              <a:lstStyle/>
              <a:p>
                <a:r>
                  <a:rPr lang="en-US" sz="1600" dirty="0"/>
                  <a:t>S</a:t>
                </a:r>
              </a:p>
            </p:txBody>
          </p:sp>
          <p:sp>
            <p:nvSpPr>
              <p:cNvPr id="113" name="Oval 112"/>
              <p:cNvSpPr/>
              <p:nvPr/>
            </p:nvSpPr>
            <p:spPr bwMode="auto">
              <a:xfrm>
                <a:off x="5851250" y="1026911"/>
                <a:ext cx="118494" cy="13400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114" name="Straight Connector 113"/>
              <p:cNvCxnSpPr>
                <a:stCxn id="113" idx="4"/>
                <a:endCxn id="91" idx="0"/>
              </p:cNvCxnSpPr>
              <p:nvPr/>
            </p:nvCxnSpPr>
            <p:spPr bwMode="auto">
              <a:xfrm>
                <a:off x="5910497" y="1160915"/>
                <a:ext cx="0" cy="524055"/>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15" name="TextBox 114"/>
              <p:cNvSpPr txBox="1"/>
              <p:nvPr/>
            </p:nvSpPr>
            <p:spPr>
              <a:xfrm>
                <a:off x="5927499" y="1302970"/>
                <a:ext cx="391528" cy="338554"/>
              </a:xfrm>
              <a:prstGeom prst="rect">
                <a:avLst/>
              </a:prstGeom>
              <a:noFill/>
            </p:spPr>
            <p:txBody>
              <a:bodyPr wrap="square" rtlCol="0">
                <a:spAutoFit/>
              </a:bodyPr>
              <a:lstStyle/>
              <a:p>
                <a:r>
                  <a:rPr lang="en-US" sz="1600" dirty="0"/>
                  <a:t>D</a:t>
                </a:r>
              </a:p>
            </p:txBody>
          </p:sp>
          <p:sp>
            <p:nvSpPr>
              <p:cNvPr id="88" name="Rectangle 87"/>
              <p:cNvSpPr/>
              <p:nvPr/>
            </p:nvSpPr>
            <p:spPr>
              <a:xfrm>
                <a:off x="3517551" y="1603424"/>
                <a:ext cx="1839118" cy="152400"/>
              </a:xfrm>
              <a:prstGeom prst="rect">
                <a:avLst/>
              </a:prstGeom>
              <a:solidFill>
                <a:srgbClr val="FFFF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p:cNvSpPr>
                <a:spLocks noChangeArrowheads="1"/>
              </p:cNvSpPr>
              <p:nvPr/>
            </p:nvSpPr>
            <p:spPr bwMode="auto">
              <a:xfrm>
                <a:off x="5579876" y="1684970"/>
                <a:ext cx="661242" cy="162140"/>
              </a:xfrm>
              <a:prstGeom prst="rect">
                <a:avLst/>
              </a:prstGeom>
              <a:solidFill>
                <a:schemeClr val="tx1"/>
              </a:solidFill>
              <a:ln w="12700" algn="ctr">
                <a:solidFill>
                  <a:schemeClr val="tx1"/>
                </a:solidFill>
                <a:round/>
                <a:headEnd/>
                <a:tailEnd/>
              </a:ln>
            </p:spPr>
            <p:txBody>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endParaRPr lang="en-US"/>
              </a:p>
            </p:txBody>
          </p:sp>
          <p:sp>
            <p:nvSpPr>
              <p:cNvPr id="2" name="TextBox 68">
                <a:extLst>
                  <a:ext uri="{FF2B5EF4-FFF2-40B4-BE49-F238E27FC236}">
                    <a16:creationId xmlns:a16="http://schemas.microsoft.com/office/drawing/2014/main" id="{D9AA20F9-5E5C-6DB4-B24F-FE222BA9A509}"/>
                  </a:ext>
                </a:extLst>
              </p:cNvPr>
              <p:cNvSpPr txBox="1">
                <a:spLocks noChangeArrowheads="1"/>
              </p:cNvSpPr>
              <p:nvPr/>
            </p:nvSpPr>
            <p:spPr bwMode="auto">
              <a:xfrm>
                <a:off x="6792805" y="1700957"/>
                <a:ext cx="6190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sz="2400" i="1" kern="1200">
                    <a:solidFill>
                      <a:schemeClr val="tx1"/>
                    </a:solidFill>
                    <a:latin typeface="Arial" charset="0"/>
                    <a:ea typeface="+mn-ea"/>
                    <a:cs typeface="+mn-cs"/>
                  </a:defRPr>
                </a:lvl1pPr>
                <a:lvl2pPr marL="457200" algn="l" rtl="0" eaLnBrk="0" fontAlgn="base" hangingPunct="0">
                  <a:spcBef>
                    <a:spcPct val="0"/>
                  </a:spcBef>
                  <a:spcAft>
                    <a:spcPct val="0"/>
                  </a:spcAft>
                  <a:defRPr sz="2400" i="1" kern="1200">
                    <a:solidFill>
                      <a:schemeClr val="tx1"/>
                    </a:solidFill>
                    <a:latin typeface="Arial" charset="0"/>
                    <a:ea typeface="+mn-ea"/>
                    <a:cs typeface="+mn-cs"/>
                  </a:defRPr>
                </a:lvl2pPr>
                <a:lvl3pPr marL="914400" algn="l" rtl="0" eaLnBrk="0" fontAlgn="base" hangingPunct="0">
                  <a:spcBef>
                    <a:spcPct val="0"/>
                  </a:spcBef>
                  <a:spcAft>
                    <a:spcPct val="0"/>
                  </a:spcAft>
                  <a:defRPr sz="2400" i="1" kern="1200">
                    <a:solidFill>
                      <a:schemeClr val="tx1"/>
                    </a:solidFill>
                    <a:latin typeface="Arial" charset="0"/>
                    <a:ea typeface="+mn-ea"/>
                    <a:cs typeface="+mn-cs"/>
                  </a:defRPr>
                </a:lvl3pPr>
                <a:lvl4pPr marL="1371600" algn="l" rtl="0" eaLnBrk="0" fontAlgn="base" hangingPunct="0">
                  <a:spcBef>
                    <a:spcPct val="0"/>
                  </a:spcBef>
                  <a:spcAft>
                    <a:spcPct val="0"/>
                  </a:spcAft>
                  <a:defRPr sz="2400" i="1" kern="1200">
                    <a:solidFill>
                      <a:schemeClr val="tx1"/>
                    </a:solidFill>
                    <a:latin typeface="Arial" charset="0"/>
                    <a:ea typeface="+mn-ea"/>
                    <a:cs typeface="+mn-cs"/>
                  </a:defRPr>
                </a:lvl4pPr>
                <a:lvl5pPr marL="1828800" algn="l" rtl="0" eaLnBrk="0" fontAlgn="base" hangingPunct="0">
                  <a:spcBef>
                    <a:spcPct val="0"/>
                  </a:spcBef>
                  <a:spcAft>
                    <a:spcPct val="0"/>
                  </a:spcAft>
                  <a:defRPr sz="2400" i="1" kern="1200">
                    <a:solidFill>
                      <a:schemeClr val="tx1"/>
                    </a:solidFill>
                    <a:latin typeface="Arial" charset="0"/>
                    <a:ea typeface="+mn-ea"/>
                    <a:cs typeface="+mn-cs"/>
                  </a:defRPr>
                </a:lvl5pPr>
                <a:lvl6pPr marL="2286000" algn="l" defTabSz="914400" rtl="0" eaLnBrk="1" latinLnBrk="0" hangingPunct="1">
                  <a:defRPr sz="2400" i="1" kern="1200">
                    <a:solidFill>
                      <a:schemeClr val="tx1"/>
                    </a:solidFill>
                    <a:latin typeface="Arial" charset="0"/>
                    <a:ea typeface="+mn-ea"/>
                    <a:cs typeface="+mn-cs"/>
                  </a:defRPr>
                </a:lvl6pPr>
                <a:lvl7pPr marL="2743200" algn="l" defTabSz="914400" rtl="0" eaLnBrk="1" latinLnBrk="0" hangingPunct="1">
                  <a:defRPr sz="2400" i="1" kern="1200">
                    <a:solidFill>
                      <a:schemeClr val="tx1"/>
                    </a:solidFill>
                    <a:latin typeface="Arial" charset="0"/>
                    <a:ea typeface="+mn-ea"/>
                    <a:cs typeface="+mn-cs"/>
                  </a:defRPr>
                </a:lvl7pPr>
                <a:lvl8pPr marL="3200400" algn="l" defTabSz="914400" rtl="0" eaLnBrk="1" latinLnBrk="0" hangingPunct="1">
                  <a:defRPr sz="2400" i="1" kern="1200">
                    <a:solidFill>
                      <a:schemeClr val="tx1"/>
                    </a:solidFill>
                    <a:latin typeface="Arial" charset="0"/>
                    <a:ea typeface="+mn-ea"/>
                    <a:cs typeface="+mn-cs"/>
                  </a:defRPr>
                </a:lvl8pPr>
                <a:lvl9pPr marL="3657600" algn="l" defTabSz="914400" rtl="0" eaLnBrk="1" latinLnBrk="0" hangingPunct="1">
                  <a:defRPr sz="2400" i="1" kern="1200">
                    <a:solidFill>
                      <a:schemeClr val="tx1"/>
                    </a:solidFill>
                    <a:latin typeface="Arial" charset="0"/>
                    <a:ea typeface="+mn-ea"/>
                    <a:cs typeface="+mn-cs"/>
                  </a:defRPr>
                </a:lvl9pPr>
              </a:lstStyle>
              <a:p>
                <a:r>
                  <a:rPr lang="en-US" sz="1800" dirty="0">
                    <a:solidFill>
                      <a:schemeClr val="bg1"/>
                    </a:solidFill>
                  </a:rPr>
                  <a:t>n+</a:t>
                </a:r>
              </a:p>
            </p:txBody>
          </p:sp>
        </p:grpSp>
        <p:sp>
          <p:nvSpPr>
            <p:cNvPr id="20" name="TextBox 19"/>
            <p:cNvSpPr txBox="1"/>
            <p:nvPr/>
          </p:nvSpPr>
          <p:spPr>
            <a:xfrm>
              <a:off x="4610634" y="975729"/>
              <a:ext cx="1240616" cy="338554"/>
            </a:xfrm>
            <a:prstGeom prst="rect">
              <a:avLst/>
            </a:prstGeom>
            <a:noFill/>
          </p:spPr>
          <p:txBody>
            <a:bodyPr wrap="square" rtlCol="0">
              <a:spAutoFit/>
            </a:bodyPr>
            <a:lstStyle/>
            <a:p>
              <a:r>
                <a:rPr lang="en-US" sz="1600" dirty="0"/>
                <a:t>+U</a:t>
              </a:r>
              <a:r>
                <a:rPr lang="en-US" sz="1600" baseline="-25000" dirty="0"/>
                <a:t>GS</a:t>
              </a:r>
              <a:r>
                <a:rPr lang="en-US" sz="1600" dirty="0"/>
                <a:t> </a:t>
              </a:r>
              <a:r>
                <a:rPr lang="bg-BG" sz="1600" dirty="0"/>
                <a:t>≥</a:t>
              </a:r>
              <a:r>
                <a:rPr lang="en-US" sz="1600" dirty="0"/>
                <a:t> U</a:t>
              </a:r>
              <a:r>
                <a:rPr lang="en-US" sz="1600" baseline="-25000" dirty="0"/>
                <a:t>T</a:t>
              </a:r>
            </a:p>
          </p:txBody>
        </p:sp>
        <p:grpSp>
          <p:nvGrpSpPr>
            <p:cNvPr id="25" name="Group 50"/>
            <p:cNvGrpSpPr>
              <a:grpSpLocks/>
            </p:cNvGrpSpPr>
            <p:nvPr/>
          </p:nvGrpSpPr>
          <p:grpSpPr bwMode="auto">
            <a:xfrm>
              <a:off x="1586352" y="2587137"/>
              <a:ext cx="196823" cy="150371"/>
              <a:chOff x="7917084" y="1956121"/>
              <a:chExt cx="289367" cy="231494"/>
            </a:xfrm>
          </p:grpSpPr>
          <p:sp>
            <p:nvSpPr>
              <p:cNvPr id="8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6" name="Group 50"/>
            <p:cNvGrpSpPr>
              <a:grpSpLocks/>
            </p:cNvGrpSpPr>
            <p:nvPr/>
          </p:nvGrpSpPr>
          <p:grpSpPr bwMode="auto">
            <a:xfrm>
              <a:off x="2090328" y="2587137"/>
              <a:ext cx="196823" cy="150371"/>
              <a:chOff x="7917084" y="1956121"/>
              <a:chExt cx="289367" cy="231494"/>
            </a:xfrm>
          </p:grpSpPr>
          <p:sp>
            <p:nvSpPr>
              <p:cNvPr id="8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7" name="Group 50"/>
            <p:cNvGrpSpPr>
              <a:grpSpLocks/>
            </p:cNvGrpSpPr>
            <p:nvPr/>
          </p:nvGrpSpPr>
          <p:grpSpPr bwMode="auto">
            <a:xfrm>
              <a:off x="2574037" y="2587136"/>
              <a:ext cx="196823" cy="150371"/>
              <a:chOff x="7917084" y="1956121"/>
              <a:chExt cx="289367" cy="231494"/>
            </a:xfrm>
          </p:grpSpPr>
          <p:sp>
            <p:nvSpPr>
              <p:cNvPr id="8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8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28" name="Group 50"/>
            <p:cNvGrpSpPr>
              <a:grpSpLocks/>
            </p:cNvGrpSpPr>
            <p:nvPr/>
          </p:nvGrpSpPr>
          <p:grpSpPr bwMode="auto">
            <a:xfrm>
              <a:off x="3038139" y="2587138"/>
              <a:ext cx="196823" cy="150371"/>
              <a:chOff x="7917084" y="1956121"/>
              <a:chExt cx="289367" cy="231494"/>
            </a:xfrm>
          </p:grpSpPr>
          <p:sp>
            <p:nvSpPr>
              <p:cNvPr id="7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1" name="Group 50"/>
            <p:cNvGrpSpPr>
              <a:grpSpLocks/>
            </p:cNvGrpSpPr>
            <p:nvPr/>
          </p:nvGrpSpPr>
          <p:grpSpPr bwMode="auto">
            <a:xfrm>
              <a:off x="3534917" y="2511954"/>
              <a:ext cx="196823" cy="150371"/>
              <a:chOff x="7917084" y="1956121"/>
              <a:chExt cx="289367" cy="231494"/>
            </a:xfrm>
          </p:grpSpPr>
          <p:sp>
            <p:nvSpPr>
              <p:cNvPr id="76"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7"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2" name="Group 50"/>
            <p:cNvGrpSpPr>
              <a:grpSpLocks/>
            </p:cNvGrpSpPr>
            <p:nvPr/>
          </p:nvGrpSpPr>
          <p:grpSpPr bwMode="auto">
            <a:xfrm>
              <a:off x="3714821" y="2173089"/>
              <a:ext cx="196823" cy="150371"/>
              <a:chOff x="7917084" y="1956121"/>
              <a:chExt cx="289367" cy="231494"/>
            </a:xfrm>
          </p:grpSpPr>
          <p:sp>
            <p:nvSpPr>
              <p:cNvPr id="7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3" name="Group 50"/>
            <p:cNvGrpSpPr>
              <a:grpSpLocks/>
            </p:cNvGrpSpPr>
            <p:nvPr/>
          </p:nvGrpSpPr>
          <p:grpSpPr bwMode="auto">
            <a:xfrm>
              <a:off x="4099498" y="2169529"/>
              <a:ext cx="196823" cy="150371"/>
              <a:chOff x="7917084" y="1956121"/>
              <a:chExt cx="289367" cy="231494"/>
            </a:xfrm>
          </p:grpSpPr>
          <p:sp>
            <p:nvSpPr>
              <p:cNvPr id="7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4" name="Group 50"/>
            <p:cNvGrpSpPr>
              <a:grpSpLocks/>
            </p:cNvGrpSpPr>
            <p:nvPr/>
          </p:nvGrpSpPr>
          <p:grpSpPr bwMode="auto">
            <a:xfrm>
              <a:off x="4512222" y="2151101"/>
              <a:ext cx="196823" cy="150371"/>
              <a:chOff x="7917084" y="1956121"/>
              <a:chExt cx="289367" cy="231494"/>
            </a:xfrm>
          </p:grpSpPr>
          <p:sp>
            <p:nvSpPr>
              <p:cNvPr id="7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7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5" name="Group 50"/>
            <p:cNvGrpSpPr>
              <a:grpSpLocks/>
            </p:cNvGrpSpPr>
            <p:nvPr/>
          </p:nvGrpSpPr>
          <p:grpSpPr bwMode="auto">
            <a:xfrm>
              <a:off x="4896899" y="2147541"/>
              <a:ext cx="196823" cy="150371"/>
              <a:chOff x="7917084" y="1956121"/>
              <a:chExt cx="289367" cy="231494"/>
            </a:xfrm>
          </p:grpSpPr>
          <p:sp>
            <p:nvSpPr>
              <p:cNvPr id="6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6" name="Group 50"/>
            <p:cNvGrpSpPr>
              <a:grpSpLocks/>
            </p:cNvGrpSpPr>
            <p:nvPr/>
          </p:nvGrpSpPr>
          <p:grpSpPr bwMode="auto">
            <a:xfrm>
              <a:off x="5090845" y="2469031"/>
              <a:ext cx="196823" cy="150371"/>
              <a:chOff x="7917084" y="1956121"/>
              <a:chExt cx="289367" cy="231494"/>
            </a:xfrm>
          </p:grpSpPr>
          <p:sp>
            <p:nvSpPr>
              <p:cNvPr id="66"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7"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7" name="Group 50"/>
            <p:cNvGrpSpPr>
              <a:grpSpLocks/>
            </p:cNvGrpSpPr>
            <p:nvPr/>
          </p:nvGrpSpPr>
          <p:grpSpPr bwMode="auto">
            <a:xfrm>
              <a:off x="5595678" y="2584739"/>
              <a:ext cx="196823" cy="150371"/>
              <a:chOff x="7917084" y="1956121"/>
              <a:chExt cx="289367" cy="231494"/>
            </a:xfrm>
          </p:grpSpPr>
          <p:sp>
            <p:nvSpPr>
              <p:cNvPr id="64"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5"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8" name="Group 50"/>
            <p:cNvGrpSpPr>
              <a:grpSpLocks/>
            </p:cNvGrpSpPr>
            <p:nvPr/>
          </p:nvGrpSpPr>
          <p:grpSpPr bwMode="auto">
            <a:xfrm>
              <a:off x="6099654" y="2584739"/>
              <a:ext cx="196823" cy="150371"/>
              <a:chOff x="7917084" y="1956121"/>
              <a:chExt cx="289367" cy="231494"/>
            </a:xfrm>
          </p:grpSpPr>
          <p:sp>
            <p:nvSpPr>
              <p:cNvPr id="62"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3"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39" name="Group 50"/>
            <p:cNvGrpSpPr>
              <a:grpSpLocks/>
            </p:cNvGrpSpPr>
            <p:nvPr/>
          </p:nvGrpSpPr>
          <p:grpSpPr bwMode="auto">
            <a:xfrm>
              <a:off x="6583363" y="2584738"/>
              <a:ext cx="196823" cy="150371"/>
              <a:chOff x="7917084" y="1956121"/>
              <a:chExt cx="289367" cy="231494"/>
            </a:xfrm>
          </p:grpSpPr>
          <p:sp>
            <p:nvSpPr>
              <p:cNvPr id="60"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61"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grpSp>
          <p:nvGrpSpPr>
            <p:cNvPr id="40" name="Group 50"/>
            <p:cNvGrpSpPr>
              <a:grpSpLocks/>
            </p:cNvGrpSpPr>
            <p:nvPr/>
          </p:nvGrpSpPr>
          <p:grpSpPr bwMode="auto">
            <a:xfrm>
              <a:off x="7047465" y="2584740"/>
              <a:ext cx="196823" cy="150371"/>
              <a:chOff x="7917084" y="1956121"/>
              <a:chExt cx="289367" cy="231494"/>
            </a:xfrm>
          </p:grpSpPr>
          <p:sp>
            <p:nvSpPr>
              <p:cNvPr id="58" name="Rectangle 51"/>
              <p:cNvSpPr>
                <a:spLocks noChangeArrowheads="1"/>
              </p:cNvSpPr>
              <p:nvPr/>
            </p:nvSpPr>
            <p:spPr bwMode="auto">
              <a:xfrm>
                <a:off x="7917084" y="1956121"/>
                <a:ext cx="289367" cy="231494"/>
              </a:xfrm>
              <a:prstGeom prst="rect">
                <a:avLst/>
              </a:prstGeom>
              <a:solidFill>
                <a:schemeClr val="bg1"/>
              </a:solidFill>
              <a:ln w="12700" algn="ctr">
                <a:solidFill>
                  <a:schemeClr val="tx1"/>
                </a:solidFill>
                <a:round/>
                <a:headEnd/>
                <a:tailEnd/>
              </a:ln>
            </p:spPr>
            <p:txBody>
              <a:bodyPr/>
              <a:lstStyle/>
              <a:p>
                <a:endParaRPr lang="en-US"/>
              </a:p>
            </p:txBody>
          </p:sp>
          <p:cxnSp>
            <p:nvCxnSpPr>
              <p:cNvPr id="59" name="Straight Connector 52"/>
              <p:cNvCxnSpPr>
                <a:cxnSpLocks noChangeShapeType="1"/>
              </p:cNvCxnSpPr>
              <p:nvPr/>
            </p:nvCxnSpPr>
            <p:spPr bwMode="auto">
              <a:xfrm rot="10800000" flipH="1">
                <a:off x="7974956" y="2071868"/>
                <a:ext cx="162045" cy="0"/>
              </a:xfrm>
              <a:prstGeom prst="line">
                <a:avLst/>
              </a:prstGeom>
              <a:noFill/>
              <a:ln w="12700" algn="ctr">
                <a:solidFill>
                  <a:schemeClr val="tx1"/>
                </a:solidFill>
                <a:round/>
                <a:headEnd/>
                <a:tailEnd/>
              </a:ln>
              <a:extLst>
                <a:ext uri="{909E8E84-426E-40DD-AFC4-6F175D3DCCD1}">
                  <a14:hiddenFill xmlns:a14="http://schemas.microsoft.com/office/drawing/2010/main">
                    <a:noFill/>
                  </a14:hiddenFill>
                </a:ext>
              </a:extLst>
            </p:spPr>
          </p:cxnSp>
        </p:grpSp>
        <p:cxnSp>
          <p:nvCxnSpPr>
            <p:cNvPr id="53" name="Straight Connector 52"/>
            <p:cNvCxnSpPr/>
            <p:nvPr/>
          </p:nvCxnSpPr>
          <p:spPr bwMode="auto">
            <a:xfrm flipH="1">
              <a:off x="3645814" y="1965205"/>
              <a:ext cx="24137" cy="1126178"/>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54" name="Straight Connector 53"/>
            <p:cNvCxnSpPr>
              <a:stCxn id="118" idx="3"/>
            </p:cNvCxnSpPr>
            <p:nvPr/>
          </p:nvCxnSpPr>
          <p:spPr bwMode="auto">
            <a:xfrm>
              <a:off x="5204268" y="2027981"/>
              <a:ext cx="26674" cy="979811"/>
            </a:xfrm>
            <a:prstGeom prst="line">
              <a:avLst/>
            </a:prstGeom>
            <a:solidFill>
              <a:schemeClr val="accent1"/>
            </a:solidFill>
            <a:ln w="12700" cap="flat" cmpd="sng" algn="ctr">
              <a:solidFill>
                <a:schemeClr val="tx1"/>
              </a:solidFill>
              <a:prstDash val="dash"/>
              <a:round/>
              <a:headEnd type="none" w="med" len="med"/>
              <a:tailEnd type="none" w="med" len="med"/>
            </a:ln>
            <a:effectLst/>
          </p:spPr>
        </p:cxnSp>
      </p:grpSp>
      <p:sp>
        <p:nvSpPr>
          <p:cNvPr id="132" name="TextBox 131"/>
          <p:cNvSpPr txBox="1"/>
          <p:nvPr/>
        </p:nvSpPr>
        <p:spPr>
          <a:xfrm>
            <a:off x="5485886" y="804747"/>
            <a:ext cx="1309574" cy="584775"/>
          </a:xfrm>
          <a:prstGeom prst="rect">
            <a:avLst/>
          </a:prstGeom>
          <a:noFill/>
        </p:spPr>
        <p:txBody>
          <a:bodyPr wrap="square" rtlCol="0">
            <a:spAutoFit/>
          </a:bodyPr>
          <a:lstStyle/>
          <a:p>
            <a:r>
              <a:rPr lang="en-US" sz="1600" dirty="0"/>
              <a:t>+ U</a:t>
            </a:r>
            <a:r>
              <a:rPr lang="en-US" sz="1600" baseline="-25000" dirty="0"/>
              <a:t>DS</a:t>
            </a:r>
            <a:r>
              <a:rPr lang="bg-BG" sz="1600" dirty="0"/>
              <a:t>&gt; </a:t>
            </a:r>
            <a:r>
              <a:rPr lang="en-US" sz="1600" dirty="0" err="1"/>
              <a:t>U</a:t>
            </a:r>
            <a:r>
              <a:rPr lang="en-US" sz="1600" baseline="-25000" dirty="0" err="1"/>
              <a:t>Dsat</a:t>
            </a:r>
            <a:endParaRPr lang="en-US" sz="1600" baseline="-25000" dirty="0"/>
          </a:p>
          <a:p>
            <a:endParaRPr lang="en-US" sz="1600" dirty="0"/>
          </a:p>
        </p:txBody>
      </p:sp>
      <p:cxnSp>
        <p:nvCxnSpPr>
          <p:cNvPr id="134" name="Straight Arrow Connector 133"/>
          <p:cNvCxnSpPr/>
          <p:nvPr/>
        </p:nvCxnSpPr>
        <p:spPr bwMode="auto">
          <a:xfrm>
            <a:off x="5371344" y="1092779"/>
            <a:ext cx="0" cy="391447"/>
          </a:xfrm>
          <a:prstGeom prst="straightConnector1">
            <a:avLst/>
          </a:prstGeom>
          <a:ln>
            <a:solidFill>
              <a:srgbClr val="FF0000"/>
            </a:solidFill>
            <a:headEnd type="none" w="med" len="med"/>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40" name="TextBox 53"/>
              <p:cNvSpPr txBox="1">
                <a:spLocks noChangeArrowheads="1"/>
              </p:cNvSpPr>
              <p:nvPr/>
            </p:nvSpPr>
            <p:spPr bwMode="auto">
              <a:xfrm>
                <a:off x="4605267" y="3939536"/>
                <a:ext cx="1911350" cy="3683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n-US" sz="1800" dirty="0" err="1"/>
                  <a:t>U</a:t>
                </a:r>
                <a:r>
                  <a:rPr lang="en-US" sz="1800" baseline="-25000" dirty="0" err="1"/>
                  <a:t>Dsat</a:t>
                </a:r>
                <a:r>
                  <a:rPr lang="en-US" sz="1800" dirty="0"/>
                  <a:t> = U</a:t>
                </a:r>
                <a:r>
                  <a:rPr lang="en-US" sz="1800" baseline="-25000" dirty="0"/>
                  <a:t>GS </a:t>
                </a:r>
                <a14:m>
                  <m:oMath xmlns:m="http://schemas.openxmlformats.org/officeDocument/2006/math">
                    <m:r>
                      <a:rPr lang="en-US" sz="1800">
                        <a:latin typeface="Cambria Math"/>
                      </a:rPr>
                      <m:t>−</m:t>
                    </m:r>
                  </m:oMath>
                </a14:m>
                <a:r>
                  <a:rPr lang="en-US" sz="1800" dirty="0"/>
                  <a:t> U</a:t>
                </a:r>
                <a:r>
                  <a:rPr lang="en-US" sz="1800" baseline="-25000" dirty="0"/>
                  <a:t>T</a:t>
                </a:r>
              </a:p>
            </p:txBody>
          </p:sp>
        </mc:Choice>
        <mc:Fallback xmlns="">
          <p:sp>
            <p:nvSpPr>
              <p:cNvPr id="140" name="TextBox 53"/>
              <p:cNvSpPr txBox="1">
                <a:spLocks noRot="1" noChangeAspect="1" noMove="1" noResize="1" noEditPoints="1" noAdjustHandles="1" noChangeArrowheads="1" noChangeShapeType="1" noTextEdit="1"/>
              </p:cNvSpPr>
              <p:nvPr/>
            </p:nvSpPr>
            <p:spPr bwMode="auto">
              <a:xfrm>
                <a:off x="4605267" y="3939536"/>
                <a:ext cx="1911350" cy="368300"/>
              </a:xfrm>
              <a:prstGeom prst="rect">
                <a:avLst/>
              </a:prstGeom>
              <a:blipFill>
                <a:blip r:embed="rId2"/>
                <a:stretch>
                  <a:fillRect l="-2548" t="-8197" b="-245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bg-BG">
                    <a:noFill/>
                  </a:rPr>
                  <a:t> </a:t>
                </a:r>
              </a:p>
            </p:txBody>
          </p:sp>
        </mc:Fallback>
      </mc:AlternateContent>
      <p:sp>
        <p:nvSpPr>
          <p:cNvPr id="131" name="Isosceles Triangle 130"/>
          <p:cNvSpPr/>
          <p:nvPr/>
        </p:nvSpPr>
        <p:spPr bwMode="auto">
          <a:xfrm rot="4980000">
            <a:off x="3643546" y="1205388"/>
            <a:ext cx="307954" cy="1163846"/>
          </a:xfrm>
          <a:prstGeom prst="triangle">
            <a:avLst/>
          </a:prstGeom>
          <a:solidFill>
            <a:srgbClr val="0038A8"/>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400" i="1"/>
          </a:p>
        </p:txBody>
      </p:sp>
      <p:cxnSp>
        <p:nvCxnSpPr>
          <p:cNvPr id="133" name="Straight Arrow Connector 132"/>
          <p:cNvCxnSpPr/>
          <p:nvPr/>
        </p:nvCxnSpPr>
        <p:spPr bwMode="auto">
          <a:xfrm>
            <a:off x="3237727" y="2806523"/>
            <a:ext cx="1129140" cy="0"/>
          </a:xfrm>
          <a:prstGeom prst="straightConnector1">
            <a:avLst/>
          </a:prstGeom>
          <a:solidFill>
            <a:schemeClr val="accent1"/>
          </a:solidFill>
          <a:ln w="12700" cap="flat" cmpd="sng" algn="ctr">
            <a:solidFill>
              <a:schemeClr val="tx1"/>
            </a:solidFill>
            <a:prstDash val="solid"/>
            <a:round/>
            <a:headEnd type="arrow"/>
            <a:tailEnd type="arrow"/>
          </a:ln>
          <a:effectLst/>
        </p:spPr>
      </p:cxnSp>
      <p:cxnSp>
        <p:nvCxnSpPr>
          <p:cNvPr id="142" name="Straight Connector 141"/>
          <p:cNvCxnSpPr/>
          <p:nvPr/>
        </p:nvCxnSpPr>
        <p:spPr bwMode="auto">
          <a:xfrm>
            <a:off x="4308478" y="1749452"/>
            <a:ext cx="26672" cy="1143527"/>
          </a:xfrm>
          <a:prstGeom prst="line">
            <a:avLst/>
          </a:prstGeom>
          <a:solidFill>
            <a:schemeClr val="accent1"/>
          </a:solidFill>
          <a:ln w="12700" cap="flat" cmpd="sng" algn="ctr">
            <a:solidFill>
              <a:schemeClr val="tx1"/>
            </a:solidFill>
            <a:prstDash val="dash"/>
            <a:round/>
            <a:headEnd type="none" w="med" len="med"/>
            <a:tailEnd type="none" w="med" len="med"/>
          </a:ln>
          <a:effectLst/>
        </p:spPr>
      </p:cxnSp>
      <p:cxnSp>
        <p:nvCxnSpPr>
          <p:cNvPr id="143" name="Straight Arrow Connector 142"/>
          <p:cNvCxnSpPr/>
          <p:nvPr/>
        </p:nvCxnSpPr>
        <p:spPr bwMode="auto">
          <a:xfrm flipV="1">
            <a:off x="4335151" y="2792457"/>
            <a:ext cx="474635" cy="5976"/>
          </a:xfrm>
          <a:prstGeom prst="straightConnector1">
            <a:avLst/>
          </a:prstGeom>
          <a:solidFill>
            <a:schemeClr val="accent1"/>
          </a:solidFill>
          <a:ln w="3175" cap="flat" cmpd="sng" algn="ctr">
            <a:solidFill>
              <a:schemeClr val="tx1"/>
            </a:solidFill>
            <a:prstDash val="solid"/>
            <a:round/>
            <a:headEnd type="arrow"/>
            <a:tailEnd type="arrow"/>
          </a:ln>
          <a:effectLst/>
        </p:spPr>
      </p:cxnSp>
      <p:sp>
        <p:nvSpPr>
          <p:cNvPr id="144" name="TextBox 14"/>
          <p:cNvSpPr txBox="1">
            <a:spLocks noChangeArrowheads="1"/>
          </p:cNvSpPr>
          <p:nvPr/>
        </p:nvSpPr>
        <p:spPr bwMode="auto">
          <a:xfrm>
            <a:off x="4321898" y="2454321"/>
            <a:ext cx="5667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l-GR" sz="1600" dirty="0"/>
              <a:t>Δ</a:t>
            </a:r>
            <a:r>
              <a:rPr lang="en-US" sz="1600" dirty="0"/>
              <a:t>L</a:t>
            </a:r>
          </a:p>
        </p:txBody>
      </p:sp>
      <p:sp>
        <p:nvSpPr>
          <p:cNvPr id="145" name="TextBox 144"/>
          <p:cNvSpPr txBox="1"/>
          <p:nvPr/>
        </p:nvSpPr>
        <p:spPr>
          <a:xfrm>
            <a:off x="3540015" y="2460930"/>
            <a:ext cx="703519" cy="338554"/>
          </a:xfrm>
          <a:prstGeom prst="rect">
            <a:avLst/>
          </a:prstGeom>
          <a:noFill/>
        </p:spPr>
        <p:txBody>
          <a:bodyPr wrap="square" rtlCol="0">
            <a:spAutoFit/>
          </a:bodyPr>
          <a:lstStyle/>
          <a:p>
            <a:r>
              <a:rPr lang="en-US" sz="1600" dirty="0" err="1"/>
              <a:t>U</a:t>
            </a:r>
            <a:r>
              <a:rPr lang="en-US" sz="1600" baseline="-25000" dirty="0" err="1"/>
              <a:t>Dsat</a:t>
            </a:r>
            <a:endParaRPr lang="en-US" sz="1600" baseline="-25000" dirty="0"/>
          </a:p>
        </p:txBody>
      </p:sp>
      <p:sp>
        <p:nvSpPr>
          <p:cNvPr id="146" name="Rectangle 9"/>
          <p:cNvSpPr>
            <a:spLocks noChangeArrowheads="1"/>
          </p:cNvSpPr>
          <p:nvPr/>
        </p:nvSpPr>
        <p:spPr bwMode="auto">
          <a:xfrm>
            <a:off x="306588" y="4455715"/>
            <a:ext cx="1152128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bg-BG" sz="1400" dirty="0"/>
              <a:t>Ако </a:t>
            </a:r>
            <a:r>
              <a:rPr lang="en-US" sz="1400" dirty="0"/>
              <a:t>U</a:t>
            </a:r>
            <a:r>
              <a:rPr lang="en-US" sz="1400" baseline="-25000" dirty="0"/>
              <a:t>DS</a:t>
            </a:r>
            <a:r>
              <a:rPr lang="en-US" sz="1400" dirty="0"/>
              <a:t> &gt; </a:t>
            </a:r>
            <a:r>
              <a:rPr lang="en-US" sz="1400" dirty="0" err="1"/>
              <a:t>U</a:t>
            </a:r>
            <a:r>
              <a:rPr lang="en-US" sz="1400" baseline="-25000" dirty="0" err="1"/>
              <a:t>Dsat</a:t>
            </a:r>
            <a:r>
              <a:rPr lang="bg-BG" sz="1400" dirty="0"/>
              <a:t> каналът се скъсява, като напрежението върху него остава</a:t>
            </a:r>
            <a:r>
              <a:rPr lang="en-US" sz="1400" dirty="0"/>
              <a:t> </a:t>
            </a:r>
            <a:r>
              <a:rPr lang="bg-BG" sz="1400" dirty="0"/>
              <a:t>постоявнно и равно на</a:t>
            </a:r>
            <a:r>
              <a:rPr lang="en-US" sz="1400" dirty="0"/>
              <a:t> </a:t>
            </a:r>
            <a:r>
              <a:rPr lang="bg-BG" sz="1400" dirty="0"/>
              <a:t> </a:t>
            </a:r>
            <a:r>
              <a:rPr lang="en-US" sz="1400" dirty="0" err="1"/>
              <a:t>U</a:t>
            </a:r>
            <a:r>
              <a:rPr lang="en-US" sz="1400" baseline="-25000" dirty="0" err="1"/>
              <a:t>Dsat</a:t>
            </a:r>
            <a:r>
              <a:rPr lang="en-US" sz="1400" dirty="0"/>
              <a:t>, </a:t>
            </a:r>
            <a:r>
              <a:rPr lang="bg-BG" sz="1400" dirty="0"/>
              <a:t>което определя постоянния ток </a:t>
            </a:r>
            <a:r>
              <a:rPr lang="en-US" sz="1400" dirty="0" err="1"/>
              <a:t>I</a:t>
            </a:r>
            <a:r>
              <a:rPr lang="en-US" sz="1400" baseline="-25000" dirty="0" err="1"/>
              <a:t>Dsat</a:t>
            </a:r>
            <a:r>
              <a:rPr lang="bg-BG" sz="1400" dirty="0"/>
              <a:t>. </a:t>
            </a:r>
            <a:endParaRPr lang="en-US" sz="1400" dirty="0"/>
          </a:p>
          <a:p>
            <a:pPr>
              <a:spcBef>
                <a:spcPct val="50000"/>
              </a:spcBef>
            </a:pPr>
            <a:r>
              <a:rPr lang="bg-BG" sz="1400" dirty="0"/>
              <a:t>Разликата </a:t>
            </a:r>
            <a:r>
              <a:rPr lang="el-GR" sz="1400" dirty="0"/>
              <a:t>Δ</a:t>
            </a:r>
            <a:r>
              <a:rPr lang="en-US" sz="1400" dirty="0"/>
              <a:t>U</a:t>
            </a:r>
            <a:r>
              <a:rPr lang="en-US" sz="1400" baseline="-25000" dirty="0"/>
              <a:t>D</a:t>
            </a:r>
            <a:r>
              <a:rPr lang="en-US" sz="1400" dirty="0"/>
              <a:t> = U</a:t>
            </a:r>
            <a:r>
              <a:rPr lang="en-US" sz="1400" baseline="-25000" dirty="0"/>
              <a:t>DS</a:t>
            </a:r>
            <a:r>
              <a:rPr lang="en-US" sz="1400" dirty="0"/>
              <a:t> – </a:t>
            </a:r>
            <a:r>
              <a:rPr lang="en-US" sz="1400" dirty="0" err="1"/>
              <a:t>U</a:t>
            </a:r>
            <a:r>
              <a:rPr lang="en-US" sz="1400" baseline="-25000" dirty="0" err="1"/>
              <a:t>Dsat</a:t>
            </a:r>
            <a:r>
              <a:rPr lang="en-US" sz="1400" dirty="0"/>
              <a:t> </a:t>
            </a:r>
            <a:r>
              <a:rPr lang="bg-BG" sz="1400" dirty="0"/>
              <a:t>пада върху обеднената област с дължина </a:t>
            </a:r>
            <a:r>
              <a:rPr lang="el-GR" sz="1400" dirty="0"/>
              <a:t>Δ</a:t>
            </a:r>
            <a:r>
              <a:rPr lang="en-US" sz="1400" dirty="0"/>
              <a:t>L. </a:t>
            </a:r>
            <a:r>
              <a:rPr lang="bg-BG" sz="1400" dirty="0"/>
              <a:t>Протичането на ток се дължи на екстракцията на електроните от канала и дрейфовото им движение през обеднената област до дрейна. </a:t>
            </a:r>
          </a:p>
          <a:p>
            <a:pPr>
              <a:spcBef>
                <a:spcPct val="50000"/>
              </a:spcBef>
            </a:pPr>
            <a:r>
              <a:rPr lang="ru-RU" sz="1400" dirty="0"/>
              <a:t>Тази област на насищане е мястото, където MOSFET се използват като </a:t>
            </a:r>
            <a:r>
              <a:rPr lang="ru-RU" sz="1400" b="1" dirty="0"/>
              <a:t>усилвател. </a:t>
            </a:r>
            <a:r>
              <a:rPr lang="ru-RU" sz="1400" dirty="0"/>
              <a:t>Но за нас, когато проектираме ключ, това е „междинното“ състояние с високо разсейване на мощност, през което искаме да преминем възможно най-бързо.</a:t>
            </a:r>
            <a:endParaRPr lang="en-US" sz="1400" dirty="0"/>
          </a:p>
        </p:txBody>
      </p:sp>
      <p:sp>
        <p:nvSpPr>
          <p:cNvPr id="137" name="Rectangle 136"/>
          <p:cNvSpPr/>
          <p:nvPr/>
        </p:nvSpPr>
        <p:spPr>
          <a:xfrm flipH="1">
            <a:off x="5086947" y="1740851"/>
            <a:ext cx="1960563" cy="560857"/>
          </a:xfrm>
          <a:prstGeom prst="rect">
            <a:avLst/>
          </a:prstGeom>
          <a:solidFill>
            <a:srgbClr val="0038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BBB2585-0E58-5FEE-A79E-C441A221C4B8}"/>
              </a:ext>
            </a:extLst>
          </p:cNvPr>
          <p:cNvSpPr txBox="1"/>
          <p:nvPr/>
        </p:nvSpPr>
        <p:spPr>
          <a:xfrm>
            <a:off x="6350551" y="1812471"/>
            <a:ext cx="543959" cy="369332"/>
          </a:xfrm>
          <a:prstGeom prst="rect">
            <a:avLst/>
          </a:prstGeom>
          <a:noFill/>
        </p:spPr>
        <p:txBody>
          <a:bodyPr wrap="square">
            <a:spAutoFit/>
          </a:bodyPr>
          <a:lstStyle/>
          <a:p>
            <a:r>
              <a:rPr lang="en-US" sz="1800" dirty="0">
                <a:solidFill>
                  <a:schemeClr val="bg1"/>
                </a:solidFill>
              </a:rPr>
              <a:t>n+</a:t>
            </a:r>
          </a:p>
        </p:txBody>
      </p:sp>
      <p:pic>
        <p:nvPicPr>
          <p:cNvPr id="6" name="Picture 5">
            <a:extLst>
              <a:ext uri="{FF2B5EF4-FFF2-40B4-BE49-F238E27FC236}">
                <a16:creationId xmlns:a16="http://schemas.microsoft.com/office/drawing/2014/main" id="{ACCFAAE3-6FE7-9B88-66E9-8C7A297E08EB}"/>
              </a:ext>
            </a:extLst>
          </p:cNvPr>
          <p:cNvPicPr>
            <a:picLocks noChangeAspect="1"/>
          </p:cNvPicPr>
          <p:nvPr/>
        </p:nvPicPr>
        <p:blipFill>
          <a:blip r:embed="rId3"/>
          <a:stretch>
            <a:fillRect/>
          </a:stretch>
        </p:blipFill>
        <p:spPr>
          <a:xfrm>
            <a:off x="8287474" y="1331220"/>
            <a:ext cx="3067478" cy="2600688"/>
          </a:xfrm>
          <a:prstGeom prst="rect">
            <a:avLst/>
          </a:prstGeom>
        </p:spPr>
      </p:pic>
      <p:sp>
        <p:nvSpPr>
          <p:cNvPr id="7" name="Rectangle 6">
            <a:extLst>
              <a:ext uri="{FF2B5EF4-FFF2-40B4-BE49-F238E27FC236}">
                <a16:creationId xmlns:a16="http://schemas.microsoft.com/office/drawing/2014/main" id="{A9074DD6-AFB5-9167-6C5F-53FBF78B541E}"/>
              </a:ext>
            </a:extLst>
          </p:cNvPr>
          <p:cNvSpPr/>
          <p:nvPr/>
        </p:nvSpPr>
        <p:spPr>
          <a:xfrm>
            <a:off x="7824192" y="2247396"/>
            <a:ext cx="715332" cy="545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solidFill>
                <a:schemeClr val="bg1"/>
              </a:solidFill>
            </a:endParaRPr>
          </a:p>
        </p:txBody>
      </p:sp>
      <p:sp>
        <p:nvSpPr>
          <p:cNvPr id="3" name="TextBox 2">
            <a:extLst>
              <a:ext uri="{FF2B5EF4-FFF2-40B4-BE49-F238E27FC236}">
                <a16:creationId xmlns:a16="http://schemas.microsoft.com/office/drawing/2014/main" id="{968B1647-1AC5-3E28-68AF-4B95FC0F790F}"/>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Режими на работа на </a:t>
            </a:r>
            <a:r>
              <a:rPr lang="en-US" sz="2400" dirty="0">
                <a:solidFill>
                  <a:srgbClr val="0038A8"/>
                </a:solidFill>
                <a:latin typeface="+mj-lt"/>
                <a:cs typeface="Arial" panose="020B0604020202020204" pitchFamily="34" charset="0"/>
              </a:rPr>
              <a:t>MOSFET – </a:t>
            </a:r>
            <a:r>
              <a:rPr lang="bg-BG" sz="2400" dirty="0">
                <a:solidFill>
                  <a:srgbClr val="0038A8"/>
                </a:solidFill>
                <a:latin typeface="+mj-lt"/>
                <a:cs typeface="Arial" panose="020B0604020202020204" pitchFamily="34" charset="0"/>
              </a:rPr>
              <a:t>Режим на насищане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Tree>
    <p:extLst>
      <p:ext uri="{BB962C8B-B14F-4D97-AF65-F5344CB8AC3E}">
        <p14:creationId xmlns:p14="http://schemas.microsoft.com/office/powerpoint/2010/main" val="1309709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2CFC1-6ACB-9C19-741E-73626FF811CD}"/>
              </a:ext>
            </a:extLst>
          </p:cNvPr>
          <p:cNvPicPr>
            <a:picLocks noChangeAspect="1"/>
          </p:cNvPicPr>
          <p:nvPr/>
        </p:nvPicPr>
        <p:blipFill rotWithShape="1">
          <a:blip r:embed="rId2"/>
          <a:srcRect b="5335"/>
          <a:stretch/>
        </p:blipFill>
        <p:spPr>
          <a:xfrm>
            <a:off x="119336" y="1052736"/>
            <a:ext cx="7440063" cy="4752528"/>
          </a:xfrm>
          <a:prstGeom prst="rect">
            <a:avLst/>
          </a:prstGeom>
        </p:spPr>
      </p:pic>
      <p:sp>
        <p:nvSpPr>
          <p:cNvPr id="3" name="TextBox 2">
            <a:extLst>
              <a:ext uri="{FF2B5EF4-FFF2-40B4-BE49-F238E27FC236}">
                <a16:creationId xmlns:a16="http://schemas.microsoft.com/office/drawing/2014/main" id="{1447E8DC-AAA0-EFC3-1DE0-592EBA60AF8E}"/>
              </a:ext>
            </a:extLst>
          </p:cNvPr>
          <p:cNvSpPr txBox="1"/>
          <p:nvPr/>
        </p:nvSpPr>
        <p:spPr>
          <a:xfrm>
            <a:off x="7968208" y="1628800"/>
            <a:ext cx="3960440" cy="1815882"/>
          </a:xfrm>
          <a:prstGeom prst="rect">
            <a:avLst/>
          </a:prstGeom>
          <a:noFill/>
        </p:spPr>
        <p:txBody>
          <a:bodyPr wrap="square" rtlCol="0">
            <a:spAutoFit/>
          </a:bodyPr>
          <a:lstStyle/>
          <a:p>
            <a:r>
              <a:rPr lang="bg-BG" sz="1400" b="1" dirty="0"/>
              <a:t>Приложения</a:t>
            </a:r>
          </a:p>
          <a:p>
            <a:endParaRPr lang="bg-BG" sz="1400" dirty="0"/>
          </a:p>
          <a:p>
            <a:r>
              <a:rPr lang="bg-BG" sz="1400" b="1" dirty="0"/>
              <a:t>Ключ</a:t>
            </a:r>
            <a:r>
              <a:rPr lang="bg-BG" sz="1400" dirty="0"/>
              <a:t> – работната точка се движи между омичната област и отсечка (</a:t>
            </a:r>
            <a:r>
              <a:rPr lang="en-US" sz="1400" dirty="0"/>
              <a:t>cut off)</a:t>
            </a:r>
            <a:r>
              <a:rPr lang="bg-BG" sz="1400" dirty="0"/>
              <a:t>. </a:t>
            </a:r>
          </a:p>
          <a:p>
            <a:endParaRPr lang="bg-BG" sz="1400" dirty="0"/>
          </a:p>
          <a:p>
            <a:r>
              <a:rPr lang="bg-BG" sz="1400" b="1" dirty="0"/>
              <a:t>Усилвател</a:t>
            </a:r>
            <a:r>
              <a:rPr lang="bg-BG" sz="1400" dirty="0"/>
              <a:t> – работната точка е в областта на насищане.</a:t>
            </a:r>
          </a:p>
          <a:p>
            <a:endParaRPr lang="bg-BG" sz="1400" dirty="0"/>
          </a:p>
        </p:txBody>
      </p:sp>
      <p:sp>
        <p:nvSpPr>
          <p:cNvPr id="4" name="TextBox 3">
            <a:extLst>
              <a:ext uri="{FF2B5EF4-FFF2-40B4-BE49-F238E27FC236}">
                <a16:creationId xmlns:a16="http://schemas.microsoft.com/office/drawing/2014/main" id="{E15EE74B-5EE2-B01F-6B2F-873B133B5CD4}"/>
              </a:ext>
            </a:extLst>
          </p:cNvPr>
          <p:cNvSpPr txBox="1"/>
          <p:nvPr/>
        </p:nvSpPr>
        <p:spPr>
          <a:xfrm>
            <a:off x="5087888" y="4869160"/>
            <a:ext cx="741998" cy="338554"/>
          </a:xfrm>
          <a:prstGeom prst="rect">
            <a:avLst/>
          </a:prstGeom>
          <a:noFill/>
        </p:spPr>
        <p:txBody>
          <a:bodyPr wrap="none" rtlCol="0">
            <a:spAutoFit/>
          </a:bodyPr>
          <a:lstStyle/>
          <a:p>
            <a:r>
              <a:rPr lang="en-US" sz="1600" dirty="0">
                <a:solidFill>
                  <a:srgbClr val="0070C0"/>
                </a:solidFill>
                <a:latin typeface="Times New Roman" panose="02020603050405020304" pitchFamily="18" charset="0"/>
                <a:cs typeface="Times New Roman" panose="02020603050405020304" pitchFamily="18" charset="0"/>
              </a:rPr>
              <a:t>cut-off</a:t>
            </a:r>
            <a:endParaRPr lang="bg-BG" sz="1600" dirty="0">
              <a:solidFill>
                <a:srgbClr val="0070C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221D9A1-ACF7-5ABD-E48C-E3246444BF5A}"/>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Приложения на </a:t>
            </a:r>
            <a:r>
              <a:rPr lang="en-US" sz="2400" dirty="0">
                <a:solidFill>
                  <a:srgbClr val="0038A8"/>
                </a:solidFill>
                <a:latin typeface="+mj-lt"/>
                <a:cs typeface="Arial" panose="020B0604020202020204" pitchFamily="34" charset="0"/>
              </a:rPr>
              <a:t>MOSFET – </a:t>
            </a:r>
            <a:r>
              <a:rPr lang="bg-BG" sz="2400" dirty="0">
                <a:solidFill>
                  <a:srgbClr val="0038A8"/>
                </a:solidFill>
                <a:latin typeface="+mj-lt"/>
                <a:cs typeface="Arial" panose="020B0604020202020204" pitchFamily="34" charset="0"/>
              </a:rPr>
              <a:t>Работна тока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Tree>
    <p:extLst>
      <p:ext uri="{BB962C8B-B14F-4D97-AF65-F5344CB8AC3E}">
        <p14:creationId xmlns:p14="http://schemas.microsoft.com/office/powerpoint/2010/main" val="338213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7"/>
          <p:cNvSpPr txBox="1">
            <a:spLocks noChangeArrowheads="1"/>
          </p:cNvSpPr>
          <p:nvPr/>
        </p:nvSpPr>
        <p:spPr bwMode="auto">
          <a:xfrm>
            <a:off x="2320564" y="3525799"/>
            <a:ext cx="223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t>Специфична стръмност (</a:t>
            </a:r>
            <a:r>
              <a:rPr lang="en-US" sz="1400" i="0" dirty="0"/>
              <a:t>transconductance)</a:t>
            </a:r>
          </a:p>
        </p:txBody>
      </p:sp>
      <p:sp>
        <p:nvSpPr>
          <p:cNvPr id="16" name="TextBox 8"/>
          <p:cNvSpPr txBox="1">
            <a:spLocks noChangeArrowheads="1"/>
          </p:cNvSpPr>
          <p:nvPr/>
        </p:nvSpPr>
        <p:spPr bwMode="auto">
          <a:xfrm>
            <a:off x="226828" y="1167824"/>
            <a:ext cx="33072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t>Омичен режим  </a:t>
            </a:r>
            <a:r>
              <a:rPr lang="en-US" sz="2000" dirty="0">
                <a:latin typeface="Times New Roman" pitchFamily="18" charset="0"/>
                <a:cs typeface="Times New Roman" pitchFamily="18" charset="0"/>
              </a:rPr>
              <a:t>U</a:t>
            </a:r>
            <a:r>
              <a:rPr lang="en-US" sz="2000" baseline="-25000" dirty="0">
                <a:latin typeface="Times New Roman" pitchFamily="18" charset="0"/>
                <a:cs typeface="Times New Roman" pitchFamily="18" charset="0"/>
              </a:rPr>
              <a:t>DS</a:t>
            </a:r>
            <a:r>
              <a:rPr lang="en-US" sz="2000" i="0" dirty="0">
                <a:latin typeface="Times New Roman" pitchFamily="18" charset="0"/>
                <a:cs typeface="Times New Roman" pitchFamily="18" charset="0"/>
              </a:rPr>
              <a:t> &lt; </a:t>
            </a:r>
            <a:r>
              <a:rPr lang="en-US" sz="2000" dirty="0" err="1">
                <a:latin typeface="Times New Roman" pitchFamily="18" charset="0"/>
                <a:cs typeface="Times New Roman" pitchFamily="18" charset="0"/>
              </a:rPr>
              <a:t>U</a:t>
            </a:r>
            <a:r>
              <a:rPr lang="en-US" sz="2000" baseline="-25000" dirty="0" err="1">
                <a:latin typeface="Times New Roman" pitchFamily="18" charset="0"/>
                <a:cs typeface="Times New Roman" pitchFamily="18" charset="0"/>
              </a:rPr>
              <a:t>Dsat</a:t>
            </a:r>
            <a:r>
              <a:rPr lang="en-US" sz="2000" dirty="0">
                <a:latin typeface="Times New Roman" pitchFamily="18" charset="0"/>
                <a:cs typeface="Times New Roman" pitchFamily="18" charset="0"/>
              </a:rPr>
              <a:t> </a:t>
            </a:r>
          </a:p>
        </p:txBody>
      </p:sp>
      <p:sp>
        <p:nvSpPr>
          <p:cNvPr id="19" name="TextBox 11"/>
          <p:cNvSpPr txBox="1">
            <a:spLocks noChangeArrowheads="1"/>
          </p:cNvSpPr>
          <p:nvPr/>
        </p:nvSpPr>
        <p:spPr bwMode="auto">
          <a:xfrm>
            <a:off x="226828" y="2037468"/>
            <a:ext cx="3819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t>Режим на насищане </a:t>
            </a:r>
            <a:r>
              <a:rPr lang="en-US" sz="2000" dirty="0">
                <a:latin typeface="Times New Roman" pitchFamily="18" charset="0"/>
                <a:cs typeface="Times New Roman" pitchFamily="18" charset="0"/>
              </a:rPr>
              <a:t>U</a:t>
            </a:r>
            <a:r>
              <a:rPr lang="en-US" sz="2000" baseline="-25000" dirty="0">
                <a:latin typeface="Times New Roman" pitchFamily="18" charset="0"/>
                <a:cs typeface="Times New Roman" pitchFamily="18" charset="0"/>
              </a:rPr>
              <a:t>DS</a:t>
            </a:r>
            <a:r>
              <a:rPr lang="bg-BG" sz="2000" baseline="-25000" dirty="0">
                <a:latin typeface="Times New Roman" pitchFamily="18" charset="0"/>
                <a:cs typeface="Times New Roman" pitchFamily="18" charset="0"/>
              </a:rPr>
              <a:t> </a:t>
            </a:r>
            <a:r>
              <a:rPr lang="en-US" sz="2000" i="0" dirty="0">
                <a:latin typeface="Times New Roman" pitchFamily="18" charset="0"/>
                <a:cs typeface="Times New Roman" pitchFamily="18" charset="0"/>
              </a:rPr>
              <a:t> ≥ </a:t>
            </a:r>
            <a:r>
              <a:rPr lang="en-US" sz="2000" dirty="0" err="1">
                <a:latin typeface="Times New Roman" pitchFamily="18" charset="0"/>
                <a:cs typeface="Times New Roman" pitchFamily="18" charset="0"/>
              </a:rPr>
              <a:t>U</a:t>
            </a:r>
            <a:r>
              <a:rPr lang="en-US" sz="2000" baseline="-25000" dirty="0" err="1">
                <a:latin typeface="Times New Roman" pitchFamily="18" charset="0"/>
                <a:cs typeface="Times New Roman" pitchFamily="18" charset="0"/>
              </a:rPr>
              <a:t>Dsat</a:t>
            </a:r>
            <a:r>
              <a:rPr lang="en-US" sz="2000" dirty="0">
                <a:latin typeface="Times New Roman" pitchFamily="18" charset="0"/>
                <a:cs typeface="Times New Roman" pitchFamily="18" charset="0"/>
              </a:rPr>
              <a:t> </a:t>
            </a:r>
            <a:endParaRPr lang="bg-BG" sz="2000" dirty="0">
              <a:latin typeface="Times New Roman" pitchFamily="18" charset="0"/>
              <a:cs typeface="Times New Roman" pitchFamily="18" charset="0"/>
            </a:endParaRPr>
          </a:p>
        </p:txBody>
      </p:sp>
      <p:graphicFrame>
        <p:nvGraphicFramePr>
          <p:cNvPr id="20" name="Object 8"/>
          <p:cNvGraphicFramePr>
            <a:graphicFrameLocks noChangeAspect="1"/>
          </p:cNvGraphicFramePr>
          <p:nvPr>
            <p:extLst>
              <p:ext uri="{D42A27DB-BD31-4B8C-83A1-F6EECF244321}">
                <p14:modId xmlns:p14="http://schemas.microsoft.com/office/powerpoint/2010/main" val="2560961877"/>
              </p:ext>
            </p:extLst>
          </p:nvPr>
        </p:nvGraphicFramePr>
        <p:xfrm>
          <a:off x="3259864" y="1090767"/>
          <a:ext cx="3308350" cy="655638"/>
        </p:xfrm>
        <a:graphic>
          <a:graphicData uri="http://schemas.openxmlformats.org/presentationml/2006/ole">
            <mc:AlternateContent xmlns:mc="http://schemas.openxmlformats.org/markup-compatibility/2006">
              <mc:Choice xmlns:v="urn:schemas-microsoft-com:vml" Requires="v">
                <p:oleObj name="Equation" r:id="rId2" imgW="1981200" imgH="393700" progId="Equation.3">
                  <p:embed/>
                </p:oleObj>
              </mc:Choice>
              <mc:Fallback>
                <p:oleObj name="Equation" r:id="rId2" imgW="1981200" imgH="393700" progId="Equation.3">
                  <p:embed/>
                  <p:pic>
                    <p:nvPicPr>
                      <p:cNvPr id="2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9864" y="1090767"/>
                        <a:ext cx="3308350" cy="655638"/>
                      </a:xfrm>
                      <a:prstGeom prst="rect">
                        <a:avLst/>
                      </a:prstGeom>
                      <a:noFill/>
                      <a:ln>
                        <a:noFill/>
                      </a:ln>
                      <a:effectLst/>
                    </p:spPr>
                  </p:pic>
                </p:oleObj>
              </mc:Fallback>
            </mc:AlternateContent>
          </a:graphicData>
        </a:graphic>
      </p:graphicFrame>
      <p:graphicFrame>
        <p:nvGraphicFramePr>
          <p:cNvPr id="21" name="Object 9"/>
          <p:cNvGraphicFramePr>
            <a:graphicFrameLocks noChangeAspect="1"/>
          </p:cNvGraphicFramePr>
          <p:nvPr>
            <p:extLst>
              <p:ext uri="{D42A27DB-BD31-4B8C-83A1-F6EECF244321}">
                <p14:modId xmlns:p14="http://schemas.microsoft.com/office/powerpoint/2010/main" val="3138217818"/>
              </p:ext>
            </p:extLst>
          </p:nvPr>
        </p:nvGraphicFramePr>
        <p:xfrm>
          <a:off x="3629424" y="1952856"/>
          <a:ext cx="1933664" cy="638673"/>
        </p:xfrm>
        <a:graphic>
          <a:graphicData uri="http://schemas.openxmlformats.org/presentationml/2006/ole">
            <mc:AlternateContent xmlns:mc="http://schemas.openxmlformats.org/markup-compatibility/2006">
              <mc:Choice xmlns:v="urn:schemas-microsoft-com:vml" Requires="v">
                <p:oleObj name="Equation" r:id="rId4" imgW="1193800" imgH="393700" progId="Equation.3">
                  <p:embed/>
                </p:oleObj>
              </mc:Choice>
              <mc:Fallback>
                <p:oleObj name="Equation" r:id="rId4" imgW="1193800" imgH="393700" progId="Equation.3">
                  <p:embed/>
                  <p:pic>
                    <p:nvPicPr>
                      <p:cNvPr id="21"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9424" y="1952856"/>
                        <a:ext cx="1933664" cy="63867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2" name="TextBox 1"/>
              <p:cNvSpPr txBox="1"/>
              <p:nvPr/>
            </p:nvSpPr>
            <p:spPr>
              <a:xfrm>
                <a:off x="433368" y="4243151"/>
                <a:ext cx="1586748" cy="542328"/>
              </a:xfrm>
              <a:prstGeom prst="rect">
                <a:avLst/>
              </a:prstGeom>
              <a:noFill/>
            </p:spPr>
            <p:txBody>
              <a:bodyPr wrap="square" rtlCol="0">
                <a:spAutoFit/>
              </a:bodyPr>
              <a:lstStyle/>
              <a:p>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0</m:t>
                        </m:r>
                      </m:sub>
                    </m:sSub>
                    <m:r>
                      <a:rPr lang="en-US" sz="2000" i="1">
                        <a:latin typeface="Cambria Math"/>
                      </a:rPr>
                      <m:t>=</m:t>
                    </m:r>
                    <m:f>
                      <m:fPr>
                        <m:ctrlPr>
                          <a:rPr lang="en-US" sz="2000" i="1">
                            <a:latin typeface="Cambria Math" panose="02040503050406030204" pitchFamily="18" charset="0"/>
                          </a:rPr>
                        </m:ctrlPr>
                      </m:fPr>
                      <m:num>
                        <m:r>
                          <a:rPr lang="en-US" sz="2000" i="1">
                            <a:latin typeface="Cambria Math"/>
                            <a:ea typeface="Cambria Math"/>
                          </a:rPr>
                          <m:t>𝜀</m:t>
                        </m:r>
                        <m:r>
                          <a:rPr lang="en-US" sz="2000" i="1">
                            <a:latin typeface="Cambria Math"/>
                            <a:ea typeface="Cambria Math"/>
                          </a:rPr>
                          <m:t>.</m:t>
                        </m:r>
                        <m:sSub>
                          <m:sSubPr>
                            <m:ctrlPr>
                              <a:rPr lang="en-US" sz="2000" i="1">
                                <a:latin typeface="Cambria Math" panose="02040503050406030204" pitchFamily="18" charset="0"/>
                                <a:ea typeface="Cambria Math"/>
                              </a:rPr>
                            </m:ctrlPr>
                          </m:sSubPr>
                          <m:e>
                            <m:r>
                              <a:rPr lang="en-US" sz="2000" i="1">
                                <a:latin typeface="Cambria Math"/>
                                <a:ea typeface="Cambria Math"/>
                              </a:rPr>
                              <m:t>𝜀</m:t>
                            </m:r>
                          </m:e>
                          <m:sub>
                            <m:r>
                              <a:rPr lang="en-US" sz="2000" i="1">
                                <a:latin typeface="Cambria Math"/>
                                <a:ea typeface="Cambria Math"/>
                              </a:rPr>
                              <m:t>0</m:t>
                            </m:r>
                          </m:sub>
                        </m:sSub>
                      </m:num>
                      <m:den>
                        <m:sSub>
                          <m:sSubPr>
                            <m:ctrlPr>
                              <a:rPr lang="en-US" sz="2000" i="1">
                                <a:latin typeface="Cambria Math" panose="02040503050406030204" pitchFamily="18" charset="0"/>
                              </a:rPr>
                            </m:ctrlPr>
                          </m:sSubPr>
                          <m:e>
                            <m:r>
                              <a:rPr lang="en-US" sz="2000" i="1">
                                <a:latin typeface="Cambria Math"/>
                              </a:rPr>
                              <m:t>𝑡</m:t>
                            </m:r>
                          </m:e>
                          <m:sub>
                            <m:r>
                              <a:rPr lang="en-US" sz="2000" i="1">
                                <a:latin typeface="Cambria Math"/>
                              </a:rPr>
                              <m:t>𝑜𝑥</m:t>
                            </m:r>
                          </m:sub>
                        </m:sSub>
                      </m:den>
                    </m:f>
                  </m:oMath>
                </a14:m>
                <a:endParaRPr lang="en-US"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433368" y="4243151"/>
                <a:ext cx="1586748" cy="542328"/>
              </a:xfrm>
              <a:prstGeom prst="rect">
                <a:avLst/>
              </a:prstGeom>
              <a:blipFill>
                <a:blip r:embed="rId6"/>
                <a:stretch>
                  <a:fillRect/>
                </a:stretch>
              </a:blipFill>
            </p:spPr>
            <p:txBody>
              <a:bodyPr/>
              <a:lstStyle/>
              <a:p>
                <a:r>
                  <a:rPr lang="bg-BG">
                    <a:noFill/>
                  </a:rPr>
                  <a:t> </a:t>
                </a:r>
              </a:p>
            </p:txBody>
          </p:sp>
        </mc:Fallback>
      </mc:AlternateContent>
      <p:sp>
        <p:nvSpPr>
          <p:cNvPr id="4" name="TextBox 3"/>
          <p:cNvSpPr txBox="1"/>
          <p:nvPr/>
        </p:nvSpPr>
        <p:spPr>
          <a:xfrm>
            <a:off x="2220921" y="4206551"/>
            <a:ext cx="3003583" cy="307777"/>
          </a:xfrm>
          <a:prstGeom prst="rect">
            <a:avLst/>
          </a:prstGeom>
          <a:noFill/>
        </p:spPr>
        <p:txBody>
          <a:bodyPr wrap="square" rtlCol="0">
            <a:spAutoFit/>
          </a:bodyPr>
          <a:lstStyle/>
          <a:p>
            <a:r>
              <a:rPr lang="bg-BG" sz="1400" dirty="0"/>
              <a:t>Специфичен капацитет на окис</a:t>
            </a:r>
            <a:r>
              <a:rPr lang="en-US" sz="1400" dirty="0"/>
              <a:t>a</a:t>
            </a:r>
          </a:p>
        </p:txBody>
      </p:sp>
      <mc:AlternateContent xmlns:mc="http://schemas.openxmlformats.org/markup-compatibility/2006" xmlns:a14="http://schemas.microsoft.com/office/drawing/2010/main">
        <mc:Choice Requires="a14">
          <p:sp>
            <p:nvSpPr>
              <p:cNvPr id="5" name="TextBox 4"/>
              <p:cNvSpPr txBox="1"/>
              <p:nvPr/>
            </p:nvSpPr>
            <p:spPr>
              <a:xfrm>
                <a:off x="1018051" y="4968511"/>
                <a:ext cx="520008" cy="4247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ea typeface="Cambria Math"/>
                            </a:rPr>
                            <m:t>𝜇</m:t>
                          </m:r>
                        </m:e>
                        <m:sub>
                          <m:r>
                            <a:rPr lang="en-US" sz="2000" i="1">
                              <a:latin typeface="Cambria Math"/>
                            </a:rPr>
                            <m:t>𝑒𝑓𝑓</m:t>
                          </m:r>
                        </m:sub>
                      </m:sSub>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1018051" y="4968511"/>
                <a:ext cx="520008" cy="424732"/>
              </a:xfrm>
              <a:prstGeom prst="rect">
                <a:avLst/>
              </a:prstGeom>
              <a:blipFill>
                <a:blip r:embed="rId7"/>
                <a:stretch>
                  <a:fillRect r="-22353" b="-8571"/>
                </a:stretch>
              </a:blipFill>
            </p:spPr>
            <p:txBody>
              <a:bodyPr/>
              <a:lstStyle/>
              <a:p>
                <a:r>
                  <a:rPr lang="bg-BG">
                    <a:noFill/>
                  </a:rPr>
                  <a:t> </a:t>
                </a:r>
              </a:p>
            </p:txBody>
          </p:sp>
        </mc:Fallback>
      </mc:AlternateContent>
      <p:sp>
        <p:nvSpPr>
          <p:cNvPr id="6" name="TextBox 5"/>
          <p:cNvSpPr txBox="1"/>
          <p:nvPr/>
        </p:nvSpPr>
        <p:spPr>
          <a:xfrm>
            <a:off x="2220921" y="5005446"/>
            <a:ext cx="3475980" cy="307777"/>
          </a:xfrm>
          <a:prstGeom prst="rect">
            <a:avLst/>
          </a:prstGeom>
          <a:noFill/>
        </p:spPr>
        <p:txBody>
          <a:bodyPr wrap="square" rtlCol="0">
            <a:spAutoFit/>
          </a:bodyPr>
          <a:lstStyle/>
          <a:p>
            <a:r>
              <a:rPr lang="bg-BG" sz="1400" dirty="0"/>
              <a:t>Ефективна подвижност</a:t>
            </a:r>
            <a:endParaRPr lang="en-US" sz="1400" dirty="0"/>
          </a:p>
        </p:txBody>
      </p:sp>
      <p:pic>
        <p:nvPicPr>
          <p:cNvPr id="10" name="Picture 9">
            <a:extLst>
              <a:ext uri="{FF2B5EF4-FFF2-40B4-BE49-F238E27FC236}">
                <a16:creationId xmlns:a16="http://schemas.microsoft.com/office/drawing/2014/main" id="{BF338D46-CEF7-4662-B076-81ECE81D9C0F}"/>
              </a:ext>
            </a:extLst>
          </p:cNvPr>
          <p:cNvPicPr>
            <a:picLocks noChangeAspect="1"/>
          </p:cNvPicPr>
          <p:nvPr/>
        </p:nvPicPr>
        <p:blipFill>
          <a:blip r:embed="rId8"/>
          <a:stretch>
            <a:fillRect/>
          </a:stretch>
        </p:blipFill>
        <p:spPr>
          <a:xfrm>
            <a:off x="389688" y="3525799"/>
            <a:ext cx="1710168" cy="615374"/>
          </a:xfrm>
          <a:prstGeom prst="rect">
            <a:avLst/>
          </a:prstGeom>
        </p:spPr>
      </p:pic>
      <p:sp>
        <p:nvSpPr>
          <p:cNvPr id="8" name="Rectangle 3">
            <a:extLst>
              <a:ext uri="{FF2B5EF4-FFF2-40B4-BE49-F238E27FC236}">
                <a16:creationId xmlns:a16="http://schemas.microsoft.com/office/drawing/2014/main" id="{5A5E91AC-9965-05A6-4981-0540A509A803}"/>
              </a:ext>
            </a:extLst>
          </p:cNvPr>
          <p:cNvSpPr>
            <a:spLocks noChangeArrowheads="1"/>
          </p:cNvSpPr>
          <p:nvPr/>
        </p:nvSpPr>
        <p:spPr bwMode="auto">
          <a:xfrm>
            <a:off x="8639667" y="2950046"/>
            <a:ext cx="1778000" cy="388937"/>
          </a:xfrm>
          <a:prstGeom prst="rect">
            <a:avLst/>
          </a:prstGeom>
          <a:solidFill>
            <a:srgbClr val="FF9900"/>
          </a:solidFill>
          <a:ln w="12700" algn="ctr">
            <a:solidFill>
              <a:srgbClr val="FF9900"/>
            </a:solidFill>
            <a:round/>
            <a:headEnd/>
            <a:tailEnd/>
          </a:ln>
        </p:spPr>
        <p:txBody>
          <a:bodyPr/>
          <a:lstStyle/>
          <a:p>
            <a:endParaRPr lang="en-US"/>
          </a:p>
        </p:txBody>
      </p:sp>
      <p:sp>
        <p:nvSpPr>
          <p:cNvPr id="9" name="Rectangle 10">
            <a:extLst>
              <a:ext uri="{FF2B5EF4-FFF2-40B4-BE49-F238E27FC236}">
                <a16:creationId xmlns:a16="http://schemas.microsoft.com/office/drawing/2014/main" id="{04F58ED8-4B23-FA9C-7C35-D601A3FC3A67}"/>
              </a:ext>
            </a:extLst>
          </p:cNvPr>
          <p:cNvSpPr>
            <a:spLocks noChangeArrowheads="1"/>
          </p:cNvSpPr>
          <p:nvPr/>
        </p:nvSpPr>
        <p:spPr bwMode="auto">
          <a:xfrm>
            <a:off x="8077692" y="3107208"/>
            <a:ext cx="1054100" cy="231775"/>
          </a:xfrm>
          <a:prstGeom prst="rect">
            <a:avLst/>
          </a:prstGeom>
          <a:solidFill>
            <a:schemeClr val="bg1"/>
          </a:solidFill>
          <a:ln w="12700" algn="ctr">
            <a:solidFill>
              <a:schemeClr val="bg1"/>
            </a:solidFill>
            <a:round/>
            <a:headEnd/>
            <a:tailEnd/>
          </a:ln>
        </p:spPr>
        <p:txBody>
          <a:bodyPr/>
          <a:lstStyle/>
          <a:p>
            <a:endParaRPr lang="en-US"/>
          </a:p>
        </p:txBody>
      </p:sp>
      <p:pic>
        <p:nvPicPr>
          <p:cNvPr id="11" name="Picture 15">
            <a:extLst>
              <a:ext uri="{FF2B5EF4-FFF2-40B4-BE49-F238E27FC236}">
                <a16:creationId xmlns:a16="http://schemas.microsoft.com/office/drawing/2014/main" id="{6578CBEF-D909-FDFC-AB72-541145A0E0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21992" y="2864321"/>
            <a:ext cx="4686300"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8">
            <a:extLst>
              <a:ext uri="{FF2B5EF4-FFF2-40B4-BE49-F238E27FC236}">
                <a16:creationId xmlns:a16="http://schemas.microsoft.com/office/drawing/2014/main" id="{80074AA1-DD0C-4837-152A-28BFF431EEC2}"/>
              </a:ext>
            </a:extLst>
          </p:cNvPr>
          <p:cNvSpPr txBox="1">
            <a:spLocks noChangeArrowheads="1"/>
          </p:cNvSpPr>
          <p:nvPr/>
        </p:nvSpPr>
        <p:spPr bwMode="auto">
          <a:xfrm>
            <a:off x="8054813" y="2170175"/>
            <a:ext cx="30543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n-US" sz="1400" dirty="0">
                <a:latin typeface="Times New Roman" pitchFamily="18" charset="0"/>
                <a:cs typeface="Times New Roman" pitchFamily="18" charset="0"/>
              </a:rPr>
              <a:t>I</a:t>
            </a:r>
            <a:r>
              <a:rPr lang="en-US" sz="1400" baseline="-25000" dirty="0">
                <a:latin typeface="Times New Roman" pitchFamily="18" charset="0"/>
                <a:cs typeface="Times New Roman" pitchFamily="18" charset="0"/>
              </a:rPr>
              <a:t>D</a:t>
            </a:r>
            <a:r>
              <a:rPr lang="en-US" sz="1400" dirty="0">
                <a:latin typeface="Times New Roman" pitchFamily="18" charset="0"/>
                <a:cs typeface="Times New Roman" pitchFamily="18" charset="0"/>
              </a:rPr>
              <a:t> = f </a:t>
            </a:r>
            <a:r>
              <a:rPr lang="en-US" sz="1400" i="0" dirty="0">
                <a:latin typeface="Times New Roman" pitchFamily="18" charset="0"/>
                <a:cs typeface="Times New Roman" pitchFamily="18" charset="0"/>
              </a:rPr>
              <a:t>(</a:t>
            </a:r>
            <a:r>
              <a:rPr lang="en-US" sz="1400" dirty="0">
                <a:latin typeface="Times New Roman" pitchFamily="18" charset="0"/>
                <a:cs typeface="Times New Roman" pitchFamily="18" charset="0"/>
              </a:rPr>
              <a:t>U</a:t>
            </a:r>
            <a:r>
              <a:rPr lang="en-US" sz="1400" baseline="-25000" dirty="0">
                <a:latin typeface="Times New Roman" pitchFamily="18" charset="0"/>
                <a:cs typeface="Times New Roman" pitchFamily="18" charset="0"/>
              </a:rPr>
              <a:t>DS</a:t>
            </a:r>
            <a:r>
              <a:rPr lang="en-US" sz="1400" i="0" dirty="0">
                <a:latin typeface="Times New Roman" pitchFamily="18" charset="0"/>
                <a:cs typeface="Times New Roman" pitchFamily="18" charset="0"/>
              </a:rPr>
              <a:t>)</a:t>
            </a:r>
            <a:r>
              <a:rPr lang="en-US" sz="1400" dirty="0">
                <a:latin typeface="Times New Roman" pitchFamily="18" charset="0"/>
                <a:cs typeface="Times New Roman" pitchFamily="18" charset="0"/>
              </a:rPr>
              <a:t>, U</a:t>
            </a:r>
            <a:r>
              <a:rPr lang="en-US" sz="1400" baseline="-25000" dirty="0">
                <a:latin typeface="Times New Roman" pitchFamily="18" charset="0"/>
                <a:cs typeface="Times New Roman" pitchFamily="18" charset="0"/>
              </a:rPr>
              <a:t>GS</a:t>
            </a:r>
            <a:r>
              <a:rPr lang="en-US" sz="1400" dirty="0">
                <a:latin typeface="Times New Roman" pitchFamily="18" charset="0"/>
                <a:cs typeface="Times New Roman" pitchFamily="18" charset="0"/>
              </a:rPr>
              <a:t> = </a:t>
            </a:r>
            <a:r>
              <a:rPr lang="en-US" sz="1400" i="0" dirty="0">
                <a:latin typeface="Times New Roman" pitchFamily="18" charset="0"/>
                <a:cs typeface="Times New Roman" pitchFamily="18" charset="0"/>
              </a:rPr>
              <a:t>const</a:t>
            </a:r>
          </a:p>
        </p:txBody>
      </p:sp>
      <p:sp>
        <p:nvSpPr>
          <p:cNvPr id="24" name="TextBox 21">
            <a:extLst>
              <a:ext uri="{FF2B5EF4-FFF2-40B4-BE49-F238E27FC236}">
                <a16:creationId xmlns:a16="http://schemas.microsoft.com/office/drawing/2014/main" id="{BBAB2808-FFA2-A3DA-C8D3-46FD28CE9905}"/>
              </a:ext>
            </a:extLst>
          </p:cNvPr>
          <p:cNvSpPr txBox="1">
            <a:spLocks noChangeArrowheads="1"/>
          </p:cNvSpPr>
          <p:nvPr/>
        </p:nvSpPr>
        <p:spPr bwMode="auto">
          <a:xfrm>
            <a:off x="11251243" y="4483625"/>
            <a:ext cx="564344"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n-US" sz="1600" dirty="0"/>
              <a:t>U</a:t>
            </a:r>
            <a:r>
              <a:rPr lang="en-US" sz="1600" baseline="-25000" dirty="0"/>
              <a:t>GS</a:t>
            </a:r>
          </a:p>
        </p:txBody>
      </p:sp>
      <p:sp>
        <p:nvSpPr>
          <p:cNvPr id="26" name="TextBox 25">
            <a:extLst>
              <a:ext uri="{FF2B5EF4-FFF2-40B4-BE49-F238E27FC236}">
                <a16:creationId xmlns:a16="http://schemas.microsoft.com/office/drawing/2014/main" id="{CD3E06AF-FC88-FE02-A467-7D0C23743DD0}"/>
              </a:ext>
            </a:extLst>
          </p:cNvPr>
          <p:cNvSpPr txBox="1">
            <a:spLocks noChangeArrowheads="1"/>
          </p:cNvSpPr>
          <p:nvPr/>
        </p:nvSpPr>
        <p:spPr bwMode="auto">
          <a:xfrm>
            <a:off x="8736813" y="3987650"/>
            <a:ext cx="26115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solidFill>
                  <a:srgbClr val="0070C0"/>
                </a:solidFill>
              </a:rPr>
              <a:t>Област на насищане</a:t>
            </a:r>
            <a:endParaRPr lang="en-US" sz="1400" i="0" dirty="0">
              <a:solidFill>
                <a:srgbClr val="0070C0"/>
              </a:solidFill>
            </a:endParaRPr>
          </a:p>
        </p:txBody>
      </p:sp>
      <p:sp>
        <p:nvSpPr>
          <p:cNvPr id="28" name="TextBox 26">
            <a:extLst>
              <a:ext uri="{FF2B5EF4-FFF2-40B4-BE49-F238E27FC236}">
                <a16:creationId xmlns:a16="http://schemas.microsoft.com/office/drawing/2014/main" id="{10E9F15B-362E-9513-E6BD-C32B3A32DCFE}"/>
              </a:ext>
            </a:extLst>
          </p:cNvPr>
          <p:cNvSpPr txBox="1">
            <a:spLocks noChangeArrowheads="1"/>
          </p:cNvSpPr>
          <p:nvPr/>
        </p:nvSpPr>
        <p:spPr bwMode="auto">
          <a:xfrm>
            <a:off x="7187046" y="3465641"/>
            <a:ext cx="93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bg-BG" sz="1400" i="0" dirty="0">
                <a:solidFill>
                  <a:srgbClr val="0070C0"/>
                </a:solidFill>
              </a:rPr>
              <a:t>Омична</a:t>
            </a:r>
            <a:endParaRPr lang="en-US" sz="1400" i="0" dirty="0">
              <a:solidFill>
                <a:srgbClr val="0070C0"/>
              </a:solidFill>
            </a:endParaRPr>
          </a:p>
          <a:p>
            <a:r>
              <a:rPr lang="bg-BG" sz="1400" i="0" dirty="0">
                <a:solidFill>
                  <a:srgbClr val="0070C0"/>
                </a:solidFill>
              </a:rPr>
              <a:t>област</a:t>
            </a:r>
          </a:p>
        </p:txBody>
      </p:sp>
      <p:sp>
        <p:nvSpPr>
          <p:cNvPr id="29" name="Rectangle 28">
            <a:extLst>
              <a:ext uri="{FF2B5EF4-FFF2-40B4-BE49-F238E27FC236}">
                <a16:creationId xmlns:a16="http://schemas.microsoft.com/office/drawing/2014/main" id="{BADD9B71-3C1B-E210-4AD6-9EA230D61C1B}"/>
              </a:ext>
            </a:extLst>
          </p:cNvPr>
          <p:cNvSpPr/>
          <p:nvPr/>
        </p:nvSpPr>
        <p:spPr bwMode="auto">
          <a:xfrm>
            <a:off x="6784501" y="5624189"/>
            <a:ext cx="193054" cy="169069"/>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sz="2000" i="1"/>
          </a:p>
        </p:txBody>
      </p:sp>
      <p:sp>
        <p:nvSpPr>
          <p:cNvPr id="30" name="TextBox 29">
            <a:extLst>
              <a:ext uri="{FF2B5EF4-FFF2-40B4-BE49-F238E27FC236}">
                <a16:creationId xmlns:a16="http://schemas.microsoft.com/office/drawing/2014/main" id="{7C939937-ADB6-451C-ADB6-A19F37BFDE06}"/>
              </a:ext>
            </a:extLst>
          </p:cNvPr>
          <p:cNvSpPr txBox="1"/>
          <p:nvPr/>
        </p:nvSpPr>
        <p:spPr>
          <a:xfrm>
            <a:off x="7322835" y="3069231"/>
            <a:ext cx="649560" cy="338554"/>
          </a:xfrm>
          <a:prstGeom prst="rect">
            <a:avLst/>
          </a:prstGeom>
          <a:noFill/>
        </p:spPr>
        <p:txBody>
          <a:bodyPr wrap="square" rtlCol="0">
            <a:spAutoFit/>
          </a:bodyPr>
          <a:lstStyle/>
          <a:p>
            <a:r>
              <a:rPr lang="en-US" sz="1600" dirty="0"/>
              <a:t>,A</a:t>
            </a:r>
          </a:p>
        </p:txBody>
      </p:sp>
      <p:sp>
        <p:nvSpPr>
          <p:cNvPr id="31" name="TextBox 1">
            <a:extLst>
              <a:ext uri="{FF2B5EF4-FFF2-40B4-BE49-F238E27FC236}">
                <a16:creationId xmlns:a16="http://schemas.microsoft.com/office/drawing/2014/main" id="{8B26AFCA-C35C-7607-6F7F-228CE92FA666}"/>
              </a:ext>
            </a:extLst>
          </p:cNvPr>
          <p:cNvSpPr txBox="1">
            <a:spLocks noChangeArrowheads="1"/>
          </p:cNvSpPr>
          <p:nvPr/>
        </p:nvSpPr>
        <p:spPr bwMode="auto">
          <a:xfrm>
            <a:off x="10780708" y="5455120"/>
            <a:ext cx="9330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n-US" sz="1600" dirty="0"/>
              <a:t>U</a:t>
            </a:r>
            <a:r>
              <a:rPr lang="en-US" sz="1600" baseline="-25000" dirty="0"/>
              <a:t>DS</a:t>
            </a:r>
            <a:r>
              <a:rPr lang="en-US" sz="1600" dirty="0"/>
              <a:t>,V</a:t>
            </a:r>
          </a:p>
        </p:txBody>
      </p:sp>
      <p:sp>
        <p:nvSpPr>
          <p:cNvPr id="3" name="TextBox 2">
            <a:extLst>
              <a:ext uri="{FF2B5EF4-FFF2-40B4-BE49-F238E27FC236}">
                <a16:creationId xmlns:a16="http://schemas.microsoft.com/office/drawing/2014/main" id="{BC8E7046-545A-D128-DCD3-FCC4952827E1}"/>
              </a:ext>
            </a:extLst>
          </p:cNvPr>
          <p:cNvSpPr txBox="1"/>
          <p:nvPr/>
        </p:nvSpPr>
        <p:spPr>
          <a:xfrm>
            <a:off x="7322835" y="5852987"/>
            <a:ext cx="4362546" cy="307777"/>
          </a:xfrm>
          <a:prstGeom prst="rect">
            <a:avLst/>
          </a:prstGeom>
          <a:noFill/>
        </p:spPr>
        <p:txBody>
          <a:bodyPr wrap="square" rtlCol="0">
            <a:spAutoFit/>
          </a:bodyPr>
          <a:lstStyle/>
          <a:p>
            <a:r>
              <a:rPr lang="bg-BG" sz="1400" dirty="0">
                <a:solidFill>
                  <a:srgbClr val="0070C0"/>
                </a:solidFill>
              </a:rPr>
              <a:t>„отсечка“ (</a:t>
            </a:r>
            <a:r>
              <a:rPr lang="en-US" sz="1400" dirty="0">
                <a:solidFill>
                  <a:srgbClr val="0070C0"/>
                </a:solidFill>
              </a:rPr>
              <a:t>cut-off) – </a:t>
            </a:r>
            <a:r>
              <a:rPr lang="bg-BG" sz="1400" dirty="0">
                <a:solidFill>
                  <a:srgbClr val="0070C0"/>
                </a:solidFill>
              </a:rPr>
              <a:t>транзисторът е „запушен“</a:t>
            </a:r>
            <a:endParaRPr lang="en-US" sz="1400" dirty="0">
              <a:solidFill>
                <a:srgbClr val="0070C0"/>
              </a:solidFill>
            </a:endParaRPr>
          </a:p>
        </p:txBody>
      </p:sp>
      <p:sp>
        <p:nvSpPr>
          <p:cNvPr id="7" name="TextBox 6">
            <a:extLst>
              <a:ext uri="{FF2B5EF4-FFF2-40B4-BE49-F238E27FC236}">
                <a16:creationId xmlns:a16="http://schemas.microsoft.com/office/drawing/2014/main" id="{721F0A1D-BC1E-1971-6313-FE9750C2DABC}"/>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Формули за тока на дрейна в различните режими </a:t>
            </a:r>
            <a:r>
              <a:rPr lang="en-US" sz="2400" dirty="0">
                <a:solidFill>
                  <a:srgbClr val="0038A8"/>
                </a:solidFill>
                <a:latin typeface="+mj-lt"/>
                <a:cs typeface="Arial" panose="020B0604020202020204" pitchFamily="34" charset="0"/>
              </a:rPr>
              <a:t>  </a:t>
            </a:r>
            <a:endParaRPr lang="bg-BG" sz="2400" dirty="0">
              <a:solidFill>
                <a:srgbClr val="0038A8"/>
              </a:solidFill>
              <a:latin typeface="+mj-lt"/>
              <a:cs typeface="Arial" panose="020B0604020202020204" pitchFamily="34" charset="0"/>
            </a:endParaRPr>
          </a:p>
        </p:txBody>
      </p:sp>
      <p:sp>
        <p:nvSpPr>
          <p:cNvPr id="17" name="TextBox 53"/>
          <p:cNvSpPr txBox="1">
            <a:spLocks noChangeArrowheads="1"/>
          </p:cNvSpPr>
          <p:nvPr/>
        </p:nvSpPr>
        <p:spPr bwMode="auto">
          <a:xfrm>
            <a:off x="8109886" y="2818562"/>
            <a:ext cx="210661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i="1">
                <a:solidFill>
                  <a:schemeClr val="tx1"/>
                </a:solidFill>
                <a:latin typeface="Arial" charset="0"/>
              </a:defRPr>
            </a:lvl1pPr>
            <a:lvl2pPr marL="742950" indent="-285750">
              <a:defRPr sz="2400" i="1">
                <a:solidFill>
                  <a:schemeClr val="tx1"/>
                </a:solidFill>
                <a:latin typeface="Arial" charset="0"/>
              </a:defRPr>
            </a:lvl2pPr>
            <a:lvl3pPr marL="1143000" indent="-228600">
              <a:defRPr sz="2400" i="1">
                <a:solidFill>
                  <a:schemeClr val="tx1"/>
                </a:solidFill>
                <a:latin typeface="Arial" charset="0"/>
              </a:defRPr>
            </a:lvl3pPr>
            <a:lvl4pPr marL="1600200" indent="-228600">
              <a:defRPr sz="2400" i="1">
                <a:solidFill>
                  <a:schemeClr val="tx1"/>
                </a:solidFill>
                <a:latin typeface="Arial" charset="0"/>
              </a:defRPr>
            </a:lvl4pPr>
            <a:lvl5pPr marL="2057400" indent="-228600">
              <a:defRPr sz="2400" i="1">
                <a:solidFill>
                  <a:schemeClr val="tx1"/>
                </a:solidFill>
                <a:latin typeface="Arial" charset="0"/>
              </a:defRPr>
            </a:lvl5pPr>
            <a:lvl6pPr marL="2514600" indent="-228600" eaLnBrk="0" fontAlgn="base" hangingPunct="0">
              <a:spcBef>
                <a:spcPct val="0"/>
              </a:spcBef>
              <a:spcAft>
                <a:spcPct val="0"/>
              </a:spcAft>
              <a:defRPr sz="2400" i="1">
                <a:solidFill>
                  <a:schemeClr val="tx1"/>
                </a:solidFill>
                <a:latin typeface="Arial" charset="0"/>
              </a:defRPr>
            </a:lvl6pPr>
            <a:lvl7pPr marL="2971800" indent="-228600" eaLnBrk="0" fontAlgn="base" hangingPunct="0">
              <a:spcBef>
                <a:spcPct val="0"/>
              </a:spcBef>
              <a:spcAft>
                <a:spcPct val="0"/>
              </a:spcAft>
              <a:defRPr sz="2400" i="1">
                <a:solidFill>
                  <a:schemeClr val="tx1"/>
                </a:solidFill>
                <a:latin typeface="Arial" charset="0"/>
              </a:defRPr>
            </a:lvl7pPr>
            <a:lvl8pPr marL="3429000" indent="-228600" eaLnBrk="0" fontAlgn="base" hangingPunct="0">
              <a:spcBef>
                <a:spcPct val="0"/>
              </a:spcBef>
              <a:spcAft>
                <a:spcPct val="0"/>
              </a:spcAft>
              <a:defRPr sz="2400" i="1">
                <a:solidFill>
                  <a:schemeClr val="tx1"/>
                </a:solidFill>
                <a:latin typeface="Arial" charset="0"/>
              </a:defRPr>
            </a:lvl8pPr>
            <a:lvl9pPr marL="3886200" indent="-228600" eaLnBrk="0" fontAlgn="base" hangingPunct="0">
              <a:spcBef>
                <a:spcPct val="0"/>
              </a:spcBef>
              <a:spcAft>
                <a:spcPct val="0"/>
              </a:spcAft>
              <a:defRPr sz="2400" i="1">
                <a:solidFill>
                  <a:schemeClr val="tx1"/>
                </a:solidFill>
                <a:latin typeface="Arial" charset="0"/>
              </a:defRPr>
            </a:lvl9pPr>
          </a:lstStyle>
          <a:p>
            <a:r>
              <a:rPr lang="en-US" sz="1400" dirty="0" err="1">
                <a:latin typeface="Times New Roman" pitchFamily="18" charset="0"/>
                <a:cs typeface="Times New Roman" pitchFamily="18" charset="0"/>
              </a:rPr>
              <a:t>U</a:t>
            </a:r>
            <a:r>
              <a:rPr lang="en-US" sz="1400" baseline="-25000" dirty="0" err="1">
                <a:latin typeface="Times New Roman" pitchFamily="18" charset="0"/>
                <a:cs typeface="Times New Roman" pitchFamily="18" charset="0"/>
              </a:rPr>
              <a:t>Dsat</a:t>
            </a:r>
            <a:r>
              <a:rPr lang="en-US" sz="1400" dirty="0">
                <a:latin typeface="Times New Roman" pitchFamily="18" charset="0"/>
                <a:cs typeface="Times New Roman" pitchFamily="18" charset="0"/>
              </a:rPr>
              <a:t> = U</a:t>
            </a:r>
            <a:r>
              <a:rPr lang="en-US" sz="1400" baseline="-25000" dirty="0">
                <a:latin typeface="Times New Roman" pitchFamily="18" charset="0"/>
                <a:cs typeface="Times New Roman" pitchFamily="18" charset="0"/>
              </a:rPr>
              <a:t>GS</a:t>
            </a:r>
            <a:r>
              <a:rPr lang="bg-BG" sz="1400" baseline="-25000" dirty="0">
                <a:latin typeface="Times New Roman" pitchFamily="18" charset="0"/>
                <a:cs typeface="Times New Roman" pitchFamily="18" charset="0"/>
              </a:rPr>
              <a:t> </a:t>
            </a:r>
            <a:r>
              <a:rPr lang="en-US" sz="1400" baseline="-25000" dirty="0">
                <a:latin typeface="Times New Roman" pitchFamily="18" charset="0"/>
                <a:cs typeface="Times New Roman" pitchFamily="18" charset="0"/>
              </a:rPr>
              <a:t> </a:t>
            </a:r>
            <a:r>
              <a:rPr lang="en-US" sz="1400" dirty="0">
                <a:latin typeface="Times New Roman" pitchFamily="18" charset="0"/>
                <a:cs typeface="Times New Roman" pitchFamily="18" charset="0"/>
              </a:rPr>
              <a:t>– U</a:t>
            </a:r>
            <a:r>
              <a:rPr lang="en-US" sz="1400" baseline="-25000" dirty="0">
                <a:latin typeface="Times New Roman" pitchFamily="18" charset="0"/>
                <a:cs typeface="Times New Roman" pitchFamily="18" charset="0"/>
              </a:rPr>
              <a:t>T</a:t>
            </a:r>
          </a:p>
        </p:txBody>
      </p:sp>
      <p:sp>
        <p:nvSpPr>
          <p:cNvPr id="12" name="TextBox 11">
            <a:extLst>
              <a:ext uri="{FF2B5EF4-FFF2-40B4-BE49-F238E27FC236}">
                <a16:creationId xmlns:a16="http://schemas.microsoft.com/office/drawing/2014/main" id="{92A7F30C-EE16-EF11-E8BE-76A87C8814E3}"/>
              </a:ext>
            </a:extLst>
          </p:cNvPr>
          <p:cNvSpPr txBox="1"/>
          <p:nvPr/>
        </p:nvSpPr>
        <p:spPr>
          <a:xfrm>
            <a:off x="7449020" y="1743558"/>
            <a:ext cx="3156633" cy="307777"/>
          </a:xfrm>
          <a:prstGeom prst="rect">
            <a:avLst/>
          </a:prstGeom>
          <a:noFill/>
        </p:spPr>
        <p:txBody>
          <a:bodyPr wrap="none" rtlCol="0">
            <a:spAutoFit/>
          </a:bodyPr>
          <a:lstStyle/>
          <a:p>
            <a:r>
              <a:rPr lang="bg-BG" sz="1400" dirty="0"/>
              <a:t>Изходни харакеристики</a:t>
            </a:r>
            <a:r>
              <a:rPr lang="en-US" sz="1400" dirty="0"/>
              <a:t> </a:t>
            </a:r>
            <a:r>
              <a:rPr lang="bg-BG" sz="1400" dirty="0"/>
              <a:t>на </a:t>
            </a:r>
            <a:r>
              <a:rPr lang="en-US" sz="1400" dirty="0"/>
              <a:t>MOSFET</a:t>
            </a:r>
            <a:endParaRPr lang="bg-BG" sz="1400" dirty="0"/>
          </a:p>
        </p:txBody>
      </p:sp>
    </p:spTree>
    <p:extLst>
      <p:ext uri="{BB962C8B-B14F-4D97-AF65-F5344CB8AC3E}">
        <p14:creationId xmlns:p14="http://schemas.microsoft.com/office/powerpoint/2010/main" val="165610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20F3CC-7B4E-B819-5E10-D9659BAE3C26}"/>
              </a:ext>
            </a:extLst>
          </p:cNvPr>
          <p:cNvSpPr txBox="1"/>
          <p:nvPr/>
        </p:nvSpPr>
        <p:spPr>
          <a:xfrm>
            <a:off x="-24680" y="166825"/>
            <a:ext cx="12216680" cy="461665"/>
          </a:xfrm>
          <a:prstGeom prst="rect">
            <a:avLst/>
          </a:prstGeom>
          <a:noFill/>
        </p:spPr>
        <p:txBody>
          <a:bodyPr wrap="square">
            <a:spAutoFit/>
          </a:bodyPr>
          <a:lstStyle/>
          <a:p>
            <a:pPr algn="ctr"/>
            <a:r>
              <a:rPr lang="en-US" sz="2400" dirty="0">
                <a:solidFill>
                  <a:srgbClr val="0038A8"/>
                </a:solidFill>
                <a:latin typeface="+mj-lt"/>
                <a:cs typeface="Arial" panose="020B0604020202020204" pitchFamily="34" charset="0"/>
              </a:rPr>
              <a:t>FAQ: </a:t>
            </a:r>
            <a:r>
              <a:rPr lang="bg-BG" sz="2400" dirty="0">
                <a:solidFill>
                  <a:srgbClr val="0038A8"/>
                </a:solidFill>
                <a:latin typeface="+mj-lt"/>
                <a:cs typeface="Arial" panose="020B0604020202020204" pitchFamily="34" charset="0"/>
              </a:rPr>
              <a:t>От къде да намерим на специфичната стръмност </a:t>
            </a:r>
            <a:r>
              <a:rPr lang="en-US" sz="2400" i="1" dirty="0">
                <a:solidFill>
                  <a:srgbClr val="0038A8"/>
                </a:solidFill>
                <a:latin typeface="Times New Roman" panose="02020603050405020304" pitchFamily="18" charset="0"/>
                <a:cs typeface="Times New Roman" panose="02020603050405020304" pitchFamily="18" charset="0"/>
              </a:rPr>
              <a:t>k</a:t>
            </a:r>
            <a:r>
              <a:rPr lang="en-US" sz="2400" dirty="0">
                <a:solidFill>
                  <a:srgbClr val="0038A8"/>
                </a:solidFill>
                <a:latin typeface="+mj-lt"/>
                <a:cs typeface="Arial" panose="020B0604020202020204" pitchFamily="34" charset="0"/>
              </a:rPr>
              <a:t>?</a:t>
            </a:r>
            <a:endParaRPr lang="bg-BG" sz="2400" dirty="0">
              <a:solidFill>
                <a:srgbClr val="0038A8"/>
              </a:solidFill>
              <a:latin typeface="+mj-lt"/>
              <a:cs typeface="Arial" panose="020B0604020202020204" pitchFamily="34" charset="0"/>
            </a:endParaRPr>
          </a:p>
        </p:txBody>
      </p:sp>
      <p:pic>
        <p:nvPicPr>
          <p:cNvPr id="3" name="Picture 2">
            <a:extLst>
              <a:ext uri="{FF2B5EF4-FFF2-40B4-BE49-F238E27FC236}">
                <a16:creationId xmlns:a16="http://schemas.microsoft.com/office/drawing/2014/main" id="{12EE0BBE-2FB5-34C6-99D8-759734457276}"/>
              </a:ext>
            </a:extLst>
          </p:cNvPr>
          <p:cNvPicPr>
            <a:picLocks noChangeAspect="1"/>
          </p:cNvPicPr>
          <p:nvPr/>
        </p:nvPicPr>
        <p:blipFill>
          <a:blip r:embed="rId2"/>
          <a:stretch>
            <a:fillRect/>
          </a:stretch>
        </p:blipFill>
        <p:spPr>
          <a:xfrm>
            <a:off x="675011" y="1710063"/>
            <a:ext cx="1710168" cy="615374"/>
          </a:xfrm>
          <a:prstGeom prst="rect">
            <a:avLst/>
          </a:prstGeom>
        </p:spPr>
      </p:pic>
      <p:sp>
        <p:nvSpPr>
          <p:cNvPr id="4" name="TextBox 3">
            <a:extLst>
              <a:ext uri="{FF2B5EF4-FFF2-40B4-BE49-F238E27FC236}">
                <a16:creationId xmlns:a16="http://schemas.microsoft.com/office/drawing/2014/main" id="{0398D8DC-B4D0-054A-C6F0-C97EA9F35DBB}"/>
              </a:ext>
            </a:extLst>
          </p:cNvPr>
          <p:cNvSpPr txBox="1"/>
          <p:nvPr/>
        </p:nvSpPr>
        <p:spPr>
          <a:xfrm>
            <a:off x="2926081" y="1056444"/>
            <a:ext cx="8251371" cy="1600438"/>
          </a:xfrm>
          <a:prstGeom prst="rect">
            <a:avLst/>
          </a:prstGeom>
          <a:noFill/>
        </p:spPr>
        <p:txBody>
          <a:bodyPr wrap="square" rtlCol="0">
            <a:spAutoFit/>
          </a:bodyPr>
          <a:lstStyle/>
          <a:p>
            <a:r>
              <a:rPr lang="bg-BG" sz="1400" dirty="0"/>
              <a:t>Специфичната стръмност е полезна при проектирането на интегрални схеми защото тогава контролираме дължината </a:t>
            </a:r>
            <a:r>
              <a:rPr lang="en-US" sz="1400" dirty="0"/>
              <a:t>L </a:t>
            </a:r>
            <a:r>
              <a:rPr lang="bg-BG" sz="1400" dirty="0"/>
              <a:t>и ширината </a:t>
            </a:r>
            <a:r>
              <a:rPr lang="en-US" sz="1400" dirty="0"/>
              <a:t>W </a:t>
            </a:r>
            <a:r>
              <a:rPr lang="bg-BG" sz="1400" dirty="0"/>
              <a:t>на транзисторите.</a:t>
            </a:r>
          </a:p>
          <a:p>
            <a:endParaRPr lang="bg-BG" sz="1400" dirty="0"/>
          </a:p>
          <a:p>
            <a:r>
              <a:rPr lang="bg-BG" sz="1400" dirty="0"/>
              <a:t>В каталозите за дискретни </a:t>
            </a:r>
            <a:r>
              <a:rPr lang="en-US" sz="1400" dirty="0"/>
              <a:t>MOSFET</a:t>
            </a:r>
            <a:r>
              <a:rPr lang="bg-BG" sz="1400" dirty="0"/>
              <a:t>, този параметър не се указва. Дискретните транзистори обикновенно са съставени от множество паралелно свързани </a:t>
            </a:r>
            <a:r>
              <a:rPr lang="en-US" sz="1400" dirty="0"/>
              <a:t>MOSFET </a:t>
            </a:r>
            <a:r>
              <a:rPr lang="bg-BG" sz="1400" dirty="0"/>
              <a:t>структури и стойността на </a:t>
            </a:r>
            <a:r>
              <a:rPr lang="en-US" sz="1400" dirty="0"/>
              <a:t>k </a:t>
            </a:r>
            <a:r>
              <a:rPr lang="bg-BG" sz="1400" dirty="0"/>
              <a:t>няма практическо приложение. Вместо това, проектантът използва параметри</a:t>
            </a:r>
            <a:r>
              <a:rPr lang="en-US" sz="1400" dirty="0"/>
              <a:t> </a:t>
            </a:r>
            <a:r>
              <a:rPr lang="bg-BG" sz="1400" dirty="0"/>
              <a:t>като </a:t>
            </a:r>
            <a:r>
              <a:rPr lang="en-US" sz="1400" dirty="0" err="1"/>
              <a:t>Rds</a:t>
            </a:r>
            <a:r>
              <a:rPr lang="en-US" sz="1400" dirty="0"/>
              <a:t>(on)</a:t>
            </a:r>
            <a:r>
              <a:rPr lang="bg-BG" sz="1400" dirty="0"/>
              <a:t>, </a:t>
            </a:r>
            <a:r>
              <a:rPr lang="en-US" sz="1400" dirty="0"/>
              <a:t>Uth </a:t>
            </a:r>
            <a:r>
              <a:rPr lang="bg-BG" sz="1400" dirty="0"/>
              <a:t>и изходните характеристики </a:t>
            </a:r>
            <a:r>
              <a:rPr lang="en-US" sz="1400" dirty="0"/>
              <a:t>Id = f(</a:t>
            </a:r>
            <a:r>
              <a:rPr lang="en-US" sz="1400" dirty="0" err="1"/>
              <a:t>Uds</a:t>
            </a:r>
            <a:r>
              <a:rPr lang="en-US" sz="1400" dirty="0"/>
              <a:t>).</a:t>
            </a:r>
            <a:endParaRPr lang="bg-BG" sz="1400" dirty="0"/>
          </a:p>
        </p:txBody>
      </p:sp>
      <p:pic>
        <p:nvPicPr>
          <p:cNvPr id="6" name="Picture 5">
            <a:extLst>
              <a:ext uri="{FF2B5EF4-FFF2-40B4-BE49-F238E27FC236}">
                <a16:creationId xmlns:a16="http://schemas.microsoft.com/office/drawing/2014/main" id="{FB958DCA-ABA2-D44F-F20D-780A141EB007}"/>
              </a:ext>
            </a:extLst>
          </p:cNvPr>
          <p:cNvPicPr>
            <a:picLocks noChangeAspect="1"/>
          </p:cNvPicPr>
          <p:nvPr/>
        </p:nvPicPr>
        <p:blipFill>
          <a:blip r:embed="rId3"/>
          <a:stretch>
            <a:fillRect/>
          </a:stretch>
        </p:blipFill>
        <p:spPr>
          <a:xfrm>
            <a:off x="550426" y="2768450"/>
            <a:ext cx="4548441" cy="3951677"/>
          </a:xfrm>
          <a:prstGeom prst="rect">
            <a:avLst/>
          </a:prstGeom>
        </p:spPr>
      </p:pic>
      <p:pic>
        <p:nvPicPr>
          <p:cNvPr id="8" name="Picture 7">
            <a:extLst>
              <a:ext uri="{FF2B5EF4-FFF2-40B4-BE49-F238E27FC236}">
                <a16:creationId xmlns:a16="http://schemas.microsoft.com/office/drawing/2014/main" id="{44DB3557-4249-2E36-CB70-0D5F103A2FED}"/>
              </a:ext>
            </a:extLst>
          </p:cNvPr>
          <p:cNvPicPr>
            <a:picLocks noChangeAspect="1"/>
          </p:cNvPicPr>
          <p:nvPr/>
        </p:nvPicPr>
        <p:blipFill>
          <a:blip r:embed="rId4"/>
          <a:stretch>
            <a:fillRect/>
          </a:stretch>
        </p:blipFill>
        <p:spPr>
          <a:xfrm>
            <a:off x="6008913" y="2711902"/>
            <a:ext cx="5799909" cy="4041594"/>
          </a:xfrm>
          <a:prstGeom prst="rect">
            <a:avLst/>
          </a:prstGeom>
        </p:spPr>
      </p:pic>
    </p:spTree>
    <p:extLst>
      <p:ext uri="{BB962C8B-B14F-4D97-AF65-F5344CB8AC3E}">
        <p14:creationId xmlns:p14="http://schemas.microsoft.com/office/powerpoint/2010/main" val="3131774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77E3C9-85E9-43BD-5C8F-8C4D0A242010}"/>
              </a:ext>
            </a:extLst>
          </p:cNvPr>
          <p:cNvSpPr txBox="1"/>
          <p:nvPr/>
        </p:nvSpPr>
        <p:spPr>
          <a:xfrm>
            <a:off x="-24680" y="166825"/>
            <a:ext cx="12216680" cy="461665"/>
          </a:xfrm>
          <a:prstGeom prst="rect">
            <a:avLst/>
          </a:prstGeom>
          <a:noFill/>
        </p:spPr>
        <p:txBody>
          <a:bodyPr wrap="square">
            <a:spAutoFit/>
          </a:bodyPr>
          <a:lstStyle/>
          <a:p>
            <a:pPr algn="ctr"/>
            <a:r>
              <a:rPr lang="en-US" sz="2400" dirty="0">
                <a:solidFill>
                  <a:srgbClr val="0038A8"/>
                </a:solidFill>
                <a:latin typeface="+mj-lt"/>
                <a:cs typeface="Arial" panose="020B0604020202020204" pitchFamily="34" charset="0"/>
              </a:rPr>
              <a:t>MOSFET </a:t>
            </a:r>
            <a:r>
              <a:rPr lang="en-US" sz="2400" dirty="0">
                <a:solidFill>
                  <a:srgbClr val="0038A8"/>
                </a:solidFill>
                <a:cs typeface="Arial" panose="020B0604020202020204" pitchFamily="34" charset="0"/>
              </a:rPr>
              <a:t>–</a:t>
            </a:r>
            <a:r>
              <a:rPr lang="bg-BG" sz="2400" dirty="0">
                <a:solidFill>
                  <a:srgbClr val="0038A8"/>
                </a:solidFill>
                <a:latin typeface="+mj-lt"/>
                <a:cs typeface="Arial" panose="020B0604020202020204" pitchFamily="34" charset="0"/>
              </a:rPr>
              <a:t> Обобщение</a:t>
            </a:r>
          </a:p>
        </p:txBody>
      </p:sp>
      <p:sp>
        <p:nvSpPr>
          <p:cNvPr id="4" name="TextBox 3">
            <a:extLst>
              <a:ext uri="{FF2B5EF4-FFF2-40B4-BE49-F238E27FC236}">
                <a16:creationId xmlns:a16="http://schemas.microsoft.com/office/drawing/2014/main" id="{598F91B4-AEFC-BDDF-D00D-86C85C736F29}"/>
              </a:ext>
            </a:extLst>
          </p:cNvPr>
          <p:cNvSpPr txBox="1"/>
          <p:nvPr/>
        </p:nvSpPr>
        <p:spPr>
          <a:xfrm>
            <a:off x="744814" y="865421"/>
            <a:ext cx="10258697" cy="1785104"/>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sz="1400" dirty="0">
                <a:solidFill>
                  <a:srgbClr val="1A1C1E"/>
                </a:solidFill>
                <a:latin typeface="Arial" panose="020B0604020202020204" pitchFamily="34" charset="0"/>
              </a:rPr>
              <a:t>MOSFET </a:t>
            </a:r>
            <a:r>
              <a:rPr lang="bg-BG" sz="1400" dirty="0">
                <a:solidFill>
                  <a:srgbClr val="1A1C1E"/>
                </a:solidFill>
                <a:latin typeface="Arial" panose="020B0604020202020204" pitchFamily="34" charset="0"/>
              </a:rPr>
              <a:t>е елемент, който се контролира с напрежение. Гейта е изолиран.</a:t>
            </a:r>
          </a:p>
          <a:p>
            <a:pPr marL="285750" indent="-285750">
              <a:spcAft>
                <a:spcPts val="1200"/>
              </a:spcAft>
              <a:buFont typeface="Arial" panose="020B0604020202020204" pitchFamily="34" charset="0"/>
              <a:buChar char="•"/>
            </a:pPr>
            <a:r>
              <a:rPr lang="bg-BG" sz="1400" dirty="0">
                <a:solidFill>
                  <a:srgbClr val="1A1C1E"/>
                </a:solidFill>
                <a:latin typeface="Arial" panose="020B0604020202020204" pitchFamily="34" charset="0"/>
              </a:rPr>
              <a:t>Напрежение </a:t>
            </a:r>
            <a:r>
              <a:rPr lang="de-DE" sz="1400" dirty="0" err="1">
                <a:solidFill>
                  <a:srgbClr val="1A1C1E"/>
                </a:solidFill>
                <a:latin typeface="Arial" panose="020B0604020202020204" pitchFamily="34" charset="0"/>
              </a:rPr>
              <a:t>Vgs</a:t>
            </a:r>
            <a:r>
              <a:rPr lang="de-DE" sz="1400" dirty="0">
                <a:solidFill>
                  <a:srgbClr val="1A1C1E"/>
                </a:solidFill>
                <a:latin typeface="Arial" panose="020B0604020202020204" pitchFamily="34" charset="0"/>
              </a:rPr>
              <a:t> &gt; </a:t>
            </a:r>
            <a:r>
              <a:rPr lang="de-DE" sz="1400" dirty="0" err="1">
                <a:solidFill>
                  <a:srgbClr val="1A1C1E"/>
                </a:solidFill>
                <a:latin typeface="Arial" panose="020B0604020202020204" pitchFamily="34" charset="0"/>
              </a:rPr>
              <a:t>Vth</a:t>
            </a:r>
            <a:r>
              <a:rPr lang="de-DE" sz="1400" dirty="0">
                <a:solidFill>
                  <a:srgbClr val="1A1C1E"/>
                </a:solidFill>
                <a:latin typeface="Arial" panose="020B0604020202020204" pitchFamily="34" charset="0"/>
              </a:rPr>
              <a:t> </a:t>
            </a:r>
            <a:r>
              <a:rPr lang="bg-BG" sz="1400" dirty="0">
                <a:solidFill>
                  <a:srgbClr val="1A1C1E"/>
                </a:solidFill>
                <a:latin typeface="Arial" panose="020B0604020202020204" pitchFamily="34" charset="0"/>
              </a:rPr>
              <a:t>създава канал между дрейна и сорса. Ключът е включен (</a:t>
            </a:r>
            <a:r>
              <a:rPr lang="en-US" sz="1400" dirty="0">
                <a:solidFill>
                  <a:srgbClr val="1A1C1E"/>
                </a:solidFill>
                <a:latin typeface="Arial" panose="020B0604020202020204" pitchFamily="34" charset="0"/>
              </a:rPr>
              <a:t>ON)</a:t>
            </a:r>
            <a:r>
              <a:rPr lang="bg-BG" sz="1400" dirty="0">
                <a:solidFill>
                  <a:srgbClr val="1A1C1E"/>
                </a:solidFill>
                <a:latin typeface="Arial" panose="020B0604020202020204" pitchFamily="34" charset="0"/>
              </a:rPr>
              <a:t>.</a:t>
            </a:r>
          </a:p>
          <a:p>
            <a:pPr marL="285750" indent="-285750">
              <a:spcAft>
                <a:spcPts val="1200"/>
              </a:spcAft>
              <a:buFont typeface="Arial" panose="020B0604020202020204" pitchFamily="34" charset="0"/>
              <a:buChar char="•"/>
            </a:pPr>
            <a:r>
              <a:rPr lang="bg-BG" sz="1400" dirty="0">
                <a:solidFill>
                  <a:srgbClr val="1A1C1E"/>
                </a:solidFill>
                <a:latin typeface="Arial" panose="020B0604020202020204" pitchFamily="34" charset="0"/>
              </a:rPr>
              <a:t>Във включено състояние, транзисторът е в омичен (линеен) режим, където той има поведение на резистор.</a:t>
            </a:r>
          </a:p>
          <a:p>
            <a:pPr marL="285750" indent="-285750">
              <a:spcAft>
                <a:spcPts val="1200"/>
              </a:spcAft>
              <a:buFont typeface="Arial" panose="020B0604020202020204" pitchFamily="34" charset="0"/>
              <a:buChar char="•"/>
            </a:pPr>
            <a:r>
              <a:rPr lang="en-US" sz="1400" dirty="0">
                <a:solidFill>
                  <a:srgbClr val="1A1C1E"/>
                </a:solidFill>
                <a:latin typeface="Arial" panose="020B0604020202020204" pitchFamily="34" charset="0"/>
              </a:rPr>
              <a:t>MOSFET </a:t>
            </a:r>
            <a:r>
              <a:rPr lang="bg-BG" sz="1400" dirty="0">
                <a:solidFill>
                  <a:srgbClr val="1A1C1E"/>
                </a:solidFill>
                <a:latin typeface="Arial" panose="020B0604020202020204" pitchFamily="34" charset="0"/>
              </a:rPr>
              <a:t>има паразитен диод </a:t>
            </a:r>
            <a:r>
              <a:rPr lang="en-US" sz="1400" dirty="0">
                <a:solidFill>
                  <a:srgbClr val="1A1C1E"/>
                </a:solidFill>
                <a:latin typeface="Arial" panose="020B0604020202020204" pitchFamily="34" charset="0"/>
              </a:rPr>
              <a:t>(body diode) </a:t>
            </a:r>
            <a:r>
              <a:rPr lang="bg-BG" sz="1400" dirty="0">
                <a:solidFill>
                  <a:srgbClr val="1A1C1E"/>
                </a:solidFill>
                <a:latin typeface="Arial" panose="020B0604020202020204" pitchFamily="34" charset="0"/>
              </a:rPr>
              <a:t>между сорс/подложка и дрейн.</a:t>
            </a:r>
          </a:p>
          <a:p>
            <a:pPr>
              <a:buNone/>
            </a:pPr>
            <a:r>
              <a:rPr lang="bg-BG" sz="1400" dirty="0">
                <a:solidFill>
                  <a:srgbClr val="1A1C1E"/>
                </a:solidFill>
                <a:latin typeface="Arial" panose="020B0604020202020204" pitchFamily="34" charset="0"/>
              </a:rPr>
              <a:t> </a:t>
            </a:r>
            <a:endParaRPr lang="bg-BG" sz="1400" dirty="0"/>
          </a:p>
        </p:txBody>
      </p:sp>
      <p:pic>
        <p:nvPicPr>
          <p:cNvPr id="1026" name="Picture 2" descr="undefined">
            <a:extLst>
              <a:ext uri="{FF2B5EF4-FFF2-40B4-BE49-F238E27FC236}">
                <a16:creationId xmlns:a16="http://schemas.microsoft.com/office/drawing/2014/main" id="{9EB20FDB-A514-3C5D-3175-406BF2802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985" y="2650525"/>
            <a:ext cx="7246418" cy="3911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026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C198-E724-617B-C83E-6D0BD70ABE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8BD8C02-A685-0A44-C356-8037E20BE656}"/>
              </a:ext>
            </a:extLst>
          </p:cNvPr>
          <p:cNvSpPr txBox="1"/>
          <p:nvPr/>
        </p:nvSpPr>
        <p:spPr>
          <a:xfrm>
            <a:off x="610950" y="1751926"/>
            <a:ext cx="10618792" cy="1169551"/>
          </a:xfrm>
          <a:prstGeom prst="rect">
            <a:avLst/>
          </a:prstGeom>
          <a:noFill/>
        </p:spPr>
        <p:txBody>
          <a:bodyPr wrap="square" rtlCol="0">
            <a:spAutoFit/>
          </a:bodyPr>
          <a:lstStyle/>
          <a:p>
            <a:r>
              <a:rPr lang="ru-RU" sz="1400" dirty="0"/>
              <a:t>Днес научихме как работи един идеален MOSFET. </a:t>
            </a:r>
            <a:endParaRPr lang="en-US" sz="1400" dirty="0"/>
          </a:p>
          <a:p>
            <a:endParaRPr lang="en-US" sz="1400" dirty="0"/>
          </a:p>
          <a:p>
            <a:r>
              <a:rPr lang="ru-RU" sz="1400" dirty="0"/>
              <a:t>Следващия път ще разгледаме реалните мощни MOSFET транзистори. Ще видим как са изградени, какво всъщност означава </a:t>
            </a:r>
            <a:r>
              <a:rPr lang="en-US" sz="1400" dirty="0" err="1"/>
              <a:t>Rds</a:t>
            </a:r>
            <a:r>
              <a:rPr lang="en-US" sz="1400" dirty="0"/>
              <a:t>(on)</a:t>
            </a:r>
            <a:r>
              <a:rPr lang="bg-BG" sz="1400" dirty="0"/>
              <a:t> </a:t>
            </a:r>
            <a:r>
              <a:rPr lang="ru-RU" sz="1400" dirty="0"/>
              <a:t>и </a:t>
            </a:r>
            <a:r>
              <a:rPr lang="bg-BG" sz="1400" dirty="0"/>
              <a:t>ще открием</a:t>
            </a:r>
            <a:r>
              <a:rPr lang="ru-RU" sz="1400" dirty="0"/>
              <a:t>, че включването и изключването им не е толкова просто като да се приложи напрежение между </a:t>
            </a:r>
            <a:r>
              <a:rPr lang="bg-BG" sz="1400" dirty="0"/>
              <a:t>гейт и сорс</a:t>
            </a:r>
            <a:r>
              <a:rPr lang="ru-RU" sz="1400" dirty="0"/>
              <a:t>. </a:t>
            </a:r>
          </a:p>
        </p:txBody>
      </p:sp>
    </p:spTree>
    <p:extLst>
      <p:ext uri="{BB962C8B-B14F-4D97-AF65-F5344CB8AC3E}">
        <p14:creationId xmlns:p14="http://schemas.microsoft.com/office/powerpoint/2010/main" val="1793591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TotalTime>
  <Words>1770</Words>
  <Application>Microsoft Office PowerPoint</Application>
  <PresentationFormat>Widescreen</PresentationFormat>
  <Paragraphs>231</Paragraphs>
  <Slides>19</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6" baseType="lpstr">
      <vt:lpstr>Aptos</vt:lpstr>
      <vt:lpstr>Aptos Display</vt:lpstr>
      <vt:lpstr>Arial</vt:lpstr>
      <vt:lpstr>Cambria Math</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Vassiliy Tchoumatchenko</dc:creator>
  <cp:lastModifiedBy>Vassiliy Tchoumatchenko</cp:lastModifiedBy>
  <cp:revision>12</cp:revision>
  <dcterms:created xsi:type="dcterms:W3CDTF">2025-10-27T17:36:55Z</dcterms:created>
  <dcterms:modified xsi:type="dcterms:W3CDTF">2025-12-01T09:42:13Z</dcterms:modified>
</cp:coreProperties>
</file>