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40" r:id="rId2"/>
    <p:sldId id="345" r:id="rId3"/>
    <p:sldId id="348" r:id="rId4"/>
    <p:sldId id="346" r:id="rId5"/>
    <p:sldId id="347" r:id="rId6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10" y="5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24AB-2C2F-4935-B67B-5A68DF43EAFA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9544D-D715-40D7-BC31-F8A346D97C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2513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9599-7FFB-A5CD-F5A0-4B14D9EA2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944AC-E81C-DE01-E4DE-72466CBF7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57B20-B467-57F5-9F67-152A323D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94D2-25B1-2A7B-9327-8599CF6C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DF86-F233-C32F-F538-5F94BBC9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141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E186-F073-1F09-54A5-6643FC24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FAB8C-0862-1891-8AFA-38E2CEF0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D224B-9AC9-7C18-2E81-D7509F9E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D9A89-2168-B50A-CAC0-A33F9179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2A00E-38FD-55AE-D4D7-70DE8DB4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400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591C-1B96-3004-D104-25000ADC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591C5-8C15-4A83-B39E-B227FD6D4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1969-BA5B-1AF9-052F-40F78C7BF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9936E-E58D-EB0F-2A4C-429A8E14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9D855-50F8-FE97-8787-1F443A83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362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5E9A-ECC2-8B14-64E7-C6E11599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52DCB-936E-A8FB-3A7D-45C55C510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17A36-52A1-7E75-07EE-12699A23A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286D2-8508-F054-30AF-18E5C61C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51910-1D25-0F6F-E2C0-C4F261E6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82CD-4198-FA54-4C49-CFB64BD7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537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3CC3-1242-3126-9493-34BA7F54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917A5-8E8D-5075-E81E-30AF1B90E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E8040-E8CD-4ED8-F307-B8F87DCE3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84509-F3E9-CC25-D786-33A92A124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10748-0178-E873-EFF0-CE21974AB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1CBD4-1041-6E34-7CDC-BCFFC0FD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43C420-F425-355F-CF8E-3F2BA26D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55219-48B2-2357-F0F1-E4B1C113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9516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2A36-0CC2-35CD-A339-1FA1B6EA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DCC87-BCFD-F4A2-B7A8-ACC2EDF3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FCDA2-B92F-DE75-434E-688A454F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5E2D3-1B2A-8626-ED16-CC0A1ED8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617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4CC47-1386-DE7B-75E4-F58FEF3B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560C-6146-8D2E-08C6-5765D08C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8EF57-8134-795A-1E19-C64BC0C6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646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8096-1102-A25E-32B1-B0162284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3F3C-E02E-9870-26D7-76E7752F6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901BD-08A3-2128-31F0-6D9E7A210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949FB-69C3-5AA3-6E1F-C9F52882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ECD44-CD55-E343-8E47-3572168D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E4E46-D0D4-7B70-BFA1-5C74AD50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434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F118-1134-A79D-B065-6C8E30CA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BB2FD-7F7E-007F-D4C4-3BFF78F91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82957-A807-30F6-F7D4-9D6FD0A62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903C-4621-D169-4D26-EC0B09D5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531F8-5F64-52B1-2D5D-F622CE79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08BDB-094C-56CA-8089-F68CD5B3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489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DA17-D5CC-781B-2E0B-A74E7B64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14EB5-9F27-FE98-04A5-54237AE92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CD1D7-AACB-FCA4-EFA9-A60984C8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F7C8-5DA2-09DF-DA42-302C035B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02C54-F5EF-62E5-28E1-082554B3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351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A93D6-85C1-89A3-4486-9B9376B72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3E985-E40F-C71E-C8EA-E8F2A0EDF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72F-C295-04D7-86CF-46388471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456C-10FE-0060-63E1-632AA2A1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EC20-6A53-22A7-BC04-C1B09AC7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138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0663B-A1F4-B046-3D7D-37C8563A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7252-316D-9AD5-007E-7EEC2D4EF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D6571-82CF-FD0C-641E-F171E706C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5FB64-19E4-4EC1-9AA3-76686029FE44}" type="datetimeFigureOut">
              <a:rPr lang="bg-BG" smtClean="0"/>
              <a:t>30.11.2025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82626-FDDF-2080-1BB8-7113BFF98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07C58-44CB-09DA-C2C1-6265C522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0464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/>
          <p:cNvSpPr/>
          <p:nvPr/>
        </p:nvSpPr>
        <p:spPr>
          <a:xfrm>
            <a:off x="655454" y="5013000"/>
            <a:ext cx="9544425" cy="10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0000"/>
          </a:bodyPr>
          <a:lstStyle/>
          <a:p>
            <a:pPr>
              <a:lnSpc>
                <a:spcPct val="90000"/>
              </a:lnSpc>
              <a:spcAft>
                <a:spcPts val="601"/>
              </a:spcAft>
            </a:pPr>
            <a:r>
              <a:rPr lang="ru-RU" sz="3200" b="0" strike="noStrike" spc="-1" dirty="0">
                <a:solidFill>
                  <a:srgbClr val="0038A8"/>
                </a:solidFill>
                <a:latin typeface="Calibri Light"/>
              </a:rPr>
              <a:t>Практически пример</a:t>
            </a:r>
            <a:r>
              <a:rPr lang="bg-BG" sz="3200" spc="-1" dirty="0">
                <a:solidFill>
                  <a:srgbClr val="0038A8"/>
                </a:solidFill>
                <a:latin typeface="Calibri Light"/>
              </a:rPr>
              <a:t>:</a:t>
            </a:r>
          </a:p>
          <a:p>
            <a:pPr>
              <a:lnSpc>
                <a:spcPct val="90000"/>
              </a:lnSpc>
              <a:spcAft>
                <a:spcPts val="601"/>
              </a:spcAft>
            </a:pPr>
            <a:r>
              <a:rPr lang="ru-RU" sz="3200" b="0" strike="noStrike" spc="-1" dirty="0">
                <a:solidFill>
                  <a:srgbClr val="0038A8"/>
                </a:solidFill>
                <a:latin typeface="Calibri Light"/>
              </a:rPr>
              <a:t>Защо микроконтролер не може да управлява мощен MOSFET</a:t>
            </a:r>
            <a:r>
              <a:rPr lang="en-US" sz="3200" b="0" strike="noStrike" spc="-1" dirty="0">
                <a:solidFill>
                  <a:srgbClr val="0038A8"/>
                </a:solidFill>
                <a:latin typeface="Calibri Light"/>
              </a:rPr>
              <a:t>?</a:t>
            </a:r>
            <a:endParaRPr lang="ru-RU" sz="3200" b="0" strike="noStrike" spc="-1" dirty="0">
              <a:solidFill>
                <a:srgbClr val="0038A8"/>
              </a:solidFill>
              <a:latin typeface="Calibri Light"/>
            </a:endParaRPr>
          </a:p>
        </p:txBody>
      </p:sp>
      <p:pic>
        <p:nvPicPr>
          <p:cNvPr id="115" name="Picture 4"/>
          <p:cNvPicPr/>
          <p:nvPr/>
        </p:nvPicPr>
        <p:blipFill>
          <a:blip r:embed="rId2"/>
          <a:stretch/>
        </p:blipFill>
        <p:spPr>
          <a:xfrm>
            <a:off x="551520" y="275760"/>
            <a:ext cx="90468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926EDE-C03E-B0B8-8875-D6E234ABF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959" y="4858952"/>
            <a:ext cx="2804343" cy="19490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23A9B-8A43-1FE3-CCCB-D37EB87287D6}"/>
              </a:ext>
            </a:extLst>
          </p:cNvPr>
          <p:cNvSpPr txBox="1"/>
          <p:nvPr/>
        </p:nvSpPr>
        <p:spPr>
          <a:xfrm>
            <a:off x="335280" y="431074"/>
            <a:ext cx="1115187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Практически пример:</a:t>
            </a:r>
            <a:r>
              <a:rPr lang="en-US" sz="1400" b="1" dirty="0"/>
              <a:t> </a:t>
            </a:r>
            <a:r>
              <a:rPr lang="ru-RU" sz="1400" b="1" dirty="0"/>
              <a:t>Защо микроконтролер не може да управлява мощен MOSFET?</a:t>
            </a:r>
          </a:p>
          <a:p>
            <a:br>
              <a:rPr lang="en-US" sz="1400" b="1" dirty="0"/>
            </a:br>
            <a:r>
              <a:rPr lang="ru-RU" sz="1400" b="1" dirty="0"/>
              <a:t>Сценарият:</a:t>
            </a:r>
            <a:r>
              <a:rPr lang="en-US" sz="1400" b="1" dirty="0"/>
              <a:t> </a:t>
            </a:r>
            <a:r>
              <a:rPr lang="ru-RU" sz="1400" dirty="0"/>
              <a:t>Студенти по електроника искат да направят прост PWM контролер за нагревателен елемент 12V, 36W. Те избират  популярният мощен MOSFET IRF540N, който да действа като ключ. Планът е да управляват гейта на MOSFET-а директно от изводите на Arduino Uno, който работи на 5V.</a:t>
            </a:r>
            <a:endParaRPr lang="en-US" sz="1400" dirty="0"/>
          </a:p>
          <a:p>
            <a:endParaRPr lang="ru-RU" sz="1400" dirty="0"/>
          </a:p>
          <a:p>
            <a:r>
              <a:rPr lang="ru-RU" sz="1400" b="1" dirty="0"/>
              <a:t>Целта:</a:t>
            </a:r>
            <a:r>
              <a:rPr lang="en-US" sz="1400" b="1" dirty="0"/>
              <a:t> </a:t>
            </a:r>
            <a:r>
              <a:rPr lang="ru-RU" sz="1400" dirty="0"/>
              <a:t>Те искат да включват и изключват нагревателя с честота 100 kHz. Те приемат, че докато сигналът от 5V е над праговото напрежение на MOSFET-а, всичко ще работи добре. Нека направим сметките, за да видим защо това е опасно предположение.</a:t>
            </a:r>
            <a:endParaRPr lang="en-US" sz="1400" dirty="0"/>
          </a:p>
          <a:p>
            <a:endParaRPr lang="en-US" sz="1400" dirty="0"/>
          </a:p>
          <a:p>
            <a:r>
              <a:rPr lang="ru-RU" sz="1400" b="1" dirty="0"/>
              <a:t>Стъпка 1: Съберете данните от </a:t>
            </a:r>
            <a:r>
              <a:rPr lang="bg-BG" sz="1400" b="1" dirty="0"/>
              <a:t>техническите спецификации на избраните елементи и от проектното задание.</a:t>
            </a:r>
            <a:endParaRPr lang="en-US" sz="1400" b="1" dirty="0"/>
          </a:p>
          <a:p>
            <a:r>
              <a:rPr lang="bg-BG" sz="1400" b="1" dirty="0"/>
              <a:t>Микроконтролер </a:t>
            </a:r>
            <a:r>
              <a:rPr lang="en-US" sz="1400" b="1" dirty="0"/>
              <a:t>Arduino Uno / ATmega328P</a:t>
            </a:r>
            <a:endParaRPr lang="en-US" sz="1400" dirty="0"/>
          </a:p>
          <a:p>
            <a:pPr lvl="1" fontAlgn="base"/>
            <a:r>
              <a:rPr lang="bg-BG" sz="1400" dirty="0"/>
              <a:t>Напрежение на логическа „1“ на изходите</a:t>
            </a:r>
            <a:r>
              <a:rPr lang="en-US" sz="1400" dirty="0"/>
              <a:t> </a:t>
            </a:r>
            <a:r>
              <a:rPr lang="en-US" sz="1400" b="1" dirty="0"/>
              <a:t> ≈ 5V</a:t>
            </a:r>
            <a:endParaRPr lang="en-US" sz="1400" dirty="0"/>
          </a:p>
          <a:p>
            <a:pPr lvl="1" fontAlgn="base"/>
            <a:r>
              <a:rPr lang="bg-BG" sz="1400" dirty="0"/>
              <a:t>Максимален ток, който може да отдава един изход </a:t>
            </a:r>
            <a:r>
              <a:rPr lang="en-US" sz="1400" b="1" dirty="0"/>
              <a:t> ≈ 20 mA (0.02 A)</a:t>
            </a:r>
            <a:endParaRPr lang="en-US" sz="1400" dirty="0"/>
          </a:p>
          <a:p>
            <a:pPr fontAlgn="base"/>
            <a:endParaRPr lang="bg-BG" sz="1400" b="1" dirty="0"/>
          </a:p>
          <a:p>
            <a:pPr fontAlgn="base"/>
            <a:r>
              <a:rPr lang="en-US" sz="1400" b="1" dirty="0"/>
              <a:t>MOSFET </a:t>
            </a:r>
            <a:r>
              <a:rPr lang="bg-BG" sz="1400" b="1" dirty="0"/>
              <a:t> транзисторът </a:t>
            </a:r>
            <a:r>
              <a:rPr lang="en-US" sz="1400" b="1" dirty="0"/>
              <a:t>IRF540N</a:t>
            </a:r>
            <a:endParaRPr lang="en-US" sz="1400" dirty="0"/>
          </a:p>
          <a:p>
            <a:pPr lvl="1" fontAlgn="base"/>
            <a:r>
              <a:rPr lang="bg-BG" sz="1400" dirty="0"/>
              <a:t>Прагово напрежение </a:t>
            </a:r>
            <a:r>
              <a:rPr lang="en-US" sz="1400" dirty="0"/>
              <a:t>(Vth): </a:t>
            </a:r>
            <a:r>
              <a:rPr lang="bg-BG" sz="1400" dirty="0"/>
              <a:t>от </a:t>
            </a:r>
            <a:r>
              <a:rPr lang="en-US" sz="1400" dirty="0"/>
              <a:t>2V </a:t>
            </a:r>
            <a:r>
              <a:rPr lang="bg-BG" sz="1400" dirty="0"/>
              <a:t>до</a:t>
            </a:r>
            <a:r>
              <a:rPr lang="en-US" sz="1400" dirty="0"/>
              <a:t> 4V. </a:t>
            </a:r>
            <a:r>
              <a:rPr lang="bg-BG" sz="1400" dirty="0"/>
              <a:t>Така че, </a:t>
            </a:r>
            <a:r>
              <a:rPr lang="en-US" sz="1400" dirty="0"/>
              <a:t>5V </a:t>
            </a:r>
            <a:r>
              <a:rPr lang="bg-BG" sz="1400" dirty="0"/>
              <a:t>може да включи транзистора</a:t>
            </a:r>
            <a:r>
              <a:rPr lang="en-US" sz="1400" dirty="0"/>
              <a:t>.</a:t>
            </a:r>
          </a:p>
          <a:p>
            <a:pPr lvl="1" fontAlgn="base"/>
            <a:r>
              <a:rPr lang="bg-BG" sz="1400" dirty="0"/>
              <a:t>Заряд на гейта</a:t>
            </a:r>
            <a:r>
              <a:rPr lang="en-US" sz="1400" dirty="0"/>
              <a:t> (</a:t>
            </a:r>
            <a:r>
              <a:rPr lang="en-US" sz="1400" dirty="0" err="1"/>
              <a:t>Qg</a:t>
            </a:r>
            <a:r>
              <a:rPr lang="en-US" sz="1400" dirty="0"/>
              <a:t>): </a:t>
            </a:r>
            <a:r>
              <a:rPr lang="bg-BG" sz="1400" dirty="0"/>
              <a:t>Типичен заряд </a:t>
            </a:r>
            <a:r>
              <a:rPr lang="en-US" sz="1400" dirty="0" err="1"/>
              <a:t>Qg</a:t>
            </a:r>
            <a:r>
              <a:rPr lang="bg-BG" sz="1400" dirty="0"/>
              <a:t>, необходим за да се включи напълно транзистора </a:t>
            </a:r>
            <a:r>
              <a:rPr lang="en-US" sz="1400" dirty="0"/>
              <a:t>(</a:t>
            </a:r>
            <a:r>
              <a:rPr lang="bg-BG" sz="1400" dirty="0"/>
              <a:t>при</a:t>
            </a:r>
            <a:r>
              <a:rPr lang="en-US" sz="1400" dirty="0"/>
              <a:t> </a:t>
            </a:r>
            <a:r>
              <a:rPr lang="en-US" sz="1400" dirty="0" err="1"/>
              <a:t>Vgs</a:t>
            </a:r>
            <a:r>
              <a:rPr lang="en-US" sz="1400" dirty="0"/>
              <a:t>=10V)</a:t>
            </a:r>
            <a:r>
              <a:rPr lang="bg-BG" sz="1400" dirty="0"/>
              <a:t>:</a:t>
            </a:r>
            <a:r>
              <a:rPr lang="en-US" sz="1400" dirty="0"/>
              <a:t> </a:t>
            </a:r>
            <a:r>
              <a:rPr lang="en-US" sz="1400" b="1" dirty="0"/>
              <a:t>71 nano-coulombs (</a:t>
            </a:r>
            <a:r>
              <a:rPr lang="en-US" sz="1400" b="1" dirty="0" err="1"/>
              <a:t>nC</a:t>
            </a:r>
            <a:r>
              <a:rPr lang="en-US" sz="1400" b="1" dirty="0"/>
              <a:t>)</a:t>
            </a:r>
            <a:r>
              <a:rPr lang="en-US" sz="1400" dirty="0"/>
              <a:t>. </a:t>
            </a:r>
            <a:endParaRPr lang="bg-BG" sz="1400" dirty="0"/>
          </a:p>
          <a:p>
            <a:pPr lvl="1" fontAlgn="base"/>
            <a:endParaRPr lang="bg-BG" sz="1400" b="1" dirty="0"/>
          </a:p>
          <a:p>
            <a:pPr fontAlgn="base"/>
            <a:r>
              <a:rPr lang="bg-BG" sz="1400" b="1" dirty="0"/>
              <a:t>Товар</a:t>
            </a:r>
            <a:r>
              <a:rPr lang="en-US" sz="1400" b="1" dirty="0"/>
              <a:t>:</a:t>
            </a:r>
            <a:endParaRPr lang="en-US" sz="1400" dirty="0"/>
          </a:p>
          <a:p>
            <a:pPr lvl="1" fontAlgn="base"/>
            <a:r>
              <a:rPr lang="bg-BG" sz="1400" dirty="0"/>
              <a:t>Напрежение </a:t>
            </a:r>
            <a:r>
              <a:rPr lang="en-US" sz="1400" dirty="0" err="1"/>
              <a:t>Vload</a:t>
            </a:r>
            <a:r>
              <a:rPr lang="en-US" sz="1400" dirty="0"/>
              <a:t>: </a:t>
            </a:r>
            <a:r>
              <a:rPr lang="en-US" sz="1400" b="1" dirty="0"/>
              <a:t>12V</a:t>
            </a:r>
            <a:endParaRPr lang="en-US" sz="1400" dirty="0"/>
          </a:p>
          <a:p>
            <a:pPr lvl="1" fontAlgn="base"/>
            <a:r>
              <a:rPr lang="bg-BG" sz="1400" dirty="0"/>
              <a:t>Ток </a:t>
            </a:r>
            <a:r>
              <a:rPr lang="en-US" sz="1400" dirty="0" err="1"/>
              <a:t>Iload</a:t>
            </a:r>
            <a:r>
              <a:rPr lang="en-US" sz="1400" dirty="0"/>
              <a:t>: 36W / 12V = </a:t>
            </a:r>
            <a:r>
              <a:rPr lang="en-US" sz="1400" b="1" dirty="0"/>
              <a:t>3 A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E8D40-2E2C-133E-9C48-C5FB957EE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864" y="4263469"/>
            <a:ext cx="6156960" cy="2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8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BFC4C11-520B-6F63-8A9F-35CDCD07C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232" y="1009693"/>
            <a:ext cx="7480198" cy="259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D76972-6A8E-BC3D-6CFC-E02200E19EC2}"/>
              </a:ext>
            </a:extLst>
          </p:cNvPr>
          <p:cNvSpPr txBox="1"/>
          <p:nvPr/>
        </p:nvSpPr>
        <p:spPr>
          <a:xfrm>
            <a:off x="77885" y="6531247"/>
            <a:ext cx="93695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https://toshiba.semicon-storage.com/ap-en/semiconductor/knowledge/e-learning/brushless-motor/chapter3/what-pwm.html</a:t>
            </a:r>
            <a:endParaRPr lang="bg-BG" sz="1000" dirty="0"/>
          </a:p>
        </p:txBody>
      </p:sp>
    </p:spTree>
    <p:extLst>
      <p:ext uri="{BB962C8B-B14F-4D97-AF65-F5344CB8AC3E}">
        <p14:creationId xmlns:p14="http://schemas.microsoft.com/office/powerpoint/2010/main" val="152878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4259-B133-CBD7-BB1C-CB48DEA2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E10ABB-71E6-D628-C71B-70888A1B0F64}"/>
              </a:ext>
            </a:extLst>
          </p:cNvPr>
          <p:cNvSpPr txBox="1"/>
          <p:nvPr/>
        </p:nvSpPr>
        <p:spPr>
          <a:xfrm>
            <a:off x="335280" y="431074"/>
            <a:ext cx="1115187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Стъпка 2: Изчислете необходимия ток на гейта за бързо превключване</a:t>
            </a:r>
          </a:p>
          <a:p>
            <a:r>
              <a:rPr lang="ru-RU" sz="1400" dirty="0"/>
              <a:t>Нека дефинираме „бързо“ превключване за приложение със 100kHz. Транзисторът има </a:t>
            </a:r>
            <a:r>
              <a:rPr lang="en-US" sz="1400" dirty="0"/>
              <a:t>td(on) = 11ns. </a:t>
            </a:r>
            <a:r>
              <a:rPr lang="bg-BG" sz="1400" dirty="0"/>
              <a:t>Перидът на </a:t>
            </a:r>
            <a:r>
              <a:rPr lang="en-US" sz="1400" dirty="0"/>
              <a:t>PWM </a:t>
            </a:r>
            <a:r>
              <a:rPr lang="bg-BG" sz="1400" dirty="0"/>
              <a:t>сигнала е </a:t>
            </a:r>
            <a:r>
              <a:rPr lang="en-US" sz="1400" dirty="0"/>
              <a:t>T=1/100kHz = 10ms. </a:t>
            </a:r>
            <a:r>
              <a:rPr lang="bg-BG" sz="1400" dirty="0"/>
              <a:t>За да минимизираме загубите при превключване</a:t>
            </a:r>
            <a:r>
              <a:rPr lang="en-US" sz="1400" dirty="0"/>
              <a:t>, </a:t>
            </a:r>
            <a:r>
              <a:rPr lang="bg-BG" sz="1400" dirty="0"/>
              <a:t>нека изберем </a:t>
            </a:r>
            <a:r>
              <a:rPr lang="en-US" sz="1400" dirty="0"/>
              <a:t>ton = 100 ns.</a:t>
            </a:r>
            <a:endParaRPr lang="ru-RU" sz="1400" dirty="0"/>
          </a:p>
          <a:p>
            <a:endParaRPr lang="en-US" sz="1400" dirty="0"/>
          </a:p>
          <a:p>
            <a:pPr fontAlgn="base"/>
            <a:r>
              <a:rPr lang="bg-BG" sz="1400" b="1" dirty="0"/>
              <a:t>Формула: </a:t>
            </a:r>
            <a:r>
              <a:rPr lang="en-US" sz="1400" dirty="0">
                <a:latin typeface="Consolas" panose="020B0609020204030204" pitchFamily="49" charset="0"/>
              </a:rPr>
              <a:t>To</a:t>
            </a:r>
            <a:r>
              <a:rPr lang="bg-BG" sz="1400" dirty="0">
                <a:latin typeface="Consolas" panose="020B0609020204030204" pitchFamily="49" charset="0"/>
              </a:rPr>
              <a:t>к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bg-BG" sz="1400" dirty="0">
                <a:latin typeface="Consolas" panose="020B0609020204030204" pitchFamily="49" charset="0"/>
              </a:rPr>
              <a:t>Заряд</a:t>
            </a:r>
            <a:r>
              <a:rPr lang="en-US" sz="1400" dirty="0">
                <a:latin typeface="Consolas" panose="020B0609020204030204" pitchFamily="49" charset="0"/>
              </a:rPr>
              <a:t> / </a:t>
            </a:r>
            <a:r>
              <a:rPr lang="bg-BG" sz="1400" dirty="0">
                <a:latin typeface="Consolas" panose="020B0609020204030204" pitchFamily="49" charset="0"/>
              </a:rPr>
              <a:t>Време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bg-BG" sz="1400" dirty="0">
                <a:latin typeface="Consolas" panose="020B0609020204030204" pitchFamily="49" charset="0"/>
              </a:rPr>
              <a:t>или </a:t>
            </a:r>
            <a:r>
              <a:rPr lang="en-US" sz="1400" dirty="0" err="1">
                <a:latin typeface="Consolas" panose="020B0609020204030204" pitchFamily="49" charset="0"/>
              </a:rPr>
              <a:t>Igate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Qg</a:t>
            </a:r>
            <a:r>
              <a:rPr lang="en-US" sz="1400" dirty="0">
                <a:latin typeface="Consolas" panose="020B0609020204030204" pitchFamily="49" charset="0"/>
              </a:rPr>
              <a:t> / ton</a:t>
            </a:r>
          </a:p>
          <a:p>
            <a:pPr fontAlgn="base"/>
            <a:r>
              <a:rPr lang="bg-BG" sz="1400" b="1" dirty="0"/>
              <a:t>Необходим ток</a:t>
            </a:r>
            <a:r>
              <a:rPr lang="en-US" sz="1400" b="1" dirty="0"/>
              <a:t>:</a:t>
            </a:r>
            <a:br>
              <a:rPr lang="en-US" sz="1400" b="1" dirty="0"/>
            </a:br>
            <a:r>
              <a:rPr lang="en-US" sz="1400" b="1" dirty="0"/>
              <a:t>	</a:t>
            </a:r>
            <a:r>
              <a:rPr lang="en-US" sz="1400" dirty="0" err="1">
                <a:latin typeface="Consolas" panose="020B0609020204030204" pitchFamily="49" charset="0"/>
              </a:rPr>
              <a:t>Igate</a:t>
            </a:r>
            <a:r>
              <a:rPr lang="bg-BG" sz="1400" dirty="0">
                <a:latin typeface="Consolas" panose="020B0609020204030204" pitchFamily="49" charset="0"/>
              </a:rPr>
              <a:t>(</a:t>
            </a:r>
            <a:r>
              <a:rPr lang="en-US" sz="1400" dirty="0">
                <a:latin typeface="Consolas" panose="020B0609020204030204" pitchFamily="49" charset="0"/>
              </a:rPr>
              <a:t>optimal) = 71 </a:t>
            </a:r>
            <a:r>
              <a:rPr lang="en-US" sz="1400" dirty="0" err="1">
                <a:latin typeface="Consolas" panose="020B0609020204030204" pitchFamily="49" charset="0"/>
              </a:rPr>
              <a:t>nC</a:t>
            </a:r>
            <a:r>
              <a:rPr lang="en-US" sz="1400" dirty="0">
                <a:latin typeface="Consolas" panose="020B0609020204030204" pitchFamily="49" charset="0"/>
              </a:rPr>
              <a:t> / 100 ns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</a:rPr>
              <a:t>Igate</a:t>
            </a:r>
            <a:r>
              <a:rPr lang="en-US" sz="1400" dirty="0">
                <a:latin typeface="Consolas" panose="020B0609020204030204" pitchFamily="49" charset="0"/>
              </a:rPr>
              <a:t>(optimal) = 71 x 10⁻⁹ C / 100 x 10⁻⁹ s = 0.71 A</a:t>
            </a:r>
          </a:p>
          <a:p>
            <a:pPr fontAlgn="base"/>
            <a:endParaRPr lang="en-US" sz="1400" dirty="0"/>
          </a:p>
          <a:p>
            <a:r>
              <a:rPr lang="en-US" sz="1400" b="1" dirty="0"/>
              <a:t>NB</a:t>
            </a:r>
            <a:r>
              <a:rPr lang="bg-BG" sz="1400" b="1" dirty="0"/>
              <a:t> 1</a:t>
            </a:r>
            <a:r>
              <a:rPr lang="en-US" sz="1400" b="1" dirty="0"/>
              <a:t>! </a:t>
            </a:r>
            <a:endParaRPr lang="bg-BG" sz="1400" b="1" dirty="0"/>
          </a:p>
          <a:p>
            <a:r>
              <a:rPr lang="ru-RU" sz="1400" dirty="0"/>
              <a:t>Нашата цел за бързо превключване изисква пиков ток на гейта от</a:t>
            </a:r>
            <a:r>
              <a:rPr lang="en-US" sz="1400" dirty="0"/>
              <a:t> </a:t>
            </a:r>
            <a:r>
              <a:rPr lang="ru-RU" sz="1400" dirty="0"/>
              <a:t>7</a:t>
            </a:r>
            <a:r>
              <a:rPr lang="en-US" sz="1400" dirty="0"/>
              <a:t>1</a:t>
            </a:r>
            <a:r>
              <a:rPr lang="ru-RU" sz="1400" dirty="0"/>
              <a:t>0</a:t>
            </a:r>
            <a:r>
              <a:rPr lang="en-US" sz="1400" dirty="0"/>
              <a:t> mA. </a:t>
            </a:r>
            <a:r>
              <a:rPr lang="bg-BG" sz="1400" dirty="0"/>
              <a:t>Избраният </a:t>
            </a:r>
            <a:r>
              <a:rPr lang="ru-RU" sz="1400" dirty="0"/>
              <a:t>микроконтролер може да осигури 20 </a:t>
            </a:r>
            <a:r>
              <a:rPr lang="en-US" sz="1400" dirty="0"/>
              <a:t>mA.</a:t>
            </a:r>
          </a:p>
          <a:p>
            <a:r>
              <a:rPr lang="bg-BG" sz="1400" dirty="0"/>
              <a:t>Това е повече от </a:t>
            </a:r>
            <a:r>
              <a:rPr lang="en-US" sz="1400" b="1" dirty="0"/>
              <a:t>35 </a:t>
            </a:r>
            <a:r>
              <a:rPr lang="bg-BG" sz="1400" b="1" dirty="0"/>
              <a:t>пъти по малко </a:t>
            </a:r>
            <a:r>
              <a:rPr lang="bg-BG" sz="1400" dirty="0"/>
              <a:t>от тока необходим за да осигурим желаната скорост на превключване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bg-BG" sz="1400" b="1" dirty="0"/>
              <a:t>Стъпка</a:t>
            </a:r>
            <a:r>
              <a:rPr lang="en-US" sz="1400" b="1" dirty="0"/>
              <a:t> 3: </a:t>
            </a:r>
            <a:r>
              <a:rPr lang="bg-BG" sz="1400" b="1" dirty="0"/>
              <a:t>Време за включване</a:t>
            </a:r>
            <a:endParaRPr lang="en-US" sz="1400" b="1" dirty="0"/>
          </a:p>
          <a:p>
            <a:r>
              <a:rPr lang="ru-RU" sz="1400" dirty="0"/>
              <a:t>И така, ако </a:t>
            </a:r>
            <a:r>
              <a:rPr lang="bg-BG" sz="1400" dirty="0"/>
              <a:t>можем да осигурим </a:t>
            </a:r>
            <a:r>
              <a:rPr lang="ru-RU" sz="1400" dirty="0"/>
              <a:t>само 20mA, колко време ще отнеме реално включването на MOSFET-а?</a:t>
            </a:r>
          </a:p>
          <a:p>
            <a:endParaRPr lang="en-US" sz="1400" b="1" dirty="0"/>
          </a:p>
          <a:p>
            <a:pPr fontAlgn="base"/>
            <a:r>
              <a:rPr lang="bg-BG" sz="1400" b="1" dirty="0"/>
              <a:t>Формула: </a:t>
            </a:r>
            <a:r>
              <a:rPr lang="bg-BG" sz="1400" dirty="0">
                <a:latin typeface="Consolas" panose="020B0609020204030204" pitchFamily="49" charset="0"/>
              </a:rPr>
              <a:t>Време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bg-BG" sz="1400" dirty="0">
                <a:latin typeface="Consolas" panose="020B0609020204030204" pitchFamily="49" charset="0"/>
              </a:rPr>
              <a:t>Заряд</a:t>
            </a:r>
            <a:r>
              <a:rPr lang="en-US" sz="1400" dirty="0">
                <a:latin typeface="Consolas" panose="020B0609020204030204" pitchFamily="49" charset="0"/>
              </a:rPr>
              <a:t> / </a:t>
            </a:r>
            <a:r>
              <a:rPr lang="bg-BG" sz="1400" dirty="0">
                <a:latin typeface="Consolas" panose="020B0609020204030204" pitchFamily="49" charset="0"/>
              </a:rPr>
              <a:t>Ток или</a:t>
            </a:r>
            <a:r>
              <a:rPr lang="en-US" sz="1400" dirty="0">
                <a:latin typeface="Consolas" panose="020B0609020204030204" pitchFamily="49" charset="0"/>
              </a:rPr>
              <a:t> ton = </a:t>
            </a:r>
            <a:r>
              <a:rPr lang="en-US" sz="1400" dirty="0" err="1">
                <a:latin typeface="Consolas" panose="020B0609020204030204" pitchFamily="49" charset="0"/>
              </a:rPr>
              <a:t>Qg</a:t>
            </a:r>
            <a:r>
              <a:rPr lang="en-US" sz="1400" dirty="0">
                <a:latin typeface="Consolas" panose="020B0609020204030204" pitchFamily="49" charset="0"/>
              </a:rPr>
              <a:t> / </a:t>
            </a:r>
            <a:r>
              <a:rPr lang="en-US" sz="1400" dirty="0" err="1">
                <a:latin typeface="Consolas" panose="020B0609020204030204" pitchFamily="49" charset="0"/>
              </a:rPr>
              <a:t>Igate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mcu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fontAlgn="base"/>
            <a:r>
              <a:rPr lang="bg-BG" sz="1400" b="1" dirty="0"/>
              <a:t>Действително време за включване</a:t>
            </a:r>
            <a:r>
              <a:rPr lang="en-US" sz="1400" b="1" dirty="0"/>
              <a:t>:</a:t>
            </a:r>
            <a:br>
              <a:rPr lang="en-US" sz="1400" b="1" dirty="0"/>
            </a:br>
            <a:r>
              <a:rPr lang="en-US" sz="1400" dirty="0">
                <a:latin typeface="Consolas" panose="020B0609020204030204" pitchFamily="49" charset="0"/>
              </a:rPr>
              <a:t>ton(actual) = 71 </a:t>
            </a:r>
            <a:r>
              <a:rPr lang="en-US" sz="1400" dirty="0" err="1">
                <a:latin typeface="Consolas" panose="020B0609020204030204" pitchFamily="49" charset="0"/>
              </a:rPr>
              <a:t>nC</a:t>
            </a:r>
            <a:r>
              <a:rPr lang="en-US" sz="1400" dirty="0">
                <a:latin typeface="Consolas" panose="020B0609020204030204" pitchFamily="49" charset="0"/>
              </a:rPr>
              <a:t> / 20 mA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ton(actual) = 71 x 10⁻⁹ C / 0.02 A = 3</a:t>
            </a:r>
            <a:r>
              <a:rPr lang="bg-BG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latin typeface="Consolas" panose="020B0609020204030204" pitchFamily="49" charset="0"/>
              </a:rPr>
              <a:t>550 ns </a:t>
            </a:r>
            <a:r>
              <a:rPr lang="en-US" sz="1400" b="1" dirty="0"/>
              <a:t>≈</a:t>
            </a:r>
            <a:r>
              <a:rPr lang="en-US" sz="1400" dirty="0">
                <a:latin typeface="Consolas" panose="020B0609020204030204" pitchFamily="49" charset="0"/>
              </a:rPr>
              <a:t> 3.</a:t>
            </a:r>
            <a:r>
              <a:rPr lang="bg-BG" sz="1400" dirty="0">
                <a:latin typeface="Consolas" panose="020B0609020204030204" pitchFamily="49" charset="0"/>
              </a:rPr>
              <a:t>6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μs</a:t>
            </a:r>
            <a:endParaRPr lang="en-US" sz="1400" dirty="0">
              <a:latin typeface="Consolas" panose="020B0609020204030204" pitchFamily="49" charset="0"/>
            </a:endParaRPr>
          </a:p>
          <a:p>
            <a:pPr fontAlgn="base"/>
            <a:endParaRPr lang="en-US" sz="1400" dirty="0"/>
          </a:p>
          <a:p>
            <a:r>
              <a:rPr lang="en-US" sz="1400" b="1" dirty="0"/>
              <a:t>NB</a:t>
            </a:r>
            <a:r>
              <a:rPr lang="bg-BG" sz="1400" b="1" dirty="0"/>
              <a:t> 2</a:t>
            </a:r>
            <a:r>
              <a:rPr lang="en-US" sz="1400" b="1" dirty="0"/>
              <a:t>! </a:t>
            </a:r>
            <a:endParaRPr lang="bg-BG" sz="1400" b="1" dirty="0"/>
          </a:p>
          <a:p>
            <a:r>
              <a:rPr lang="ru-RU" sz="1400" dirty="0"/>
              <a:t>Вместо </a:t>
            </a:r>
            <a:r>
              <a:rPr lang="bg-BG" sz="1400" dirty="0"/>
              <a:t>желаните</a:t>
            </a:r>
            <a:r>
              <a:rPr lang="ru-RU" sz="1400" dirty="0"/>
              <a:t> 100 ns, времето за включване ще бъде 3.6 μs. Ключът работи 36 пъти по-бавно отколкото искахме.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853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997C-4996-880F-E2F3-80018FAA9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E4D0A-043B-1DA3-D949-15090EE5E756}"/>
              </a:ext>
            </a:extLst>
          </p:cNvPr>
          <p:cNvSpPr txBox="1"/>
          <p:nvPr/>
        </p:nvSpPr>
        <p:spPr>
          <a:xfrm>
            <a:off x="335280" y="431074"/>
            <a:ext cx="1115187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Стъпка 4: Изчислете последствята - загуба на мощност при превключване</a:t>
            </a:r>
          </a:p>
          <a:p>
            <a:r>
              <a:rPr lang="ru-RU" sz="1400" dirty="0"/>
              <a:t>Това </a:t>
            </a:r>
            <a:r>
              <a:rPr lang="ru-RU" sz="1400" b="1" dirty="0"/>
              <a:t>бавно</a:t>
            </a:r>
            <a:r>
              <a:rPr lang="ru-RU" sz="1400" dirty="0"/>
              <a:t> превключване създава огромно количество топлина. Нека оценим загубата на мощност по време на превключването.</a:t>
            </a:r>
            <a:endParaRPr lang="en-US" sz="1400" dirty="0"/>
          </a:p>
          <a:p>
            <a:pPr fontAlgn="base"/>
            <a:endParaRPr lang="en-US" sz="1400" b="1" dirty="0"/>
          </a:p>
          <a:p>
            <a:pPr fontAlgn="base"/>
            <a:r>
              <a:rPr lang="bg-BG" sz="1400" b="1" dirty="0"/>
              <a:t>Формула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ru-RU" sz="1400" dirty="0"/>
              <a:t>Загубата на мощност по време на превключване (Psw) може да се апроксимира като:</a:t>
            </a:r>
          </a:p>
          <a:p>
            <a:pPr fontAlgn="base"/>
            <a:r>
              <a:rPr lang="ru-RU" sz="1400" dirty="0">
                <a:latin typeface="Consolas" panose="020B0609020204030204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</a:rPr>
              <a:t>Psw</a:t>
            </a:r>
            <a:r>
              <a:rPr lang="en-US" sz="1400" dirty="0">
                <a:latin typeface="Consolas" panose="020B0609020204030204" pitchFamily="49" charset="0"/>
              </a:rPr>
              <a:t> ≈ 0.5 * </a:t>
            </a:r>
            <a:r>
              <a:rPr lang="en-US" sz="1400" dirty="0" err="1">
                <a:latin typeface="Consolas" panose="020B0609020204030204" pitchFamily="49" charset="0"/>
              </a:rPr>
              <a:t>Vload</a:t>
            </a:r>
            <a:r>
              <a:rPr lang="en-US" sz="1400" dirty="0">
                <a:latin typeface="Consolas" panose="020B0609020204030204" pitchFamily="49" charset="0"/>
              </a:rPr>
              <a:t> * </a:t>
            </a:r>
            <a:r>
              <a:rPr lang="en-US" sz="1400" dirty="0" err="1">
                <a:latin typeface="Consolas" panose="020B0609020204030204" pitchFamily="49" charset="0"/>
              </a:rPr>
              <a:t>Iload</a:t>
            </a:r>
            <a:r>
              <a:rPr lang="en-US" sz="1400" dirty="0">
                <a:latin typeface="Consolas" panose="020B0609020204030204" pitchFamily="49" charset="0"/>
              </a:rPr>
              <a:t> * </a:t>
            </a:r>
            <a:r>
              <a:rPr lang="en-US" sz="1400" dirty="0" err="1">
                <a:latin typeface="Consolas" panose="020B0609020204030204" pitchFamily="49" charset="0"/>
              </a:rPr>
              <a:t>fsw</a:t>
            </a:r>
            <a:r>
              <a:rPr lang="en-US" sz="1400" dirty="0">
                <a:latin typeface="Consolas" panose="020B0609020204030204" pitchFamily="49" charset="0"/>
              </a:rPr>
              <a:t> * (</a:t>
            </a:r>
            <a:r>
              <a:rPr lang="en-US" sz="1400" dirty="0" err="1">
                <a:latin typeface="Consolas" panose="020B0609020204030204" pitchFamily="49" charset="0"/>
              </a:rPr>
              <a:t>trise</a:t>
            </a:r>
            <a:r>
              <a:rPr lang="en-US" sz="1400" dirty="0">
                <a:latin typeface="Consolas" panose="020B0609020204030204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</a:rPr>
              <a:t>tfall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  <a:br>
              <a:rPr lang="en-US" sz="1400" dirty="0"/>
            </a:br>
            <a:r>
              <a:rPr lang="ru-RU" sz="1400" dirty="0"/>
              <a:t>Където fsw е честотата на превключване, а </a:t>
            </a:r>
            <a:r>
              <a:rPr lang="en-US" sz="1400" dirty="0" err="1"/>
              <a:t>trise</a:t>
            </a:r>
            <a:r>
              <a:rPr lang="en-US" sz="1400" dirty="0"/>
              <a:t> </a:t>
            </a:r>
            <a:r>
              <a:rPr lang="bg-BG" sz="1400" dirty="0"/>
              <a:t>и </a:t>
            </a:r>
            <a:r>
              <a:rPr lang="en-US" sz="1400" dirty="0" err="1"/>
              <a:t>tfall</a:t>
            </a:r>
            <a:r>
              <a:rPr lang="en-US" sz="1400" dirty="0"/>
              <a:t> </a:t>
            </a:r>
            <a:r>
              <a:rPr lang="ru-RU" sz="1400" dirty="0"/>
              <a:t>са равни на изчисленото от нас време за превключване </a:t>
            </a:r>
            <a:r>
              <a:rPr lang="en-US" sz="1400" dirty="0">
                <a:latin typeface="Consolas" panose="020B0609020204030204" pitchFamily="49" charset="0"/>
              </a:rPr>
              <a:t>3.</a:t>
            </a:r>
            <a:r>
              <a:rPr lang="bg-BG" sz="1400" dirty="0">
                <a:latin typeface="Consolas" panose="020B0609020204030204" pitchFamily="49" charset="0"/>
              </a:rPr>
              <a:t>55</a:t>
            </a:r>
            <a:r>
              <a:rPr lang="en-US" sz="1400" dirty="0" err="1">
                <a:latin typeface="Consolas" panose="020B0609020204030204" pitchFamily="49" charset="0"/>
              </a:rPr>
              <a:t>μs</a:t>
            </a:r>
            <a:r>
              <a:rPr lang="ru-RU" sz="1400" dirty="0"/>
              <a:t>.</a:t>
            </a:r>
            <a:endParaRPr lang="en-US" sz="1400" dirty="0"/>
          </a:p>
          <a:p>
            <a:endParaRPr lang="en-US" sz="1400" b="1" dirty="0"/>
          </a:p>
          <a:p>
            <a:r>
              <a:rPr lang="ru-RU" sz="1400" b="1" dirty="0"/>
              <a:t>Сценарий А: Управление с микроконтролера</a:t>
            </a:r>
          </a:p>
          <a:p>
            <a:r>
              <a:rPr lang="ru-RU" sz="1400" b="1" dirty="0">
                <a:latin typeface="Consolas" panose="020B0609020204030204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</a:rPr>
              <a:t>tswitch</a:t>
            </a:r>
            <a:r>
              <a:rPr lang="en-US" sz="1400" dirty="0">
                <a:latin typeface="Consolas" panose="020B0609020204030204" pitchFamily="49" charset="0"/>
              </a:rPr>
              <a:t> = 3.6 </a:t>
            </a:r>
            <a:r>
              <a:rPr lang="en-US" sz="1400" dirty="0" err="1">
                <a:latin typeface="Consolas" panose="020B0609020204030204" pitchFamily="49" charset="0"/>
              </a:rPr>
              <a:t>μs</a:t>
            </a:r>
            <a:endParaRPr lang="en-US" sz="1400" dirty="0">
              <a:latin typeface="Consolas" panose="020B0609020204030204" pitchFamily="49" charset="0"/>
            </a:endParaRPr>
          </a:p>
          <a:p>
            <a:pPr lvl="2" fontAlgn="base"/>
            <a:r>
              <a:rPr lang="en-US" sz="1400" dirty="0" err="1">
                <a:latin typeface="Consolas" panose="020B0609020204030204" pitchFamily="49" charset="0"/>
              </a:rPr>
              <a:t>Psw</a:t>
            </a:r>
            <a:r>
              <a:rPr lang="en-US" sz="1400" dirty="0">
                <a:latin typeface="Consolas" panose="020B0609020204030204" pitchFamily="49" charset="0"/>
              </a:rPr>
              <a:t>(MCU) ≈ 0.5 * 12V * 3A * 100kHz * (3.6μs + 3.6μs)</a:t>
            </a:r>
          </a:p>
          <a:p>
            <a:pPr lvl="2" fontAlgn="base"/>
            <a:r>
              <a:rPr lang="en-US" sz="1400" dirty="0" err="1">
                <a:latin typeface="Consolas" panose="020B0609020204030204" pitchFamily="49" charset="0"/>
              </a:rPr>
              <a:t>Psw</a:t>
            </a:r>
            <a:r>
              <a:rPr lang="en-US" sz="1400" dirty="0">
                <a:latin typeface="Consolas" panose="020B0609020204030204" pitchFamily="49" charset="0"/>
              </a:rPr>
              <a:t>(MCU) ≈ 18 * 100,000 * (7.2 x 10⁻⁶)</a:t>
            </a:r>
          </a:p>
          <a:p>
            <a:pPr lvl="2" fontAlgn="base"/>
            <a:r>
              <a:rPr lang="en-US" sz="1400" dirty="0" err="1">
                <a:latin typeface="Consolas" panose="020B0609020204030204" pitchFamily="49" charset="0"/>
              </a:rPr>
              <a:t>Psw</a:t>
            </a:r>
            <a:r>
              <a:rPr lang="en-US" sz="1400" dirty="0">
                <a:latin typeface="Consolas" panose="020B0609020204030204" pitchFamily="49" charset="0"/>
              </a:rPr>
              <a:t>(MCU) ≈ </a:t>
            </a:r>
            <a:r>
              <a:rPr lang="en-US" sz="1400" b="1" dirty="0">
                <a:latin typeface="Consolas" panose="020B0609020204030204" pitchFamily="49" charset="0"/>
              </a:rPr>
              <a:t>12.96 W</a:t>
            </a:r>
          </a:p>
          <a:p>
            <a:pPr fontAlgn="base"/>
            <a:endParaRPr lang="en-US" sz="1400" dirty="0"/>
          </a:p>
          <a:p>
            <a:r>
              <a:rPr lang="ru-RU" sz="1400" b="1" dirty="0"/>
              <a:t>Сценарий Б: Управление със гейт драйвер</a:t>
            </a:r>
          </a:p>
          <a:p>
            <a:r>
              <a:rPr lang="ru-RU" sz="1400" b="1" dirty="0"/>
              <a:t>	</a:t>
            </a:r>
            <a:r>
              <a:rPr lang="ru-RU" sz="1400" dirty="0"/>
              <a:t>Интегрална схма за управлени на </a:t>
            </a:r>
            <a:r>
              <a:rPr lang="en-US" sz="1400" dirty="0"/>
              <a:t>MOSFE (gate driver) </a:t>
            </a:r>
            <a:r>
              <a:rPr lang="bg-BG" sz="1400" dirty="0"/>
              <a:t>лесно ще осигури скорост на превключване от</a:t>
            </a:r>
            <a:r>
              <a:rPr lang="en-US" sz="1400" dirty="0"/>
              <a:t> 100ns.</a:t>
            </a:r>
          </a:p>
          <a:p>
            <a:pPr lvl="1" fontAlgn="base"/>
            <a:r>
              <a:rPr lang="bg-BG" sz="1400" dirty="0">
                <a:latin typeface="Consolas" panose="020B0609020204030204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</a:rPr>
              <a:t>Psw</a:t>
            </a:r>
            <a:r>
              <a:rPr lang="en-US" sz="1400" dirty="0">
                <a:latin typeface="Consolas" panose="020B0609020204030204" pitchFamily="49" charset="0"/>
              </a:rPr>
              <a:t>(Driver) ≈ 0.5 * 12V * 3A * 100kHz * (100ns + 100ns)</a:t>
            </a:r>
          </a:p>
          <a:p>
            <a:pPr lvl="1" fontAlgn="base"/>
            <a:r>
              <a:rPr lang="bg-BG" sz="1400" dirty="0">
                <a:latin typeface="Consolas" panose="020B0609020204030204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</a:rPr>
              <a:t>Psw</a:t>
            </a:r>
            <a:r>
              <a:rPr lang="en-US" sz="1400" dirty="0">
                <a:latin typeface="Consolas" panose="020B0609020204030204" pitchFamily="49" charset="0"/>
              </a:rPr>
              <a:t>(Driver) ≈ 18 * 100,000 * (200 x 10⁻⁹)</a:t>
            </a:r>
          </a:p>
          <a:p>
            <a:pPr lvl="1" fontAlgn="base"/>
            <a:r>
              <a:rPr lang="bg-BG" sz="1400" dirty="0">
                <a:latin typeface="Consolas" panose="020B0609020204030204" pitchFamily="49" charset="0"/>
              </a:rPr>
              <a:t>	</a:t>
            </a:r>
            <a:r>
              <a:rPr lang="en-US" sz="1400" dirty="0" err="1">
                <a:latin typeface="Consolas" panose="020B0609020204030204" pitchFamily="49" charset="0"/>
              </a:rPr>
              <a:t>Psw</a:t>
            </a:r>
            <a:r>
              <a:rPr lang="en-US" sz="1400" dirty="0">
                <a:latin typeface="Consolas" panose="020B0609020204030204" pitchFamily="49" charset="0"/>
              </a:rPr>
              <a:t>(Driver) ≈ </a:t>
            </a:r>
            <a:r>
              <a:rPr lang="en-US" sz="1400" b="1" dirty="0">
                <a:latin typeface="Consolas" panose="020B0609020204030204" pitchFamily="49" charset="0"/>
              </a:rPr>
              <a:t>0.36 W</a:t>
            </a:r>
          </a:p>
          <a:p>
            <a:br>
              <a:rPr lang="en-US" sz="1400" dirty="0"/>
            </a:br>
            <a:r>
              <a:rPr lang="bg-BG" sz="1400" b="1" dirty="0"/>
              <a:t>Заключение</a:t>
            </a:r>
            <a:endParaRPr lang="en-US" sz="1400" b="1" dirty="0"/>
          </a:p>
          <a:p>
            <a:r>
              <a:rPr lang="ru-RU" sz="1400" dirty="0"/>
              <a:t>При директно управление на MOSFET-а от микроконтролера</a:t>
            </a:r>
            <a:r>
              <a:rPr lang="en-US" sz="1400" dirty="0"/>
              <a:t>, </a:t>
            </a:r>
            <a:r>
              <a:rPr lang="bg-BG" sz="1400" dirty="0"/>
              <a:t>процесът на превключване разсейва почти</a:t>
            </a:r>
            <a:r>
              <a:rPr lang="en-US" sz="1400" b="1" dirty="0"/>
              <a:t> 13 W</a:t>
            </a:r>
            <a:r>
              <a:rPr lang="en-US" sz="1400" dirty="0"/>
              <a:t> </a:t>
            </a:r>
            <a:r>
              <a:rPr lang="bg-BG" sz="1400" dirty="0"/>
              <a:t>като топлина</a:t>
            </a:r>
            <a:r>
              <a:rPr lang="en-US" sz="1400" dirty="0"/>
              <a:t>. </a:t>
            </a:r>
            <a:r>
              <a:rPr lang="ru-RU" sz="1400" dirty="0"/>
              <a:t>Стандартен TO-220 корпус без радиатор може да разсее само около 2 </a:t>
            </a:r>
            <a:r>
              <a:rPr lang="en-US" sz="1400" dirty="0"/>
              <a:t>W</a:t>
            </a:r>
            <a:r>
              <a:rPr lang="ru-RU" sz="1400" dirty="0"/>
              <a:t>. MOSFET-ът би прегрял и би се самоунищожил за секунди.</a:t>
            </a:r>
          </a:p>
          <a:p>
            <a:r>
              <a:rPr lang="ru-RU" sz="1400" dirty="0"/>
              <a:t>Чрез използването на подходящ гейт</a:t>
            </a:r>
            <a:r>
              <a:rPr lang="en-US" sz="1400" dirty="0"/>
              <a:t> </a:t>
            </a:r>
            <a:r>
              <a:rPr lang="ru-RU" sz="1400" dirty="0"/>
              <a:t>драйвер, загубата при превключване се намалява до</a:t>
            </a:r>
            <a:r>
              <a:rPr lang="en-US" sz="1400" dirty="0"/>
              <a:t> </a:t>
            </a:r>
            <a:r>
              <a:rPr lang="ru-RU" sz="1400" dirty="0"/>
              <a:t>0</a:t>
            </a:r>
            <a:r>
              <a:rPr lang="en-US" sz="1400" dirty="0"/>
              <a:t>.</a:t>
            </a:r>
            <a:r>
              <a:rPr lang="ru-RU" sz="1400" dirty="0"/>
              <a:t>36 </a:t>
            </a:r>
            <a:r>
              <a:rPr lang="en-US" sz="1400" dirty="0"/>
              <a:t>W </a:t>
            </a:r>
            <a:r>
              <a:rPr lang="ru-RU" sz="1400" dirty="0"/>
              <a:t>— напълно поносима стойност.</a:t>
            </a:r>
            <a:endParaRPr lang="en-US" sz="1400" dirty="0"/>
          </a:p>
          <a:p>
            <a:endParaRPr lang="ru-RU" sz="1400" dirty="0"/>
          </a:p>
          <a:p>
            <a:r>
              <a:rPr lang="ru-RU" sz="1400" dirty="0"/>
              <a:t>Това доказва, че въпреки че микроконтролерът</a:t>
            </a:r>
            <a:r>
              <a:rPr lang="en-US" sz="1400" dirty="0"/>
              <a:t> </a:t>
            </a:r>
            <a:r>
              <a:rPr lang="bg-BG" sz="1400" dirty="0"/>
              <a:t>с изход </a:t>
            </a:r>
            <a:r>
              <a:rPr lang="ru-RU" sz="1400" dirty="0"/>
              <a:t>5V е достатъчен, за да включи MOSFET-а, негов</a:t>
            </a:r>
            <a:r>
              <a:rPr lang="bg-BG" sz="1400" dirty="0"/>
              <a:t>ата способност да отдава ток </a:t>
            </a:r>
            <a:r>
              <a:rPr lang="ru-RU" sz="1400" dirty="0"/>
              <a:t>е напълно недостатъчна за да го включи бързо. За всяко приложение, включващо </a:t>
            </a:r>
            <a:r>
              <a:rPr lang="en-US" sz="1400" dirty="0"/>
              <a:t>PWM</a:t>
            </a:r>
            <a:r>
              <a:rPr lang="ru-RU" sz="1400" dirty="0"/>
              <a:t> или бързо превключване, специал</a:t>
            </a:r>
            <a:r>
              <a:rPr lang="bg-BG" sz="1400" dirty="0"/>
              <a:t>изираният гейт драйвер </a:t>
            </a:r>
            <a:r>
              <a:rPr lang="ru-RU" sz="1400" dirty="0"/>
              <a:t>е задължителен елемент на схемата.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348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841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Vassiliy Tchoumatchenko</dc:creator>
  <cp:lastModifiedBy>Vassiliy Tchoumatchenko</cp:lastModifiedBy>
  <cp:revision>10</cp:revision>
  <dcterms:created xsi:type="dcterms:W3CDTF">2025-10-27T17:36:55Z</dcterms:created>
  <dcterms:modified xsi:type="dcterms:W3CDTF">2025-11-30T18:07:59Z</dcterms:modified>
</cp:coreProperties>
</file>