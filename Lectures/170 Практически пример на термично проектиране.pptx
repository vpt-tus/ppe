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40" r:id="rId2"/>
    <p:sldId id="343" r:id="rId3"/>
    <p:sldId id="344" r:id="rId4"/>
    <p:sldId id="345" r:id="rId5"/>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8" autoAdjust="0"/>
    <p:restoredTop sz="94660"/>
  </p:normalViewPr>
  <p:slideViewPr>
    <p:cSldViewPr snapToGrid="0">
      <p:cViewPr varScale="1">
        <p:scale>
          <a:sx n="135" d="100"/>
          <a:sy n="135" d="100"/>
        </p:scale>
        <p:origin x="110" y="5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724AB-2C2F-4935-B67B-5A68DF43EAFA}" type="datetimeFigureOut">
              <a:rPr lang="bg-BG" smtClean="0"/>
              <a:t>30.11.2025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9544D-D715-40D7-BC31-F8A346D97C74}" type="slidenum">
              <a:rPr lang="bg-BG" smtClean="0"/>
              <a:t>‹#›</a:t>
            </a:fld>
            <a:endParaRPr lang="bg-BG"/>
          </a:p>
        </p:txBody>
      </p:sp>
    </p:spTree>
    <p:extLst>
      <p:ext uri="{BB962C8B-B14F-4D97-AF65-F5344CB8AC3E}">
        <p14:creationId xmlns:p14="http://schemas.microsoft.com/office/powerpoint/2010/main" val="382513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9599-7FFB-A5CD-F5A0-4B14D9EA2A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a:extLst>
              <a:ext uri="{FF2B5EF4-FFF2-40B4-BE49-F238E27FC236}">
                <a16:creationId xmlns:a16="http://schemas.microsoft.com/office/drawing/2014/main" id="{F14944AC-E81C-DE01-E4DE-72466CBF7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a:extLst>
              <a:ext uri="{FF2B5EF4-FFF2-40B4-BE49-F238E27FC236}">
                <a16:creationId xmlns:a16="http://schemas.microsoft.com/office/drawing/2014/main" id="{A0C57B20-B467-57F5-9F67-152A323D5705}"/>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C47094D2-25B1-2A7B-9327-8599CF6C3C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1856DF86-F233-C32F-F538-5F94BBC9390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9141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E186-F073-1F09-54A5-6643FC244EB2}"/>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682FAB8C-0862-1891-8AFA-38E2CEF06A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DA7D224B-9AC9-7C18-2E81-D7509F9E0931}"/>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894D9A89-2168-B50A-CAC0-A33F917932A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ECC2A00E-38FD-55AE-D4D7-70DE8DB41329}"/>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47400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591C-1B96-3004-D104-25000ADC35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a:extLst>
              <a:ext uri="{FF2B5EF4-FFF2-40B4-BE49-F238E27FC236}">
                <a16:creationId xmlns:a16="http://schemas.microsoft.com/office/drawing/2014/main" id="{0A8591C5-8C15-4A83-B39E-B227FD6D4D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C21969-BA5B-1AF9-052F-40F78C7BF75E}"/>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6D59936E-E58D-EB0F-2A4C-429A8E14469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6D9D855-50F8-FE97-8787-1F443A83ACDF}"/>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93362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5E9A-ECC2-8B14-64E7-C6E115992253}"/>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99852DCB-936E-A8FB-3A7D-45C55C510D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a:extLst>
              <a:ext uri="{FF2B5EF4-FFF2-40B4-BE49-F238E27FC236}">
                <a16:creationId xmlns:a16="http://schemas.microsoft.com/office/drawing/2014/main" id="{F3317A36-52A1-7E75-07EE-12699A23A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a:extLst>
              <a:ext uri="{FF2B5EF4-FFF2-40B4-BE49-F238E27FC236}">
                <a16:creationId xmlns:a16="http://schemas.microsoft.com/office/drawing/2014/main" id="{C4F286D2-8508-F054-30AF-18E5C61C9AB1}"/>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6" name="Footer Placeholder 5">
            <a:extLst>
              <a:ext uri="{FF2B5EF4-FFF2-40B4-BE49-F238E27FC236}">
                <a16:creationId xmlns:a16="http://schemas.microsoft.com/office/drawing/2014/main" id="{82051910-1D25-0F6F-E2C0-C4F261E638AC}"/>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647182CD-4198-FA54-4C49-CFB64BD785B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4853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3CC3-1242-3126-9493-34BA7F54EAAD}"/>
              </a:ext>
            </a:extLst>
          </p:cNvPr>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a:extLst>
              <a:ext uri="{FF2B5EF4-FFF2-40B4-BE49-F238E27FC236}">
                <a16:creationId xmlns:a16="http://schemas.microsoft.com/office/drawing/2014/main" id="{5D4917A5-8E8D-5075-E81E-30AF1B90E5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3E8040-E8CD-4ED8-F307-B8F87DCE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a:extLst>
              <a:ext uri="{FF2B5EF4-FFF2-40B4-BE49-F238E27FC236}">
                <a16:creationId xmlns:a16="http://schemas.microsoft.com/office/drawing/2014/main" id="{64484509-F3E9-CC25-D786-33A92A124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C10748-0178-E873-EFF0-CE21974AB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a:extLst>
              <a:ext uri="{FF2B5EF4-FFF2-40B4-BE49-F238E27FC236}">
                <a16:creationId xmlns:a16="http://schemas.microsoft.com/office/drawing/2014/main" id="{95D1CBD4-1041-6E34-7CDC-BCFFC0FD9632}"/>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8" name="Footer Placeholder 7">
            <a:extLst>
              <a:ext uri="{FF2B5EF4-FFF2-40B4-BE49-F238E27FC236}">
                <a16:creationId xmlns:a16="http://schemas.microsoft.com/office/drawing/2014/main" id="{5F43C420-F425-355F-CF8E-3F2BA26D14F1}"/>
              </a:ext>
            </a:extLst>
          </p:cNvPr>
          <p:cNvSpPr>
            <a:spLocks noGrp="1"/>
          </p:cNvSpPr>
          <p:nvPr>
            <p:ph type="ftr" sz="quarter" idx="11"/>
          </p:nvPr>
        </p:nvSpPr>
        <p:spPr/>
        <p:txBody>
          <a:bodyPr/>
          <a:lstStyle/>
          <a:p>
            <a:endParaRPr lang="bg-BG"/>
          </a:p>
        </p:txBody>
      </p:sp>
      <p:sp>
        <p:nvSpPr>
          <p:cNvPr id="9" name="Slide Number Placeholder 8">
            <a:extLst>
              <a:ext uri="{FF2B5EF4-FFF2-40B4-BE49-F238E27FC236}">
                <a16:creationId xmlns:a16="http://schemas.microsoft.com/office/drawing/2014/main" id="{FB555219-48B2-2357-F0F1-E4B1C113A97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9516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2A36-0CC2-35CD-A339-1FA1B6EA5E9B}"/>
              </a:ext>
            </a:extLst>
          </p:cNvPr>
          <p:cNvSpPr>
            <a:spLocks noGrp="1"/>
          </p:cNvSpPr>
          <p:nvPr>
            <p:ph type="title"/>
          </p:nvPr>
        </p:nvSpPr>
        <p:spPr/>
        <p:txBody>
          <a:bodyPr/>
          <a:lstStyle/>
          <a:p>
            <a:r>
              <a:rPr lang="en-US"/>
              <a:t>Click to edit Master title style</a:t>
            </a:r>
            <a:endParaRPr lang="bg-BG"/>
          </a:p>
        </p:txBody>
      </p:sp>
      <p:sp>
        <p:nvSpPr>
          <p:cNvPr id="3" name="Date Placeholder 2">
            <a:extLst>
              <a:ext uri="{FF2B5EF4-FFF2-40B4-BE49-F238E27FC236}">
                <a16:creationId xmlns:a16="http://schemas.microsoft.com/office/drawing/2014/main" id="{B91DCC87-BCFD-F4A2-B7A8-ACC2EDF35DBA}"/>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4" name="Footer Placeholder 3">
            <a:extLst>
              <a:ext uri="{FF2B5EF4-FFF2-40B4-BE49-F238E27FC236}">
                <a16:creationId xmlns:a16="http://schemas.microsoft.com/office/drawing/2014/main" id="{287FCDA2-B92F-DE75-434E-688A454F5721}"/>
              </a:ext>
            </a:extLst>
          </p:cNvPr>
          <p:cNvSpPr>
            <a:spLocks noGrp="1"/>
          </p:cNvSpPr>
          <p:nvPr>
            <p:ph type="ftr" sz="quarter" idx="11"/>
          </p:nvPr>
        </p:nvSpPr>
        <p:spPr/>
        <p:txBody>
          <a:bodyPr/>
          <a:lstStyle/>
          <a:p>
            <a:endParaRPr lang="bg-BG"/>
          </a:p>
        </p:txBody>
      </p:sp>
      <p:sp>
        <p:nvSpPr>
          <p:cNvPr id="5" name="Slide Number Placeholder 4">
            <a:extLst>
              <a:ext uri="{FF2B5EF4-FFF2-40B4-BE49-F238E27FC236}">
                <a16:creationId xmlns:a16="http://schemas.microsoft.com/office/drawing/2014/main" id="{82A5E2D3-1B2A-8626-ED16-CC0A1ED8F61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3617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4CC47-1386-DE7B-75E4-F58FEF3B07B2}"/>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3" name="Footer Placeholder 2">
            <a:extLst>
              <a:ext uri="{FF2B5EF4-FFF2-40B4-BE49-F238E27FC236}">
                <a16:creationId xmlns:a16="http://schemas.microsoft.com/office/drawing/2014/main" id="{3CE0560C-6146-8D2E-08C6-5765D08C4726}"/>
              </a:ext>
            </a:extLst>
          </p:cNvPr>
          <p:cNvSpPr>
            <a:spLocks noGrp="1"/>
          </p:cNvSpPr>
          <p:nvPr>
            <p:ph type="ftr" sz="quarter" idx="11"/>
          </p:nvPr>
        </p:nvSpPr>
        <p:spPr/>
        <p:txBody>
          <a:bodyPr/>
          <a:lstStyle/>
          <a:p>
            <a:endParaRPr lang="bg-BG"/>
          </a:p>
        </p:txBody>
      </p:sp>
      <p:sp>
        <p:nvSpPr>
          <p:cNvPr id="4" name="Slide Number Placeholder 3">
            <a:extLst>
              <a:ext uri="{FF2B5EF4-FFF2-40B4-BE49-F238E27FC236}">
                <a16:creationId xmlns:a16="http://schemas.microsoft.com/office/drawing/2014/main" id="{6FA8EF57-8134-795A-1E19-C64BC0C6079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026469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8096-1102-A25E-32B1-B01622848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a:extLst>
              <a:ext uri="{FF2B5EF4-FFF2-40B4-BE49-F238E27FC236}">
                <a16:creationId xmlns:a16="http://schemas.microsoft.com/office/drawing/2014/main" id="{CCA53F3C-E02E-9870-26D7-76E7752F6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a:extLst>
              <a:ext uri="{FF2B5EF4-FFF2-40B4-BE49-F238E27FC236}">
                <a16:creationId xmlns:a16="http://schemas.microsoft.com/office/drawing/2014/main" id="{62E901BD-08A3-2128-31F0-6D9E7A210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949FB-69C3-5AA3-6E1F-C9F52882A680}"/>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6" name="Footer Placeholder 5">
            <a:extLst>
              <a:ext uri="{FF2B5EF4-FFF2-40B4-BE49-F238E27FC236}">
                <a16:creationId xmlns:a16="http://schemas.microsoft.com/office/drawing/2014/main" id="{586ECD44-CD55-E343-8E47-3572168DD708}"/>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BD3E4E46-D0D4-7B70-BFA1-5C74AD503D6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9434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F118-1134-A79D-B065-6C8E30CA1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a:extLst>
              <a:ext uri="{FF2B5EF4-FFF2-40B4-BE49-F238E27FC236}">
                <a16:creationId xmlns:a16="http://schemas.microsoft.com/office/drawing/2014/main" id="{1DBBB2FD-7F7E-007F-D4C4-3BFF78F91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a:extLst>
              <a:ext uri="{FF2B5EF4-FFF2-40B4-BE49-F238E27FC236}">
                <a16:creationId xmlns:a16="http://schemas.microsoft.com/office/drawing/2014/main" id="{7F482957-A807-30F6-F7D4-9D6FD0A62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7903C-4621-D169-4D26-EC0B09D5EB08}"/>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6" name="Footer Placeholder 5">
            <a:extLst>
              <a:ext uri="{FF2B5EF4-FFF2-40B4-BE49-F238E27FC236}">
                <a16:creationId xmlns:a16="http://schemas.microsoft.com/office/drawing/2014/main" id="{789531F8-5F64-52B1-2D5D-F622CE79C2EB}"/>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2CA08BDB-094C-56CA-8089-F68CD5B3B42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4489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DA17-D5CC-781B-2E0B-A74E7B64C21C}"/>
              </a:ext>
            </a:extLst>
          </p:cNvPr>
          <p:cNvSpPr>
            <a:spLocks noGrp="1"/>
          </p:cNvSpPr>
          <p:nvPr>
            <p:ph type="title"/>
          </p:nvPr>
        </p:nvSpPr>
        <p:spPr/>
        <p:txBody>
          <a:bodyPr/>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49B14EB5-9F27-FE98-04A5-54237AE926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0B0CD1D7-AACB-FCA4-EFA9-A60984C8E077}"/>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33F5F7C8-5DA2-09DF-DA42-302C035B47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A202C54-F5EF-62E5-28E1-082554B3896E}"/>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53519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EA93D6-85C1-89A3-4486-9B9376B72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5CB3E985-E40F-C71E-C8EA-E8F2A0EDF0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6ED3872F-C295-04D7-86CF-463884713DE7}"/>
              </a:ext>
            </a:extLst>
          </p:cNvPr>
          <p:cNvSpPr>
            <a:spLocks noGrp="1"/>
          </p:cNvSpPr>
          <p:nvPr>
            <p:ph type="dt" sz="half" idx="10"/>
          </p:nvPr>
        </p:nvSpPr>
        <p:spPr/>
        <p:txBody>
          <a:body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801E456C-10FE-0060-63E1-632AA2A10049}"/>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519FEC20-6A53-22A7-BC04-C1B09AC70935}"/>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6913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C0663B-A1F4-B046-3D7D-37C8563A4A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a:extLst>
              <a:ext uri="{FF2B5EF4-FFF2-40B4-BE49-F238E27FC236}">
                <a16:creationId xmlns:a16="http://schemas.microsoft.com/office/drawing/2014/main" id="{156E7252-316D-9AD5-007E-7EEC2D4EF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5F8D6571-82CF-FD0C-641E-F171E706C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85FB64-19E4-4EC1-9AA3-76686029FE44}" type="datetimeFigureOut">
              <a:rPr lang="bg-BG" smtClean="0"/>
              <a:t>30.11.2025 г.</a:t>
            </a:fld>
            <a:endParaRPr lang="bg-BG"/>
          </a:p>
        </p:txBody>
      </p:sp>
      <p:sp>
        <p:nvSpPr>
          <p:cNvPr id="5" name="Footer Placeholder 4">
            <a:extLst>
              <a:ext uri="{FF2B5EF4-FFF2-40B4-BE49-F238E27FC236}">
                <a16:creationId xmlns:a16="http://schemas.microsoft.com/office/drawing/2014/main" id="{C2F82626-FDDF-2080-1BB8-7113BFF98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bg-BG"/>
          </a:p>
        </p:txBody>
      </p:sp>
      <p:sp>
        <p:nvSpPr>
          <p:cNvPr id="6" name="Slide Number Placeholder 5">
            <a:extLst>
              <a:ext uri="{FF2B5EF4-FFF2-40B4-BE49-F238E27FC236}">
                <a16:creationId xmlns:a16="http://schemas.microsoft.com/office/drawing/2014/main" id="{03807C58-44CB-09DA-C2C1-6265C5227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861DE-F4EC-4562-8E30-41C286D1D3C4}" type="slidenum">
              <a:rPr lang="bg-BG" smtClean="0"/>
              <a:t>‹#›</a:t>
            </a:fld>
            <a:endParaRPr lang="bg-BG"/>
          </a:p>
        </p:txBody>
      </p:sp>
    </p:spTree>
    <p:extLst>
      <p:ext uri="{BB962C8B-B14F-4D97-AF65-F5344CB8AC3E}">
        <p14:creationId xmlns:p14="http://schemas.microsoft.com/office/powerpoint/2010/main" val="4204640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2"/>
          <p:cNvSpPr/>
          <p:nvPr/>
        </p:nvSpPr>
        <p:spPr>
          <a:xfrm>
            <a:off x="655454" y="5013000"/>
            <a:ext cx="9544425" cy="10796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85000" lnSpcReduction="10000"/>
          </a:bodyPr>
          <a:lstStyle/>
          <a:p>
            <a:pPr>
              <a:lnSpc>
                <a:spcPct val="90000"/>
              </a:lnSpc>
              <a:spcAft>
                <a:spcPts val="601"/>
              </a:spcAft>
            </a:pPr>
            <a:r>
              <a:rPr lang="ru-RU" sz="3200" b="0" strike="noStrike" spc="-1" dirty="0">
                <a:solidFill>
                  <a:srgbClr val="0038A8"/>
                </a:solidFill>
                <a:latin typeface="Calibri Light"/>
              </a:rPr>
              <a:t>Практически пример</a:t>
            </a:r>
            <a:r>
              <a:rPr lang="bg-BG" sz="3200" spc="-1" dirty="0">
                <a:solidFill>
                  <a:srgbClr val="0038A8"/>
                </a:solidFill>
                <a:latin typeface="Calibri Light"/>
              </a:rPr>
              <a:t> на термично проектиране:</a:t>
            </a:r>
          </a:p>
          <a:p>
            <a:pPr>
              <a:lnSpc>
                <a:spcPct val="90000"/>
              </a:lnSpc>
              <a:spcAft>
                <a:spcPts val="601"/>
              </a:spcAft>
            </a:pPr>
            <a:r>
              <a:rPr lang="ru-RU" sz="3200" b="0" strike="noStrike" spc="-1" dirty="0">
                <a:solidFill>
                  <a:srgbClr val="0038A8"/>
                </a:solidFill>
                <a:latin typeface="Calibri Light"/>
              </a:rPr>
              <a:t>Захранващ модул за допълнително устройство в електромобил </a:t>
            </a:r>
          </a:p>
        </p:txBody>
      </p:sp>
      <p:pic>
        <p:nvPicPr>
          <p:cNvPr id="115" name="Picture 4"/>
          <p:cNvPicPr/>
          <p:nvPr/>
        </p:nvPicPr>
        <p:blipFill>
          <a:blip r:embed="rId2"/>
          <a:stretch/>
        </p:blipFill>
        <p:spPr>
          <a:xfrm>
            <a:off x="551520" y="275760"/>
            <a:ext cx="904680" cy="9140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F966AC-D30C-30CE-60E0-794BFA6AD2FD}"/>
              </a:ext>
            </a:extLst>
          </p:cNvPr>
          <p:cNvPicPr>
            <a:picLocks noChangeAspect="1"/>
          </p:cNvPicPr>
          <p:nvPr/>
        </p:nvPicPr>
        <p:blipFill>
          <a:blip r:embed="rId2"/>
          <a:stretch>
            <a:fillRect/>
          </a:stretch>
        </p:blipFill>
        <p:spPr>
          <a:xfrm>
            <a:off x="6344809" y="2616926"/>
            <a:ext cx="5729626" cy="3296194"/>
          </a:xfrm>
          <a:prstGeom prst="rect">
            <a:avLst/>
          </a:prstGeom>
        </p:spPr>
      </p:pic>
      <p:sp>
        <p:nvSpPr>
          <p:cNvPr id="5" name="TextBox 4">
            <a:extLst>
              <a:ext uri="{FF2B5EF4-FFF2-40B4-BE49-F238E27FC236}">
                <a16:creationId xmlns:a16="http://schemas.microsoft.com/office/drawing/2014/main" id="{0848074E-D3CD-117B-18C4-F62788A3850A}"/>
              </a:ext>
            </a:extLst>
          </p:cNvPr>
          <p:cNvSpPr txBox="1"/>
          <p:nvPr/>
        </p:nvSpPr>
        <p:spPr>
          <a:xfrm>
            <a:off x="117565" y="171763"/>
            <a:ext cx="11848012" cy="5257850"/>
          </a:xfrm>
          <a:prstGeom prst="rect">
            <a:avLst/>
          </a:prstGeom>
          <a:noFill/>
        </p:spPr>
        <p:txBody>
          <a:bodyPr wrap="square">
            <a:spAutoFit/>
          </a:bodyPr>
          <a:lstStyle/>
          <a:p>
            <a:pPr rtl="0">
              <a:buNone/>
            </a:pPr>
            <a:r>
              <a:rPr lang="ru-RU" sz="1600" b="1" i="0" u="none" strike="noStrike" dirty="0">
                <a:solidFill>
                  <a:srgbClr val="1A1C1E"/>
                </a:solidFill>
                <a:effectLst/>
              </a:rPr>
              <a:t>Практически пример: Захранващ модул за допълнително устройство в електромобил -  термично изчисление</a:t>
            </a:r>
            <a:endParaRPr lang="en-US" sz="1600" b="1" i="0" u="none" strike="noStrike" dirty="0">
              <a:solidFill>
                <a:srgbClr val="1A1C1E"/>
              </a:solidFill>
              <a:effectLst/>
            </a:endParaRPr>
          </a:p>
          <a:p>
            <a:pPr rtl="0">
              <a:buNone/>
            </a:pPr>
            <a:endParaRPr lang="ru-RU" sz="1400" b="1" dirty="0">
              <a:effectLst/>
            </a:endParaRPr>
          </a:p>
          <a:p>
            <a:pPr rtl="0">
              <a:buNone/>
            </a:pPr>
            <a:r>
              <a:rPr lang="ru-RU" sz="1400" b="1" i="0" u="none" strike="noStrike" dirty="0">
                <a:solidFill>
                  <a:srgbClr val="1A1C1E"/>
                </a:solidFill>
                <a:effectLst/>
              </a:rPr>
              <a:t>Сценарий: </a:t>
            </a:r>
            <a:r>
              <a:rPr lang="ru-RU" sz="1400" b="0" i="0" u="none" strike="noStrike" dirty="0">
                <a:solidFill>
                  <a:srgbClr val="1A1C1E"/>
                </a:solidFill>
                <a:effectLst/>
              </a:rPr>
              <a:t>Вие сте инженер, който проектира малък спомагателен захранващ модул за електрическо превозно средство. Избрали сте стандартен MOSFET транзистор в корпус TO-220</a:t>
            </a:r>
            <a:r>
              <a:rPr lang="ru-RU" sz="1400" b="1" i="0" u="none" strike="noStrike" dirty="0">
                <a:solidFill>
                  <a:srgbClr val="1A1C1E"/>
                </a:solidFill>
                <a:effectLst/>
              </a:rPr>
              <a:t> </a:t>
            </a:r>
            <a:r>
              <a:rPr lang="ru-RU" sz="1400" b="0" i="0" u="none" strike="noStrike" dirty="0">
                <a:solidFill>
                  <a:srgbClr val="1A1C1E"/>
                </a:solidFill>
                <a:effectLst/>
              </a:rPr>
              <a:t>за превключване на 12V товар. Предизвикателството е, че този модул ще бъде разположен под капака на автомобила, където температурата на околната среда може да бъде много висока.</a:t>
            </a:r>
            <a:endParaRPr lang="ru-RU" sz="1400" b="0" dirty="0">
              <a:effectLst/>
            </a:endParaRPr>
          </a:p>
          <a:p>
            <a:pPr rtl="0">
              <a:buNone/>
            </a:pPr>
            <a:endParaRPr lang="en-US" sz="1400" b="1" i="0" u="none" strike="noStrike" dirty="0">
              <a:solidFill>
                <a:srgbClr val="1A1C1E"/>
              </a:solidFill>
              <a:effectLst/>
            </a:endParaRPr>
          </a:p>
          <a:p>
            <a:pPr rtl="0">
              <a:buNone/>
            </a:pPr>
            <a:r>
              <a:rPr lang="ru-RU" sz="1400" b="1" i="0" u="none" strike="noStrike" dirty="0">
                <a:solidFill>
                  <a:srgbClr val="1A1C1E"/>
                </a:solidFill>
                <a:effectLst/>
              </a:rPr>
              <a:t>Цел: </a:t>
            </a:r>
            <a:r>
              <a:rPr lang="ru-RU" sz="1400" b="0" i="0" u="none" strike="noStrike" dirty="0">
                <a:solidFill>
                  <a:srgbClr val="1A1C1E"/>
                </a:solidFill>
                <a:effectLst/>
              </a:rPr>
              <a:t>Изчислете </a:t>
            </a:r>
            <a:r>
              <a:rPr lang="ru-RU" sz="1400" b="0" i="1" u="none" strike="noStrike" dirty="0">
                <a:solidFill>
                  <a:srgbClr val="1A1C1E"/>
                </a:solidFill>
                <a:effectLst/>
              </a:rPr>
              <a:t>реалистичен </a:t>
            </a:r>
            <a:r>
              <a:rPr lang="ru-RU" sz="1400" b="0" i="0" u="none" strike="noStrike" dirty="0">
                <a:solidFill>
                  <a:srgbClr val="1A1C1E"/>
                </a:solidFill>
                <a:effectLst/>
              </a:rPr>
              <a:t>максималната мощност, която този MOSFET може да разсее, и от това да се определи максималният му непрекъснат ток в зададената околна среда.</a:t>
            </a:r>
            <a:endParaRPr lang="ru-RU" sz="1400" b="0" dirty="0">
              <a:effectLst/>
            </a:endParaRPr>
          </a:p>
          <a:p>
            <a:pPr rtl="0">
              <a:buNone/>
            </a:pPr>
            <a:endParaRPr lang="en-US" sz="1400" b="1" i="0" u="none" strike="noStrike" dirty="0">
              <a:solidFill>
                <a:srgbClr val="1A1C1E"/>
              </a:solidFill>
              <a:effectLst/>
            </a:endParaRPr>
          </a:p>
          <a:p>
            <a:pPr rtl="0">
              <a:buNone/>
            </a:pPr>
            <a:r>
              <a:rPr lang="ru-RU" sz="1400" b="1" i="0" u="none" strike="noStrike" dirty="0">
                <a:solidFill>
                  <a:srgbClr val="1A1C1E"/>
                </a:solidFill>
                <a:effectLst/>
              </a:rPr>
              <a:t>Стъпка 1: Събиране на данните (от каталога и техническото задание)</a:t>
            </a:r>
            <a:br>
              <a:rPr lang="ru-RU" sz="1400" b="1" i="0" u="none" strike="noStrike" dirty="0"/>
            </a:br>
            <a:endParaRPr lang="ru-RU" sz="1400" b="1" dirty="0">
              <a:solidFill>
                <a:srgbClr val="1A1C1E"/>
              </a:solidFill>
            </a:endParaRPr>
          </a:p>
          <a:p>
            <a:pPr rtl="0">
              <a:spcAft>
                <a:spcPts val="1400"/>
              </a:spcAft>
            </a:pPr>
            <a:r>
              <a:rPr lang="ru-RU" sz="1400" b="1" i="0" u="none" strike="noStrike" dirty="0">
                <a:solidFill>
                  <a:srgbClr val="1A1C1E"/>
                </a:solidFill>
                <a:effectLst/>
              </a:rPr>
              <a:t>От каталожните данни на MOSFET транзистора (например IRF540N):</a:t>
            </a:r>
            <a:br>
              <a:rPr lang="ru-RU" sz="1400" b="1" i="0" u="none" strike="noStrike" dirty="0">
                <a:solidFill>
                  <a:srgbClr val="1A1C1E"/>
                </a:solidFill>
                <a:effectLst/>
              </a:rPr>
            </a:br>
            <a:r>
              <a:rPr lang="ru-RU" sz="1400" b="0" i="0" u="none" strike="noStrike" dirty="0">
                <a:solidFill>
                  <a:srgbClr val="1A1C1E"/>
                </a:solidFill>
                <a:effectLst/>
              </a:rPr>
              <a:t>Максимална температура на кристала </a:t>
            </a:r>
            <a:r>
              <a:rPr lang="ru-RU" sz="1400" b="1" i="0" u="none" strike="noStrike" dirty="0">
                <a:solidFill>
                  <a:srgbClr val="1A1C1E"/>
                </a:solidFill>
                <a:effectLst/>
              </a:rPr>
              <a:t>Tj(max)</a:t>
            </a:r>
            <a:r>
              <a:rPr lang="ru-RU" sz="1400" b="0" i="0" u="none" strike="noStrike" dirty="0">
                <a:solidFill>
                  <a:srgbClr val="1A1C1E"/>
                </a:solidFill>
                <a:effectLst/>
              </a:rPr>
              <a:t> </a:t>
            </a:r>
            <a:r>
              <a:rPr lang="ru-RU" sz="1400" b="1" i="0" u="none" strike="noStrike" dirty="0">
                <a:solidFill>
                  <a:srgbClr val="1A1C1E"/>
                </a:solidFill>
                <a:effectLst/>
              </a:rPr>
              <a:t>= 175 °C</a:t>
            </a:r>
            <a:br>
              <a:rPr lang="bg-BG" sz="1400" dirty="0">
                <a:solidFill>
                  <a:srgbClr val="1A1C1E"/>
                </a:solidFill>
              </a:rPr>
            </a:br>
            <a:r>
              <a:rPr lang="ru-RU" sz="1400" b="0" i="0" u="none" strike="noStrike" dirty="0">
                <a:solidFill>
                  <a:srgbClr val="1A1C1E"/>
                </a:solidFill>
                <a:effectLst/>
              </a:rPr>
              <a:t>Съпротивление </a:t>
            </a:r>
            <a:r>
              <a:rPr lang="ru-RU" sz="1400" b="1" i="0" u="none" strike="noStrike" dirty="0">
                <a:solidFill>
                  <a:srgbClr val="1A1C1E"/>
                </a:solidFill>
                <a:effectLst/>
              </a:rPr>
              <a:t>Rds(on)</a:t>
            </a:r>
            <a:r>
              <a:rPr lang="ru-RU" sz="1400" b="0" i="0" u="none" strike="noStrike" dirty="0">
                <a:solidFill>
                  <a:srgbClr val="1A1C1E"/>
                </a:solidFill>
                <a:effectLst/>
              </a:rPr>
              <a:t> </a:t>
            </a:r>
            <a:r>
              <a:rPr lang="ru-RU" sz="1400" b="1" i="0" u="none" strike="noStrike" dirty="0">
                <a:solidFill>
                  <a:srgbClr val="1A1C1E"/>
                </a:solidFill>
                <a:effectLst/>
              </a:rPr>
              <a:t>= 44 mΩ (0,044 Ω) </a:t>
            </a:r>
            <a:r>
              <a:rPr lang="ru-RU" sz="1400" b="0" i="0" u="none" strike="noStrike" dirty="0">
                <a:solidFill>
                  <a:srgbClr val="1A1C1E"/>
                </a:solidFill>
                <a:effectLst/>
              </a:rPr>
              <a:t>за </a:t>
            </a:r>
            <a:r>
              <a:rPr lang="ru-RU" sz="1400" b="1" i="0" u="none" strike="noStrike" dirty="0">
                <a:solidFill>
                  <a:srgbClr val="1A1C1E"/>
                </a:solidFill>
                <a:effectLst/>
              </a:rPr>
              <a:t>Vgs = 10V</a:t>
            </a:r>
            <a:r>
              <a:rPr lang="ru-RU" sz="1400" b="0" i="0" u="none" strike="noStrike" dirty="0">
                <a:solidFill>
                  <a:srgbClr val="1A1C1E"/>
                </a:solidFill>
                <a:effectLst/>
              </a:rPr>
              <a:t> и </a:t>
            </a:r>
            <a:r>
              <a:rPr lang="ru-RU" sz="1400" b="1" i="0" u="none" strike="noStrike" dirty="0">
                <a:solidFill>
                  <a:srgbClr val="1A1C1E"/>
                </a:solidFill>
                <a:effectLst/>
              </a:rPr>
              <a:t>Tj = 25°C</a:t>
            </a:r>
            <a:br>
              <a:rPr lang="bg-BG" sz="1400" dirty="0">
                <a:solidFill>
                  <a:srgbClr val="1A1C1E"/>
                </a:solidFill>
              </a:rPr>
            </a:br>
            <a:r>
              <a:rPr lang="ru-RU" sz="1400" b="0" i="0" u="none" strike="noStrike" dirty="0">
                <a:solidFill>
                  <a:srgbClr val="1A1C1E"/>
                </a:solidFill>
                <a:effectLst/>
              </a:rPr>
              <a:t>Термично съпротивление, от кристала към корпуса </a:t>
            </a:r>
            <a:r>
              <a:rPr lang="ru-RU" sz="1400" b="1" i="0" u="none" strike="noStrike" dirty="0">
                <a:solidFill>
                  <a:srgbClr val="1A1C1E"/>
                </a:solidFill>
                <a:effectLst/>
              </a:rPr>
              <a:t>Rth(jc) = 1,0 °C/W</a:t>
            </a:r>
            <a:br>
              <a:rPr lang="bg-BG" sz="1400" dirty="0">
                <a:solidFill>
                  <a:srgbClr val="1A1C1E"/>
                </a:solidFill>
              </a:rPr>
            </a:br>
            <a:r>
              <a:rPr lang="ru-RU" sz="1400" b="0" i="0" u="none" strike="noStrike" dirty="0">
                <a:solidFill>
                  <a:srgbClr val="1A1C1E"/>
                </a:solidFill>
                <a:effectLst/>
              </a:rPr>
              <a:t>Термично съпротивление, от корпуса към околната среда </a:t>
            </a:r>
            <a:r>
              <a:rPr lang="ru-RU" sz="1400" b="1" i="0" u="none" strike="noStrike" dirty="0">
                <a:solidFill>
                  <a:srgbClr val="1A1C1E"/>
                </a:solidFill>
                <a:effectLst/>
              </a:rPr>
              <a:t>Rth(ca)</a:t>
            </a:r>
            <a:r>
              <a:rPr lang="ru-RU" sz="1400" b="0" i="0" u="none" strike="noStrike" dirty="0">
                <a:solidFill>
                  <a:srgbClr val="1A1C1E"/>
                </a:solidFill>
                <a:effectLst/>
              </a:rPr>
              <a:t> </a:t>
            </a:r>
            <a:r>
              <a:rPr lang="ru-RU" sz="1400" b="1" i="0" u="none" strike="noStrike" dirty="0">
                <a:solidFill>
                  <a:srgbClr val="1A1C1E"/>
                </a:solidFill>
                <a:effectLst/>
              </a:rPr>
              <a:t>= 62 °C/W</a:t>
            </a:r>
            <a:endParaRPr lang="ru-RU" sz="1400" b="0" i="0" u="none" strike="noStrike" dirty="0">
              <a:solidFill>
                <a:srgbClr val="1A1C1E"/>
              </a:solidFill>
              <a:effectLst/>
            </a:endParaRPr>
          </a:p>
          <a:p>
            <a:pPr rtl="0" fontAlgn="base"/>
            <a:r>
              <a:rPr lang="ru-RU" sz="1400" b="1" i="0" u="none" strike="noStrike" dirty="0">
                <a:solidFill>
                  <a:srgbClr val="1A1C1E"/>
                </a:solidFill>
                <a:effectLst/>
              </a:rPr>
              <a:t>От техническото задание:</a:t>
            </a:r>
            <a:endParaRPr lang="en-US" sz="1400" b="1" dirty="0">
              <a:solidFill>
                <a:srgbClr val="1A1C1E"/>
              </a:solidFill>
            </a:endParaRPr>
          </a:p>
          <a:p>
            <a:pPr rtl="0" fontAlgn="base"/>
            <a:r>
              <a:rPr lang="ru-RU" sz="1400" b="0" i="0" u="none" strike="noStrike" dirty="0">
                <a:solidFill>
                  <a:srgbClr val="1A1C1E"/>
                </a:solidFill>
                <a:effectLst/>
              </a:rPr>
              <a:t>Температурата на околната среда „под капака“ може да достигне</a:t>
            </a:r>
            <a:endParaRPr lang="en-US" sz="1400" b="0" i="0" u="none" strike="noStrike" dirty="0">
              <a:solidFill>
                <a:srgbClr val="1A1C1E"/>
              </a:solidFill>
              <a:effectLst/>
            </a:endParaRPr>
          </a:p>
          <a:p>
            <a:pPr rtl="0" fontAlgn="base"/>
            <a:r>
              <a:rPr lang="ru-RU" sz="1400" b="1" i="0" u="none" strike="noStrike" dirty="0">
                <a:solidFill>
                  <a:srgbClr val="1A1C1E"/>
                </a:solidFill>
                <a:effectLst/>
              </a:rPr>
              <a:t> Ta = 85 °C </a:t>
            </a:r>
            <a:r>
              <a:rPr lang="ru-RU" sz="1400" b="0" i="0" u="none" strike="noStrike" dirty="0">
                <a:solidFill>
                  <a:srgbClr val="1A1C1E"/>
                </a:solidFill>
                <a:effectLst/>
              </a:rPr>
              <a:t>в горещ ден.</a:t>
            </a:r>
            <a:endParaRPr lang="en-US" sz="1400" b="0" i="0" u="none" strike="noStrike" dirty="0">
              <a:solidFill>
                <a:srgbClr val="1A1C1E"/>
              </a:solidFill>
              <a:effectLst/>
            </a:endParaRPr>
          </a:p>
          <a:p>
            <a:pPr rtl="0" fontAlgn="base"/>
            <a:r>
              <a:rPr lang="ru-RU" sz="1400" b="0" i="0" u="none" strike="noStrike" dirty="0">
                <a:solidFill>
                  <a:srgbClr val="1A1C1E"/>
                </a:solidFill>
                <a:effectLst/>
              </a:rPr>
              <a:t>Ще използваме радиатор с термопастата между корпуса на MOSFET </a:t>
            </a:r>
            <a:endParaRPr lang="en-US" sz="1400" b="0" i="0" u="none" strike="noStrike" dirty="0">
              <a:solidFill>
                <a:srgbClr val="1A1C1E"/>
              </a:solidFill>
              <a:effectLst/>
            </a:endParaRPr>
          </a:p>
          <a:p>
            <a:pPr rtl="0" fontAlgn="base"/>
            <a:r>
              <a:rPr lang="ru-RU" sz="1400" b="0" i="0" u="none" strike="noStrike" dirty="0">
                <a:solidFill>
                  <a:srgbClr val="1A1C1E"/>
                </a:solidFill>
                <a:effectLst/>
              </a:rPr>
              <a:t>транзистора и радиатора. </a:t>
            </a:r>
            <a:r>
              <a:rPr lang="bg-BG" sz="1400" dirty="0">
                <a:solidFill>
                  <a:srgbClr val="1A1C1E"/>
                </a:solidFill>
              </a:rPr>
              <a:t>От техническите данни на радиатора намираме</a:t>
            </a:r>
            <a:r>
              <a:rPr lang="ru-RU" sz="1400" b="0" i="0" u="none" strike="noStrike" dirty="0">
                <a:solidFill>
                  <a:srgbClr val="1A1C1E"/>
                </a:solidFill>
                <a:effectLst/>
              </a:rPr>
              <a:t>, </a:t>
            </a:r>
          </a:p>
          <a:p>
            <a:pPr rtl="0" fontAlgn="base"/>
            <a:r>
              <a:rPr lang="ru-RU" sz="1400" b="0" i="0" u="none" strike="noStrike" dirty="0">
                <a:solidFill>
                  <a:srgbClr val="1A1C1E"/>
                </a:solidFill>
                <a:effectLst/>
              </a:rPr>
              <a:t>че термичното съпротивление от корпуса до околния въздух е </a:t>
            </a:r>
          </a:p>
          <a:p>
            <a:pPr rtl="0" fontAlgn="base"/>
            <a:r>
              <a:rPr lang="ru-RU" sz="1400" b="1" i="0" u="none" strike="noStrike" dirty="0">
                <a:solidFill>
                  <a:srgbClr val="1A1C1E"/>
                </a:solidFill>
                <a:effectLst/>
              </a:rPr>
              <a:t>Rth(ca) = 15 °C/W</a:t>
            </a:r>
            <a:r>
              <a:rPr lang="ru-RU" sz="1400" b="0" i="0" u="none" strike="noStrike" dirty="0">
                <a:solidFill>
                  <a:srgbClr val="1A1C1E"/>
                </a:solidFill>
                <a:effectLst/>
              </a:rPr>
              <a:t>.</a:t>
            </a:r>
          </a:p>
        </p:txBody>
      </p:sp>
      <p:sp>
        <p:nvSpPr>
          <p:cNvPr id="6" name="Rectangle 5">
            <a:extLst>
              <a:ext uri="{FF2B5EF4-FFF2-40B4-BE49-F238E27FC236}">
                <a16:creationId xmlns:a16="http://schemas.microsoft.com/office/drawing/2014/main" id="{DA308361-D078-7498-F278-B60F58DE916B}"/>
              </a:ext>
            </a:extLst>
          </p:cNvPr>
          <p:cNvSpPr/>
          <p:nvPr/>
        </p:nvSpPr>
        <p:spPr>
          <a:xfrm>
            <a:off x="6344808" y="2981915"/>
            <a:ext cx="5720819" cy="62308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7" name="Rectangle 6">
            <a:extLst>
              <a:ext uri="{FF2B5EF4-FFF2-40B4-BE49-F238E27FC236}">
                <a16:creationId xmlns:a16="http://schemas.microsoft.com/office/drawing/2014/main" id="{45EE3D3C-63C0-75B2-1D94-2268DF8537DC}"/>
              </a:ext>
            </a:extLst>
          </p:cNvPr>
          <p:cNvSpPr/>
          <p:nvPr/>
        </p:nvSpPr>
        <p:spPr>
          <a:xfrm>
            <a:off x="6336003" y="5429613"/>
            <a:ext cx="5729625" cy="45329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1912698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metal case&#10;&#10;AI-generated content may be incorrect.">
            <a:extLst>
              <a:ext uri="{FF2B5EF4-FFF2-40B4-BE49-F238E27FC236}">
                <a16:creationId xmlns:a16="http://schemas.microsoft.com/office/drawing/2014/main" id="{09109AA0-2F6D-312D-425A-1B19EB54A1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7833" y="2257755"/>
            <a:ext cx="4959531" cy="1345273"/>
          </a:xfrm>
          <a:prstGeom prst="rect">
            <a:avLst/>
          </a:prstGeom>
        </p:spPr>
      </p:pic>
      <p:sp>
        <p:nvSpPr>
          <p:cNvPr id="2" name="TextBox 1">
            <a:extLst>
              <a:ext uri="{FF2B5EF4-FFF2-40B4-BE49-F238E27FC236}">
                <a16:creationId xmlns:a16="http://schemas.microsoft.com/office/drawing/2014/main" id="{65815330-BDD4-91DE-0557-1562F42772C1}"/>
              </a:ext>
            </a:extLst>
          </p:cNvPr>
          <p:cNvSpPr txBox="1"/>
          <p:nvPr/>
        </p:nvSpPr>
        <p:spPr>
          <a:xfrm>
            <a:off x="261258" y="270017"/>
            <a:ext cx="7602389" cy="2462213"/>
          </a:xfrm>
          <a:prstGeom prst="rect">
            <a:avLst/>
          </a:prstGeom>
          <a:noFill/>
        </p:spPr>
        <p:txBody>
          <a:bodyPr wrap="square" rtlCol="0">
            <a:spAutoFit/>
          </a:bodyPr>
          <a:lstStyle/>
          <a:p>
            <a:r>
              <a:rPr lang="ru-RU" sz="1400" b="1" dirty="0"/>
              <a:t>Стъпка 2: Изчислете общото термично съпротивление</a:t>
            </a:r>
            <a:br>
              <a:rPr lang="ru-RU" sz="1400" b="1" dirty="0"/>
            </a:br>
            <a:endParaRPr lang="ru-RU" sz="1400" b="1" dirty="0"/>
          </a:p>
          <a:p>
            <a:r>
              <a:rPr lang="ru-RU" sz="1400" dirty="0"/>
              <a:t>Топлината трябва да премине от силициевия кристал, през корпуса на транзистора и след това през нашия радиатор до околния въздух. Общото термично съпротивление е сумата от тези два пътя:</a:t>
            </a:r>
          </a:p>
          <a:p>
            <a:pPr fontAlgn="base"/>
            <a:r>
              <a:rPr lang="ru-RU" sz="1400" dirty="0">
                <a:latin typeface="Consolas" panose="020B0609020204030204" pitchFamily="49" charset="0"/>
              </a:rPr>
              <a:t>	Rth(total) = Rth(jc) + Rth(ca)</a:t>
            </a:r>
          </a:p>
          <a:p>
            <a:pPr fontAlgn="base"/>
            <a:r>
              <a:rPr lang="ru-RU" sz="1400" dirty="0">
                <a:latin typeface="Consolas" panose="020B0609020204030204" pitchFamily="49" charset="0"/>
              </a:rPr>
              <a:t>	Rth(total) = 1.0 °C/W + 15 °C/W = 16.0 °C/W</a:t>
            </a:r>
          </a:p>
          <a:p>
            <a:endParaRPr lang="ru-RU" sz="1400" dirty="0"/>
          </a:p>
          <a:p>
            <a:r>
              <a:rPr lang="ru-RU" sz="1400" dirty="0"/>
              <a:t>Забележете, че от каталожните данни изпозвахме стойността на термичното съпротивление от кристала към корпуса Rth(jc), но не и тази от корпуса към околната среда. Rth(cа) от каталога се отнася за случая когато нямате радиатор.</a:t>
            </a:r>
          </a:p>
        </p:txBody>
      </p:sp>
      <p:pic>
        <p:nvPicPr>
          <p:cNvPr id="6" name="Picture 5" descr="A close-up of a device&#10;&#10;AI-generated content may be incorrect.">
            <a:extLst>
              <a:ext uri="{FF2B5EF4-FFF2-40B4-BE49-F238E27FC236}">
                <a16:creationId xmlns:a16="http://schemas.microsoft.com/office/drawing/2014/main" id="{96ECC21B-92A7-76D3-A153-F28F0B7BEDB8}"/>
              </a:ext>
            </a:extLst>
          </p:cNvPr>
          <p:cNvPicPr>
            <a:picLocks noChangeAspect="1"/>
          </p:cNvPicPr>
          <p:nvPr/>
        </p:nvPicPr>
        <p:blipFill>
          <a:blip r:embed="rId3">
            <a:extLst>
              <a:ext uri="{28A0092B-C50C-407E-A947-70E740481C1C}">
                <a14:useLocalDpi xmlns:a14="http://schemas.microsoft.com/office/drawing/2010/main" val="0"/>
              </a:ext>
            </a:extLst>
          </a:blip>
          <a:srcRect t="8874" b="17369"/>
          <a:stretch>
            <a:fillRect/>
          </a:stretch>
        </p:blipFill>
        <p:spPr>
          <a:xfrm>
            <a:off x="8746776" y="270017"/>
            <a:ext cx="2537567" cy="1871636"/>
          </a:xfrm>
          <a:prstGeom prst="rect">
            <a:avLst/>
          </a:prstGeom>
        </p:spPr>
      </p:pic>
      <p:sp>
        <p:nvSpPr>
          <p:cNvPr id="7" name="TextBox 6">
            <a:extLst>
              <a:ext uri="{FF2B5EF4-FFF2-40B4-BE49-F238E27FC236}">
                <a16:creationId xmlns:a16="http://schemas.microsoft.com/office/drawing/2014/main" id="{B1BF4048-E2B9-9B63-2515-CA67F0AF937D}"/>
              </a:ext>
            </a:extLst>
          </p:cNvPr>
          <p:cNvSpPr txBox="1"/>
          <p:nvPr/>
        </p:nvSpPr>
        <p:spPr>
          <a:xfrm>
            <a:off x="343990" y="3429000"/>
            <a:ext cx="11601743" cy="3323987"/>
          </a:xfrm>
          <a:prstGeom prst="rect">
            <a:avLst/>
          </a:prstGeom>
          <a:noFill/>
        </p:spPr>
        <p:txBody>
          <a:bodyPr wrap="square" rtlCol="0">
            <a:spAutoFit/>
          </a:bodyPr>
          <a:lstStyle/>
          <a:p>
            <a:r>
              <a:rPr lang="ru-RU" sz="1400" b="1" dirty="0"/>
              <a:t>Стъпка 3: Изчислете максималната разсейвана мощност Pd(max)</a:t>
            </a:r>
            <a:br>
              <a:rPr lang="ru-RU" sz="1400" b="1" dirty="0"/>
            </a:br>
            <a:endParaRPr lang="ru-RU" sz="1400" b="1" dirty="0"/>
          </a:p>
          <a:p>
            <a:r>
              <a:rPr lang="ru-RU" sz="1400" dirty="0"/>
              <a:t>Колко енергия можем да разсеем, преди кристала на транзистора да достигне границата си от 175°C в зададената околна среда от 85°C?</a:t>
            </a:r>
          </a:p>
          <a:p>
            <a:r>
              <a:rPr lang="ru-RU" sz="1400" b="1" dirty="0"/>
              <a:t>1. Намерете максимално допустимото повишаване на температурата</a:t>
            </a:r>
            <a:endParaRPr lang="ru-RU" sz="1400" dirty="0"/>
          </a:p>
          <a:p>
            <a:pPr fontAlgn="base"/>
            <a:r>
              <a:rPr lang="ru-RU" sz="1400" dirty="0">
                <a:latin typeface="Consolas" panose="020B0609020204030204" pitchFamily="49" charset="0"/>
              </a:rPr>
              <a:t>	ΔTmax = Tj(max) - Ta</a:t>
            </a:r>
          </a:p>
          <a:p>
            <a:pPr fontAlgn="base"/>
            <a:r>
              <a:rPr lang="ru-RU" sz="1400" dirty="0">
                <a:latin typeface="Consolas" panose="020B0609020204030204" pitchFamily="49" charset="0"/>
              </a:rPr>
              <a:t>	ΔTmax = 175°C - 85°C = 90°C</a:t>
            </a:r>
          </a:p>
          <a:p>
            <a:pPr fontAlgn="base"/>
            <a:r>
              <a:rPr lang="ru-RU" sz="1400" dirty="0"/>
              <a:t>Това означава, че можем да позволим на нашия транзистор да се нагрее само с 90°C повече от вече горещия въздух около него.</a:t>
            </a:r>
          </a:p>
          <a:p>
            <a:br>
              <a:rPr lang="ru-RU" sz="1400" b="1" dirty="0"/>
            </a:br>
            <a:r>
              <a:rPr lang="ru-RU" sz="1400" b="1" dirty="0"/>
              <a:t>2. Изчислете максималната разсейвана мощност:</a:t>
            </a:r>
            <a:endParaRPr lang="ru-RU" sz="1400" dirty="0"/>
          </a:p>
          <a:p>
            <a:pPr fontAlgn="base"/>
            <a:r>
              <a:rPr lang="ru-RU" sz="1400" dirty="0"/>
              <a:t>	Pd(max) = ΔT(max) / Rth(total)</a:t>
            </a:r>
          </a:p>
          <a:p>
            <a:pPr fontAlgn="base"/>
            <a:r>
              <a:rPr lang="ru-RU" sz="1400" dirty="0"/>
              <a:t>	Pd(max) = 90°C / 16.0 °C/W = 5.625 W</a:t>
            </a:r>
          </a:p>
          <a:p>
            <a:br>
              <a:rPr lang="ru-RU" sz="1400" b="1" dirty="0"/>
            </a:br>
            <a:r>
              <a:rPr lang="ru-RU" sz="1400" b="1" dirty="0"/>
              <a:t>NB! </a:t>
            </a:r>
            <a:r>
              <a:rPr lang="ru-RU" sz="1400" dirty="0"/>
              <a:t>Вижте този резултат. В каталожните данни за този MOSFET се казва, че има теоретична максимална разсейвана мощност от над </a:t>
            </a:r>
            <a:r>
              <a:rPr lang="ru-RU" sz="1400" b="1" dirty="0"/>
              <a:t>100</a:t>
            </a:r>
            <a:r>
              <a:rPr lang="en-US" sz="1400" b="1" dirty="0"/>
              <a:t>W</a:t>
            </a:r>
            <a:r>
              <a:rPr lang="ru-RU" sz="1400" dirty="0"/>
              <a:t>! Но в нашата реалистична, автомобилна среда </a:t>
            </a:r>
            <a:r>
              <a:rPr lang="ru-RU" sz="1400" b="1" dirty="0"/>
              <a:t>действителната използваема разсейвана мощност е само 5,6 вата. </a:t>
            </a:r>
            <a:r>
              <a:rPr lang="ru-RU" sz="1400" dirty="0"/>
              <a:t>Това е реалността на термичния дизайн.</a:t>
            </a:r>
            <a:endParaRPr lang="bg-BG" sz="1400" dirty="0"/>
          </a:p>
        </p:txBody>
      </p:sp>
    </p:spTree>
    <p:extLst>
      <p:ext uri="{BB962C8B-B14F-4D97-AF65-F5344CB8AC3E}">
        <p14:creationId xmlns:p14="http://schemas.microsoft.com/office/powerpoint/2010/main" val="4091646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D23A9B-8A43-1FE3-CCCB-D37EB87287D6}"/>
              </a:ext>
            </a:extLst>
          </p:cNvPr>
          <p:cNvSpPr txBox="1"/>
          <p:nvPr/>
        </p:nvSpPr>
        <p:spPr>
          <a:xfrm>
            <a:off x="335280" y="431074"/>
            <a:ext cx="11151870" cy="5693866"/>
          </a:xfrm>
          <a:prstGeom prst="rect">
            <a:avLst/>
          </a:prstGeom>
          <a:noFill/>
        </p:spPr>
        <p:txBody>
          <a:bodyPr wrap="square" rtlCol="0">
            <a:spAutoFit/>
          </a:bodyPr>
          <a:lstStyle/>
          <a:p>
            <a:r>
              <a:rPr lang="ru-RU" sz="1400" b="1" dirty="0"/>
              <a:t>Стъпка 4: Коефициент на намаляване на мощността и максимален ток – </a:t>
            </a:r>
            <a:r>
              <a:rPr lang="en-US" sz="1400" b="1" dirty="0"/>
              <a:t>derating</a:t>
            </a:r>
          </a:p>
          <a:p>
            <a:endParaRPr lang="ru-RU" sz="1400" b="1" dirty="0"/>
          </a:p>
          <a:p>
            <a:r>
              <a:rPr lang="ru-RU" sz="1400" dirty="0"/>
              <a:t>Инженерите често говорят за „намаляване на мощността“ (derating) на даден компонент. Точно това направихме и ние. Започнахме с теоретичната максимална мощност и я „намалихме“ въз основа на реалната околна температура и производителността на радиатора.</a:t>
            </a:r>
            <a:endParaRPr lang="en-US" sz="1400" dirty="0"/>
          </a:p>
          <a:p>
            <a:endParaRPr lang="ru-RU" sz="1400" dirty="0"/>
          </a:p>
          <a:p>
            <a:pPr fontAlgn="base"/>
            <a:r>
              <a:rPr lang="ru-RU" sz="1400" b="1" dirty="0"/>
              <a:t>Коефициент на понижаване на номиналните мощности (derating): </a:t>
            </a:r>
            <a:r>
              <a:rPr lang="ru-RU" sz="1400" dirty="0"/>
              <a:t>Друг начин да се помисли за това е </a:t>
            </a:r>
            <a:r>
              <a:rPr lang="ru-RU" sz="1400" b="1" dirty="0"/>
              <a:t>коефициент на понижаване на мощността</a:t>
            </a:r>
            <a:r>
              <a:rPr lang="ru-RU" sz="1400" dirty="0"/>
              <a:t>, което е предоставено в каталога. Това е просто обратното на термичното съпротивление: </a:t>
            </a:r>
            <a:r>
              <a:rPr lang="ru-RU" sz="1400" b="1" dirty="0"/>
              <a:t>1 / Rth(total)</a:t>
            </a:r>
            <a:r>
              <a:rPr lang="ru-RU" sz="1400" dirty="0"/>
              <a:t> В нашия случай е </a:t>
            </a:r>
            <a:r>
              <a:rPr lang="ru-RU" sz="1400" b="1" dirty="0"/>
              <a:t>1 / 16,0 = 0,0625 W/°C</a:t>
            </a:r>
            <a:r>
              <a:rPr lang="ru-RU" sz="1400" dirty="0"/>
              <a:t> Това означава, че за всеки градус Целзий, с който околната температура се повиши над нашата референтна стойност (обикновено 25°C), трябва да намалим максималната разсейвана мощност с 0,0625 W.</a:t>
            </a:r>
            <a:br>
              <a:rPr lang="en-US" sz="1400" dirty="0"/>
            </a:br>
            <a:endParaRPr lang="ru-RU" sz="1400" dirty="0"/>
          </a:p>
          <a:p>
            <a:pPr fontAlgn="base"/>
            <a:r>
              <a:rPr lang="ru-RU" sz="1400" b="1" dirty="0"/>
              <a:t>Последен въпрос: Какъв е нашият максимален непрекъснат ток </a:t>
            </a:r>
            <a:endParaRPr lang="ru-RU" sz="1400" dirty="0"/>
          </a:p>
          <a:p>
            <a:pPr marL="742950" lvl="1" indent="-285750" fontAlgn="base">
              <a:buFont typeface="Arial" panose="020B0604020202020204" pitchFamily="34" charset="0"/>
              <a:buChar char="•"/>
            </a:pPr>
            <a:r>
              <a:rPr lang="ru-RU" sz="1400" dirty="0"/>
              <a:t>Знаем, че максималната ни мощност е 5,625 W и знаем, </a:t>
            </a:r>
            <a:r>
              <a:rPr lang="ru-RU" sz="1400" b="1" dirty="0"/>
              <a:t>Pd = Id² * Rds(on)</a:t>
            </a:r>
            <a:r>
              <a:rPr lang="ru-RU" sz="1400" dirty="0"/>
              <a:t>. Сега можем да решим уравнението за Id.</a:t>
            </a:r>
            <a:endParaRPr lang="en-US" sz="1400" dirty="0"/>
          </a:p>
          <a:p>
            <a:pPr marL="742950" lvl="1" indent="-285750" fontAlgn="base">
              <a:buFont typeface="Arial" panose="020B0604020202020204" pitchFamily="34" charset="0"/>
              <a:buChar char="•"/>
            </a:pPr>
            <a:r>
              <a:rPr lang="ru-RU" sz="1400" b="1" dirty="0"/>
              <a:t>Едно усложнение:</a:t>
            </a:r>
            <a:r>
              <a:rPr lang="ru-RU" sz="1400" dirty="0"/>
              <a:t> </a:t>
            </a:r>
            <a:r>
              <a:rPr lang="ru-RU" sz="1400" b="1" dirty="0"/>
              <a:t>Rds(on) </a:t>
            </a:r>
            <a:r>
              <a:rPr lang="ru-RU" sz="1400" dirty="0"/>
              <a:t>се увеличава с температурата! </a:t>
            </a:r>
            <a:r>
              <a:rPr lang="bg-BG" sz="1400" dirty="0"/>
              <a:t>Като правило, то</a:t>
            </a:r>
            <a:r>
              <a:rPr lang="ru-RU" sz="1400" dirty="0"/>
              <a:t> приблизително се удвоява при </a:t>
            </a:r>
            <a:r>
              <a:rPr lang="ru-RU" sz="1400" b="1" dirty="0"/>
              <a:t>Tj=175°C</a:t>
            </a:r>
            <a:r>
              <a:rPr lang="ru-RU" sz="1400" dirty="0"/>
              <a:t> </a:t>
            </a:r>
            <a:br>
              <a:rPr lang="ru-RU" sz="1400" dirty="0"/>
            </a:br>
            <a:r>
              <a:rPr lang="ru-RU" sz="1400" dirty="0"/>
              <a:t>Така че </a:t>
            </a:r>
            <a:r>
              <a:rPr lang="ru-RU" sz="1400" b="1" dirty="0"/>
              <a:t>Rds(on)</a:t>
            </a:r>
            <a:r>
              <a:rPr lang="ru-RU" sz="1400" dirty="0"/>
              <a:t> от </a:t>
            </a:r>
            <a:r>
              <a:rPr lang="ru-RU" sz="1400" b="1" dirty="0"/>
              <a:t>44mΩ </a:t>
            </a:r>
            <a:r>
              <a:rPr lang="ru-RU" sz="1400" dirty="0"/>
              <a:t>става </a:t>
            </a:r>
            <a:r>
              <a:rPr lang="ru-RU" sz="1400" b="1" dirty="0"/>
              <a:t>~88mΩ (0,088Ω)</a:t>
            </a:r>
            <a:r>
              <a:rPr lang="ru-RU" sz="1400" dirty="0"/>
              <a:t>.</a:t>
            </a:r>
          </a:p>
          <a:p>
            <a:pPr lvl="1" fontAlgn="base"/>
            <a:r>
              <a:rPr lang="en-US" sz="1400" dirty="0">
                <a:latin typeface="Consolas" panose="020B0609020204030204" pitchFamily="49" charset="0"/>
              </a:rPr>
              <a:t>	</a:t>
            </a:r>
            <a:r>
              <a:rPr lang="ru-RU" sz="1400" dirty="0">
                <a:latin typeface="Consolas" panose="020B0609020204030204" pitchFamily="49" charset="0"/>
              </a:rPr>
              <a:t>Id² = Pd(max) / Rds(on)</a:t>
            </a:r>
          </a:p>
          <a:p>
            <a:pPr lvl="1" fontAlgn="base"/>
            <a:r>
              <a:rPr lang="en-US" sz="1400" dirty="0">
                <a:latin typeface="Consolas" panose="020B0609020204030204" pitchFamily="49" charset="0"/>
              </a:rPr>
              <a:t>	</a:t>
            </a:r>
            <a:r>
              <a:rPr lang="ru-RU" sz="1400" dirty="0">
                <a:latin typeface="Consolas" panose="020B0609020204030204" pitchFamily="49" charset="0"/>
              </a:rPr>
              <a:t>Id² = 5,625 W / 0,088 Ω ≈ 63,9</a:t>
            </a:r>
          </a:p>
          <a:p>
            <a:pPr lvl="1" fontAlgn="base"/>
            <a:r>
              <a:rPr lang="en-US" sz="1400" dirty="0">
                <a:latin typeface="Consolas" panose="020B0609020204030204" pitchFamily="49" charset="0"/>
              </a:rPr>
              <a:t>	</a:t>
            </a:r>
            <a:r>
              <a:rPr lang="ru-RU" sz="1400" dirty="0">
                <a:latin typeface="Consolas" panose="020B0609020204030204" pitchFamily="49" charset="0"/>
              </a:rPr>
              <a:t>Id(max) = √63.9 ≈ 7.99 A</a:t>
            </a:r>
          </a:p>
          <a:p>
            <a:endParaRPr lang="en-US" sz="1400" b="1" dirty="0"/>
          </a:p>
          <a:p>
            <a:r>
              <a:rPr lang="ru-RU" sz="1400" b="1" dirty="0"/>
              <a:t>Заключение:</a:t>
            </a:r>
            <a:br>
              <a:rPr lang="ru-RU" sz="1400" b="1" dirty="0"/>
            </a:br>
            <a:endParaRPr lang="en-US" sz="1400" b="1" dirty="0"/>
          </a:p>
          <a:p>
            <a:r>
              <a:rPr lang="ru-RU" sz="1400" dirty="0"/>
              <a:t>И така, след целия този анализ, ние имаме нашето инженерно решение. Въпреки че това може да се продава като MOSFET „30 Amp“, за нашето специфично приложение под капака на автомобила, максималният непрекъснат ток, който може безопасно да управлява е </a:t>
            </a:r>
            <a:r>
              <a:rPr lang="ru-RU" sz="1400" b="1" dirty="0"/>
              <a:t>8 А. </a:t>
            </a:r>
            <a:endParaRPr lang="en-US" sz="1400" b="1" dirty="0"/>
          </a:p>
          <a:p>
            <a:endParaRPr lang="en-US" sz="1400" b="1" dirty="0"/>
          </a:p>
          <a:p>
            <a:r>
              <a:rPr lang="ru-RU" sz="1400" dirty="0"/>
              <a:t>Всяка по-голяма стойност на тока ще доведе до прегряване и изгаряне на транзистора. Ето защо термичните изчисления не са просто допълнителен аспект на проектирането – често те са основният фактор, който определя реалната производителност и надеждност на електрическата схема.</a:t>
            </a:r>
          </a:p>
        </p:txBody>
      </p:sp>
    </p:spTree>
    <p:extLst>
      <p:ext uri="{BB962C8B-B14F-4D97-AF65-F5344CB8AC3E}">
        <p14:creationId xmlns:p14="http://schemas.microsoft.com/office/powerpoint/2010/main" val="1038882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932</Words>
  <Application>Microsoft Office PowerPoint</Application>
  <PresentationFormat>Widescreen</PresentationFormat>
  <Paragraphs>49</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Calibri Light</vt:lpstr>
      <vt:lpstr>Consolas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Vassiliy Tchoumatchenko</dc:creator>
  <cp:lastModifiedBy>Vassiliy Tchoumatchenko</cp:lastModifiedBy>
  <cp:revision>6</cp:revision>
  <dcterms:created xsi:type="dcterms:W3CDTF">2025-10-27T17:36:55Z</dcterms:created>
  <dcterms:modified xsi:type="dcterms:W3CDTF">2025-11-30T14:41:06Z</dcterms:modified>
</cp:coreProperties>
</file>