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8" r:id="rId2"/>
    <p:sldId id="324" r:id="rId3"/>
    <p:sldId id="311" r:id="rId4"/>
    <p:sldId id="325" r:id="rId5"/>
    <p:sldId id="326" r:id="rId6"/>
    <p:sldId id="273" r:id="rId7"/>
    <p:sldId id="313" r:id="rId8"/>
    <p:sldId id="272" r:id="rId9"/>
    <p:sldId id="268" r:id="rId10"/>
    <p:sldId id="296" r:id="rId11"/>
    <p:sldId id="276" r:id="rId12"/>
    <p:sldId id="309" r:id="rId13"/>
    <p:sldId id="318" r:id="rId14"/>
    <p:sldId id="314" r:id="rId15"/>
    <p:sldId id="327" r:id="rId16"/>
    <p:sldId id="283" r:id="rId17"/>
    <p:sldId id="275" r:id="rId18"/>
    <p:sldId id="317" r:id="rId19"/>
    <p:sldId id="300" r:id="rId20"/>
    <p:sldId id="303" r:id="rId21"/>
    <p:sldId id="305" r:id="rId22"/>
    <p:sldId id="306" r:id="rId23"/>
  </p:sldIdLst>
  <p:sldSz cx="12192000" cy="6858000"/>
  <p:notesSz cx="7104063" cy="10234613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A8"/>
    <a:srgbClr val="E1F8FB"/>
    <a:srgbClr val="FFFFFF"/>
    <a:srgbClr val="D7F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14" autoAdjust="0"/>
    <p:restoredTop sz="96617" autoAdjust="0"/>
  </p:normalViewPr>
  <p:slideViewPr>
    <p:cSldViewPr>
      <p:cViewPr varScale="1">
        <p:scale>
          <a:sx n="146" d="100"/>
          <a:sy n="146" d="100"/>
        </p:scale>
        <p:origin x="62" y="30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403" y="0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27C656D6-A842-4425-A532-3D5FCD608661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514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403" y="9720514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9B2F23AD-DD44-49C7-AB14-59A495CA5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591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403" y="0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B9EB583F-6715-4920-B56D-72B9914B75E2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514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403" y="9720514"/>
            <a:ext cx="307842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70702B6B-561A-4A8F-9B90-C1F5C818ED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913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Нивото на Ферми в областта p сега е по-ниско от това в областта n. Общата потенциална бариера вече е намалена. По-малката потенциална бариера означава, че електрическото поле в обеднената област също е намалено. По-слабото електрическо поле означава, че електроните и дупките вече не се задържат съответно в n и p областите. Ще има дифузия на дупки отобластта p през областта на пространствения заряд, където те ще се влеят в областта n. По подобен начин ще има дифузия на електрони от областта n през областта на пространствения заряд, където те ще се влеят в областта p. Потокът от заряд генерира ток през pn прехода.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62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99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D6B90-B4B8-2F07-FE32-0DE79C67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D9152-BAB3-D27E-14A9-83797D533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8A8EB-DA21-8F23-B3C9-D35479F8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5A054-83E6-1809-8457-0A6F8C168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79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18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In the thermal dissipation path of a power system, as illustrated in Figure 4, the thermal resistance junction to ambient </a:t>
            </a:r>
            <a:r>
              <a:rPr lang="en-US" dirty="0" err="1"/>
              <a:t>Rth</a:t>
            </a:r>
            <a:r>
              <a:rPr lang="en-US" dirty="0"/>
              <a:t>(j-a) plays the most important role, as it dictates the thermal limits in operating conditions. It consists of a resistance case to ambient </a:t>
            </a:r>
            <a:r>
              <a:rPr lang="en-US" dirty="0" err="1"/>
              <a:t>Rth</a:t>
            </a:r>
            <a:r>
              <a:rPr lang="en-US" dirty="0"/>
              <a:t>(c-h) + </a:t>
            </a:r>
            <a:r>
              <a:rPr lang="en-US" dirty="0" err="1"/>
              <a:t>Rth</a:t>
            </a:r>
            <a:r>
              <a:rPr lang="en-US" dirty="0"/>
              <a:t>(h-a) and the resistance from junction to case </a:t>
            </a:r>
            <a:r>
              <a:rPr lang="en-US" dirty="0" err="1"/>
              <a:t>Rth</a:t>
            </a:r>
            <a:r>
              <a:rPr lang="en-US" dirty="0"/>
              <a:t>(j-c). In most cases, the </a:t>
            </a:r>
            <a:r>
              <a:rPr lang="en-US" dirty="0" err="1"/>
              <a:t>Rth</a:t>
            </a:r>
            <a:r>
              <a:rPr lang="en-US" dirty="0"/>
              <a:t> of the thermal interface material, isolation - if applicable - and  heatsink is dominating the </a:t>
            </a:r>
            <a:r>
              <a:rPr lang="en-US" dirty="0" err="1"/>
              <a:t>Rth</a:t>
            </a:r>
            <a:r>
              <a:rPr lang="en-US" dirty="0"/>
              <a:t>(j-a). For the IKW40N65H5, the </a:t>
            </a:r>
            <a:r>
              <a:rPr lang="en-US" dirty="0" err="1"/>
              <a:t>Rth</a:t>
            </a:r>
            <a:r>
              <a:rPr lang="en-US" dirty="0"/>
              <a:t>(j-c)max is 0.6 K/W. The thermal resistance value  of typical thermal interface material (TIM) and isolation like isolation foil could be as low as 1 K/W and the  thermal resistance heatsink to ambient could range anywhere from 1 K/W with forced ventilation to tens of </a:t>
            </a:r>
          </a:p>
          <a:p>
            <a:r>
              <a:rPr lang="en-US" dirty="0"/>
              <a:t>K/W without ventilation. Therefore, the </a:t>
            </a:r>
            <a:r>
              <a:rPr lang="en-US" dirty="0" err="1"/>
              <a:t>Rth</a:t>
            </a:r>
            <a:r>
              <a:rPr lang="en-US" dirty="0"/>
              <a:t>(j-c) impact is only in the order of some single digit percent to some  tens of percent compared to the total </a:t>
            </a:r>
            <a:r>
              <a:rPr lang="en-US" dirty="0" err="1"/>
              <a:t>Rth</a:t>
            </a:r>
            <a:r>
              <a:rPr lang="en-US" dirty="0"/>
              <a:t>(j-a).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23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70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3934A-9EC2-140C-2B8D-82470727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6A9D5-4BB7-533C-6388-2432301F1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7BFC8-35F5-8A51-EC2F-0125D0E24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39005-6A93-4BA6-69BF-F7A1BB151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AC773-ACBB-40B6-BF6B-2AFB6D9CF1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80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11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679510" y="5589240"/>
            <a:ext cx="1344149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8304245" y="5517232"/>
            <a:ext cx="2304256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2063552" y="1124744"/>
            <a:ext cx="8064896" cy="3384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8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679509" y="5589240"/>
            <a:ext cx="1440160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784299" y="5545732"/>
            <a:ext cx="1728192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2063552" y="1052736"/>
            <a:ext cx="7392821" cy="3456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3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B6DD-6A0A-4678-613A-1B1A0BB9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065E7-3D87-1199-DF21-3414E7314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D6996-F7AE-752F-B42E-608E0FB19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8278-CFF3-4EB6-B420-1D0A2FE8A318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85B7-C629-2695-8CD4-C8AC2EB2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37327-7D14-8421-6CE0-434809F4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054A-6C42-4E32-9A59-608C6D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2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55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image" Target="../media/image430.png"/><Relationship Id="rId3" Type="http://schemas.openxmlformats.org/officeDocument/2006/relationships/image" Target="../media/image330.png"/><Relationship Id="rId7" Type="http://schemas.openxmlformats.org/officeDocument/2006/relationships/image" Target="../media/image370.png"/><Relationship Id="rId12" Type="http://schemas.openxmlformats.org/officeDocument/2006/relationships/image" Target="../media/image4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0.png"/><Relationship Id="rId11" Type="http://schemas.openxmlformats.org/officeDocument/2006/relationships/image" Target="../media/image410.png"/><Relationship Id="rId5" Type="http://schemas.openxmlformats.org/officeDocument/2006/relationships/image" Target="../media/image350.png"/><Relationship Id="rId15" Type="http://schemas.openxmlformats.org/officeDocument/2006/relationships/image" Target="../media/image45.png"/><Relationship Id="rId10" Type="http://schemas.openxmlformats.org/officeDocument/2006/relationships/image" Target="../media/image400.png"/><Relationship Id="rId4" Type="http://schemas.openxmlformats.org/officeDocument/2006/relationships/image" Target="../media/image340.png"/><Relationship Id="rId9" Type="http://schemas.openxmlformats.org/officeDocument/2006/relationships/image" Target="../media/image390.png"/><Relationship Id="rId14" Type="http://schemas.openxmlformats.org/officeDocument/2006/relationships/image" Target="../media/image4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07" y="332656"/>
            <a:ext cx="9048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07368" y="3431299"/>
            <a:ext cx="655272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9pPr>
          </a:lstStyle>
          <a:p>
            <a:pPr>
              <a:defRPr/>
            </a:pPr>
            <a:r>
              <a:rPr lang="bg-BG" b="0" i="0" kern="0" dirty="0">
                <a:solidFill>
                  <a:schemeClr val="tx1"/>
                </a:solidFill>
                <a:effectLst/>
                <a:latin typeface="Arial Narrow" pitchFamily="34" charset="0"/>
              </a:rPr>
              <a:t>Диоди</a:t>
            </a:r>
            <a:endParaRPr lang="en-US" b="0" i="0" kern="0" dirty="0"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3" name="Picture 2" descr="Close-up of a couple of metal rods&#10;&#10;Description automatically generated">
            <a:extLst>
              <a:ext uri="{FF2B5EF4-FFF2-40B4-BE49-F238E27FC236}">
                <a16:creationId xmlns:a16="http://schemas.microsoft.com/office/drawing/2014/main" id="{280CB49C-C05D-5EA1-D4C7-B1F03FFB33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326212"/>
            <a:ext cx="2448272" cy="1552204"/>
          </a:xfrm>
          <a:prstGeom prst="rect">
            <a:avLst/>
          </a:prstGeom>
        </p:spPr>
      </p:pic>
      <p:pic>
        <p:nvPicPr>
          <p:cNvPr id="8" name="Picture 7" descr="A black electronic device with white text&#10;&#10;Description automatically generated">
            <a:extLst>
              <a:ext uri="{FF2B5EF4-FFF2-40B4-BE49-F238E27FC236}">
                <a16:creationId xmlns:a16="http://schemas.microsoft.com/office/drawing/2014/main" id="{DACA3DC2-385A-E690-AC62-71AD3BC565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144" y="809087"/>
            <a:ext cx="1637928" cy="1091952"/>
          </a:xfrm>
          <a:prstGeom prst="rect">
            <a:avLst/>
          </a:prstGeom>
        </p:spPr>
      </p:pic>
      <p:pic>
        <p:nvPicPr>
          <p:cNvPr id="14" name="Picture 13" descr="A group of small red and black objects&#10;&#10;Description automatically generated">
            <a:extLst>
              <a:ext uri="{FF2B5EF4-FFF2-40B4-BE49-F238E27FC236}">
                <a16:creationId xmlns:a16="http://schemas.microsoft.com/office/drawing/2014/main" id="{8688B044-984A-B9A1-0134-5A8E0E41A7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2600778"/>
            <a:ext cx="1731025" cy="1615046"/>
          </a:xfrm>
          <a:prstGeom prst="rect">
            <a:avLst/>
          </a:prstGeom>
        </p:spPr>
      </p:pic>
      <p:pic>
        <p:nvPicPr>
          <p:cNvPr id="16" name="Picture 15" descr="A close-up of a small black electronic device&#10;&#10;Description automatically generated">
            <a:extLst>
              <a:ext uri="{FF2B5EF4-FFF2-40B4-BE49-F238E27FC236}">
                <a16:creationId xmlns:a16="http://schemas.microsoft.com/office/drawing/2014/main" id="{D3084A5C-08B8-FF4D-BCD8-C7A432B92A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360" y="2847998"/>
            <a:ext cx="2533650" cy="1809750"/>
          </a:xfrm>
          <a:prstGeom prst="rect">
            <a:avLst/>
          </a:prstGeom>
        </p:spPr>
      </p:pic>
      <p:pic>
        <p:nvPicPr>
          <p:cNvPr id="18" name="Picture 17" descr="A close-up of a black electronic device&#10;&#10;Description automatically generated">
            <a:extLst>
              <a:ext uri="{FF2B5EF4-FFF2-40B4-BE49-F238E27FC236}">
                <a16:creationId xmlns:a16="http://schemas.microsoft.com/office/drawing/2014/main" id="{F966119D-453D-ED39-1ED6-6E9840F331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030" y="4807999"/>
            <a:ext cx="2405364" cy="1747898"/>
          </a:xfrm>
          <a:prstGeom prst="rect">
            <a:avLst/>
          </a:prstGeom>
        </p:spPr>
      </p:pic>
      <p:pic>
        <p:nvPicPr>
          <p:cNvPr id="20" name="Picture 19" descr="A close-up of a black electronic device&#10;&#10;Description automatically generated">
            <a:extLst>
              <a:ext uri="{FF2B5EF4-FFF2-40B4-BE49-F238E27FC236}">
                <a16:creationId xmlns:a16="http://schemas.microsoft.com/office/drawing/2014/main" id="{09E1FB5F-9980-C793-9EA2-E732E82D64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172" y="4355260"/>
            <a:ext cx="2409825" cy="1895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9024E74-B41E-F185-CEDB-88A682AD2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65" y="712948"/>
            <a:ext cx="5918347" cy="4565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87F653-E59E-7DE9-1F4C-0EFFEDBB394B}"/>
                  </a:ext>
                </a:extLst>
              </p:cNvPr>
              <p:cNvSpPr txBox="1"/>
              <p:nvPr/>
            </p:nvSpPr>
            <p:spPr>
              <a:xfrm>
                <a:off x="4769210" y="836711"/>
                <a:ext cx="29473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bg-BG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87F653-E59E-7DE9-1F4C-0EFFEDBB3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210" y="836711"/>
                <a:ext cx="294739" cy="307777"/>
              </a:xfrm>
              <a:prstGeom prst="rect">
                <a:avLst/>
              </a:prstGeom>
              <a:blipFill>
                <a:blip r:embed="rId4"/>
                <a:stretch>
                  <a:fillRect r="-816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949F7E-F38D-3054-7DB5-C3E8AF64B6F7}"/>
                  </a:ext>
                </a:extLst>
              </p:cNvPr>
              <p:cNvSpPr txBox="1"/>
              <p:nvPr/>
            </p:nvSpPr>
            <p:spPr>
              <a:xfrm>
                <a:off x="1860716" y="836712"/>
                <a:ext cx="31727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bg-BG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949F7E-F38D-3054-7DB5-C3E8AF64B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716" y="836712"/>
                <a:ext cx="317272" cy="307777"/>
              </a:xfrm>
              <a:prstGeom prst="rect">
                <a:avLst/>
              </a:prstGeom>
              <a:blipFill>
                <a:blip r:embed="rId5"/>
                <a:stretch>
                  <a:fillRect r="-384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96593A-00AA-5AAA-DF73-01D41D5530F3}"/>
                  </a:ext>
                </a:extLst>
              </p:cNvPr>
              <p:cNvSpPr txBox="1"/>
              <p:nvPr/>
            </p:nvSpPr>
            <p:spPr>
              <a:xfrm>
                <a:off x="2135560" y="3501008"/>
                <a:ext cx="109986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bg-BG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bg-BG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96593A-00AA-5AAA-DF73-01D41D55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3501008"/>
                <a:ext cx="1099863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09B18C-9ADE-7341-19FA-1FB2D602378F}"/>
                  </a:ext>
                </a:extLst>
              </p:cNvPr>
              <p:cNvSpPr txBox="1"/>
              <p:nvPr/>
            </p:nvSpPr>
            <p:spPr>
              <a:xfrm>
                <a:off x="5437156" y="2841655"/>
                <a:ext cx="10494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bg-BG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bg-BG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09B18C-9ADE-7341-19FA-1FB2D6023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156" y="2841655"/>
                <a:ext cx="104949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E470232-7081-737A-D0EA-9217AB8CE6BC}"/>
              </a:ext>
            </a:extLst>
          </p:cNvPr>
          <p:cNvSpPr txBox="1"/>
          <p:nvPr/>
        </p:nvSpPr>
        <p:spPr>
          <a:xfrm>
            <a:off x="1110289" y="547579"/>
            <a:ext cx="1818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dirty="0"/>
              <a:t>Обратно включване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28474-DF1A-5DBB-2A50-8969E770B369}"/>
              </a:ext>
            </a:extLst>
          </p:cNvPr>
          <p:cNvSpPr txBox="1"/>
          <p:nvPr/>
        </p:nvSpPr>
        <p:spPr>
          <a:xfrm>
            <a:off x="4151784" y="572326"/>
            <a:ext cx="1630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dirty="0"/>
              <a:t>Право включване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4CFDE9-397F-AEA0-BDAE-616D6CB63E70}"/>
              </a:ext>
            </a:extLst>
          </p:cNvPr>
          <p:cNvSpPr txBox="1"/>
          <p:nvPr/>
        </p:nvSpPr>
        <p:spPr>
          <a:xfrm>
            <a:off x="126541" y="112887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Преговор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B9E29-910A-73AA-9AC9-BD34EC63B516}"/>
              </a:ext>
            </a:extLst>
          </p:cNvPr>
          <p:cNvSpPr txBox="1"/>
          <p:nvPr/>
        </p:nvSpPr>
        <p:spPr>
          <a:xfrm>
            <a:off x="6925544" y="2276872"/>
            <a:ext cx="48936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/>
              <a:t>Право включване</a:t>
            </a:r>
          </a:p>
          <a:p>
            <a:pPr marL="285750" indent="-285750">
              <a:buFontTx/>
              <a:buChar char="-"/>
            </a:pPr>
            <a:r>
              <a:rPr lang="bg-BG" sz="1400" dirty="0"/>
              <a:t>Външното напрежение намалява потенциалната бариера. Това позволява на дифузният ток</a:t>
            </a:r>
            <a:r>
              <a:rPr lang="en-US" sz="1400" dirty="0"/>
              <a:t> </a:t>
            </a:r>
            <a:r>
              <a:rPr lang="bg-BG" sz="1400" dirty="0"/>
              <a:t>да доминира над дрейфовият.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bg-BG" sz="1400" dirty="0"/>
              <a:t>Дифузният ток е съставен от основни токоносители.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bg-BG" sz="1400" dirty="0"/>
              <a:t>Токът протича безпрепятствено и зависи експоненциално от приложеното напрежение.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2E24E5-4A7F-BBCF-DD4E-0283496C485A}"/>
                  </a:ext>
                </a:extLst>
              </p:cNvPr>
              <p:cNvSpPr txBox="1"/>
              <p:nvPr/>
            </p:nvSpPr>
            <p:spPr>
              <a:xfrm>
                <a:off x="6960096" y="4437112"/>
                <a:ext cx="482453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bg-BG" sz="1400" dirty="0"/>
                  <a:t>Обратно включване</a:t>
                </a:r>
              </a:p>
              <a:p>
                <a:pPr marL="285750" indent="-285750">
                  <a:buFontTx/>
                  <a:buChar char="-"/>
                </a:pPr>
                <a:r>
                  <a:rPr lang="bg-BG" sz="1400" dirty="0"/>
                  <a:t>Външното напрежение повишава височината на потенциалната бариера. Дифузният ток не може да тече.</a:t>
                </a:r>
              </a:p>
              <a:p>
                <a:pPr marL="285750" indent="-285750">
                  <a:buFontTx/>
                  <a:buChar char="-"/>
                </a:pPr>
                <a:r>
                  <a:rPr lang="bg-BG" sz="1400" dirty="0"/>
                  <a:t>През прехода остава да тече много по-малкият дрейфов ток – обратен ток на насищане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bg-BG" sz="1400" dirty="0"/>
                  <a:t>. Той е съставен от неосновни токоносители и слабо се влияе от напрежението.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2E24E5-4A7F-BBCF-DD4E-0283496C4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4437112"/>
                <a:ext cx="4824536" cy="1815882"/>
              </a:xfrm>
              <a:prstGeom prst="rect">
                <a:avLst/>
              </a:prstGeom>
              <a:blipFill>
                <a:blip r:embed="rId8"/>
                <a:stretch>
                  <a:fillRect l="-379" t="-671" b="-234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F3743CB-CDEA-7DB0-3625-FF014C0437C5}"/>
              </a:ext>
            </a:extLst>
          </p:cNvPr>
          <p:cNvSpPr txBox="1"/>
          <p:nvPr/>
        </p:nvSpPr>
        <p:spPr>
          <a:xfrm>
            <a:off x="6816080" y="538776"/>
            <a:ext cx="48936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/>
              <a:t>Токове в </a:t>
            </a:r>
            <a:r>
              <a:rPr lang="en-US" sz="1400" dirty="0"/>
              <a:t>PN</a:t>
            </a:r>
            <a:r>
              <a:rPr lang="bg-BG" sz="1400" dirty="0"/>
              <a:t>-прехода</a:t>
            </a:r>
          </a:p>
          <a:p>
            <a:pPr marL="285750" indent="-285750">
              <a:buFontTx/>
              <a:buChar char="-"/>
            </a:pPr>
            <a:r>
              <a:rPr lang="bg-BG" sz="1400" dirty="0"/>
              <a:t>Дифузен ток – движение на токоносителите причинено от градиента на концентрация на примесите – основни токоносители. </a:t>
            </a:r>
          </a:p>
          <a:p>
            <a:pPr marL="285750" indent="-285750">
              <a:buFontTx/>
              <a:buChar char="-"/>
            </a:pPr>
            <a:r>
              <a:rPr lang="bg-BG" sz="1400" dirty="0"/>
              <a:t>Дрейфов ток – движение на токоносителите поради влиянието на елктрическо поле – неосновни токоносители.</a:t>
            </a:r>
          </a:p>
        </p:txBody>
      </p:sp>
    </p:spTree>
    <p:extLst>
      <p:ext uri="{BB962C8B-B14F-4D97-AF65-F5344CB8AC3E}">
        <p14:creationId xmlns:p14="http://schemas.microsoft.com/office/powerpoint/2010/main" val="249470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C381EB-41C7-1CE0-091D-EE55C0DA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Волт-Амперна характеристика на диод</a:t>
            </a:r>
            <a:endParaRPr lang="bg-BG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A6BE7-3AFF-3382-78B4-64BF13514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46392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8069" y="58766"/>
            <a:ext cx="10642574" cy="57001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2000" dirty="0">
                <a:solidFill>
                  <a:schemeClr val="tx1"/>
                </a:solidFill>
              </a:rPr>
              <a:t>Волта-Амперна характеристика на идеален диод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2" name="Rectangle 25"/>
          <p:cNvSpPr>
            <a:spLocks noChangeArrowheads="1"/>
          </p:cNvSpPr>
          <p:nvPr/>
        </p:nvSpPr>
        <p:spPr bwMode="auto">
          <a:xfrm>
            <a:off x="1524000" y="258244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969059-BD47-4077-87AF-F30960E20C40}"/>
                  </a:ext>
                </a:extLst>
              </p:cNvPr>
              <p:cNvSpPr txBox="1"/>
              <p:nvPr/>
            </p:nvSpPr>
            <p:spPr>
              <a:xfrm>
                <a:off x="4452727" y="1088343"/>
                <a:ext cx="254428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bg-BG" sz="1400" dirty="0">
                    <a:cs typeface="Times New Roman" panose="02020603050405020304" pitchFamily="18" charset="0"/>
                  </a:rPr>
                  <a:t>ток през диода</a:t>
                </a:r>
              </a:p>
              <a:p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bg-BG" sz="1400" dirty="0">
                    <a:cs typeface="Times New Roman" panose="02020603050405020304" pitchFamily="18" charset="0"/>
                  </a:rPr>
                  <a:t>ток на насищане</a:t>
                </a:r>
              </a:p>
              <a:p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bg-BG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bg-BG" sz="1400" dirty="0">
                    <a:cs typeface="Times New Roman" panose="02020603050405020304" pitchFamily="18" charset="0"/>
                  </a:rPr>
                  <a:t>напрежение върху диода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n-US" sz="1400" dirty="0"/>
                  <a:t> </a:t>
                </a:r>
                <a:r>
                  <a:rPr lang="bg-BG" sz="1400" dirty="0"/>
                  <a:t>топлинен потенциал</a:t>
                </a:r>
                <a:endParaRPr lang="bg-BG" sz="14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969059-BD47-4077-87AF-F30960E20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727" y="1088343"/>
                <a:ext cx="2544286" cy="954107"/>
              </a:xfrm>
              <a:prstGeom prst="rect">
                <a:avLst/>
              </a:prstGeom>
              <a:blipFill>
                <a:blip r:embed="rId3"/>
                <a:stretch>
                  <a:fillRect l="-718" t="-1923" b="-576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picture containing text, person, standing, group&#10;&#10;Description automatically generated">
            <a:extLst>
              <a:ext uri="{FF2B5EF4-FFF2-40B4-BE49-F238E27FC236}">
                <a16:creationId xmlns:a16="http://schemas.microsoft.com/office/drawing/2014/main" id="{59988CC0-7E39-636F-8C1D-88E1B0D33C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745" y="1150563"/>
            <a:ext cx="3945707" cy="3144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4641BD-2169-DE74-7EA2-DB49F3641B4D}"/>
              </a:ext>
            </a:extLst>
          </p:cNvPr>
          <p:cNvSpPr txBox="1"/>
          <p:nvPr/>
        </p:nvSpPr>
        <p:spPr>
          <a:xfrm>
            <a:off x="7536160" y="4332897"/>
            <a:ext cx="42612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John Bardeen, William Shockley and Walter Brattain</a:t>
            </a:r>
            <a:endParaRPr lang="bg-BG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1BE1B6-372B-F161-7BFA-726A320123D3}"/>
              </a:ext>
            </a:extLst>
          </p:cNvPr>
          <p:cNvSpPr txBox="1"/>
          <p:nvPr/>
        </p:nvSpPr>
        <p:spPr>
          <a:xfrm>
            <a:off x="6739267" y="4960176"/>
            <a:ext cx="53404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1956 </a:t>
            </a:r>
            <a:r>
              <a:rPr lang="bg-BG" sz="1600" dirty="0"/>
              <a:t>Нобелова награда по физика за изследване свойствата на полупроводниците и откриване на транзистора.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15E29D-9635-9C1E-283F-CE672D0A378B}"/>
                  </a:ext>
                </a:extLst>
              </p:cNvPr>
              <p:cNvSpPr txBox="1"/>
              <p:nvPr/>
            </p:nvSpPr>
            <p:spPr>
              <a:xfrm>
                <a:off x="1133161" y="1291332"/>
                <a:ext cx="2264979" cy="611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bg-BG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15E29D-9635-9C1E-283F-CE672D0A3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161" y="1291332"/>
                <a:ext cx="2264979" cy="6117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9638A8D-30CA-8B69-8AEE-01ED8A7DF2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548" y="2470854"/>
            <a:ext cx="5951997" cy="43396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F3AF17-E557-B780-51DF-C01A7579935C}"/>
              </a:ext>
            </a:extLst>
          </p:cNvPr>
          <p:cNvSpPr txBox="1"/>
          <p:nvPr/>
        </p:nvSpPr>
        <p:spPr>
          <a:xfrm>
            <a:off x="6018843" y="523717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5B3309-B626-B181-4166-080C4A2F876B}"/>
              </a:ext>
            </a:extLst>
          </p:cNvPr>
          <p:cNvSpPr txBox="1"/>
          <p:nvPr/>
        </p:nvSpPr>
        <p:spPr>
          <a:xfrm>
            <a:off x="1914272" y="457179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2F804-8593-03E0-5B20-5CE748B6F169}"/>
              </a:ext>
            </a:extLst>
          </p:cNvPr>
          <p:cNvSpPr txBox="1"/>
          <p:nvPr/>
        </p:nvSpPr>
        <p:spPr>
          <a:xfrm>
            <a:off x="1914272" y="365794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D26A2-4246-D98E-5F4B-12EB5379B2D9}"/>
              </a:ext>
            </a:extLst>
          </p:cNvPr>
          <p:cNvSpPr txBox="1"/>
          <p:nvPr/>
        </p:nvSpPr>
        <p:spPr>
          <a:xfrm>
            <a:off x="4191117" y="275748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00671-A73F-2F32-8073-DF712014C77D}"/>
              </a:ext>
            </a:extLst>
          </p:cNvPr>
          <p:cNvSpPr txBox="1"/>
          <p:nvPr/>
        </p:nvSpPr>
        <p:spPr>
          <a:xfrm>
            <a:off x="544258" y="283784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126718-964B-C738-0D24-C25DF76BD0E8}"/>
              </a:ext>
            </a:extLst>
          </p:cNvPr>
          <p:cNvSpPr txBox="1"/>
          <p:nvPr/>
        </p:nvSpPr>
        <p:spPr>
          <a:xfrm>
            <a:off x="553462" y="391748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B798F5-F58D-C61D-3FBE-18D8B477635C}"/>
              </a:ext>
            </a:extLst>
          </p:cNvPr>
          <p:cNvSpPr txBox="1"/>
          <p:nvPr/>
        </p:nvSpPr>
        <p:spPr>
          <a:xfrm>
            <a:off x="4536022" y="569884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1C820-1947-EF63-F9AC-528C3C6F64C6}"/>
              </a:ext>
            </a:extLst>
          </p:cNvPr>
          <p:cNvSpPr txBox="1"/>
          <p:nvPr/>
        </p:nvSpPr>
        <p:spPr>
          <a:xfrm>
            <a:off x="6384033" y="6548884"/>
            <a:ext cx="56956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/>
              <a:t>https://en.wikipedia.org/wiki/William_Shockley#/media/File:Bardeen_Shockley_Brattain_1948.JPG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82815C-48D3-AA38-368B-BDA3DE31F449}"/>
                  </a:ext>
                </a:extLst>
              </p:cNvPr>
              <p:cNvSpPr txBox="1"/>
              <p:nvPr/>
            </p:nvSpPr>
            <p:spPr>
              <a:xfrm>
                <a:off x="4452727" y="2068243"/>
                <a:ext cx="3011425" cy="402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𝑘𝑇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=0.0259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bg-BG" sz="1400" b="0" dirty="0"/>
                  <a:t>   </a:t>
                </a:r>
                <a:r>
                  <a:rPr lang="bg-BG" sz="1400" dirty="0"/>
                  <a:t>при </a:t>
                </a:r>
                <a:r>
                  <a:rPr lang="bg-BG" sz="1400" i="1" dirty="0"/>
                  <a:t>Т=300К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82815C-48D3-AA38-368B-BDA3DE31F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727" y="2068243"/>
                <a:ext cx="3011425" cy="402611"/>
              </a:xfrm>
              <a:prstGeom prst="rect">
                <a:avLst/>
              </a:prstGeom>
              <a:blipFill>
                <a:blip r:embed="rId8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225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07D24-72EB-A96A-23A1-C322EF5B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D34140-B69E-B132-0521-975F8F82CFF0}"/>
              </a:ext>
            </a:extLst>
          </p:cNvPr>
          <p:cNvSpPr txBox="1">
            <a:spLocks noChangeArrowheads="1"/>
          </p:cNvSpPr>
          <p:nvPr/>
        </p:nvSpPr>
        <p:spPr>
          <a:xfrm>
            <a:off x="68069" y="58766"/>
            <a:ext cx="10642574" cy="57001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000" dirty="0">
                <a:solidFill>
                  <a:schemeClr val="tx1"/>
                </a:solidFill>
              </a:rPr>
              <a:t>Волта-Амперна характеристика на реален диод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226940-528D-8A60-2676-5A8CA7138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68" y="1412776"/>
            <a:ext cx="3804125" cy="350100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365FC0A-0014-6CE7-7FC3-BFAB6FA43D5A}"/>
              </a:ext>
            </a:extLst>
          </p:cNvPr>
          <p:cNvSpPr txBox="1"/>
          <p:nvPr/>
        </p:nvSpPr>
        <p:spPr>
          <a:xfrm>
            <a:off x="7968208" y="2564904"/>
            <a:ext cx="40324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/>
              <a:t>Право включване</a:t>
            </a:r>
            <a:endParaRPr lang="en-US" sz="1400" dirty="0"/>
          </a:p>
          <a:p>
            <a:endParaRPr lang="bg-BG" sz="1400" dirty="0"/>
          </a:p>
          <a:p>
            <a:r>
              <a:rPr lang="bg-BG" sz="1400" dirty="0"/>
              <a:t>За да протече ток, трябва да се преодолее потенциалната бариера:</a:t>
            </a:r>
          </a:p>
          <a:p>
            <a:pPr marL="742950" lvl="1" indent="-285750">
              <a:buFontTx/>
              <a:buChar char="-"/>
            </a:pPr>
            <a:r>
              <a:rPr lang="bg-BG" sz="1400" dirty="0"/>
              <a:t>0,6 – 0,7</a:t>
            </a:r>
            <a:r>
              <a:rPr lang="en-US" sz="1400" dirty="0"/>
              <a:t>V </a:t>
            </a:r>
            <a:r>
              <a:rPr lang="bg-BG" sz="1400" dirty="0"/>
              <a:t>за диоди с </a:t>
            </a:r>
            <a:r>
              <a:rPr lang="en-US" sz="1400" dirty="0"/>
              <a:t>PN</a:t>
            </a:r>
            <a:r>
              <a:rPr lang="bg-BG" sz="1400" dirty="0"/>
              <a:t> преход</a:t>
            </a:r>
          </a:p>
          <a:p>
            <a:pPr marL="742950" lvl="1" indent="-285750">
              <a:buFontTx/>
              <a:buChar char="-"/>
            </a:pPr>
            <a:r>
              <a:rPr lang="bg-BG" sz="1400" dirty="0"/>
              <a:t>0,2 - 0,4</a:t>
            </a:r>
            <a:r>
              <a:rPr lang="en-US" sz="1400" dirty="0"/>
              <a:t>V </a:t>
            </a:r>
            <a:r>
              <a:rPr lang="bg-BG" sz="1400" dirty="0"/>
              <a:t>за диоди с преход на Шотки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7EB7D-50E7-DB58-ECC5-5FA90F2DD599}"/>
              </a:ext>
            </a:extLst>
          </p:cNvPr>
          <p:cNvSpPr txBox="1"/>
          <p:nvPr/>
        </p:nvSpPr>
        <p:spPr>
          <a:xfrm>
            <a:off x="551384" y="4581128"/>
            <a:ext cx="46085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/>
              <a:t>Обратно включване</a:t>
            </a:r>
            <a:endParaRPr lang="en-US" sz="1400" dirty="0"/>
          </a:p>
          <a:p>
            <a:endParaRPr lang="bg-BG" sz="1400" dirty="0"/>
          </a:p>
          <a:p>
            <a:r>
              <a:rPr lang="bg-BG" sz="1400" dirty="0"/>
              <a:t>Тече относително малък ток, който слабо зависи от обратното напрежение. </a:t>
            </a:r>
            <a:endParaRPr lang="en-US" sz="1400" dirty="0"/>
          </a:p>
          <a:p>
            <a:r>
              <a:rPr lang="bg-BG" sz="1400" dirty="0"/>
              <a:t>Про достатъчно високо обратно напрежение ще настъпи пробив – ценеров, лавинен или топлинен.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B15BDB40-0121-76A7-7588-21DE0AE9E4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2996952"/>
            <a:ext cx="2330566" cy="1292869"/>
          </a:xfrm>
          <a:prstGeom prst="rect">
            <a:avLst/>
          </a:prstGeom>
        </p:spPr>
      </p:pic>
      <p:pic>
        <p:nvPicPr>
          <p:cNvPr id="5" name="Picture 4" descr="A picture containing text, antenna&#10;&#10;Description automatically generated">
            <a:extLst>
              <a:ext uri="{FF2B5EF4-FFF2-40B4-BE49-F238E27FC236}">
                <a16:creationId xmlns:a16="http://schemas.microsoft.com/office/drawing/2014/main" id="{A0939578-BC1C-2625-085D-B6827F3C7A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184" y="790975"/>
            <a:ext cx="2520280" cy="14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94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0"/>
            <a:ext cx="9148763" cy="7415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dirty="0">
                <a:solidFill>
                  <a:schemeClr val="tx1"/>
                </a:solidFill>
                <a:latin typeface="Arial Narrow" pitchFamily="34" charset="0"/>
              </a:rPr>
              <a:t>Максимално допусими параметри</a:t>
            </a:r>
            <a:endParaRPr lang="en-US" sz="3200" dirty="0">
              <a:solidFill>
                <a:schemeClr val="tx1"/>
              </a:solidFill>
              <a:latin typeface="Arial Narrow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2FD2E5-45D9-4032-B7F1-DB4C6C817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6" y="828312"/>
            <a:ext cx="11479227" cy="52013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1724D7-23F4-4A49-81A5-125FA6A1663C}"/>
              </a:ext>
            </a:extLst>
          </p:cNvPr>
          <p:cNvSpPr/>
          <p:nvPr/>
        </p:nvSpPr>
        <p:spPr>
          <a:xfrm>
            <a:off x="516146" y="1628800"/>
            <a:ext cx="11161240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C9590E-7C89-426B-9574-E36A570863AB}"/>
              </a:ext>
            </a:extLst>
          </p:cNvPr>
          <p:cNvSpPr/>
          <p:nvPr/>
        </p:nvSpPr>
        <p:spPr>
          <a:xfrm>
            <a:off x="516146" y="2435629"/>
            <a:ext cx="11161240" cy="10653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DE0EC1-5ECD-4014-AEC1-F729A942D7EA}"/>
              </a:ext>
            </a:extLst>
          </p:cNvPr>
          <p:cNvSpPr/>
          <p:nvPr/>
        </p:nvSpPr>
        <p:spPr>
          <a:xfrm>
            <a:off x="516146" y="4869160"/>
            <a:ext cx="11161240" cy="273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5C7239-BCF7-41F7-9F3E-79BFDB699849}"/>
              </a:ext>
            </a:extLst>
          </p:cNvPr>
          <p:cNvSpPr txBox="1"/>
          <p:nvPr/>
        </p:nvSpPr>
        <p:spPr>
          <a:xfrm>
            <a:off x="9336360" y="6029688"/>
            <a:ext cx="1944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200" dirty="0"/>
              <a:t>Пример </a:t>
            </a:r>
            <a:r>
              <a:rPr lang="en-US" sz="1200" dirty="0">
                <a:effectLst/>
                <a:latin typeface="Arial" panose="020B0604020202020204" pitchFamily="34" charset="0"/>
              </a:rPr>
              <a:t>MBR4015CTLG</a:t>
            </a:r>
            <a:endParaRPr lang="en-US" sz="1200" dirty="0"/>
          </a:p>
          <a:p>
            <a:r>
              <a:rPr lang="en-US" sz="1200" dirty="0"/>
              <a:t>Si Schottky </a:t>
            </a:r>
            <a:r>
              <a:rPr lang="bg-BG" sz="1200" dirty="0"/>
              <a:t>диод</a:t>
            </a:r>
            <a:endParaRPr lang="en-US" sz="1200" dirty="0"/>
          </a:p>
          <a:p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471F7-88B8-44E4-BBF0-55D91620F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528" y="5877272"/>
            <a:ext cx="2257740" cy="83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90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C381EB-41C7-1CE0-091D-EE55C0DA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Влияние на температурата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A6BE7-3AFF-3382-78B4-64BF13514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0606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09800" y="0"/>
            <a:ext cx="7772400" cy="66106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dirty="0">
                <a:solidFill>
                  <a:schemeClr val="tx1"/>
                </a:solidFill>
                <a:latin typeface="Arial Narrow" pitchFamily="34" charset="0"/>
              </a:rPr>
              <a:t>Влияние на температурата – право включване</a:t>
            </a:r>
            <a:endParaRPr lang="en-US" sz="32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524000" y="27048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842018"/>
              </p:ext>
            </p:extLst>
          </p:nvPr>
        </p:nvGraphicFramePr>
        <p:xfrm>
          <a:off x="677442" y="3839917"/>
          <a:ext cx="2803947" cy="60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" imgH="393700" progId="Equation.3">
                  <p:embed/>
                </p:oleObj>
              </mc:Choice>
              <mc:Fallback>
                <p:oleObj name="Equation" r:id="rId2" imgW="1828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442" y="3839917"/>
                        <a:ext cx="2803947" cy="60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677442" y="4838298"/>
            <a:ext cx="21812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dirty="0"/>
              <a:t>TKU</a:t>
            </a:r>
            <a:r>
              <a:rPr lang="en-US" baseline="-25000" dirty="0"/>
              <a:t>F</a:t>
            </a:r>
            <a:r>
              <a:rPr lang="bg-BG" dirty="0"/>
              <a:t> ≈</a:t>
            </a:r>
            <a:r>
              <a:rPr lang="bg-BG" sz="2000" dirty="0"/>
              <a:t> </a:t>
            </a:r>
            <a:r>
              <a:rPr lang="en-US" dirty="0"/>
              <a:t>–</a:t>
            </a:r>
            <a:r>
              <a:rPr lang="bg-BG" sz="2000" dirty="0"/>
              <a:t> </a:t>
            </a:r>
            <a:r>
              <a:rPr lang="bg-BG" dirty="0"/>
              <a:t>2 </a:t>
            </a:r>
            <a:r>
              <a:rPr lang="en-US" dirty="0"/>
              <a:t>mV</a:t>
            </a:r>
            <a:r>
              <a:rPr lang="bg-BG" dirty="0"/>
              <a:t>/ </a:t>
            </a:r>
            <a:r>
              <a:rPr lang="en-US" baseline="30000" dirty="0" err="1"/>
              <a:t>o</a:t>
            </a:r>
            <a:r>
              <a:rPr lang="en-US" dirty="0" err="1"/>
              <a:t>C</a:t>
            </a:r>
            <a:r>
              <a:rPr lang="en-US" dirty="0"/>
              <a:t> </a:t>
            </a:r>
          </a:p>
        </p:txBody>
      </p:sp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339725" y="5573858"/>
            <a:ext cx="114449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800" i="0" dirty="0"/>
              <a:t>Болшинството диоди имат отрицателен температуран коефициент на напрежението – т.е. </a:t>
            </a:r>
            <a:endParaRPr lang="en-US" sz="1800" i="0" dirty="0"/>
          </a:p>
          <a:p>
            <a:r>
              <a:rPr lang="en-US" sz="1800" dirty="0"/>
              <a:t>U</a:t>
            </a:r>
            <a:r>
              <a:rPr lang="en-US" sz="1800" baseline="-25000" dirty="0"/>
              <a:t>F</a:t>
            </a:r>
            <a:r>
              <a:rPr lang="bg-BG" sz="1800" i="0" baseline="-25000" dirty="0"/>
              <a:t> </a:t>
            </a:r>
            <a:r>
              <a:rPr lang="en-US" sz="1800" i="0" baseline="-25000" dirty="0"/>
              <a:t> </a:t>
            </a:r>
            <a:r>
              <a:rPr lang="bg-BG" sz="1800" i="0" dirty="0"/>
              <a:t>намалява с увеличение на температурата (при постоянен ток</a:t>
            </a:r>
            <a:r>
              <a:rPr lang="en-US" sz="1800" i="0" dirty="0"/>
              <a:t>)</a:t>
            </a:r>
            <a:r>
              <a:rPr lang="bg-BG" sz="1800" i="0" dirty="0"/>
              <a:t>.</a:t>
            </a:r>
            <a:endParaRPr lang="en-US" sz="1800" i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7B9A77-828A-4416-BD4C-679BE0123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084" y="854317"/>
            <a:ext cx="4439270" cy="41534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2A9369-4ADC-4BCB-85C7-1A4CC79E51D1}"/>
              </a:ext>
            </a:extLst>
          </p:cNvPr>
          <p:cNvSpPr txBox="1"/>
          <p:nvPr/>
        </p:nvSpPr>
        <p:spPr>
          <a:xfrm>
            <a:off x="9840416" y="3455342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200" dirty="0"/>
              <a:t>Пример 1</a:t>
            </a:r>
            <a:r>
              <a:rPr lang="en-US" sz="1200" dirty="0"/>
              <a:t>N4148</a:t>
            </a:r>
          </a:p>
          <a:p>
            <a:r>
              <a:rPr lang="en-US" sz="1200" dirty="0"/>
              <a:t>Si PN </a:t>
            </a:r>
            <a:r>
              <a:rPr lang="bg-BG" sz="1200" dirty="0"/>
              <a:t>диод</a:t>
            </a:r>
            <a:endParaRPr lang="en-US" sz="1200" dirty="0"/>
          </a:p>
        </p:txBody>
      </p:sp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57CBCC7E-9D1D-3045-DBDF-6579E2989C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14" y="637811"/>
            <a:ext cx="2919870" cy="291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8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260209" y="4844093"/>
            <a:ext cx="81388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I</a:t>
            </a:r>
            <a:r>
              <a:rPr lang="en-US" sz="2000" baseline="-25000" dirty="0"/>
              <a:t>s</a:t>
            </a:r>
            <a:r>
              <a:rPr lang="en-US" dirty="0"/>
              <a:t> </a:t>
            </a:r>
            <a:r>
              <a:rPr lang="bg-BG" sz="1800" i="0" dirty="0"/>
              <a:t>се удвоява на всеки</a:t>
            </a:r>
            <a:r>
              <a:rPr lang="en-US" sz="1800" dirty="0"/>
              <a:t> 10</a:t>
            </a:r>
            <a:r>
              <a:rPr lang="bg-BG" sz="1800" dirty="0"/>
              <a:t> </a:t>
            </a:r>
            <a:r>
              <a:rPr lang="en-US" sz="1800" baseline="30000" dirty="0" err="1"/>
              <a:t>o</a:t>
            </a:r>
            <a:r>
              <a:rPr lang="en-US" sz="1800" dirty="0" err="1"/>
              <a:t>C</a:t>
            </a:r>
            <a:r>
              <a:rPr lang="en-US" sz="1800" dirty="0"/>
              <a:t> </a:t>
            </a:r>
            <a:r>
              <a:rPr lang="bg-BG" sz="1800" i="0" dirty="0"/>
              <a:t>увеличение на температурата</a:t>
            </a:r>
            <a:r>
              <a:rPr lang="en-US" sz="1800" dirty="0"/>
              <a:t>. </a:t>
            </a: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63514" y="5356873"/>
            <a:ext cx="11664971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Тъй като обратният ток се формира от топлинно генерирани неосновни токоносители, той силно зависи от изменението на температурата. </a:t>
            </a:r>
          </a:p>
          <a:p>
            <a:pPr>
              <a:spcBef>
                <a:spcPct val="50000"/>
              </a:spcBef>
            </a:pPr>
            <a:r>
              <a:rPr lang="bg-BG" sz="1800" i="0" dirty="0"/>
              <a:t>Обратният ток на Шотки диодите е много по-голям от този на диодите с </a:t>
            </a:r>
            <a:r>
              <a:rPr lang="en-US" sz="1800" i="0" dirty="0" err="1"/>
              <a:t>pn</a:t>
            </a:r>
            <a:r>
              <a:rPr lang="en-US" sz="1800" i="0" dirty="0"/>
              <a:t> </a:t>
            </a:r>
            <a:r>
              <a:rPr lang="bg-BG" sz="1800" i="0" dirty="0"/>
              <a:t>преход.</a:t>
            </a:r>
            <a:endParaRPr lang="en-US" sz="1800" i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7EC9F3-765A-43AE-B066-2845EFE6C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960" y="1164103"/>
            <a:ext cx="4755317" cy="37570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A4F2F3-8AB2-40FF-BD4B-E0A3290DC0AA}"/>
              </a:ext>
            </a:extLst>
          </p:cNvPr>
          <p:cNvSpPr txBox="1"/>
          <p:nvPr/>
        </p:nvSpPr>
        <p:spPr>
          <a:xfrm>
            <a:off x="10344797" y="3645024"/>
            <a:ext cx="1944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200" dirty="0"/>
              <a:t>Пример </a:t>
            </a:r>
            <a:r>
              <a:rPr lang="en-US" sz="1200" dirty="0">
                <a:effectLst/>
                <a:latin typeface="Arial" panose="020B0604020202020204" pitchFamily="34" charset="0"/>
              </a:rPr>
              <a:t>MBR4015CTLG</a:t>
            </a:r>
            <a:endParaRPr lang="en-US" sz="1200" dirty="0"/>
          </a:p>
          <a:p>
            <a:r>
              <a:rPr lang="en-US" sz="1200" dirty="0"/>
              <a:t>Si Schottky </a:t>
            </a:r>
            <a:r>
              <a:rPr lang="bg-BG" sz="1200" dirty="0"/>
              <a:t>диод</a:t>
            </a:r>
            <a:endParaRPr lang="en-US" sz="1200" dirty="0"/>
          </a:p>
          <a:p>
            <a:endParaRPr lang="en-US" sz="1200" dirty="0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E8DD9321-8EE6-324D-D7A6-3C9F642E2F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267604"/>
            <a:ext cx="3312368" cy="3124347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4FF4107-55DD-DB23-74E6-45A53AEF555C}"/>
              </a:ext>
            </a:extLst>
          </p:cNvPr>
          <p:cNvSpPr txBox="1">
            <a:spLocks noChangeArrowheads="1"/>
          </p:cNvSpPr>
          <p:nvPr/>
        </p:nvSpPr>
        <p:spPr>
          <a:xfrm>
            <a:off x="2209799" y="0"/>
            <a:ext cx="8134997" cy="66106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dirty="0">
                <a:solidFill>
                  <a:schemeClr val="tx1"/>
                </a:solidFill>
                <a:latin typeface="Arial Narrow" pitchFamily="34" charset="0"/>
              </a:rPr>
              <a:t>Влияние на температурата – обратно включване</a:t>
            </a:r>
            <a:endParaRPr lang="en-US" sz="32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3DAB03-D80C-68E2-5BFF-1DE874536460}"/>
              </a:ext>
            </a:extLst>
          </p:cNvPr>
          <p:cNvSpPr/>
          <p:nvPr/>
        </p:nvSpPr>
        <p:spPr>
          <a:xfrm>
            <a:off x="4151784" y="3429000"/>
            <a:ext cx="792088" cy="8623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53621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918A37-3B6F-451F-B0BB-A29BBFED0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1340768"/>
            <a:ext cx="5801535" cy="4810796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CBA092B-B880-9BEF-CE87-C54A483C3DB9}"/>
              </a:ext>
            </a:extLst>
          </p:cNvPr>
          <p:cNvSpPr txBox="1">
            <a:spLocks noChangeArrowheads="1"/>
          </p:cNvSpPr>
          <p:nvPr/>
        </p:nvSpPr>
        <p:spPr>
          <a:xfrm>
            <a:off x="335360" y="0"/>
            <a:ext cx="11377264" cy="7415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dirty="0">
                <a:solidFill>
                  <a:schemeClr val="tx1"/>
                </a:solidFill>
                <a:latin typeface="Arial Narrow" pitchFamily="34" charset="0"/>
              </a:rPr>
              <a:t>Намаляване на </a:t>
            </a:r>
            <a:r>
              <a:rPr lang="bg-BG" sz="3200" dirty="0" err="1">
                <a:solidFill>
                  <a:schemeClr val="tx1"/>
                </a:solidFill>
                <a:latin typeface="Arial Narrow" pitchFamily="34" charset="0"/>
              </a:rPr>
              <a:t>макс</a:t>
            </a:r>
            <a:r>
              <a:rPr lang="bg-BG" sz="3200" dirty="0">
                <a:solidFill>
                  <a:schemeClr val="tx1"/>
                </a:solidFill>
                <a:latin typeface="Arial Narrow" pitchFamily="34" charset="0"/>
              </a:rPr>
              <a:t>. </a:t>
            </a:r>
            <a:r>
              <a:rPr lang="bg-BG" sz="3200" dirty="0" err="1">
                <a:solidFill>
                  <a:schemeClr val="tx1"/>
                </a:solidFill>
                <a:latin typeface="Arial Narrow" pitchFamily="34" charset="0"/>
              </a:rPr>
              <a:t>допусимият</a:t>
            </a:r>
            <a:r>
              <a:rPr lang="bg-BG" sz="3200" dirty="0">
                <a:solidFill>
                  <a:schemeClr val="tx1"/>
                </a:solidFill>
                <a:latin typeface="Arial Narrow" pitchFamily="34" charset="0"/>
              </a:rPr>
              <a:t> ток при повишаване на температурата</a:t>
            </a:r>
            <a:endParaRPr lang="en-US" sz="32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795E1-5C42-A30C-CAA2-70863C248D4D}"/>
              </a:ext>
            </a:extLst>
          </p:cNvPr>
          <p:cNvSpPr txBox="1"/>
          <p:nvPr/>
        </p:nvSpPr>
        <p:spPr>
          <a:xfrm>
            <a:off x="9336360" y="6029688"/>
            <a:ext cx="1944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200" dirty="0"/>
              <a:t>Пример </a:t>
            </a:r>
            <a:r>
              <a:rPr lang="en-US" sz="1200" dirty="0">
                <a:effectLst/>
                <a:latin typeface="Arial" panose="020B0604020202020204" pitchFamily="34" charset="0"/>
              </a:rPr>
              <a:t>MBR4015CTLG</a:t>
            </a:r>
            <a:endParaRPr lang="en-US" sz="1200" dirty="0"/>
          </a:p>
          <a:p>
            <a:r>
              <a:rPr lang="en-US" sz="1200" dirty="0"/>
              <a:t>Si Schottky </a:t>
            </a:r>
            <a:r>
              <a:rPr lang="bg-BG" sz="1200" dirty="0"/>
              <a:t>диод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96622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95513" y="0"/>
            <a:ext cx="7772400" cy="581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dirty="0">
                <a:solidFill>
                  <a:schemeClr val="tx1"/>
                </a:solidFill>
                <a:latin typeface="Arial Narrow" pitchFamily="34" charset="0"/>
              </a:rPr>
              <a:t>Топлинно съпротивление</a:t>
            </a:r>
            <a:endParaRPr lang="en-US" sz="32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501093" y="798592"/>
            <a:ext cx="111612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bg-BG" sz="1600" b="1" dirty="0"/>
              <a:t>Топлинното съпротивление </a:t>
            </a:r>
            <a:r>
              <a:rPr lang="en-US" sz="1600" i="1" dirty="0" err="1">
                <a:effectLst/>
                <a:latin typeface="Arial" panose="020B0604020202020204" pitchFamily="34" charset="0"/>
              </a:rPr>
              <a:t>R</a:t>
            </a:r>
            <a:r>
              <a:rPr lang="en-US" sz="1600" i="1" baseline="-25000" dirty="0" err="1">
                <a:effectLst/>
                <a:latin typeface="Arial" panose="020B0604020202020204" pitchFamily="34" charset="0"/>
              </a:rPr>
              <a:t>θ</a:t>
            </a:r>
            <a:r>
              <a:rPr lang="bg-BG" sz="1600" i="1" baseline="-25000" dirty="0">
                <a:effectLst/>
                <a:latin typeface="Arial" panose="020B0604020202020204" pitchFamily="34" charset="0"/>
              </a:rPr>
              <a:t> </a:t>
            </a:r>
            <a:r>
              <a:rPr lang="bg-BG" sz="1600" dirty="0"/>
              <a:t>(или </a:t>
            </a:r>
            <a:r>
              <a:rPr lang="en-US" sz="1600" i="1" dirty="0" err="1"/>
              <a:t>R</a:t>
            </a:r>
            <a:r>
              <a:rPr lang="en-US" sz="1600" i="1" baseline="-25000" dirty="0" err="1"/>
              <a:t>th</a:t>
            </a:r>
            <a:r>
              <a:rPr lang="bg-BG" sz="1600" dirty="0"/>
              <a:t>) показва ефективността на отвеждане топлината от полупроводниковият кристал  към околното пространство. То се измерва в градуси на Ват (</a:t>
            </a:r>
            <a:r>
              <a:rPr lang="en-US" sz="1600" dirty="0"/>
              <a:t>K/W</a:t>
            </a:r>
            <a:r>
              <a:rPr lang="bg-BG" sz="1600" dirty="0"/>
              <a:t> или </a:t>
            </a:r>
            <a:r>
              <a:rPr lang="en-US" sz="1600" baseline="30000" dirty="0"/>
              <a:t>o</a:t>
            </a:r>
            <a:r>
              <a:rPr lang="bg-BG" sz="1600" dirty="0"/>
              <a:t>С</a:t>
            </a:r>
            <a:r>
              <a:rPr lang="en-US" sz="1600" dirty="0"/>
              <a:t>/W</a:t>
            </a:r>
            <a:r>
              <a:rPr lang="bg-BG" sz="1600" dirty="0"/>
              <a:t>).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91FF61-4375-2EE3-3242-D94F1328B7BC}"/>
              </a:ext>
            </a:extLst>
          </p:cNvPr>
          <p:cNvSpPr txBox="1"/>
          <p:nvPr/>
        </p:nvSpPr>
        <p:spPr>
          <a:xfrm>
            <a:off x="5839388" y="3257493"/>
            <a:ext cx="59766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effectLst/>
                <a:latin typeface="Arial" panose="020B0604020202020204" pitchFamily="34" charset="0"/>
              </a:rPr>
              <a:t>T</a:t>
            </a:r>
            <a:r>
              <a:rPr lang="en-US" sz="1400" i="1" baseline="-25000" dirty="0">
                <a:effectLst/>
                <a:latin typeface="Arial" panose="020B0604020202020204" pitchFamily="34" charset="0"/>
              </a:rPr>
              <a:t>J</a:t>
            </a:r>
            <a:r>
              <a:rPr lang="en-US" sz="1400" dirty="0">
                <a:effectLst/>
                <a:latin typeface="Arial" panose="020B0604020202020204" pitchFamily="34" charset="0"/>
              </a:rPr>
              <a:t> = Junction Temperature  / </a:t>
            </a:r>
            <a:r>
              <a:rPr lang="bg-BG" sz="1400" dirty="0">
                <a:effectLst/>
                <a:latin typeface="Arial" panose="020B0604020202020204" pitchFamily="34" charset="0"/>
              </a:rPr>
              <a:t>температура на кристала</a:t>
            </a:r>
            <a:br>
              <a:rPr lang="en-US" sz="1400" dirty="0"/>
            </a:br>
            <a:r>
              <a:rPr lang="en-US" sz="1400" i="1" dirty="0">
                <a:effectLst/>
                <a:latin typeface="Arial" panose="020B0604020202020204" pitchFamily="34" charset="0"/>
              </a:rPr>
              <a:t>T</a:t>
            </a:r>
            <a:r>
              <a:rPr lang="en-US" sz="1400" i="1" baseline="-25000" dirty="0">
                <a:effectLst/>
                <a:latin typeface="Arial" panose="020B0604020202020204" pitchFamily="34" charset="0"/>
              </a:rPr>
              <a:t>C</a:t>
            </a:r>
            <a:r>
              <a:rPr lang="en-US" sz="1400" dirty="0">
                <a:effectLst/>
                <a:latin typeface="Arial" panose="020B0604020202020204" pitchFamily="34" charset="0"/>
              </a:rPr>
              <a:t> = Case Temperature </a:t>
            </a:r>
            <a:r>
              <a:rPr lang="bg-BG" sz="1400" dirty="0">
                <a:effectLst/>
                <a:latin typeface="Arial" panose="020B0604020202020204" pitchFamily="34" charset="0"/>
              </a:rPr>
              <a:t> / температура на корпуса</a:t>
            </a:r>
            <a:endParaRPr lang="en-US" sz="1400" dirty="0">
              <a:effectLst/>
              <a:latin typeface="Arial" panose="020B0604020202020204" pitchFamily="34" charset="0"/>
            </a:endParaRPr>
          </a:p>
          <a:p>
            <a:r>
              <a:rPr lang="en-US" sz="1400" i="1" dirty="0">
                <a:effectLst/>
                <a:latin typeface="Arial" panose="020B0604020202020204" pitchFamily="34" charset="0"/>
              </a:rPr>
              <a:t>T</a:t>
            </a:r>
            <a:r>
              <a:rPr lang="en-US" sz="1400" i="1" baseline="-25000" dirty="0">
                <a:effectLst/>
                <a:latin typeface="Arial" panose="020B0604020202020204" pitchFamily="34" charset="0"/>
              </a:rPr>
              <a:t>L</a:t>
            </a:r>
            <a:r>
              <a:rPr lang="en-US" sz="1400" dirty="0">
                <a:effectLst/>
                <a:latin typeface="Arial" panose="020B0604020202020204" pitchFamily="34" charset="0"/>
              </a:rPr>
              <a:t> = Lead Temperature </a:t>
            </a:r>
            <a:r>
              <a:rPr lang="bg-BG" sz="1400" dirty="0">
                <a:effectLst/>
                <a:latin typeface="Arial" panose="020B0604020202020204" pitchFamily="34" charset="0"/>
              </a:rPr>
              <a:t> / температура на </a:t>
            </a:r>
            <a:r>
              <a:rPr lang="bg-BG" sz="1400" dirty="0">
                <a:latin typeface="Arial" panose="020B0604020202020204" pitchFamily="34" charset="0"/>
              </a:rPr>
              <a:t>изводите</a:t>
            </a:r>
            <a:endParaRPr lang="en-US" sz="1400" dirty="0">
              <a:effectLst/>
              <a:latin typeface="Arial" panose="020B0604020202020204" pitchFamily="34" charset="0"/>
            </a:endParaRPr>
          </a:p>
          <a:p>
            <a:r>
              <a:rPr lang="en-US" sz="1400" i="1" dirty="0">
                <a:latin typeface="Arial" panose="020B0604020202020204" pitchFamily="34" charset="0"/>
              </a:rPr>
              <a:t>T</a:t>
            </a:r>
            <a:r>
              <a:rPr lang="en-US" sz="1400" i="1" baseline="-25000" dirty="0">
                <a:latin typeface="Arial" panose="020B0604020202020204" pitchFamily="34" charset="0"/>
              </a:rPr>
              <a:t>A</a:t>
            </a:r>
            <a:r>
              <a:rPr lang="en-US" sz="1400" dirty="0">
                <a:latin typeface="Arial" panose="020B0604020202020204" pitchFamily="34" charset="0"/>
              </a:rPr>
              <a:t> = Ambient Temperature</a:t>
            </a:r>
            <a:r>
              <a:rPr lang="bg-BG" sz="1400" dirty="0">
                <a:latin typeface="Arial" panose="020B0604020202020204" pitchFamily="34" charset="0"/>
              </a:rPr>
              <a:t> / околна температура</a:t>
            </a:r>
            <a:br>
              <a:rPr lang="en-US" sz="1400" dirty="0"/>
            </a:br>
            <a:r>
              <a:rPr lang="en-US" sz="1400" i="1" dirty="0" err="1">
                <a:effectLst/>
                <a:latin typeface="Arial" panose="020B0604020202020204" pitchFamily="34" charset="0"/>
              </a:rPr>
              <a:t>R</a:t>
            </a:r>
            <a:r>
              <a:rPr lang="en-US" sz="1400" i="1" baseline="-25000" dirty="0" err="1">
                <a:effectLst/>
                <a:latin typeface="Arial" panose="020B0604020202020204" pitchFamily="34" charset="0"/>
              </a:rPr>
              <a:t>th</a:t>
            </a:r>
            <a:r>
              <a:rPr lang="en-US" sz="1400" i="1" baseline="-25000" dirty="0">
                <a:effectLst/>
                <a:latin typeface="Arial" panose="020B0604020202020204" pitchFamily="34" charset="0"/>
              </a:rPr>
              <a:t>(j-c)</a:t>
            </a:r>
            <a:r>
              <a:rPr lang="en-US" sz="1400" dirty="0">
                <a:effectLst/>
                <a:latin typeface="Arial" panose="020B0604020202020204" pitchFamily="34" charset="0"/>
              </a:rPr>
              <a:t> = </a:t>
            </a:r>
            <a:r>
              <a:rPr lang="bg-BG" sz="1400" dirty="0">
                <a:effectLst/>
                <a:latin typeface="Arial" panose="020B0604020202020204" pitchFamily="34" charset="0"/>
              </a:rPr>
              <a:t>Топлинно съпротивление кристал – корпус</a:t>
            </a:r>
          </a:p>
          <a:p>
            <a:r>
              <a:rPr lang="en-US" sz="1400" i="1" dirty="0" err="1">
                <a:effectLst/>
                <a:latin typeface="Arial" panose="020B0604020202020204" pitchFamily="34" charset="0"/>
              </a:rPr>
              <a:t>R</a:t>
            </a:r>
            <a:r>
              <a:rPr lang="en-US" sz="1400" i="1" baseline="-25000" dirty="0" err="1">
                <a:effectLst/>
                <a:latin typeface="Arial" panose="020B0604020202020204" pitchFamily="34" charset="0"/>
              </a:rPr>
              <a:t>th</a:t>
            </a:r>
            <a:r>
              <a:rPr lang="en-US" sz="1400" i="1" baseline="-25000" dirty="0">
                <a:effectLst/>
                <a:latin typeface="Arial" panose="020B0604020202020204" pitchFamily="34" charset="0"/>
              </a:rPr>
              <a:t>(c-h)</a:t>
            </a:r>
            <a:r>
              <a:rPr lang="en-US" sz="1400" dirty="0">
                <a:effectLst/>
                <a:latin typeface="Arial" panose="020B0604020202020204" pitchFamily="34" charset="0"/>
              </a:rPr>
              <a:t> = </a:t>
            </a:r>
            <a:r>
              <a:rPr lang="bg-BG" sz="1400" dirty="0">
                <a:effectLst/>
                <a:latin typeface="Arial" panose="020B0604020202020204" pitchFamily="34" charset="0"/>
              </a:rPr>
              <a:t>Топлинно съпротивление </a:t>
            </a:r>
            <a:r>
              <a:rPr lang="bg-BG" sz="1400" dirty="0">
                <a:latin typeface="Arial" panose="020B0604020202020204" pitchFamily="34" charset="0"/>
              </a:rPr>
              <a:t>корпус</a:t>
            </a:r>
            <a:r>
              <a:rPr lang="bg-BG" sz="1400" dirty="0">
                <a:effectLst/>
                <a:latin typeface="Arial" panose="020B0604020202020204" pitchFamily="34" charset="0"/>
              </a:rPr>
              <a:t> – радиатор</a:t>
            </a:r>
            <a:endParaRPr lang="en-US" sz="1400" dirty="0">
              <a:effectLst/>
              <a:latin typeface="Arial" panose="020B0604020202020204" pitchFamily="34" charset="0"/>
            </a:endParaRPr>
          </a:p>
          <a:p>
            <a:r>
              <a:rPr lang="en-US" sz="1400" i="1" dirty="0" err="1">
                <a:effectLst/>
                <a:latin typeface="Arial" panose="020B0604020202020204" pitchFamily="34" charset="0"/>
              </a:rPr>
              <a:t>R</a:t>
            </a:r>
            <a:r>
              <a:rPr lang="en-US" sz="1400" i="1" baseline="-25000" dirty="0" err="1">
                <a:effectLst/>
                <a:latin typeface="Arial" panose="020B0604020202020204" pitchFamily="34" charset="0"/>
              </a:rPr>
              <a:t>th</a:t>
            </a:r>
            <a:r>
              <a:rPr lang="en-US" sz="1400" i="1" baseline="-25000" dirty="0">
                <a:effectLst/>
                <a:latin typeface="Arial" panose="020B0604020202020204" pitchFamily="34" charset="0"/>
              </a:rPr>
              <a:t>(h-a)</a:t>
            </a:r>
            <a:r>
              <a:rPr lang="en-US" sz="1400" dirty="0">
                <a:effectLst/>
                <a:latin typeface="Arial" panose="020B0604020202020204" pitchFamily="34" charset="0"/>
              </a:rPr>
              <a:t> = </a:t>
            </a:r>
            <a:r>
              <a:rPr lang="bg-BG" sz="1400" dirty="0">
                <a:effectLst/>
                <a:latin typeface="Arial" panose="020B0604020202020204" pitchFamily="34" charset="0"/>
              </a:rPr>
              <a:t>Топлинно съпротивление радиатор</a:t>
            </a:r>
            <a:r>
              <a:rPr lang="en-US" sz="1400" dirty="0">
                <a:effectLst/>
                <a:latin typeface="Arial" panose="020B0604020202020204" pitchFamily="34" charset="0"/>
              </a:rPr>
              <a:t> </a:t>
            </a:r>
            <a:r>
              <a:rPr lang="bg-BG" sz="1400" dirty="0">
                <a:effectLst/>
                <a:latin typeface="Arial" panose="020B0604020202020204" pitchFamily="34" charset="0"/>
              </a:rPr>
              <a:t>– околна среда</a:t>
            </a:r>
            <a:br>
              <a:rPr lang="en-US" sz="1400" dirty="0"/>
            </a:br>
            <a:r>
              <a:rPr lang="en-US" sz="1400" i="1" dirty="0" err="1">
                <a:effectLst/>
                <a:latin typeface="Arial" panose="020B0604020202020204" pitchFamily="34" charset="0"/>
              </a:rPr>
              <a:t>R</a:t>
            </a:r>
            <a:r>
              <a:rPr lang="en-US" sz="1400" i="1" baseline="-25000" dirty="0" err="1">
                <a:effectLst/>
                <a:latin typeface="Arial" panose="020B0604020202020204" pitchFamily="34" charset="0"/>
              </a:rPr>
              <a:t>th</a:t>
            </a:r>
            <a:r>
              <a:rPr lang="bg-BG" sz="1400" i="1" baseline="-25000" dirty="0">
                <a:effectLst/>
                <a:latin typeface="Arial" panose="020B0604020202020204" pitchFamily="34" charset="0"/>
              </a:rPr>
              <a:t>(</a:t>
            </a:r>
            <a:r>
              <a:rPr lang="en-US" sz="1400" i="1" baseline="-25000" dirty="0">
                <a:effectLst/>
                <a:latin typeface="Arial" panose="020B0604020202020204" pitchFamily="34" charset="0"/>
              </a:rPr>
              <a:t>j-a</a:t>
            </a:r>
            <a:r>
              <a:rPr lang="bg-BG" sz="1400" i="1" baseline="-25000" dirty="0">
                <a:effectLst/>
                <a:latin typeface="Arial" panose="020B0604020202020204" pitchFamily="34" charset="0"/>
              </a:rPr>
              <a:t>)</a:t>
            </a:r>
            <a:r>
              <a:rPr lang="en-US" sz="1400" dirty="0">
                <a:effectLst/>
                <a:latin typeface="Arial" panose="020B0604020202020204" pitchFamily="34" charset="0"/>
              </a:rPr>
              <a:t> = </a:t>
            </a:r>
            <a:r>
              <a:rPr lang="bg-BG" sz="1400" dirty="0">
                <a:effectLst/>
                <a:latin typeface="Arial" panose="020B0604020202020204" pitchFamily="34" charset="0"/>
              </a:rPr>
              <a:t>Топлинно съпротивление кристал – околна среда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56E5E-3D10-A526-6617-EDA50C5F7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232" y="1742646"/>
            <a:ext cx="1286977" cy="6817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80664C-E449-ABCF-47ED-14BA1B5F0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032" y="1742646"/>
            <a:ext cx="1286978" cy="7255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A9F61F-1E7C-2974-80D7-3FCF360680F4}"/>
              </a:ext>
            </a:extLst>
          </p:cNvPr>
          <p:cNvSpPr txBox="1"/>
          <p:nvPr/>
        </p:nvSpPr>
        <p:spPr>
          <a:xfrm>
            <a:off x="5519935" y="2647384"/>
            <a:ext cx="61423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P</a:t>
            </a:r>
            <a:r>
              <a:rPr lang="ru-RU" sz="1600" baseline="-25000" dirty="0"/>
              <a:t>D</a:t>
            </a:r>
            <a:r>
              <a:rPr lang="ru-RU" sz="1600" dirty="0"/>
              <a:t> представлява максималната мощността, която диода може да разсейва при даден</a:t>
            </a:r>
            <a:r>
              <a:rPr lang="bg-BG" sz="1600" dirty="0"/>
              <a:t>и температура на кристала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AD638-EB19-1652-6850-5F7F914C40D2}"/>
              </a:ext>
            </a:extLst>
          </p:cNvPr>
          <p:cNvSpPr txBox="1"/>
          <p:nvPr/>
        </p:nvSpPr>
        <p:spPr>
          <a:xfrm>
            <a:off x="10212288" y="6449080"/>
            <a:ext cx="1944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200" dirty="0"/>
              <a:t>Пример </a:t>
            </a:r>
            <a:r>
              <a:rPr lang="en-US" sz="1200" dirty="0">
                <a:effectLst/>
                <a:latin typeface="Arial" panose="020B0604020202020204" pitchFamily="34" charset="0"/>
              </a:rPr>
              <a:t>MBR1035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68C8BB-A3C7-400B-974F-84D4D3F61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68" y="1705778"/>
            <a:ext cx="5296798" cy="29568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24357F-AC08-1184-67AC-9E849513E2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8" y="5234841"/>
            <a:ext cx="9688277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813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401530-6914-40F0-9E54-5FFF8F085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99" y="836712"/>
            <a:ext cx="4234840" cy="33649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4B604D4-DA46-B974-3C36-98097391E4A1}"/>
              </a:ext>
            </a:extLst>
          </p:cNvPr>
          <p:cNvSpPr/>
          <p:nvPr/>
        </p:nvSpPr>
        <p:spPr>
          <a:xfrm>
            <a:off x="227348" y="5229200"/>
            <a:ext cx="117373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1600" dirty="0"/>
              <a:t>Топлинното съпротивление може да се намали с помощтта на радиатор. Той представява метална конструкция с голяма площ, която спомага по-лесното отвеждане на топлината. </a:t>
            </a:r>
            <a:endParaRPr lang="en-US" sz="16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E058E6-078E-E734-85D9-DC8C866A6E34}"/>
              </a:ext>
            </a:extLst>
          </p:cNvPr>
          <p:cNvSpPr txBox="1">
            <a:spLocks noChangeArrowheads="1"/>
          </p:cNvSpPr>
          <p:nvPr/>
        </p:nvSpPr>
        <p:spPr>
          <a:xfrm>
            <a:off x="2195513" y="0"/>
            <a:ext cx="7772400" cy="581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dirty="0">
                <a:solidFill>
                  <a:schemeClr val="tx1"/>
                </a:solidFill>
                <a:latin typeface="Arial Narrow" pitchFamily="34" charset="0"/>
              </a:rPr>
              <a:t>Топлинно съпротивление</a:t>
            </a:r>
            <a:endParaRPr lang="en-US" sz="3200" dirty="0">
              <a:solidFill>
                <a:schemeClr val="tx1"/>
              </a:solidFill>
              <a:latin typeface="Arial Narrow" pitchFamily="34" charset="0"/>
            </a:endParaRPr>
          </a:p>
        </p:txBody>
      </p:sp>
      <p:pic>
        <p:nvPicPr>
          <p:cNvPr id="10" name="Picture 9" descr="A close-up of several electronic components&#10;&#10;Description automatically generated">
            <a:extLst>
              <a:ext uri="{FF2B5EF4-FFF2-40B4-BE49-F238E27FC236}">
                <a16:creationId xmlns:a16="http://schemas.microsoft.com/office/drawing/2014/main" id="{C7DADBC7-4156-000A-83AE-E139E869AA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184" y="2444023"/>
            <a:ext cx="4009087" cy="22576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ADB9A5-F996-4F3F-9FA1-BB6D328BD1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876120"/>
            <a:ext cx="2736304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29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1BECDB0-E2D4-953C-1EF8-45825AEFDB4E}"/>
              </a:ext>
            </a:extLst>
          </p:cNvPr>
          <p:cNvSpPr txBox="1">
            <a:spLocks noChangeArrowheads="1"/>
          </p:cNvSpPr>
          <p:nvPr/>
        </p:nvSpPr>
        <p:spPr>
          <a:xfrm>
            <a:off x="2206625" y="0"/>
            <a:ext cx="7772400" cy="63968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dirty="0">
                <a:solidFill>
                  <a:schemeClr val="tx1"/>
                </a:solidFill>
                <a:latin typeface="Arial Narrow" pitchFamily="34" charset="0"/>
              </a:rPr>
              <a:t>Структура на диод</a:t>
            </a:r>
            <a:endParaRPr lang="en-US" sz="3200" dirty="0">
              <a:solidFill>
                <a:schemeClr val="tx1"/>
              </a:solidFill>
              <a:latin typeface="Arial Narrow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F9C22F-EC83-3C4E-48E8-4586763C2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308680"/>
            <a:ext cx="4448515" cy="212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FD9940-1050-47CF-D355-370E4E9EA43D}"/>
              </a:ext>
            </a:extLst>
          </p:cNvPr>
          <p:cNvSpPr txBox="1"/>
          <p:nvPr/>
        </p:nvSpPr>
        <p:spPr>
          <a:xfrm>
            <a:off x="911424" y="4337127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Изправителен диод с </a:t>
            </a:r>
            <a:r>
              <a:rPr lang="en-US" dirty="0" err="1"/>
              <a:t>pn</a:t>
            </a:r>
            <a:r>
              <a:rPr lang="en-US" dirty="0"/>
              <a:t> </a:t>
            </a:r>
            <a:r>
              <a:rPr lang="bg-BG" dirty="0"/>
              <a:t>преход</a:t>
            </a:r>
            <a:endParaRPr lang="en-US" dirty="0"/>
          </a:p>
          <a:p>
            <a:r>
              <a:rPr lang="en-US" dirty="0"/>
              <a:t>Rectifying </a:t>
            </a:r>
            <a:r>
              <a:rPr lang="en-US" dirty="0" err="1"/>
              <a:t>pn</a:t>
            </a:r>
            <a:r>
              <a:rPr lang="en-US" dirty="0"/>
              <a:t> junction diode</a:t>
            </a:r>
            <a:endParaRPr lang="bg-B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55A8B7-037F-2EDB-39F5-760579008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064" y="917580"/>
            <a:ext cx="4859831" cy="23274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761B2D-2857-8FB5-93F6-71C0D6B178EE}"/>
              </a:ext>
            </a:extLst>
          </p:cNvPr>
          <p:cNvSpPr txBox="1"/>
          <p:nvPr/>
        </p:nvSpPr>
        <p:spPr>
          <a:xfrm>
            <a:off x="6672064" y="4346954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Диод на Шотки</a:t>
            </a:r>
            <a:endParaRPr lang="en-US" dirty="0"/>
          </a:p>
          <a:p>
            <a:r>
              <a:rPr lang="en-US" dirty="0"/>
              <a:t>Schottky Barrier Diode (SBD)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34366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C381EB-41C7-1CE0-091D-EE55C0DA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Задачи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A6BE7-3AFF-3382-78B4-64BF13514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Постояннотоков режим на схеми с диоди</a:t>
            </a:r>
          </a:p>
        </p:txBody>
      </p:sp>
    </p:spTree>
    <p:extLst>
      <p:ext uri="{BB962C8B-B14F-4D97-AF65-F5344CB8AC3E}">
        <p14:creationId xmlns:p14="http://schemas.microsoft.com/office/powerpoint/2010/main" val="2899865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0201-2634-D20F-B924-53947D0E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655161-8C85-3868-0057-9ED1A162E58D}"/>
              </a:ext>
            </a:extLst>
          </p:cNvPr>
          <p:cNvSpPr txBox="1">
            <a:spLocks noChangeArrowheads="1"/>
          </p:cNvSpPr>
          <p:nvPr/>
        </p:nvSpPr>
        <p:spPr>
          <a:xfrm>
            <a:off x="68069" y="58766"/>
            <a:ext cx="10642574" cy="57001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</a:rPr>
              <a:t>Волта-Амперна характеристика на реален диод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EB2F7C-EF76-B9D0-6534-CB0EAB4DC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68" y="1412776"/>
            <a:ext cx="3804125" cy="350100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DD855CC-B058-A19D-CFB9-C28E36019A32}"/>
              </a:ext>
            </a:extLst>
          </p:cNvPr>
          <p:cNvSpPr txBox="1"/>
          <p:nvPr/>
        </p:nvSpPr>
        <p:spPr>
          <a:xfrm>
            <a:off x="7968208" y="2564904"/>
            <a:ext cx="40324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/>
              <a:t>Право включване</a:t>
            </a:r>
            <a:endParaRPr lang="en-US" sz="1400" dirty="0"/>
          </a:p>
          <a:p>
            <a:endParaRPr lang="bg-BG" sz="1400" dirty="0"/>
          </a:p>
          <a:p>
            <a:r>
              <a:rPr lang="bg-BG" sz="1400" dirty="0"/>
              <a:t>За да протече ток, трябва да се преодолее потенциалната бариера:</a:t>
            </a:r>
          </a:p>
          <a:p>
            <a:pPr marL="742950" lvl="1" indent="-285750">
              <a:buFontTx/>
              <a:buChar char="-"/>
            </a:pPr>
            <a:r>
              <a:rPr lang="bg-BG" sz="1400" dirty="0"/>
              <a:t>0,6 – 0,7</a:t>
            </a:r>
            <a:r>
              <a:rPr lang="en-US" sz="1400" dirty="0"/>
              <a:t>V </a:t>
            </a:r>
            <a:r>
              <a:rPr lang="bg-BG" sz="1400" dirty="0"/>
              <a:t>за диоди с </a:t>
            </a:r>
            <a:r>
              <a:rPr lang="en-US" sz="1400" dirty="0"/>
              <a:t>PN</a:t>
            </a:r>
            <a:r>
              <a:rPr lang="bg-BG" sz="1400" dirty="0"/>
              <a:t> преход</a:t>
            </a:r>
          </a:p>
          <a:p>
            <a:pPr marL="742950" lvl="1" indent="-285750">
              <a:buFontTx/>
              <a:buChar char="-"/>
            </a:pPr>
            <a:r>
              <a:rPr lang="bg-BG" sz="1400" dirty="0"/>
              <a:t>0,2 - 0,4</a:t>
            </a:r>
            <a:r>
              <a:rPr lang="en-US" sz="1400" dirty="0"/>
              <a:t>V </a:t>
            </a:r>
            <a:r>
              <a:rPr lang="bg-BG" sz="1400" dirty="0"/>
              <a:t>за диоди с преход на Шотки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F23AF1-16C7-157B-F398-4FEBF969F232}"/>
              </a:ext>
            </a:extLst>
          </p:cNvPr>
          <p:cNvSpPr txBox="1"/>
          <p:nvPr/>
        </p:nvSpPr>
        <p:spPr>
          <a:xfrm>
            <a:off x="551384" y="4581128"/>
            <a:ext cx="46085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/>
              <a:t>Обратно включване</a:t>
            </a:r>
            <a:endParaRPr lang="en-US" sz="1400" dirty="0"/>
          </a:p>
          <a:p>
            <a:endParaRPr lang="bg-BG" sz="1400" dirty="0"/>
          </a:p>
          <a:p>
            <a:r>
              <a:rPr lang="bg-BG" sz="1400" dirty="0"/>
              <a:t>Тече относително малък ток, който слабо зависи от обратното напрежение. </a:t>
            </a:r>
            <a:endParaRPr lang="en-US" sz="1400" dirty="0"/>
          </a:p>
          <a:p>
            <a:r>
              <a:rPr lang="bg-BG" sz="1400" dirty="0"/>
              <a:t>Про достатъчно високо обратно напрежение ще настъпи пробив – ценеров, лавинен или топлинен.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BDC4DE38-3AF7-3E5B-74A1-5F2709261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2996952"/>
            <a:ext cx="2330566" cy="1292869"/>
          </a:xfrm>
          <a:prstGeom prst="rect">
            <a:avLst/>
          </a:prstGeom>
        </p:spPr>
      </p:pic>
      <p:pic>
        <p:nvPicPr>
          <p:cNvPr id="5" name="Picture 4" descr="A picture containing text, antenna&#10;&#10;Description automatically generated">
            <a:extLst>
              <a:ext uri="{FF2B5EF4-FFF2-40B4-BE49-F238E27FC236}">
                <a16:creationId xmlns:a16="http://schemas.microsoft.com/office/drawing/2014/main" id="{53234DA0-49DA-7AEC-D793-3EDBB42A6B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208" y="980728"/>
            <a:ext cx="2520280" cy="1425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57152F-39F5-BA9B-6728-05F33B7726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9536" y="1392127"/>
            <a:ext cx="936104" cy="5654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775D8F-1FF0-C7CA-2569-32F032C02950}"/>
              </a:ext>
            </a:extLst>
          </p:cNvPr>
          <p:cNvSpPr txBox="1"/>
          <p:nvPr/>
        </p:nvSpPr>
        <p:spPr>
          <a:xfrm>
            <a:off x="1294323" y="1235174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анод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952C6-B6BA-1FDD-5420-B7ADA1108205}"/>
              </a:ext>
            </a:extLst>
          </p:cNvPr>
          <p:cNvSpPr txBox="1"/>
          <p:nvPr/>
        </p:nvSpPr>
        <p:spPr>
          <a:xfrm>
            <a:off x="2735680" y="124986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катод</a:t>
            </a:r>
          </a:p>
        </p:txBody>
      </p:sp>
    </p:spTree>
    <p:extLst>
      <p:ext uri="{BB962C8B-B14F-4D97-AF65-F5344CB8AC3E}">
        <p14:creationId xmlns:p14="http://schemas.microsoft.com/office/powerpoint/2010/main" val="3423159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0"/>
            <a:ext cx="9144000" cy="72114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Товарна права и работна точка</a:t>
            </a:r>
            <a:endParaRPr lang="en-US" sz="2400" dirty="0">
              <a:solidFill>
                <a:schemeClr val="tx1"/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1524000" y="25724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" name="AutoShape 13"/>
          <p:cNvSpPr>
            <a:spLocks noChangeAspect="1" noChangeArrowheads="1"/>
          </p:cNvSpPr>
          <p:nvPr/>
        </p:nvSpPr>
        <p:spPr bwMode="auto">
          <a:xfrm>
            <a:off x="1720850" y="3631084"/>
            <a:ext cx="7183438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1524000" y="25343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A3AC4114-B648-A06C-4782-8D7CC3C22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80" y="1523006"/>
            <a:ext cx="2638793" cy="1543265"/>
          </a:xfrm>
          <a:prstGeom prst="rect">
            <a:avLst/>
          </a:prstGeom>
        </p:spPr>
      </p:pic>
      <p:pic>
        <p:nvPicPr>
          <p:cNvPr id="27" name="Picture 26" descr="Shape, polygon&#10;&#10;Description automatically generated">
            <a:extLst>
              <a:ext uri="{FF2B5EF4-FFF2-40B4-BE49-F238E27FC236}">
                <a16:creationId xmlns:a16="http://schemas.microsoft.com/office/drawing/2014/main" id="{A5DC021B-5E5C-6389-C80C-F02F5FE8C8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808" y="1180617"/>
            <a:ext cx="2392685" cy="2380493"/>
          </a:xfrm>
          <a:prstGeom prst="rect">
            <a:avLst/>
          </a:prstGeom>
        </p:spPr>
      </p:pic>
      <p:pic>
        <p:nvPicPr>
          <p:cNvPr id="34" name="Picture 33" descr="Diagram&#10;&#10;Description automatically generated">
            <a:extLst>
              <a:ext uri="{FF2B5EF4-FFF2-40B4-BE49-F238E27FC236}">
                <a16:creationId xmlns:a16="http://schemas.microsoft.com/office/drawing/2014/main" id="{CFADE9D2-D05A-4CBB-32F6-69AF3EF09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4059750"/>
            <a:ext cx="2639492" cy="1391212"/>
          </a:xfrm>
          <a:prstGeom prst="rect">
            <a:avLst/>
          </a:prstGeom>
        </p:spPr>
      </p:pic>
      <p:pic>
        <p:nvPicPr>
          <p:cNvPr id="36" name="Picture 35" descr="Shape&#10;&#10;Description automatically generated">
            <a:extLst>
              <a:ext uri="{FF2B5EF4-FFF2-40B4-BE49-F238E27FC236}">
                <a16:creationId xmlns:a16="http://schemas.microsoft.com/office/drawing/2014/main" id="{CC1BE809-69C3-82B0-389B-3CE15AC36A7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179" y="3631084"/>
            <a:ext cx="2523749" cy="23804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DAE3B3-A5DC-A47F-652A-192EE468D48E}"/>
              </a:ext>
            </a:extLst>
          </p:cNvPr>
          <p:cNvSpPr txBox="1"/>
          <p:nvPr/>
        </p:nvSpPr>
        <p:spPr>
          <a:xfrm>
            <a:off x="8299219" y="1806784"/>
            <a:ext cx="32693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 – </a:t>
            </a:r>
            <a:r>
              <a:rPr lang="bg-BG" dirty="0"/>
              <a:t>работна точка</a:t>
            </a:r>
          </a:p>
          <a:p>
            <a:endParaRPr lang="en-US" dirty="0"/>
          </a:p>
          <a:p>
            <a:r>
              <a:rPr lang="bg-BG" dirty="0"/>
              <a:t>Напрежение върху диода: </a:t>
            </a:r>
            <a:r>
              <a:rPr lang="en-US" dirty="0"/>
              <a:t>U</a:t>
            </a:r>
            <a:r>
              <a:rPr lang="en-US" baseline="-25000" dirty="0"/>
              <a:t>Q</a:t>
            </a:r>
            <a:endParaRPr lang="bg-BG" dirty="0"/>
          </a:p>
          <a:p>
            <a:r>
              <a:rPr lang="bg-BG" dirty="0"/>
              <a:t>Ток през диода: </a:t>
            </a:r>
            <a:r>
              <a:rPr lang="en-US" dirty="0"/>
              <a:t>I</a:t>
            </a:r>
            <a:r>
              <a:rPr lang="en-US" baseline="-25000" dirty="0"/>
              <a:t>Q</a:t>
            </a:r>
            <a:endParaRPr lang="bg-BG" dirty="0"/>
          </a:p>
          <a:p>
            <a:r>
              <a:rPr lang="bg-BG" dirty="0"/>
              <a:t>Мощност: </a:t>
            </a:r>
            <a:r>
              <a:rPr lang="en-US" dirty="0"/>
              <a:t>P</a:t>
            </a:r>
            <a:r>
              <a:rPr lang="bg-BG" dirty="0"/>
              <a:t> </a:t>
            </a:r>
            <a:r>
              <a:rPr lang="en-US" dirty="0"/>
              <a:t>= U</a:t>
            </a:r>
            <a:r>
              <a:rPr lang="en-US" baseline="-25000" dirty="0"/>
              <a:t>Q</a:t>
            </a:r>
            <a:r>
              <a:rPr lang="en-US" dirty="0"/>
              <a:t>.I</a:t>
            </a:r>
            <a:r>
              <a:rPr lang="en-US" baseline="-25000" dirty="0"/>
              <a:t>Q</a:t>
            </a:r>
            <a:endParaRPr lang="bg-BG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99A04-53B1-F05A-8D7D-85294FAC5D39}"/>
              </a:ext>
            </a:extLst>
          </p:cNvPr>
          <p:cNvSpPr txBox="1"/>
          <p:nvPr/>
        </p:nvSpPr>
        <p:spPr>
          <a:xfrm>
            <a:off x="6846107" y="344673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  <a:r>
              <a:rPr lang="en-US" baseline="-25000" dirty="0"/>
              <a:t>Q</a:t>
            </a:r>
            <a:endParaRPr lang="bg-B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65E67-4CAD-9785-B130-F7156AAEA261}"/>
              </a:ext>
            </a:extLst>
          </p:cNvPr>
          <p:cNvSpPr txBox="1"/>
          <p:nvPr/>
        </p:nvSpPr>
        <p:spPr>
          <a:xfrm>
            <a:off x="5735960" y="2728122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Q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65483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antenna&#10;&#10;Description automatically generated">
            <a:extLst>
              <a:ext uri="{FF2B5EF4-FFF2-40B4-BE49-F238E27FC236}">
                <a16:creationId xmlns:a16="http://schemas.microsoft.com/office/drawing/2014/main" id="{C570BBEF-35C5-C529-7F1B-F0C6CF489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641951"/>
            <a:ext cx="4752528" cy="26884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CA58E0-B33B-A3C6-9CF3-939664D6BD68}"/>
                  </a:ext>
                </a:extLst>
              </p:cNvPr>
              <p:cNvSpPr txBox="1"/>
              <p:nvPr/>
            </p:nvSpPr>
            <p:spPr>
              <a:xfrm>
                <a:off x="7465205" y="1315574"/>
                <a:ext cx="21879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bg-B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bg-BG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bg-B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bg-B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CA58E0-B33B-A3C6-9CF3-939664D6B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205" y="1315574"/>
                <a:ext cx="2187907" cy="276999"/>
              </a:xfrm>
              <a:prstGeom prst="rect">
                <a:avLst/>
              </a:prstGeom>
              <a:blipFill>
                <a:blip r:embed="rId3"/>
                <a:stretch>
                  <a:fillRect l="-3621" t="-2222" r="-2228" b="-35556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84DB6E-1403-33EF-208C-AAD229030E7F}"/>
                  </a:ext>
                </a:extLst>
              </p:cNvPr>
              <p:cNvSpPr txBox="1"/>
              <p:nvPr/>
            </p:nvSpPr>
            <p:spPr>
              <a:xfrm>
                <a:off x="2723127" y="351731"/>
                <a:ext cx="1031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84DB6E-1403-33EF-208C-AAD229030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127" y="351731"/>
                <a:ext cx="10311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D4B8A3E-AFF0-5539-618B-B6E5BD96ECA4}"/>
              </a:ext>
            </a:extLst>
          </p:cNvPr>
          <p:cNvSpPr txBox="1"/>
          <p:nvPr/>
        </p:nvSpPr>
        <p:spPr>
          <a:xfrm>
            <a:off x="6023992" y="259398"/>
            <a:ext cx="5895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Закон на Кирхоф за напреженията</a:t>
            </a:r>
          </a:p>
          <a:p>
            <a:r>
              <a:rPr lang="bg-BG" dirty="0"/>
              <a:t>Алгебричната сума от напреженията в затворен контур е равна на нула.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9DD368-FE82-6DEA-28B9-3EC196518213}"/>
                  </a:ext>
                </a:extLst>
              </p:cNvPr>
              <p:cNvSpPr txBox="1"/>
              <p:nvPr/>
            </p:nvSpPr>
            <p:spPr>
              <a:xfrm>
                <a:off x="191345" y="3726594"/>
                <a:ext cx="561662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bg-BG" dirty="0"/>
                  <a:t> - електродвижеща сила на източника на напрежение (участва в сумирането със знак минус)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9DD368-FE82-6DEA-28B9-3EC196518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5" y="3726594"/>
                <a:ext cx="5616623" cy="646331"/>
              </a:xfrm>
              <a:prstGeom prst="rect">
                <a:avLst/>
              </a:prstGeom>
              <a:blipFill>
                <a:blip r:embed="rId5"/>
                <a:stretch>
                  <a:fillRect l="-868" t="-3774" b="-15094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DE5F1C-7B95-4BC1-BC1E-5871C5625012}"/>
                  </a:ext>
                </a:extLst>
              </p:cNvPr>
              <p:cNvSpPr txBox="1"/>
              <p:nvPr/>
            </p:nvSpPr>
            <p:spPr>
              <a:xfrm>
                <a:off x="191345" y="4525369"/>
                <a:ext cx="49813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bg-BG" dirty="0"/>
                  <a:t>- пад на напрежението върху диода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DE5F1C-7B95-4BC1-BC1E-5871C5625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5" y="4525369"/>
                <a:ext cx="4981389" cy="369332"/>
              </a:xfrm>
              <a:prstGeom prst="rect">
                <a:avLst/>
              </a:prstGeom>
              <a:blipFill>
                <a:blip r:embed="rId6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083C0F-D582-630B-8A75-06AF5DADDBF3}"/>
                  </a:ext>
                </a:extLst>
              </p:cNvPr>
              <p:cNvSpPr txBox="1"/>
              <p:nvPr/>
            </p:nvSpPr>
            <p:spPr>
              <a:xfrm>
                <a:off x="191345" y="4908898"/>
                <a:ext cx="4900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bg-BG" dirty="0"/>
                  <a:t>- пад на напрежението върху резистора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083C0F-D582-630B-8A75-06AF5DADD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5" y="4908898"/>
                <a:ext cx="4900630" cy="369332"/>
              </a:xfrm>
              <a:prstGeom prst="rect">
                <a:avLst/>
              </a:prstGeom>
              <a:blipFill>
                <a:blip r:embed="rId7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E7015C9-8A72-921A-D4B6-5CD3F742509C}"/>
              </a:ext>
            </a:extLst>
          </p:cNvPr>
          <p:cNvCxnSpPr/>
          <p:nvPr/>
        </p:nvCxnSpPr>
        <p:spPr>
          <a:xfrm flipV="1">
            <a:off x="2351584" y="1986187"/>
            <a:ext cx="0" cy="576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D3E83EF-10B3-5185-399D-643F224BA2B6}"/>
              </a:ext>
            </a:extLst>
          </p:cNvPr>
          <p:cNvCxnSpPr>
            <a:cxnSpLocks/>
          </p:cNvCxnSpPr>
          <p:nvPr/>
        </p:nvCxnSpPr>
        <p:spPr>
          <a:xfrm>
            <a:off x="4295800" y="2095976"/>
            <a:ext cx="0" cy="549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6026FD3-1A6E-60B9-EC41-D8C1F165CE6A}"/>
              </a:ext>
            </a:extLst>
          </p:cNvPr>
          <p:cNvCxnSpPr>
            <a:cxnSpLocks/>
          </p:cNvCxnSpPr>
          <p:nvPr/>
        </p:nvCxnSpPr>
        <p:spPr>
          <a:xfrm>
            <a:off x="2861335" y="1700808"/>
            <a:ext cx="7547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084E507-0984-0C7E-3B91-5501C3FE9256}"/>
                  </a:ext>
                </a:extLst>
              </p:cNvPr>
              <p:cNvSpPr txBox="1"/>
              <p:nvPr/>
            </p:nvSpPr>
            <p:spPr>
              <a:xfrm>
                <a:off x="5046983" y="2040484"/>
                <a:ext cx="1031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084E507-0984-0C7E-3B91-5501C3FE9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983" y="2040484"/>
                <a:ext cx="103111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6A96F52-DE29-22E5-F682-551A793E13BB}"/>
                  </a:ext>
                </a:extLst>
              </p:cNvPr>
              <p:cNvSpPr txBox="1"/>
              <p:nvPr/>
            </p:nvSpPr>
            <p:spPr>
              <a:xfrm>
                <a:off x="551387" y="2117316"/>
                <a:ext cx="68897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6A96F52-DE29-22E5-F682-551A793E1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7" y="2117316"/>
                <a:ext cx="6889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A869A3BE-DC9E-4F66-B3D7-1A720F592281}"/>
              </a:ext>
            </a:extLst>
          </p:cNvPr>
          <p:cNvSpPr txBox="1"/>
          <p:nvPr/>
        </p:nvSpPr>
        <p:spPr>
          <a:xfrm>
            <a:off x="710439" y="17444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1316EC-5416-914D-8A37-6CA682ACB64A}"/>
              </a:ext>
            </a:extLst>
          </p:cNvPr>
          <p:cNvSpPr txBox="1"/>
          <p:nvPr/>
        </p:nvSpPr>
        <p:spPr>
          <a:xfrm>
            <a:off x="732775" y="2486648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>
                <a:solidFill>
                  <a:srgbClr val="FF0000"/>
                </a:solidFill>
              </a:rPr>
              <a:t>–</a:t>
            </a:r>
            <a:r>
              <a:rPr lang="bg-BG" dirty="0"/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9A9698-9513-E21B-308B-051551D1A1EE}"/>
              </a:ext>
            </a:extLst>
          </p:cNvPr>
          <p:cNvSpPr txBox="1"/>
          <p:nvPr/>
        </p:nvSpPr>
        <p:spPr>
          <a:xfrm>
            <a:off x="2707286" y="3786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0C1DD2-F9F8-AEE4-E204-1F460B592C0F}"/>
              </a:ext>
            </a:extLst>
          </p:cNvPr>
          <p:cNvSpPr txBox="1"/>
          <p:nvPr/>
        </p:nvSpPr>
        <p:spPr>
          <a:xfrm>
            <a:off x="5379598" y="16359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443308-C6F7-D1E5-ED1A-4332E14B781E}"/>
              </a:ext>
            </a:extLst>
          </p:cNvPr>
          <p:cNvSpPr txBox="1"/>
          <p:nvPr/>
        </p:nvSpPr>
        <p:spPr>
          <a:xfrm>
            <a:off x="5365171" y="2445028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>
                <a:solidFill>
                  <a:srgbClr val="FF0000"/>
                </a:solidFill>
              </a:rPr>
              <a:t>–</a:t>
            </a:r>
            <a:r>
              <a:rPr lang="bg-BG" dirty="0"/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4D6DF2-B355-F341-A69B-213FD4CC5A18}"/>
              </a:ext>
            </a:extLst>
          </p:cNvPr>
          <p:cNvSpPr txBox="1"/>
          <p:nvPr/>
        </p:nvSpPr>
        <p:spPr>
          <a:xfrm>
            <a:off x="3447563" y="365215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>
                <a:solidFill>
                  <a:srgbClr val="FF0000"/>
                </a:solidFill>
              </a:rPr>
              <a:t>–</a:t>
            </a:r>
            <a:r>
              <a:rPr lang="bg-BG" dirty="0"/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86A144-A3FB-0B43-6761-AC5BA936A155}"/>
              </a:ext>
            </a:extLst>
          </p:cNvPr>
          <p:cNvSpPr txBox="1"/>
          <p:nvPr/>
        </p:nvSpPr>
        <p:spPr>
          <a:xfrm>
            <a:off x="6057150" y="2050548"/>
            <a:ext cx="4936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Закон на Кирхоф за токовете</a:t>
            </a:r>
          </a:p>
          <a:p>
            <a:r>
              <a:rPr lang="bg-BG" dirty="0"/>
              <a:t>Алгебричната сума на всички токове в даден възел е равна на нула.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7B5A850-19CB-B64E-7A20-C69559122693}"/>
                  </a:ext>
                </a:extLst>
              </p:cNvPr>
              <p:cNvSpPr txBox="1"/>
              <p:nvPr/>
            </p:nvSpPr>
            <p:spPr>
              <a:xfrm>
                <a:off x="6108259" y="3005955"/>
                <a:ext cx="263903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bg-BG" dirty="0"/>
                  <a:t>Възел а:</a:t>
                </a:r>
                <a:r>
                  <a:rPr lang="en-US" dirty="0"/>
                  <a:t> </a:t>
                </a:r>
                <a:r>
                  <a:rPr lang="bg-B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r>
                  <a:rPr lang="bg-BG" b="0" dirty="0"/>
                  <a:t>Възел </a:t>
                </a:r>
                <a:r>
                  <a:rPr lang="en-US" b="0" dirty="0"/>
                  <a:t>b: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bg-BG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bg-BG" dirty="0"/>
                  <a:t>Възел </a:t>
                </a:r>
                <a:r>
                  <a:rPr lang="en-US" dirty="0"/>
                  <a:t>c: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bg-BG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7B5A850-19CB-B64E-7A20-C69559122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259" y="3005955"/>
                <a:ext cx="2639039" cy="923330"/>
              </a:xfrm>
              <a:prstGeom prst="rect">
                <a:avLst/>
              </a:prstGeom>
              <a:blipFill>
                <a:blip r:embed="rId10"/>
                <a:stretch>
                  <a:fillRect l="-1848" t="-2632" b="-986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>
            <a:extLst>
              <a:ext uri="{FF2B5EF4-FFF2-40B4-BE49-F238E27FC236}">
                <a16:creationId xmlns:a16="http://schemas.microsoft.com/office/drawing/2014/main" id="{7D5DF2BF-918A-E1B6-F3CB-E1965409FFED}"/>
              </a:ext>
            </a:extLst>
          </p:cNvPr>
          <p:cNvSpPr/>
          <p:nvPr/>
        </p:nvSpPr>
        <p:spPr>
          <a:xfrm>
            <a:off x="4552300" y="1256735"/>
            <a:ext cx="216024" cy="2160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7236494-ABDF-20D5-4920-92D166F80608}"/>
              </a:ext>
            </a:extLst>
          </p:cNvPr>
          <p:cNvSpPr/>
          <p:nvPr/>
        </p:nvSpPr>
        <p:spPr>
          <a:xfrm>
            <a:off x="3130674" y="3131406"/>
            <a:ext cx="216024" cy="2160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581AC0-072A-6358-A67E-5C2219C1E461}"/>
              </a:ext>
            </a:extLst>
          </p:cNvPr>
          <p:cNvSpPr/>
          <p:nvPr/>
        </p:nvSpPr>
        <p:spPr>
          <a:xfrm>
            <a:off x="1743988" y="1268760"/>
            <a:ext cx="216024" cy="2160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FE4CF2-1CFD-7184-A89B-4DB8C47EDD69}"/>
              </a:ext>
            </a:extLst>
          </p:cNvPr>
          <p:cNvSpPr txBox="1"/>
          <p:nvPr/>
        </p:nvSpPr>
        <p:spPr>
          <a:xfrm>
            <a:off x="1489793" y="9621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а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6343F3D-BAA3-F99D-374F-7820231C2992}"/>
              </a:ext>
            </a:extLst>
          </p:cNvPr>
          <p:cNvSpPr txBox="1"/>
          <p:nvPr/>
        </p:nvSpPr>
        <p:spPr>
          <a:xfrm>
            <a:off x="3085439" y="33363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bg-BG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B9DBBD-54FC-4530-A9CE-F08B47AF04CE}"/>
              </a:ext>
            </a:extLst>
          </p:cNvPr>
          <p:cNvSpPr txBox="1"/>
          <p:nvPr/>
        </p:nvSpPr>
        <p:spPr>
          <a:xfrm>
            <a:off x="4706227" y="94191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393934D-4BB1-3D95-E553-7FE8061DBC6D}"/>
                  </a:ext>
                </a:extLst>
              </p:cNvPr>
              <p:cNvSpPr txBox="1"/>
              <p:nvPr/>
            </p:nvSpPr>
            <p:spPr>
              <a:xfrm>
                <a:off x="8463998" y="3245224"/>
                <a:ext cx="22775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393934D-4BB1-3D95-E553-7FE8061DB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998" y="3245224"/>
                <a:ext cx="227756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0F2ACB0-3D77-E71D-DF69-CF62C0EB5D00}"/>
                  </a:ext>
                </a:extLst>
              </p:cNvPr>
              <p:cNvSpPr txBox="1"/>
              <p:nvPr/>
            </p:nvSpPr>
            <p:spPr>
              <a:xfrm>
                <a:off x="2198224" y="2077972"/>
                <a:ext cx="7656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0F2ACB0-3D77-E71D-DF69-CF62C0EB5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224" y="2077972"/>
                <a:ext cx="76562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CDBA913-8733-635D-3DCF-B95537008601}"/>
                  </a:ext>
                </a:extLst>
              </p:cNvPr>
              <p:cNvSpPr txBox="1"/>
              <p:nvPr/>
            </p:nvSpPr>
            <p:spPr>
              <a:xfrm>
                <a:off x="2757082" y="1728845"/>
                <a:ext cx="9591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CDBA913-8733-635D-3DCF-B95537008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082" y="1728845"/>
                <a:ext cx="95911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AA7410F-F867-EA6A-6CEA-122F0C328042}"/>
                  </a:ext>
                </a:extLst>
              </p:cNvPr>
              <p:cNvSpPr txBox="1"/>
              <p:nvPr/>
            </p:nvSpPr>
            <p:spPr>
              <a:xfrm>
                <a:off x="3484744" y="2117316"/>
                <a:ext cx="11556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AA7410F-F867-EA6A-6CEA-122F0C328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744" y="2117316"/>
                <a:ext cx="115565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72A33E2-A442-7077-729A-499AE448A741}"/>
                  </a:ext>
                </a:extLst>
              </p:cNvPr>
              <p:cNvSpPr txBox="1"/>
              <p:nvPr/>
            </p:nvSpPr>
            <p:spPr>
              <a:xfrm>
                <a:off x="8075768" y="5021494"/>
                <a:ext cx="1343060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bg-BG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bg-B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72A33E2-A442-7077-729A-499AE448A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768" y="5021494"/>
                <a:ext cx="1343060" cy="5638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7A5B27FB-E660-E1EA-1516-F9908A5B12ED}"/>
              </a:ext>
            </a:extLst>
          </p:cNvPr>
          <p:cNvSpPr txBox="1"/>
          <p:nvPr/>
        </p:nvSpPr>
        <p:spPr>
          <a:xfrm>
            <a:off x="6091109" y="4335195"/>
            <a:ext cx="49361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Закон на</a:t>
            </a:r>
            <a:r>
              <a:rPr lang="en-US" dirty="0"/>
              <a:t> </a:t>
            </a:r>
            <a:r>
              <a:rPr lang="bg-BG" dirty="0"/>
              <a:t>Ом  - връзка между напрежението и тока в </a:t>
            </a:r>
            <a:r>
              <a:rPr lang="bg-BG" b="1" dirty="0"/>
              <a:t>един клон от схемата</a:t>
            </a:r>
            <a:r>
              <a:rPr lang="bg-BG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308706B-ABB6-7C5B-828B-3C2260366F11}"/>
              </a:ext>
            </a:extLst>
          </p:cNvPr>
          <p:cNvSpPr/>
          <p:nvPr/>
        </p:nvSpPr>
        <p:spPr>
          <a:xfrm>
            <a:off x="6023992" y="259398"/>
            <a:ext cx="5895905" cy="1522721"/>
          </a:xfrm>
          <a:prstGeom prst="rect">
            <a:avLst/>
          </a:prstGeom>
          <a:noFill/>
          <a:ln>
            <a:solidFill>
              <a:srgbClr val="0038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C82E450-032B-EAC5-103E-B586284780BE}"/>
              </a:ext>
            </a:extLst>
          </p:cNvPr>
          <p:cNvSpPr/>
          <p:nvPr/>
        </p:nvSpPr>
        <p:spPr>
          <a:xfrm>
            <a:off x="6028218" y="1986187"/>
            <a:ext cx="5895905" cy="2018877"/>
          </a:xfrm>
          <a:prstGeom prst="rect">
            <a:avLst/>
          </a:prstGeom>
          <a:noFill/>
          <a:ln>
            <a:solidFill>
              <a:srgbClr val="0038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C38CC05-1FFA-57BF-9D39-0915902CA9A5}"/>
              </a:ext>
            </a:extLst>
          </p:cNvPr>
          <p:cNvSpPr/>
          <p:nvPr/>
        </p:nvSpPr>
        <p:spPr>
          <a:xfrm>
            <a:off x="6023991" y="4238345"/>
            <a:ext cx="5895905" cy="1522721"/>
          </a:xfrm>
          <a:prstGeom prst="rect">
            <a:avLst/>
          </a:prstGeom>
          <a:noFill/>
          <a:ln>
            <a:solidFill>
              <a:srgbClr val="0038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8728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0" y="0"/>
            <a:ext cx="9144000" cy="72114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Прагов модел на диод</a:t>
            </a:r>
            <a:endParaRPr lang="en-US" sz="2400" dirty="0">
              <a:solidFill>
                <a:schemeClr val="tx1"/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2260501" y="26195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" name="AutoShape 13"/>
          <p:cNvSpPr>
            <a:spLocks noChangeAspect="1" noChangeArrowheads="1"/>
          </p:cNvSpPr>
          <p:nvPr/>
        </p:nvSpPr>
        <p:spPr bwMode="auto">
          <a:xfrm>
            <a:off x="2457351" y="3678195"/>
            <a:ext cx="7183438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Rectangle 46"/>
          <p:cNvSpPr>
            <a:spLocks noChangeArrowheads="1"/>
          </p:cNvSpPr>
          <p:nvPr/>
        </p:nvSpPr>
        <p:spPr bwMode="auto">
          <a:xfrm>
            <a:off x="2260501" y="258148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7" name="Picture 26" descr="Shape, polygon&#10;&#10;Description automatically generated">
            <a:extLst>
              <a:ext uri="{FF2B5EF4-FFF2-40B4-BE49-F238E27FC236}">
                <a16:creationId xmlns:a16="http://schemas.microsoft.com/office/drawing/2014/main" id="{A5DC021B-5E5C-6389-C80C-F02F5FE8C8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816" y="1196752"/>
            <a:ext cx="2392685" cy="2380493"/>
          </a:xfrm>
          <a:prstGeom prst="rect">
            <a:avLst/>
          </a:prstGeom>
        </p:spPr>
      </p:pic>
      <p:pic>
        <p:nvPicPr>
          <p:cNvPr id="30" name="Picture 29" descr="Chart, shape&#10;&#10;Description automatically generated">
            <a:extLst>
              <a:ext uri="{FF2B5EF4-FFF2-40B4-BE49-F238E27FC236}">
                <a16:creationId xmlns:a16="http://schemas.microsoft.com/office/drawing/2014/main" id="{2EBB9A79-339C-5420-8BD1-F704FB8DD5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168" y="1172535"/>
            <a:ext cx="2392685" cy="2380493"/>
          </a:xfrm>
          <a:prstGeom prst="rect">
            <a:avLst/>
          </a:prstGeom>
        </p:spPr>
      </p:pic>
      <p:sp>
        <p:nvSpPr>
          <p:cNvPr id="31" name="Text Box 219">
            <a:extLst>
              <a:ext uri="{FF2B5EF4-FFF2-40B4-BE49-F238E27FC236}">
                <a16:creationId xmlns:a16="http://schemas.microsoft.com/office/drawing/2014/main" id="{4808FA30-6E09-5F4D-7542-6867F7E7B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2632" y="919007"/>
            <a:ext cx="1863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Прагов модел</a:t>
            </a:r>
            <a:endParaRPr lang="en-US" sz="1800" i="0" dirty="0"/>
          </a:p>
        </p:txBody>
      </p:sp>
      <p:pic>
        <p:nvPicPr>
          <p:cNvPr id="36" name="Picture 35" descr="Shape&#10;&#10;Description automatically generated">
            <a:extLst>
              <a:ext uri="{FF2B5EF4-FFF2-40B4-BE49-F238E27FC236}">
                <a16:creationId xmlns:a16="http://schemas.microsoft.com/office/drawing/2014/main" id="{CC1BE809-69C3-82B0-389B-3CE15AC36A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796" y="3584687"/>
            <a:ext cx="2523749" cy="2380493"/>
          </a:xfrm>
          <a:prstGeom prst="rect">
            <a:avLst/>
          </a:prstGeom>
        </p:spPr>
      </p:pic>
      <p:pic>
        <p:nvPicPr>
          <p:cNvPr id="38" name="Picture 37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063AA046-F168-8262-65D3-AFDC4C8A71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3622074"/>
            <a:ext cx="2523749" cy="2380493"/>
          </a:xfrm>
          <a:prstGeom prst="rect">
            <a:avLst/>
          </a:prstGeom>
        </p:spPr>
      </p:pic>
      <p:sp>
        <p:nvSpPr>
          <p:cNvPr id="5" name="Text Box 219">
            <a:extLst>
              <a:ext uri="{FF2B5EF4-FFF2-40B4-BE49-F238E27FC236}">
                <a16:creationId xmlns:a16="http://schemas.microsoft.com/office/drawing/2014/main" id="{21AA5FCD-C8B6-EA3D-BC86-A44875CD9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1979" y="919007"/>
            <a:ext cx="18637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Реален диод</a:t>
            </a:r>
            <a:endParaRPr lang="en-US" sz="1800" i="0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A4D283F6-B4E4-07D5-7415-9D915476A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93" y="1534014"/>
            <a:ext cx="2638793" cy="1543265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1B90BCE1-9D42-8C03-24E7-7AEF7BF452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763" y="4268199"/>
            <a:ext cx="2639492" cy="139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24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51320" y="2432070"/>
            <a:ext cx="792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12V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368" y="836713"/>
            <a:ext cx="11593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Като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използвате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прагов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модел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диод с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Uo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=0.7V,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определете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токовете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падовете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напрежение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разсейваните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мощности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върху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резистора и диода в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схемата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400" dirty="0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761BD45A-E49C-95B4-FC70-52A53A9696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1390659"/>
            <a:ext cx="2638793" cy="15432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69E121-71F6-B01D-39DE-978C54D51ACE}"/>
              </a:ext>
            </a:extLst>
          </p:cNvPr>
          <p:cNvSpPr txBox="1"/>
          <p:nvPr/>
        </p:nvSpPr>
        <p:spPr>
          <a:xfrm>
            <a:off x="3164519" y="2936327"/>
            <a:ext cx="11945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U1</a:t>
            </a:r>
            <a:r>
              <a:rPr lang="en-US" sz="1400" dirty="0"/>
              <a:t> = 1</a:t>
            </a:r>
            <a:r>
              <a:rPr lang="bg-BG" sz="1400" dirty="0"/>
              <a:t>0</a:t>
            </a:r>
            <a:r>
              <a:rPr lang="en-US" sz="1400" dirty="0"/>
              <a:t>V</a:t>
            </a:r>
          </a:p>
          <a:p>
            <a:r>
              <a:rPr lang="en-US" sz="1400" i="1" dirty="0"/>
              <a:t>R1</a:t>
            </a:r>
            <a:r>
              <a:rPr lang="en-US" sz="1400" dirty="0"/>
              <a:t> = 1kOhm</a:t>
            </a:r>
            <a:endParaRPr lang="bg-BG" sz="1400" dirty="0"/>
          </a:p>
          <a:p>
            <a:r>
              <a:rPr lang="en-US" sz="1400" i="1" dirty="0" err="1"/>
              <a:t>Uo</a:t>
            </a:r>
            <a:r>
              <a:rPr lang="en-US" sz="1400" dirty="0"/>
              <a:t> = 0,7V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BEAD20-CA0E-84AB-992D-D25838966FC6}"/>
              </a:ext>
            </a:extLst>
          </p:cNvPr>
          <p:cNvSpPr txBox="1"/>
          <p:nvPr/>
        </p:nvSpPr>
        <p:spPr>
          <a:xfrm>
            <a:off x="378829" y="4028915"/>
            <a:ext cx="1061371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400" dirty="0"/>
              <a:t>1) Източникът на напрежение U1, диодът D1 и резисторът R1 са свързани последователно =&gt; през тях тече еднакъв ток I.</a:t>
            </a:r>
          </a:p>
          <a:p>
            <a:r>
              <a:rPr lang="bg-BG" sz="1400" dirty="0"/>
              <a:t>2) Диодът е включен в права посока и U1 &gt; </a:t>
            </a:r>
            <a:r>
              <a:rPr lang="bg-BG" sz="1400" dirty="0" err="1"/>
              <a:t>Uо</a:t>
            </a:r>
            <a:r>
              <a:rPr lang="bg-BG" sz="1400" dirty="0"/>
              <a:t> =&gt; диодът е "отпушен" и пропуска ток.</a:t>
            </a:r>
          </a:p>
          <a:p>
            <a:r>
              <a:rPr lang="bg-BG" sz="1400" dirty="0"/>
              <a:t>3) От законът на </a:t>
            </a:r>
            <a:r>
              <a:rPr lang="bg-BG" sz="1400" dirty="0" err="1"/>
              <a:t>Кирхоф</a:t>
            </a:r>
            <a:r>
              <a:rPr lang="bg-BG" sz="1400" dirty="0"/>
              <a:t> за напреженията =&gt; U1 = </a:t>
            </a:r>
            <a:r>
              <a:rPr lang="bg-BG" sz="1400" dirty="0" err="1"/>
              <a:t>Ur</a:t>
            </a:r>
            <a:r>
              <a:rPr lang="bg-BG" sz="1400" dirty="0"/>
              <a:t> + </a:t>
            </a:r>
            <a:r>
              <a:rPr lang="bg-BG" sz="1400" dirty="0" err="1"/>
              <a:t>Ud</a:t>
            </a:r>
            <a:r>
              <a:rPr lang="bg-BG" sz="1400" dirty="0"/>
              <a:t>; </a:t>
            </a:r>
            <a:r>
              <a:rPr lang="bg-BG" sz="1400" dirty="0" err="1"/>
              <a:t>Ur</a:t>
            </a:r>
            <a:r>
              <a:rPr lang="bg-BG" sz="1400" dirty="0"/>
              <a:t> = U1 - </a:t>
            </a:r>
            <a:r>
              <a:rPr lang="bg-BG" sz="1400" dirty="0" err="1"/>
              <a:t>Ud</a:t>
            </a:r>
            <a:r>
              <a:rPr lang="bg-BG" sz="1400" dirty="0"/>
              <a:t> = 10V</a:t>
            </a:r>
            <a:r>
              <a:rPr lang="en-US" sz="1400" dirty="0"/>
              <a:t> </a:t>
            </a:r>
            <a:r>
              <a:rPr lang="bg-BG" sz="1400" dirty="0"/>
              <a:t>-</a:t>
            </a:r>
            <a:r>
              <a:rPr lang="en-US" sz="1400" dirty="0"/>
              <a:t> </a:t>
            </a:r>
            <a:r>
              <a:rPr lang="bg-BG" sz="1400" dirty="0"/>
              <a:t>0.7V</a:t>
            </a:r>
            <a:r>
              <a:rPr lang="en-US" sz="1400" dirty="0"/>
              <a:t> </a:t>
            </a:r>
            <a:r>
              <a:rPr lang="bg-BG" sz="1400" dirty="0"/>
              <a:t>=</a:t>
            </a:r>
            <a:r>
              <a:rPr lang="en-US" sz="1400" dirty="0"/>
              <a:t> </a:t>
            </a:r>
            <a:r>
              <a:rPr lang="bg-BG" sz="1400" dirty="0"/>
              <a:t>9,3V</a:t>
            </a:r>
          </a:p>
          <a:p>
            <a:r>
              <a:rPr lang="bg-BG" sz="1400" dirty="0"/>
              <a:t>4) От законът на Ом =&gt; </a:t>
            </a:r>
            <a:r>
              <a:rPr lang="bg-BG" sz="1400" b="1" dirty="0"/>
              <a:t>I = </a:t>
            </a:r>
            <a:r>
              <a:rPr lang="bg-BG" sz="1400" b="1" dirty="0" err="1"/>
              <a:t>Ur</a:t>
            </a:r>
            <a:r>
              <a:rPr lang="bg-BG" sz="1400" b="1" dirty="0"/>
              <a:t> / R1 </a:t>
            </a:r>
            <a:r>
              <a:rPr lang="bg-BG" sz="1400" dirty="0"/>
              <a:t>= 9,3V / 1kOhm = 9,3mA</a:t>
            </a:r>
          </a:p>
          <a:p>
            <a:r>
              <a:rPr lang="bg-BG" sz="1400" dirty="0"/>
              <a:t>5) Мощността, разсейвана върху резистора е </a:t>
            </a:r>
            <a:r>
              <a:rPr lang="bg-BG" sz="1400" dirty="0" err="1"/>
              <a:t>Pr</a:t>
            </a:r>
            <a:r>
              <a:rPr lang="bg-BG" sz="1400" dirty="0"/>
              <a:t> = </a:t>
            </a:r>
            <a:r>
              <a:rPr lang="bg-BG" sz="1400" dirty="0" err="1"/>
              <a:t>Ur</a:t>
            </a:r>
            <a:r>
              <a:rPr lang="bg-BG" sz="1400" dirty="0"/>
              <a:t> . I = 9,3V . 9,3mA = 86</a:t>
            </a:r>
            <a:r>
              <a:rPr lang="en-US" sz="1400" dirty="0"/>
              <a:t>,</a:t>
            </a:r>
            <a:r>
              <a:rPr lang="bg-BG" sz="1400" dirty="0"/>
              <a:t>5mW</a:t>
            </a:r>
          </a:p>
          <a:p>
            <a:r>
              <a:rPr lang="bg-BG" sz="1400" dirty="0"/>
              <a:t>6) Мощността, разсейвана върху диода е </a:t>
            </a:r>
            <a:r>
              <a:rPr lang="bg-BG" sz="1400" dirty="0" err="1"/>
              <a:t>Pd</a:t>
            </a:r>
            <a:r>
              <a:rPr lang="bg-BG" sz="1400" dirty="0"/>
              <a:t> = </a:t>
            </a:r>
            <a:r>
              <a:rPr lang="bg-BG" sz="1400" dirty="0" err="1"/>
              <a:t>Ud</a:t>
            </a:r>
            <a:r>
              <a:rPr lang="bg-BG" sz="1400" dirty="0"/>
              <a:t> . I = 0,7V . 9,3mA = 6,5mW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B9843E4-1088-DB88-42D1-2CFEE1369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35478"/>
              </p:ext>
            </p:extLst>
          </p:nvPr>
        </p:nvGraphicFramePr>
        <p:xfrm>
          <a:off x="7536160" y="5579327"/>
          <a:ext cx="2962275" cy="883920"/>
        </p:xfrm>
        <a:graphic>
          <a:graphicData uri="http://schemas.openxmlformats.org/drawingml/2006/table">
            <a:tbl>
              <a:tblPr/>
              <a:tblGrid>
                <a:gridCol w="933450">
                  <a:extLst>
                    <a:ext uri="{9D8B030D-6E8A-4147-A177-3AD203B41FA5}">
                      <a16:colId xmlns:a16="http://schemas.microsoft.com/office/drawing/2014/main" val="30845489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87666397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106629723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763463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g-BG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Елемент</a:t>
                      </a:r>
                      <a:endParaRPr lang="bg-BG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32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D1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0,7V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9,3mA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6,5mW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157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R1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9,3V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9,3mA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86,5mW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757161"/>
                  </a:ext>
                </a:extLst>
              </a:tr>
            </a:tbl>
          </a:graphicData>
        </a:graphic>
      </p:graphicFrame>
      <p:sp>
        <p:nvSpPr>
          <p:cNvPr id="31" name="Rectangle 1">
            <a:extLst>
              <a:ext uri="{FF2B5EF4-FFF2-40B4-BE49-F238E27FC236}">
                <a16:creationId xmlns:a16="http://schemas.microsoft.com/office/drawing/2014/main" id="{693771C6-0EF8-482E-C744-CAA25F490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3" y="35591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29FF71-C838-1C6D-2F80-54F540E58C92}"/>
              </a:ext>
            </a:extLst>
          </p:cNvPr>
          <p:cNvSpPr/>
          <p:nvPr/>
        </p:nvSpPr>
        <p:spPr>
          <a:xfrm>
            <a:off x="9120336" y="5413910"/>
            <a:ext cx="576064" cy="1183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13FA94-DE4D-E67A-5B05-5E4777719FF9}"/>
              </a:ext>
            </a:extLst>
          </p:cNvPr>
          <p:cNvSpPr/>
          <p:nvPr/>
        </p:nvSpPr>
        <p:spPr>
          <a:xfrm>
            <a:off x="8472264" y="5429566"/>
            <a:ext cx="576064" cy="1183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E40840-2B0B-8ACE-1105-C10C3EF9A88E}"/>
              </a:ext>
            </a:extLst>
          </p:cNvPr>
          <p:cNvSpPr txBox="1"/>
          <p:nvPr/>
        </p:nvSpPr>
        <p:spPr>
          <a:xfrm>
            <a:off x="8523643" y="5044578"/>
            <a:ext cx="1172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проверки</a:t>
            </a:r>
          </a:p>
        </p:txBody>
      </p:sp>
      <p:pic>
        <p:nvPicPr>
          <p:cNvPr id="2" name="Picture 1" descr="Chart, shape&#10;&#10;Description automatically generated">
            <a:extLst>
              <a:ext uri="{FF2B5EF4-FFF2-40B4-BE49-F238E27FC236}">
                <a16:creationId xmlns:a16="http://schemas.microsoft.com/office/drawing/2014/main" id="{C6A1F88F-C79B-4476-D3DF-6A153AA93F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936" y="1586776"/>
            <a:ext cx="2392685" cy="23804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F1C12B-8CFB-F6C1-30F3-16CB6DACA5AA}"/>
              </a:ext>
            </a:extLst>
          </p:cNvPr>
          <p:cNvSpPr txBox="1"/>
          <p:nvPr/>
        </p:nvSpPr>
        <p:spPr>
          <a:xfrm>
            <a:off x="1153165" y="5880457"/>
            <a:ext cx="3395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dirty="0"/>
              <a:t>Чест допускана </a:t>
            </a:r>
            <a:r>
              <a:rPr lang="bg-BG" sz="1600" dirty="0">
                <a:solidFill>
                  <a:srgbClr val="FF0000"/>
                </a:solidFill>
              </a:rPr>
              <a:t>грешка</a:t>
            </a:r>
            <a:r>
              <a:rPr lang="bg-BG" sz="1600" dirty="0"/>
              <a:t>: </a:t>
            </a:r>
            <a:r>
              <a:rPr lang="en-US" sz="1600" dirty="0"/>
              <a:t>I = U1/R1</a:t>
            </a:r>
            <a:endParaRPr lang="bg-BG" sz="16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107C44-AE3C-FD57-FC78-FD96580C98E8}"/>
              </a:ext>
            </a:extLst>
          </p:cNvPr>
          <p:cNvCxnSpPr>
            <a:cxnSpLocks/>
          </p:cNvCxnSpPr>
          <p:nvPr/>
        </p:nvCxnSpPr>
        <p:spPr>
          <a:xfrm>
            <a:off x="3348206" y="5746466"/>
            <a:ext cx="1055815" cy="6134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64FBC3-8CE9-C914-3540-34649B0512D0}"/>
              </a:ext>
            </a:extLst>
          </p:cNvPr>
          <p:cNvCxnSpPr>
            <a:cxnSpLocks/>
          </p:cNvCxnSpPr>
          <p:nvPr/>
        </p:nvCxnSpPr>
        <p:spPr>
          <a:xfrm flipV="1">
            <a:off x="3418930" y="5696772"/>
            <a:ext cx="914369" cy="663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658BBD-7476-0A35-C2E4-2F019111CE80}"/>
              </a:ext>
            </a:extLst>
          </p:cNvPr>
          <p:cNvCxnSpPr>
            <a:cxnSpLocks/>
          </p:cNvCxnSpPr>
          <p:nvPr/>
        </p:nvCxnSpPr>
        <p:spPr>
          <a:xfrm>
            <a:off x="3322292" y="2060848"/>
            <a:ext cx="757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F7FBDA-3946-B35A-AD5D-31A81FF2336C}"/>
              </a:ext>
            </a:extLst>
          </p:cNvPr>
          <p:cNvCxnSpPr>
            <a:cxnSpLocks/>
          </p:cNvCxnSpPr>
          <p:nvPr/>
        </p:nvCxnSpPr>
        <p:spPr>
          <a:xfrm flipH="1">
            <a:off x="3305009" y="2698178"/>
            <a:ext cx="774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B83B22-3B3A-AA29-E5D4-173E4F1A0751}"/>
              </a:ext>
            </a:extLst>
          </p:cNvPr>
          <p:cNvCxnSpPr/>
          <p:nvPr/>
        </p:nvCxnSpPr>
        <p:spPr>
          <a:xfrm>
            <a:off x="4079776" y="2060848"/>
            <a:ext cx="0" cy="629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2E409E8-8B54-69ED-4713-D3CAD10F9312}"/>
              </a:ext>
            </a:extLst>
          </p:cNvPr>
          <p:cNvCxnSpPr>
            <a:cxnSpLocks/>
          </p:cNvCxnSpPr>
          <p:nvPr/>
        </p:nvCxnSpPr>
        <p:spPr>
          <a:xfrm flipV="1">
            <a:off x="3305009" y="2060848"/>
            <a:ext cx="0" cy="643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1DD107E-BED3-C399-CA49-7DFAB3BFB38B}"/>
              </a:ext>
            </a:extLst>
          </p:cNvPr>
          <p:cNvSpPr txBox="1"/>
          <p:nvPr/>
        </p:nvSpPr>
        <p:spPr>
          <a:xfrm>
            <a:off x="3557185" y="2019500"/>
            <a:ext cx="1045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E1C8BF7-9117-FCC7-26DA-576A7A2C638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72114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anose="020B0606020202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Задача</a:t>
            </a:r>
            <a:endParaRPr lang="en-US" sz="2400" dirty="0">
              <a:solidFill>
                <a:schemeClr val="tx1"/>
              </a:solidFill>
              <a:latin typeface="Arial Narrow" panose="020B0606020202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61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B11C99-D9E5-4B3B-89BF-39CB5EBEA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1" y="1418567"/>
            <a:ext cx="7173326" cy="3096057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16542F-8142-3E1E-5776-9647D87E99CE}"/>
              </a:ext>
            </a:extLst>
          </p:cNvPr>
          <p:cNvSpPr txBox="1"/>
          <p:nvPr/>
        </p:nvSpPr>
        <p:spPr>
          <a:xfrm>
            <a:off x="335360" y="4791783"/>
            <a:ext cx="108270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400" dirty="0"/>
              <a:t>1) Източникът на напрежение U1, диодът D1 и резисторът R1 са свързани последователно =&gt; през тях тече еднакъв ток I.</a:t>
            </a:r>
          </a:p>
          <a:p>
            <a:r>
              <a:rPr lang="bg-BG" sz="1400" dirty="0"/>
              <a:t>2) Диодът е включен в обратна посока =&gt; диодът не пропуска ток =&gt; I = 0.</a:t>
            </a:r>
          </a:p>
          <a:p>
            <a:r>
              <a:rPr lang="bg-BG" sz="1400" dirty="0"/>
              <a:t>3) От законът на Ом =&gt; </a:t>
            </a:r>
            <a:r>
              <a:rPr lang="bg-BG" sz="1400" dirty="0" err="1"/>
              <a:t>Ur</a:t>
            </a:r>
            <a:r>
              <a:rPr lang="bg-BG" sz="1400" dirty="0"/>
              <a:t> = I . R1 = 0 . 100 </a:t>
            </a:r>
            <a:r>
              <a:rPr lang="bg-BG" sz="1400" dirty="0" err="1"/>
              <a:t>Ohm</a:t>
            </a:r>
            <a:r>
              <a:rPr lang="bg-BG" sz="1400" dirty="0"/>
              <a:t> = 0</a:t>
            </a:r>
          </a:p>
          <a:p>
            <a:r>
              <a:rPr lang="bg-BG" sz="1400" dirty="0"/>
              <a:t>4) От законът на </a:t>
            </a:r>
            <a:r>
              <a:rPr lang="bg-BG" sz="1400" dirty="0" err="1"/>
              <a:t>Кирхоф</a:t>
            </a:r>
            <a:r>
              <a:rPr lang="bg-BG" sz="1400" dirty="0"/>
              <a:t> за напреженията =&gt; U1 = </a:t>
            </a:r>
            <a:r>
              <a:rPr lang="bg-BG" sz="1400" dirty="0" err="1"/>
              <a:t>Ur</a:t>
            </a:r>
            <a:r>
              <a:rPr lang="bg-BG" sz="1400" dirty="0"/>
              <a:t> + </a:t>
            </a:r>
            <a:r>
              <a:rPr lang="bg-BG" sz="1400" dirty="0" err="1"/>
              <a:t>Ud</a:t>
            </a:r>
            <a:r>
              <a:rPr lang="bg-BG" sz="1400" dirty="0"/>
              <a:t>; </a:t>
            </a:r>
            <a:r>
              <a:rPr lang="bg-BG" sz="1400" dirty="0" err="1"/>
              <a:t>Ud</a:t>
            </a:r>
            <a:r>
              <a:rPr lang="bg-BG" sz="1400" dirty="0"/>
              <a:t> = U1 - </a:t>
            </a:r>
            <a:r>
              <a:rPr lang="bg-BG" sz="1400" dirty="0" err="1"/>
              <a:t>Ur</a:t>
            </a:r>
            <a:r>
              <a:rPr lang="bg-BG" sz="1400" dirty="0"/>
              <a:t> = 10V - 0 = 10V</a:t>
            </a:r>
          </a:p>
        </p:txBody>
      </p:sp>
      <p:pic>
        <p:nvPicPr>
          <p:cNvPr id="2" name="Picture 1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961DD21F-EAE7-F0FF-7E70-FCB0C317D7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1404159"/>
            <a:ext cx="2523749" cy="2380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4AF39-AD13-0300-6E59-8A4BF0EAB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232" y="5311198"/>
            <a:ext cx="3423034" cy="12993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AD70A27-D740-ECF8-02AE-1331AC28101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72114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anose="020B0606020202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Задача</a:t>
            </a:r>
            <a:endParaRPr lang="en-US" sz="2400" dirty="0">
              <a:solidFill>
                <a:schemeClr val="tx1"/>
              </a:solidFill>
              <a:latin typeface="Arial Narrow" panose="020B0606020202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223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AE0FD1-11F3-4C9C-ABBD-91607E08E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01" y="1097392"/>
            <a:ext cx="6658904" cy="5210902"/>
          </a:xfrm>
          <a:prstGeom prst="rect">
            <a:avLst/>
          </a:prstGeom>
          <a:ln>
            <a:solidFill>
              <a:srgbClr val="0038A8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478329E-368F-486D-A24F-08F56709FFE3}"/>
              </a:ext>
            </a:extLst>
          </p:cNvPr>
          <p:cNvSpPr/>
          <p:nvPr/>
        </p:nvSpPr>
        <p:spPr>
          <a:xfrm>
            <a:off x="335360" y="5373216"/>
            <a:ext cx="79208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hart, shape&#10;&#10;Description automatically generated">
            <a:extLst>
              <a:ext uri="{FF2B5EF4-FFF2-40B4-BE49-F238E27FC236}">
                <a16:creationId xmlns:a16="http://schemas.microsoft.com/office/drawing/2014/main" id="{62BACDAE-A87D-7248-3BBA-3D251DCC8C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216" y="2132856"/>
            <a:ext cx="2392685" cy="2380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AC1CAB-5A1E-EDB6-86A4-514B45AC6F14}"/>
              </a:ext>
            </a:extLst>
          </p:cNvPr>
          <p:cNvSpPr txBox="1"/>
          <p:nvPr/>
        </p:nvSpPr>
        <p:spPr>
          <a:xfrm>
            <a:off x="7004310" y="5003884"/>
            <a:ext cx="4464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За силициев диод с </a:t>
            </a:r>
            <a:r>
              <a:rPr lang="en-US" dirty="0"/>
              <a:t>PN</a:t>
            </a:r>
          </a:p>
          <a:p>
            <a:r>
              <a:rPr lang="en-US" dirty="0"/>
              <a:t> </a:t>
            </a:r>
            <a:r>
              <a:rPr lang="bg-BG" dirty="0"/>
              <a:t>преход, </a:t>
            </a:r>
            <a:r>
              <a:rPr lang="en-US" dirty="0" err="1"/>
              <a:t>Uo</a:t>
            </a:r>
            <a:r>
              <a:rPr lang="en-US" dirty="0"/>
              <a:t>=0.7V</a:t>
            </a:r>
            <a:endParaRPr lang="bg-B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847A6-825B-47A7-BCE2-719C9A1B03E1}"/>
              </a:ext>
            </a:extLst>
          </p:cNvPr>
          <p:cNvSpPr txBox="1"/>
          <p:nvPr/>
        </p:nvSpPr>
        <p:spPr>
          <a:xfrm>
            <a:off x="7004310" y="1116711"/>
            <a:ext cx="47803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800" dirty="0"/>
              <a:t>Диодът е включен в права посока и U1 &gt; Uо =&gt; диодът е "отпушен" и пропуска ток.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4E4AEF2-784E-0A2B-7A99-DADE131E4EB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72114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anose="020B0606020202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Задача</a:t>
            </a:r>
            <a:endParaRPr lang="en-US" sz="2400" dirty="0">
              <a:solidFill>
                <a:schemeClr val="tx1"/>
              </a:solidFill>
              <a:latin typeface="Arial Narrow" panose="020B0606020202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100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5FDC07-85A0-41D5-9350-0A3DF35B6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05" y="1412776"/>
            <a:ext cx="6687483" cy="4744112"/>
          </a:xfrm>
          <a:prstGeom prst="rect">
            <a:avLst/>
          </a:prstGeom>
          <a:ln>
            <a:solidFill>
              <a:srgbClr val="0038A8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1262A4D-32B3-493C-B919-5094834C4863}"/>
              </a:ext>
            </a:extLst>
          </p:cNvPr>
          <p:cNvSpPr/>
          <p:nvPr/>
        </p:nvSpPr>
        <p:spPr>
          <a:xfrm>
            <a:off x="288360" y="5578557"/>
            <a:ext cx="1224136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DEBEA4D0-5EEE-32EB-C904-28A8052D75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208" y="2842253"/>
            <a:ext cx="2523749" cy="2380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E2CCD6-2A8D-4330-6BA4-2946309BD1E8}"/>
              </a:ext>
            </a:extLst>
          </p:cNvPr>
          <p:cNvSpPr txBox="1"/>
          <p:nvPr/>
        </p:nvSpPr>
        <p:spPr>
          <a:xfrm>
            <a:off x="7032104" y="1412776"/>
            <a:ext cx="60486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800" dirty="0"/>
              <a:t>Диодът е включен в обратна посока 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bg-BG" sz="1800" dirty="0"/>
              <a:t>диодът е запушен</a:t>
            </a:r>
            <a:r>
              <a:rPr lang="en-US" sz="1800" dirty="0"/>
              <a:t> </a:t>
            </a:r>
            <a:r>
              <a:rPr lang="bg-BG" sz="1800" dirty="0"/>
              <a:t>и не пропуска ток 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bg-BG" sz="1800" dirty="0"/>
              <a:t>I = 0</a:t>
            </a:r>
          </a:p>
          <a:p>
            <a:endParaRPr lang="en-US" sz="1800" dirty="0"/>
          </a:p>
          <a:p>
            <a:r>
              <a:rPr lang="en-US" sz="1800" dirty="0"/>
              <a:t>  </a:t>
            </a:r>
            <a:r>
              <a:rPr lang="bg-BG" dirty="0"/>
              <a:t>Съгласно законът на Ом: </a:t>
            </a:r>
            <a:r>
              <a:rPr lang="en-US" sz="1800" dirty="0"/>
              <a:t>Ur = I</a:t>
            </a:r>
            <a:r>
              <a:rPr lang="bg-BG" sz="1800" dirty="0"/>
              <a:t> </a:t>
            </a:r>
            <a:r>
              <a:rPr lang="en-US" sz="1800" dirty="0"/>
              <a:t>R = 0V</a:t>
            </a:r>
            <a:endParaRPr lang="bg-BG" sz="18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405C49A-2917-4496-2F83-0A9BB6DC6D0A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72114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anose="020B0606020202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Задача</a:t>
            </a:r>
            <a:endParaRPr lang="en-US" sz="2400" dirty="0">
              <a:solidFill>
                <a:schemeClr val="tx1"/>
              </a:solidFill>
              <a:latin typeface="Arial Narrow" panose="020B0606020202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070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3575</TotalTime>
  <Words>1507</Words>
  <Application>Microsoft Office PowerPoint</Application>
  <PresentationFormat>Widescreen</PresentationFormat>
  <Paragraphs>188</Paragraphs>
  <Slides>22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Narrow</vt:lpstr>
      <vt:lpstr>Calibri</vt:lpstr>
      <vt:lpstr>Calibri Light</vt:lpstr>
      <vt:lpstr>Cambria Math</vt:lpstr>
      <vt:lpstr>Symbol</vt:lpstr>
      <vt:lpstr>Times New Roman</vt:lpstr>
      <vt:lpstr>Office Theme</vt:lpstr>
      <vt:lpstr>Equation</vt:lpstr>
      <vt:lpstr>PowerPoint Presentation</vt:lpstr>
      <vt:lpstr>PowerPoint Presentation</vt:lpstr>
      <vt:lpstr>Волт-Амперна характеристика на диод</vt:lpstr>
      <vt:lpstr>PowerPoint Presentation</vt:lpstr>
      <vt:lpstr>PowerPoint Presentation</vt:lpstr>
      <vt:lpstr>PowerPoint Presentation</vt:lpstr>
      <vt:lpstr>Влияние на температурата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Задачи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ТУ-София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</dc:title>
  <dc:creator>ПРОЕКТ BG051PO001--4.3.04-0042</dc:creator>
  <cp:lastModifiedBy>Vassiliy Tchoumatchenko</cp:lastModifiedBy>
  <cp:revision>217</cp:revision>
  <dcterms:created xsi:type="dcterms:W3CDTF">2013-03-19T07:28:34Z</dcterms:created>
  <dcterms:modified xsi:type="dcterms:W3CDTF">2025-10-21T05:57:12Z</dcterms:modified>
</cp:coreProperties>
</file>