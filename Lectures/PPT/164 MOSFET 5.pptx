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340" r:id="rId2"/>
    <p:sldId id="345" r:id="rId3"/>
    <p:sldId id="402" r:id="rId4"/>
    <p:sldId id="413" r:id="rId5"/>
    <p:sldId id="415" r:id="rId6"/>
    <p:sldId id="411" r:id="rId7"/>
    <p:sldId id="295" r:id="rId8"/>
    <p:sldId id="334" r:id="rId9"/>
    <p:sldId id="375" r:id="rId10"/>
    <p:sldId id="393" r:id="rId11"/>
    <p:sldId id="416" r:id="rId12"/>
    <p:sldId id="417" r:id="rId13"/>
  </p:sldIdLst>
  <p:sldSz cx="12192000" cy="6858000"/>
  <p:notesSz cx="6858000" cy="9144000"/>
  <p:defaultTextStyle>
    <a:defPPr>
      <a:defRPr lang="bg-B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988" autoAdjust="0"/>
    <p:restoredTop sz="83632" autoAdjust="0"/>
  </p:normalViewPr>
  <p:slideViewPr>
    <p:cSldViewPr snapToGrid="0">
      <p:cViewPr>
        <p:scale>
          <a:sx n="125" d="100"/>
          <a:sy n="125" d="100"/>
        </p:scale>
        <p:origin x="473" y="33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9724AB-2C2F-4935-B67B-5A68DF43EAFA}" type="datetimeFigureOut">
              <a:rPr lang="bg-BG" smtClean="0"/>
              <a:t>1.12.2025 г.</a:t>
            </a:fld>
            <a:endParaRPr lang="bg-B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bg-B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29544D-D715-40D7-BC31-F8A346D97C74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8251367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29544D-D715-40D7-BC31-F8A346D97C74}" type="slidenum">
              <a:rPr lang="bg-BG" smtClean="0"/>
              <a:t>2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1086846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0702B6B-561A-4A8F-9B90-C1F5C818EDE3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28930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0702B6B-561A-4A8F-9B90-C1F5C818EDE3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99094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860B2A-CCAF-FBB9-F81A-0B2787CC45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FDE746-17F8-7D78-474D-2AC004D223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0357F9-F6A8-8CB2-04A0-4B538F15BD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40648D-6ACF-000D-79E4-5E97619EA9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0702B6B-561A-4A8F-9B90-C1F5C818EDE3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90874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8370D8-D164-0A7C-68F3-F8B37FFE21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052221-EE0E-4284-138B-0301447AA3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725716-E477-2B92-BA43-61F15C9482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05C060-380B-C9C0-7816-C5E8902DCA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0702B6B-561A-4A8F-9B90-C1F5C818EDE3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99766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1F9599-7FFB-A5CD-F5A0-4B14D9EA2A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bg-B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4944AC-E81C-DE01-E4DE-72466CBF7D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bg-B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C57B20-B467-57F5-9F67-152A323D57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5FB64-19E4-4EC1-9AA3-76686029FE44}" type="datetimeFigureOut">
              <a:rPr lang="bg-BG" smtClean="0"/>
              <a:t>1.12.2025 г.</a:t>
            </a:fld>
            <a:endParaRPr lang="bg-B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7094D2-25B1-2A7B-9327-8599CF6C3C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56DF86-F233-C32F-F538-5F94BBC93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861DE-F4EC-4562-8E30-41C286D1D3C4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8914197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6E186-F073-1F09-54A5-6643FC244E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bg-B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2FAB8C-0862-1891-8AFA-38E2CEF06A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7D224B-9AC9-7C18-2E81-D7509F9E09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5FB64-19E4-4EC1-9AA3-76686029FE44}" type="datetimeFigureOut">
              <a:rPr lang="bg-BG" smtClean="0"/>
              <a:t>1.12.2025 г.</a:t>
            </a:fld>
            <a:endParaRPr lang="bg-B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4D9A89-2168-B50A-CAC0-A33F91793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C2A00E-38FD-55AE-D4D7-70DE8DB413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861DE-F4EC-4562-8E30-41C286D1D3C4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4740062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8C591C-1B96-3004-D104-25000ADC3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bg-B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8591C5-8C15-4A83-B39E-B227FD6D4D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C21969-BA5B-1AF9-052F-40F78C7BF7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5FB64-19E4-4EC1-9AA3-76686029FE44}" type="datetimeFigureOut">
              <a:rPr lang="bg-BG" smtClean="0"/>
              <a:t>1.12.2025 г.</a:t>
            </a:fld>
            <a:endParaRPr lang="bg-B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59936E-E58D-EB0F-2A4C-429A8E144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D9D855-50F8-FE97-8787-1F443A83AC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861DE-F4EC-4562-8E30-41C286D1D3C4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9336228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C65E9A-ECC2-8B14-64E7-C6E115992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bg-B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852DCB-936E-A8FB-3A7D-45C55C510D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317A36-52A1-7E75-07EE-12699A23AF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F286D2-8508-F054-30AF-18E5C61C9A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5FB64-19E4-4EC1-9AA3-76686029FE44}" type="datetimeFigureOut">
              <a:rPr lang="bg-BG" smtClean="0"/>
              <a:t>1.12.2025 г.</a:t>
            </a:fld>
            <a:endParaRPr lang="bg-B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051910-1D25-0F6F-E2C0-C4F261E638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7182CD-4198-FA54-4C49-CFB64BD78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861DE-F4EC-4562-8E30-41C286D1D3C4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4853732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03CC3-1242-3126-9493-34BA7F54EA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bg-B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4917A5-8E8D-5075-E81E-30AF1B90E5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3E8040-E8CD-4ED8-F307-B8F87DCE32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484509-F3E9-CC25-D786-33A92A1243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8C10748-0178-E873-EFF0-CE21974AB6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5D1CBD4-1041-6E34-7CDC-BCFFC0FD96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5FB64-19E4-4EC1-9AA3-76686029FE44}" type="datetimeFigureOut">
              <a:rPr lang="bg-BG" smtClean="0"/>
              <a:t>1.12.2025 г.</a:t>
            </a:fld>
            <a:endParaRPr lang="bg-B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43C420-F425-355F-CF8E-3F2BA26D14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B555219-48B2-2357-F0F1-E4B1C113A9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861DE-F4EC-4562-8E30-41C286D1D3C4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9951666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252A36-0CC2-35CD-A339-1FA1B6EA5E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bg-B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91DCC87-BCFD-F4A2-B7A8-ACC2EDF35D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5FB64-19E4-4EC1-9AA3-76686029FE44}" type="datetimeFigureOut">
              <a:rPr lang="bg-BG" smtClean="0"/>
              <a:t>1.12.2025 г.</a:t>
            </a:fld>
            <a:endParaRPr lang="bg-B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7FCDA2-B92F-DE75-434E-688A454F57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A5E2D3-1B2A-8626-ED16-CC0A1ED8F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861DE-F4EC-4562-8E30-41C286D1D3C4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6361767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074CC47-1386-DE7B-75E4-F58FEF3B07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5FB64-19E4-4EC1-9AA3-76686029FE44}" type="datetimeFigureOut">
              <a:rPr lang="bg-BG" smtClean="0"/>
              <a:t>1.12.2025 г.</a:t>
            </a:fld>
            <a:endParaRPr lang="bg-B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CE0560C-6146-8D2E-08C6-5765D08C47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A8EF57-8134-795A-1E19-C64BC0C60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861DE-F4EC-4562-8E30-41C286D1D3C4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0264696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A58096-1102-A25E-32B1-B01622848C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bg-B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A53F3C-E02E-9870-26D7-76E7752F68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E901BD-08A3-2128-31F0-6D9E7A210B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F949FB-69C3-5AA3-6E1F-C9F52882A6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5FB64-19E4-4EC1-9AA3-76686029FE44}" type="datetimeFigureOut">
              <a:rPr lang="bg-BG" smtClean="0"/>
              <a:t>1.12.2025 г.</a:t>
            </a:fld>
            <a:endParaRPr lang="bg-B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6ECD44-CD55-E343-8E47-3572168DD7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3E4E46-D0D4-7B70-BFA1-5C74AD503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861DE-F4EC-4562-8E30-41C286D1D3C4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6943408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7F118-1134-A79D-B065-6C8E30CA17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bg-B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DBBB2FD-7F7E-007F-D4C4-3BFF78F916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bg-B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482957-A807-30F6-F7D4-9D6FD0A626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57903C-4621-D169-4D26-EC0B09D5EB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5FB64-19E4-4EC1-9AA3-76686029FE44}" type="datetimeFigureOut">
              <a:rPr lang="bg-BG" smtClean="0"/>
              <a:t>1.12.2025 г.</a:t>
            </a:fld>
            <a:endParaRPr lang="bg-B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9531F8-5F64-52B1-2D5D-F622CE79C2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A08BDB-094C-56CA-8089-F68CD5B3B4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861DE-F4EC-4562-8E30-41C286D1D3C4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8448947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ACDA17-D5CC-781B-2E0B-A74E7B64C2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bg-B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B14EB5-9F27-FE98-04A5-54237AE926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0CD1D7-AACB-FCA4-EFA9-A60984C8E0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5FB64-19E4-4EC1-9AA3-76686029FE44}" type="datetimeFigureOut">
              <a:rPr lang="bg-BG" smtClean="0"/>
              <a:t>1.12.2025 г.</a:t>
            </a:fld>
            <a:endParaRPr lang="bg-B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F5F7C8-5DA2-09DF-DA42-302C035B4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202C54-F5EF-62E5-28E1-082554B38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861DE-F4EC-4562-8E30-41C286D1D3C4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9535193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6EA93D6-85C1-89A3-4486-9B9376B727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bg-B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B3E985-E40F-C71E-C8EA-E8F2A0EDF0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D3872F-C295-04D7-86CF-463884713D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5FB64-19E4-4EC1-9AA3-76686029FE44}" type="datetimeFigureOut">
              <a:rPr lang="bg-BG" smtClean="0"/>
              <a:t>1.12.2025 г.</a:t>
            </a:fld>
            <a:endParaRPr lang="bg-B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1E456C-10FE-0060-63E1-632AA2A100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9FEC20-6A53-22A7-BC04-C1B09AC70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861DE-F4EC-4562-8E30-41C286D1D3C4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6913889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4981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DC0663B-A1F4-B046-3D7D-37C8563A4A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bg-B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6E7252-316D-9AD5-007E-7EEC2D4EF9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8D6571-82CF-FD0C-641E-F171E706C5F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85FB64-19E4-4EC1-9AA3-76686029FE44}" type="datetimeFigureOut">
              <a:rPr lang="bg-BG" smtClean="0"/>
              <a:t>1.12.2025 г.</a:t>
            </a:fld>
            <a:endParaRPr lang="bg-B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F82626-FDDF-2080-1BB8-7113BFF98B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bg-B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807C58-44CB-09DA-C2C1-6265C52276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A861DE-F4EC-4562-8E30-41C286D1D3C4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42046406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bg-BG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6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34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38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4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Rectangle 2"/>
          <p:cNvSpPr/>
          <p:nvPr/>
        </p:nvSpPr>
        <p:spPr>
          <a:xfrm>
            <a:off x="655454" y="5013000"/>
            <a:ext cx="9544425" cy="1079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b">
            <a:normAutofit fontScale="92500"/>
          </a:bodyPr>
          <a:lstStyle/>
          <a:p>
            <a:pPr>
              <a:lnSpc>
                <a:spcPct val="90000"/>
              </a:lnSpc>
              <a:spcAft>
                <a:spcPts val="601"/>
              </a:spcAft>
            </a:pPr>
            <a:r>
              <a:rPr lang="bg-BG" sz="3200" spc="-1" dirty="0">
                <a:solidFill>
                  <a:srgbClr val="0038A8"/>
                </a:solidFill>
                <a:latin typeface="+mj-lt"/>
              </a:rPr>
              <a:t>Полеви транзистор</a:t>
            </a:r>
          </a:p>
          <a:p>
            <a:pPr>
              <a:lnSpc>
                <a:spcPct val="90000"/>
              </a:lnSpc>
              <a:spcAft>
                <a:spcPts val="601"/>
              </a:spcAft>
            </a:pPr>
            <a:r>
              <a:rPr lang="en-US" sz="3200" spc="-1" dirty="0">
                <a:solidFill>
                  <a:srgbClr val="0038A8"/>
                </a:solidFill>
                <a:latin typeface="+mj-lt"/>
              </a:rPr>
              <a:t>MOSFET - metal-oxide-semiconductor field-effect transistor</a:t>
            </a:r>
            <a:endParaRPr lang="ru-RU" sz="3200" b="0" strike="noStrike" spc="-1" dirty="0">
              <a:solidFill>
                <a:srgbClr val="0038A8"/>
              </a:solidFill>
              <a:latin typeface="+mj-lt"/>
            </a:endParaRPr>
          </a:p>
        </p:txBody>
      </p:sp>
      <p:pic>
        <p:nvPicPr>
          <p:cNvPr id="115" name="Picture 4"/>
          <p:cNvPicPr/>
          <p:nvPr/>
        </p:nvPicPr>
        <p:blipFill>
          <a:blip r:embed="rId2"/>
          <a:stretch/>
        </p:blipFill>
        <p:spPr>
          <a:xfrm>
            <a:off x="551520" y="275760"/>
            <a:ext cx="904680" cy="91404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46DAF93-7A92-5F2A-FFD1-2DE3F39293E9}"/>
              </a:ext>
            </a:extLst>
          </p:cNvPr>
          <p:cNvSpPr txBox="1"/>
          <p:nvPr/>
        </p:nvSpPr>
        <p:spPr>
          <a:xfrm>
            <a:off x="234265" y="2865519"/>
            <a:ext cx="122166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bg-BG" sz="2400" dirty="0">
                <a:solidFill>
                  <a:srgbClr val="0038A8"/>
                </a:solidFill>
                <a:latin typeface="+mj-lt"/>
                <a:cs typeface="Arial" panose="020B0604020202020204" pitchFamily="34" charset="0"/>
              </a:rPr>
              <a:t>Тема: </a:t>
            </a:r>
            <a:r>
              <a:rPr lang="ru-RU" sz="2400" dirty="0">
                <a:solidFill>
                  <a:srgbClr val="0038A8"/>
                </a:solidFill>
                <a:latin typeface="+mj-lt"/>
                <a:cs typeface="Arial" panose="020B0604020202020204" pitchFamily="34" charset="0"/>
              </a:rPr>
              <a:t>MOSFET-и в действие – логически схеми</a:t>
            </a:r>
            <a:endParaRPr lang="bg-BG" sz="2400" dirty="0">
              <a:solidFill>
                <a:srgbClr val="0038A8"/>
              </a:solidFill>
              <a:latin typeface="+mj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65151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465117DD-55A4-EA2A-EC13-8E7418F24D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2616" y="3125328"/>
            <a:ext cx="8046592" cy="152013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23C0A88-98D1-5175-EFE0-3230C9B7DF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5214" y="4750527"/>
            <a:ext cx="7993994" cy="1366608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1F7507B0-B34D-33E8-86B2-A2B243C6B8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3465" y="2561129"/>
            <a:ext cx="2987953" cy="56419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96B9C6F-6CD5-4CE7-B6E7-CB8B944769BB}"/>
              </a:ext>
            </a:extLst>
          </p:cNvPr>
          <p:cNvSpPr txBox="1"/>
          <p:nvPr/>
        </p:nvSpPr>
        <p:spPr>
          <a:xfrm>
            <a:off x="531040" y="502150"/>
            <a:ext cx="1089086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/>
            <a:r>
              <a:rPr lang="ru-RU" sz="1800" dirty="0"/>
              <a:t>Основата на всеки съвременен компютърен чип е CMOS логиката, което е съкращение от </a:t>
            </a:r>
            <a:r>
              <a:rPr lang="de-DE" sz="1800" dirty="0" err="1"/>
              <a:t>Complementary</a:t>
            </a:r>
            <a:r>
              <a:rPr lang="de-DE" sz="1800" dirty="0"/>
              <a:t> </a:t>
            </a:r>
            <a:r>
              <a:rPr lang="de-DE" sz="1800" dirty="0" err="1"/>
              <a:t>Metal</a:t>
            </a:r>
            <a:r>
              <a:rPr lang="de-DE" sz="1800" dirty="0"/>
              <a:t>-Oxide-Semiconductor</a:t>
            </a:r>
            <a:endParaRPr lang="bg-BG" sz="1800" dirty="0"/>
          </a:p>
          <a:p>
            <a:pPr fontAlgn="base"/>
            <a:endParaRPr lang="ru-RU" sz="1800" dirty="0"/>
          </a:p>
          <a:p>
            <a:pPr fontAlgn="base"/>
            <a:r>
              <a:rPr lang="ru-RU" sz="1800" dirty="0"/>
              <a:t>„Комплиментарен“ означава, че използва два вида MOSFET елементи, работещи заедно като перфектна </a:t>
            </a:r>
            <a:r>
              <a:rPr lang="en-US" sz="1800" dirty="0"/>
              <a:t>push-pull</a:t>
            </a:r>
            <a:r>
              <a:rPr lang="ru-RU" sz="1800" dirty="0"/>
              <a:t> двойка: N-канален MOSFET и P-канален MOSFET.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4908CC-87FE-199E-3DF8-BBC95418EB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3" name="Rectangle 5">
            <a:extLst>
              <a:ext uri="{FF2B5EF4-FFF2-40B4-BE49-F238E27FC236}">
                <a16:creationId xmlns:a16="http://schemas.microsoft.com/office/drawing/2014/main" id="{3E70BDB3-9001-7563-D47F-90100956234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4023" y="101871"/>
            <a:ext cx="12043954" cy="463731"/>
          </a:xfrm>
        </p:spPr>
        <p:txBody>
          <a:bodyPr/>
          <a:lstStyle/>
          <a:p>
            <a:pPr algn="ctr"/>
            <a:r>
              <a:rPr lang="en-US" altLang="en-US" sz="2400" dirty="0">
                <a:solidFill>
                  <a:srgbClr val="0038A8"/>
                </a:solidFill>
              </a:rPr>
              <a:t>CMOS Inverter</a:t>
            </a:r>
          </a:p>
        </p:txBody>
      </p:sp>
      <p:sp>
        <p:nvSpPr>
          <p:cNvPr id="17414" name="Rectangle 6">
            <a:extLst>
              <a:ext uri="{FF2B5EF4-FFF2-40B4-BE49-F238E27FC236}">
                <a16:creationId xmlns:a16="http://schemas.microsoft.com/office/drawing/2014/main" id="{97BB1276-1941-DDA5-4DDD-BD3BBBEFD2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19575" y="4840288"/>
            <a:ext cx="0" cy="14287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7421" name="Rectangle 13">
            <a:extLst>
              <a:ext uri="{FF2B5EF4-FFF2-40B4-BE49-F238E27FC236}">
                <a16:creationId xmlns:a16="http://schemas.microsoft.com/office/drawing/2014/main" id="{627E276D-A755-E5A2-5BFF-B820A1462B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8575" y="3065463"/>
            <a:ext cx="0" cy="14287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7422" name="Rectangle 14">
            <a:extLst>
              <a:ext uri="{FF2B5EF4-FFF2-40B4-BE49-F238E27FC236}">
                <a16:creationId xmlns:a16="http://schemas.microsoft.com/office/drawing/2014/main" id="{69D7CC85-73C0-5D07-9D16-761F5DB5A8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4813" y="4962525"/>
            <a:ext cx="0" cy="1270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7428" name="Rectangle 22">
            <a:extLst>
              <a:ext uri="{FF2B5EF4-FFF2-40B4-BE49-F238E27FC236}">
                <a16:creationId xmlns:a16="http://schemas.microsoft.com/office/drawing/2014/main" id="{0358DE64-131B-6BC4-621D-BAD9E9769B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2250" y="2598738"/>
            <a:ext cx="0" cy="14287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7433" name="Rectangle 27">
            <a:extLst>
              <a:ext uri="{FF2B5EF4-FFF2-40B4-BE49-F238E27FC236}">
                <a16:creationId xmlns:a16="http://schemas.microsoft.com/office/drawing/2014/main" id="{7DF16AC3-9C44-B9E8-3C18-DA5F40367F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49700" y="2314575"/>
            <a:ext cx="0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 sz="1400" i="0">
              <a:solidFill>
                <a:srgbClr val="0000B6"/>
              </a:solidFill>
            </a:endParaRPr>
          </a:p>
        </p:txBody>
      </p:sp>
      <p:sp>
        <p:nvSpPr>
          <p:cNvPr id="17434" name="Rectangle 28">
            <a:extLst>
              <a:ext uri="{FF2B5EF4-FFF2-40B4-BE49-F238E27FC236}">
                <a16:creationId xmlns:a16="http://schemas.microsoft.com/office/drawing/2014/main" id="{BB3D3014-C044-B035-A43D-04643CE526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46538" y="2314575"/>
            <a:ext cx="0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 sz="1400" i="0">
              <a:solidFill>
                <a:srgbClr val="0000B6"/>
              </a:solidFill>
            </a:endParaRPr>
          </a:p>
        </p:txBody>
      </p:sp>
      <p:sp>
        <p:nvSpPr>
          <p:cNvPr id="17435" name="Rectangle 29">
            <a:extLst>
              <a:ext uri="{FF2B5EF4-FFF2-40B4-BE49-F238E27FC236}">
                <a16:creationId xmlns:a16="http://schemas.microsoft.com/office/drawing/2014/main" id="{4F37E7F2-EB6E-95DE-9B10-F69309181B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71950" y="2314575"/>
            <a:ext cx="0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 sz="1400" i="0">
              <a:solidFill>
                <a:srgbClr val="0000B6"/>
              </a:solidFill>
            </a:endParaRPr>
          </a:p>
        </p:txBody>
      </p:sp>
      <p:sp>
        <p:nvSpPr>
          <p:cNvPr id="17436" name="Rectangle 30">
            <a:extLst>
              <a:ext uri="{FF2B5EF4-FFF2-40B4-BE49-F238E27FC236}">
                <a16:creationId xmlns:a16="http://schemas.microsoft.com/office/drawing/2014/main" id="{005EB323-7931-D092-8B6C-24CFA7B129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70375" y="2314575"/>
            <a:ext cx="0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 sz="1400" i="0">
              <a:solidFill>
                <a:srgbClr val="0000B6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975049B-DDB5-CEA4-F8F8-8014D06304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9700" y="1397891"/>
            <a:ext cx="2626762" cy="305620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993029A-917B-F9DE-6F4A-18BDB31E16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6650" y="1366988"/>
            <a:ext cx="1998663" cy="91398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23BB119-B3CE-1E59-F922-D4F28B1564A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06870" y="4882447"/>
            <a:ext cx="2705478" cy="84784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E7FB1EB-8A14-289C-60B9-53F4394CD50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48128" y="1313490"/>
            <a:ext cx="3022962" cy="3140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97016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C1061C-A6D4-0CC5-DBD4-BEB2C76711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F0739106-25DC-738A-E7AF-0AD304A447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59688" y="1046163"/>
            <a:ext cx="1998662" cy="4797425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15AED431-9FA0-B3F7-05EF-80E44325BE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59688" y="1046163"/>
            <a:ext cx="1998662" cy="4797425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pic>
        <p:nvPicPr>
          <p:cNvPr id="17412" name="Picture 4">
            <a:extLst>
              <a:ext uri="{FF2B5EF4-FFF2-40B4-BE49-F238E27FC236}">
                <a16:creationId xmlns:a16="http://schemas.microsoft.com/office/drawing/2014/main" id="{116A8BC3-FD4A-CBC8-A794-2DD867EA38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58100" y="1046163"/>
            <a:ext cx="1998663" cy="4797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413" name="Rectangle 5">
            <a:extLst>
              <a:ext uri="{FF2B5EF4-FFF2-40B4-BE49-F238E27FC236}">
                <a16:creationId xmlns:a16="http://schemas.microsoft.com/office/drawing/2014/main" id="{FC3EFC27-0E3A-BE0B-DE21-AC7AC154CB3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" y="119063"/>
            <a:ext cx="11974283" cy="403225"/>
          </a:xfrm>
        </p:spPr>
        <p:txBody>
          <a:bodyPr>
            <a:normAutofit fontScale="90000"/>
          </a:bodyPr>
          <a:lstStyle/>
          <a:p>
            <a:pPr algn="ctr"/>
            <a:r>
              <a:rPr lang="en-US" altLang="en-US" sz="2400" dirty="0">
                <a:solidFill>
                  <a:srgbClr val="0038A8"/>
                </a:solidFill>
              </a:rPr>
              <a:t>CMOS Inverter</a:t>
            </a:r>
          </a:p>
        </p:txBody>
      </p:sp>
      <p:sp>
        <p:nvSpPr>
          <p:cNvPr id="17414" name="Rectangle 6">
            <a:extLst>
              <a:ext uri="{FF2B5EF4-FFF2-40B4-BE49-F238E27FC236}">
                <a16:creationId xmlns:a16="http://schemas.microsoft.com/office/drawing/2014/main" id="{D3DD1127-1E18-1CBE-40E5-B30AD554C7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19575" y="4840288"/>
            <a:ext cx="0" cy="14287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7415" name="Rectangle 7">
            <a:extLst>
              <a:ext uri="{FF2B5EF4-FFF2-40B4-BE49-F238E27FC236}">
                <a16:creationId xmlns:a16="http://schemas.microsoft.com/office/drawing/2014/main" id="{7DDA3611-0E79-301B-F740-1B690C3FFD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42163" y="4303713"/>
            <a:ext cx="0" cy="1270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7416" name="Rectangle 8">
            <a:extLst>
              <a:ext uri="{FF2B5EF4-FFF2-40B4-BE49-F238E27FC236}">
                <a16:creationId xmlns:a16="http://schemas.microsoft.com/office/drawing/2014/main" id="{8FEA130E-A6DE-B04A-FC23-0A40AD6121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88275" y="4303713"/>
            <a:ext cx="0" cy="1270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7417" name="Rectangle 9">
            <a:extLst>
              <a:ext uri="{FF2B5EF4-FFF2-40B4-BE49-F238E27FC236}">
                <a16:creationId xmlns:a16="http://schemas.microsoft.com/office/drawing/2014/main" id="{389BC098-5649-74F1-7F49-4B9135E03E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32775" y="3873500"/>
            <a:ext cx="14288" cy="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7418" name="Rectangle 10">
            <a:extLst>
              <a:ext uri="{FF2B5EF4-FFF2-40B4-BE49-F238E27FC236}">
                <a16:creationId xmlns:a16="http://schemas.microsoft.com/office/drawing/2014/main" id="{E8952CF8-B6BC-7CF6-1EC3-67E7A61C11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32775" y="3765550"/>
            <a:ext cx="14288" cy="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7419" name="Rectangle 11">
            <a:extLst>
              <a:ext uri="{FF2B5EF4-FFF2-40B4-BE49-F238E27FC236}">
                <a16:creationId xmlns:a16="http://schemas.microsoft.com/office/drawing/2014/main" id="{9D6DE89E-CDF7-2D18-C448-CA68A5D419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08988" y="3873500"/>
            <a:ext cx="12700" cy="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7420" name="Rectangle 12">
            <a:extLst>
              <a:ext uri="{FF2B5EF4-FFF2-40B4-BE49-F238E27FC236}">
                <a16:creationId xmlns:a16="http://schemas.microsoft.com/office/drawing/2014/main" id="{CAA19F41-37AD-D097-8AD0-E3ECF085F8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08988" y="3765550"/>
            <a:ext cx="12700" cy="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7421" name="Rectangle 13">
            <a:extLst>
              <a:ext uri="{FF2B5EF4-FFF2-40B4-BE49-F238E27FC236}">
                <a16:creationId xmlns:a16="http://schemas.microsoft.com/office/drawing/2014/main" id="{EC8959EF-A46B-46B1-F05A-30FF7418B8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8575" y="3065463"/>
            <a:ext cx="0" cy="14287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7422" name="Rectangle 14">
            <a:extLst>
              <a:ext uri="{FF2B5EF4-FFF2-40B4-BE49-F238E27FC236}">
                <a16:creationId xmlns:a16="http://schemas.microsoft.com/office/drawing/2014/main" id="{86114A6D-3BA2-6E83-2841-96CFA7423A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4813" y="4962525"/>
            <a:ext cx="0" cy="1270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7423" name="Rectangle 15">
            <a:extLst>
              <a:ext uri="{FF2B5EF4-FFF2-40B4-BE49-F238E27FC236}">
                <a16:creationId xmlns:a16="http://schemas.microsoft.com/office/drawing/2014/main" id="{72A2E7F7-0AF4-5BCF-48D2-37A021E66E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40513" y="4094163"/>
            <a:ext cx="827087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400" b="1" i="0">
                <a:solidFill>
                  <a:srgbClr val="000000"/>
                </a:solidFill>
                <a:latin typeface="Times New Roman" panose="02020603050405020304" pitchFamily="18" charset="0"/>
              </a:rPr>
              <a:t>Polysilicon</a:t>
            </a:r>
            <a:endParaRPr lang="en-US" altLang="en-US" sz="4400" i="0">
              <a:solidFill>
                <a:srgbClr val="0000B6"/>
              </a:solidFill>
              <a:latin typeface="Book Antiqua" panose="02040602050305030304" pitchFamily="18" charset="0"/>
            </a:endParaRPr>
          </a:p>
        </p:txBody>
      </p:sp>
      <p:sp>
        <p:nvSpPr>
          <p:cNvPr id="17424" name="Rectangle 16">
            <a:extLst>
              <a:ext uri="{FF2B5EF4-FFF2-40B4-BE49-F238E27FC236}">
                <a16:creationId xmlns:a16="http://schemas.microsoft.com/office/drawing/2014/main" id="{78A4FBD0-DE54-0523-792A-2261155877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45488" y="3636963"/>
            <a:ext cx="129844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400" b="1" dirty="0">
                <a:solidFill>
                  <a:srgbClr val="000000"/>
                </a:solidFill>
              </a:rPr>
              <a:t>A</a:t>
            </a:r>
            <a:endParaRPr lang="en-US" altLang="en-US" sz="1400" i="0" dirty="0">
              <a:solidFill>
                <a:srgbClr val="0000B6"/>
              </a:solidFill>
            </a:endParaRPr>
          </a:p>
        </p:txBody>
      </p:sp>
      <p:sp>
        <p:nvSpPr>
          <p:cNvPr id="17425" name="Rectangle 17">
            <a:extLst>
              <a:ext uri="{FF2B5EF4-FFF2-40B4-BE49-F238E27FC236}">
                <a16:creationId xmlns:a16="http://schemas.microsoft.com/office/drawing/2014/main" id="{14043E6B-4C1F-4D9C-F3A0-46135F7DFC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36088" y="3560763"/>
            <a:ext cx="120226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400" b="1" dirty="0">
                <a:solidFill>
                  <a:srgbClr val="000000"/>
                </a:solidFill>
              </a:rPr>
              <a:t>Y</a:t>
            </a:r>
            <a:endParaRPr lang="en-US" altLang="en-US" sz="1400" i="0" dirty="0">
              <a:solidFill>
                <a:srgbClr val="0000B6"/>
              </a:solidFill>
            </a:endParaRPr>
          </a:p>
        </p:txBody>
      </p:sp>
      <p:grpSp>
        <p:nvGrpSpPr>
          <p:cNvPr id="17426" name="Group 18">
            <a:extLst>
              <a:ext uri="{FF2B5EF4-FFF2-40B4-BE49-F238E27FC236}">
                <a16:creationId xmlns:a16="http://schemas.microsoft.com/office/drawing/2014/main" id="{44CCD87A-8D5D-B3E9-5EEB-AB976D7399FB}"/>
              </a:ext>
            </a:extLst>
          </p:cNvPr>
          <p:cNvGrpSpPr>
            <a:grpSpLocks/>
          </p:cNvGrpSpPr>
          <p:nvPr/>
        </p:nvGrpSpPr>
        <p:grpSpPr bwMode="auto">
          <a:xfrm>
            <a:off x="9336088" y="1274763"/>
            <a:ext cx="368300" cy="296862"/>
            <a:chOff x="3745" y="1296"/>
            <a:chExt cx="232" cy="187"/>
          </a:xfrm>
        </p:grpSpPr>
        <p:sp>
          <p:nvSpPr>
            <p:cNvPr id="17452" name="Rectangle 19">
              <a:extLst>
                <a:ext uri="{FF2B5EF4-FFF2-40B4-BE49-F238E27FC236}">
                  <a16:creationId xmlns:a16="http://schemas.microsoft.com/office/drawing/2014/main" id="{FD9847D1-3451-C839-1715-1289BC3903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5" y="1296"/>
              <a:ext cx="76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1400" b="1">
                  <a:solidFill>
                    <a:srgbClr val="000000"/>
                  </a:solidFill>
                </a:rPr>
                <a:t>V</a:t>
              </a:r>
              <a:endParaRPr lang="en-US" altLang="en-US" sz="1400" i="0">
                <a:solidFill>
                  <a:srgbClr val="0000B6"/>
                </a:solidFill>
              </a:endParaRPr>
            </a:p>
          </p:txBody>
        </p:sp>
        <p:sp>
          <p:nvSpPr>
            <p:cNvPr id="17453" name="Rectangle 20">
              <a:extLst>
                <a:ext uri="{FF2B5EF4-FFF2-40B4-BE49-F238E27FC236}">
                  <a16:creationId xmlns:a16="http://schemas.microsoft.com/office/drawing/2014/main" id="{715ED114-F70A-E3AE-B832-DE651E80DD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3" y="1347"/>
              <a:ext cx="164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1400" b="1">
                  <a:solidFill>
                    <a:srgbClr val="000000"/>
                  </a:solidFill>
                </a:rPr>
                <a:t>DD</a:t>
              </a:r>
              <a:endParaRPr lang="en-US" altLang="en-US" sz="1400" i="0">
                <a:solidFill>
                  <a:srgbClr val="0000B6"/>
                </a:solidFill>
              </a:endParaRPr>
            </a:p>
          </p:txBody>
        </p:sp>
      </p:grpSp>
      <p:sp>
        <p:nvSpPr>
          <p:cNvPr id="17427" name="Rectangle 21">
            <a:extLst>
              <a:ext uri="{FF2B5EF4-FFF2-40B4-BE49-F238E27FC236}">
                <a16:creationId xmlns:a16="http://schemas.microsoft.com/office/drawing/2014/main" id="{BDAE26DA-CE54-C813-39D4-5CD1C292AF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36088" y="5465763"/>
            <a:ext cx="398462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400" b="1">
                <a:solidFill>
                  <a:srgbClr val="000000"/>
                </a:solidFill>
              </a:rPr>
              <a:t>GND</a:t>
            </a:r>
            <a:endParaRPr lang="en-US" altLang="en-US" sz="1400" i="0">
              <a:solidFill>
                <a:srgbClr val="0000B6"/>
              </a:solidFill>
            </a:endParaRPr>
          </a:p>
        </p:txBody>
      </p:sp>
      <p:sp>
        <p:nvSpPr>
          <p:cNvPr id="17428" name="Rectangle 22">
            <a:extLst>
              <a:ext uri="{FF2B5EF4-FFF2-40B4-BE49-F238E27FC236}">
                <a16:creationId xmlns:a16="http://schemas.microsoft.com/office/drawing/2014/main" id="{A1C8EF12-A83C-29F6-4E2D-545A34901F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2250" y="2598738"/>
            <a:ext cx="0" cy="14287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7429" name="Rectangle 23">
            <a:extLst>
              <a:ext uri="{FF2B5EF4-FFF2-40B4-BE49-F238E27FC236}">
                <a16:creationId xmlns:a16="http://schemas.microsoft.com/office/drawing/2014/main" id="{5598DAA2-4858-D5DB-E900-AB6DC788F9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78663" y="1817688"/>
            <a:ext cx="528637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400" b="1" i="0">
                <a:solidFill>
                  <a:srgbClr val="000000"/>
                </a:solidFill>
              </a:rPr>
              <a:t>PMOS</a:t>
            </a:r>
            <a:endParaRPr lang="en-US" altLang="en-US" sz="1400" i="0">
              <a:solidFill>
                <a:srgbClr val="0000B6"/>
              </a:solidFill>
            </a:endParaRPr>
          </a:p>
        </p:txBody>
      </p:sp>
      <p:sp>
        <p:nvSpPr>
          <p:cNvPr id="17430" name="Rectangle 24">
            <a:extLst>
              <a:ext uri="{FF2B5EF4-FFF2-40B4-BE49-F238E27FC236}">
                <a16:creationId xmlns:a16="http://schemas.microsoft.com/office/drawing/2014/main" id="{C301ABFF-AF9E-5AAD-C91B-79DF9825E8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07288" y="2028825"/>
            <a:ext cx="838200" cy="26988"/>
          </a:xfrm>
          <a:prstGeom prst="rect">
            <a:avLst/>
          </a:pr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7431" name="Rectangle 25">
            <a:extLst>
              <a:ext uri="{FF2B5EF4-FFF2-40B4-BE49-F238E27FC236}">
                <a16:creationId xmlns:a16="http://schemas.microsoft.com/office/drawing/2014/main" id="{1FE44F40-E642-9B3C-F409-1D11CE0309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16913" y="2043113"/>
            <a:ext cx="28575" cy="209550"/>
          </a:xfrm>
          <a:prstGeom prst="rect">
            <a:avLst/>
          </a:pr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7432" name="Rectangle 26">
            <a:extLst>
              <a:ext uri="{FF2B5EF4-FFF2-40B4-BE49-F238E27FC236}">
                <a16:creationId xmlns:a16="http://schemas.microsoft.com/office/drawing/2014/main" id="{F43B1E7F-4087-74A5-F51B-92E04C1762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94588" y="2222500"/>
            <a:ext cx="836612" cy="30163"/>
          </a:xfrm>
          <a:prstGeom prst="rect">
            <a:avLst/>
          </a:pr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7433" name="Rectangle 27">
            <a:extLst>
              <a:ext uri="{FF2B5EF4-FFF2-40B4-BE49-F238E27FC236}">
                <a16:creationId xmlns:a16="http://schemas.microsoft.com/office/drawing/2014/main" id="{0FE69A79-DC39-4675-D94A-051FA6414B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49700" y="2314575"/>
            <a:ext cx="0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 sz="1400" i="0">
              <a:solidFill>
                <a:srgbClr val="0000B6"/>
              </a:solidFill>
            </a:endParaRPr>
          </a:p>
        </p:txBody>
      </p:sp>
      <p:sp>
        <p:nvSpPr>
          <p:cNvPr id="17434" name="Rectangle 28">
            <a:extLst>
              <a:ext uri="{FF2B5EF4-FFF2-40B4-BE49-F238E27FC236}">
                <a16:creationId xmlns:a16="http://schemas.microsoft.com/office/drawing/2014/main" id="{77A014EA-0AB1-CBC3-E395-FABC78ABC4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46538" y="2314575"/>
            <a:ext cx="0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 sz="1400" i="0">
              <a:solidFill>
                <a:srgbClr val="0000B6"/>
              </a:solidFill>
            </a:endParaRPr>
          </a:p>
        </p:txBody>
      </p:sp>
      <p:sp>
        <p:nvSpPr>
          <p:cNvPr id="17435" name="Rectangle 29">
            <a:extLst>
              <a:ext uri="{FF2B5EF4-FFF2-40B4-BE49-F238E27FC236}">
                <a16:creationId xmlns:a16="http://schemas.microsoft.com/office/drawing/2014/main" id="{39B5631C-49EF-BAF9-7DA1-C05BA5E8E0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71950" y="2314575"/>
            <a:ext cx="0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 sz="1400" i="0">
              <a:solidFill>
                <a:srgbClr val="0000B6"/>
              </a:solidFill>
            </a:endParaRPr>
          </a:p>
        </p:txBody>
      </p:sp>
      <p:sp>
        <p:nvSpPr>
          <p:cNvPr id="17436" name="Rectangle 30">
            <a:extLst>
              <a:ext uri="{FF2B5EF4-FFF2-40B4-BE49-F238E27FC236}">
                <a16:creationId xmlns:a16="http://schemas.microsoft.com/office/drawing/2014/main" id="{45AAA0D1-3A57-2ED2-7E1A-212FD3347A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70375" y="2314575"/>
            <a:ext cx="0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 sz="1400" i="0">
              <a:solidFill>
                <a:srgbClr val="0000B6"/>
              </a:solidFill>
            </a:endParaRPr>
          </a:p>
        </p:txBody>
      </p:sp>
      <p:sp>
        <p:nvSpPr>
          <p:cNvPr id="17437" name="Rectangle 31">
            <a:extLst>
              <a:ext uri="{FF2B5EF4-FFF2-40B4-BE49-F238E27FC236}">
                <a16:creationId xmlns:a16="http://schemas.microsoft.com/office/drawing/2014/main" id="{E2F7B71F-E6A4-16A4-F29A-80CCF8C841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44138" y="2187575"/>
            <a:ext cx="176212" cy="1270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7438" name="Rectangle 32">
            <a:extLst>
              <a:ext uri="{FF2B5EF4-FFF2-40B4-BE49-F238E27FC236}">
                <a16:creationId xmlns:a16="http://schemas.microsoft.com/office/drawing/2014/main" id="{51F1E171-443F-1D8B-FDBC-0DCF3F6284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44138" y="2133600"/>
            <a:ext cx="14287" cy="10795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7439" name="Rectangle 33">
            <a:extLst>
              <a:ext uri="{FF2B5EF4-FFF2-40B4-BE49-F238E27FC236}">
                <a16:creationId xmlns:a16="http://schemas.microsoft.com/office/drawing/2014/main" id="{9D6A34C9-C6D9-CB43-0650-6A78AA2045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20350" y="2133600"/>
            <a:ext cx="12700" cy="10795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7440" name="Rectangle 34">
            <a:extLst>
              <a:ext uri="{FF2B5EF4-FFF2-40B4-BE49-F238E27FC236}">
                <a16:creationId xmlns:a16="http://schemas.microsoft.com/office/drawing/2014/main" id="{098E574A-DBA0-C65F-AE0E-558E2EE2CF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44138" y="1905000"/>
            <a:ext cx="198437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400" b="1" i="0">
                <a:solidFill>
                  <a:srgbClr val="000000"/>
                </a:solidFill>
              </a:rPr>
              <a:t>2</a:t>
            </a:r>
            <a:r>
              <a:rPr lang="en-US" altLang="en-US" sz="1400" b="1" i="0">
                <a:solidFill>
                  <a:srgbClr val="000000"/>
                </a:solidFill>
                <a:latin typeface="Symbol" panose="05050102010706020507" pitchFamily="18" charset="2"/>
              </a:rPr>
              <a:t>l</a:t>
            </a:r>
            <a:endParaRPr lang="en-US" altLang="en-US" sz="1400" i="0">
              <a:solidFill>
                <a:srgbClr val="0000B6"/>
              </a:solidFill>
            </a:endParaRPr>
          </a:p>
        </p:txBody>
      </p:sp>
      <p:sp>
        <p:nvSpPr>
          <p:cNvPr id="17441" name="Text Box 35">
            <a:extLst>
              <a:ext uri="{FF2B5EF4-FFF2-40B4-BE49-F238E27FC236}">
                <a16:creationId xmlns:a16="http://schemas.microsoft.com/office/drawing/2014/main" id="{3A63B9B7-5E05-43FD-8BE2-5F48D7DB33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44013" y="3724275"/>
            <a:ext cx="7620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400" b="1" i="0">
                <a:latin typeface="Times New Roman" panose="02020603050405020304" pitchFamily="18" charset="0"/>
              </a:rPr>
              <a:t>Metal 1</a:t>
            </a:r>
          </a:p>
        </p:txBody>
      </p:sp>
      <p:sp>
        <p:nvSpPr>
          <p:cNvPr id="17442" name="Rectangle 36">
            <a:extLst>
              <a:ext uri="{FF2B5EF4-FFF2-40B4-BE49-F238E27FC236}">
                <a16:creationId xmlns:a16="http://schemas.microsoft.com/office/drawing/2014/main" id="{886A4F93-0BC9-E309-2061-E3F3915055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1063" y="5160963"/>
            <a:ext cx="538162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400" b="1" i="0">
                <a:solidFill>
                  <a:srgbClr val="000000"/>
                </a:solidFill>
              </a:rPr>
              <a:t>NMOS</a:t>
            </a:r>
            <a:endParaRPr lang="en-US" altLang="en-US" sz="1400" i="0">
              <a:solidFill>
                <a:srgbClr val="0000B6"/>
              </a:solidFill>
            </a:endParaRPr>
          </a:p>
        </p:txBody>
      </p:sp>
      <p:sp>
        <p:nvSpPr>
          <p:cNvPr id="17443" name="Rectangle 37">
            <a:extLst>
              <a:ext uri="{FF2B5EF4-FFF2-40B4-BE49-F238E27FC236}">
                <a16:creationId xmlns:a16="http://schemas.microsoft.com/office/drawing/2014/main" id="{4C48F3FC-FCB9-FA78-79BD-1CF3AD8169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93150" y="4365625"/>
            <a:ext cx="152400" cy="990600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7444" name="Line 38">
            <a:extLst>
              <a:ext uri="{FF2B5EF4-FFF2-40B4-BE49-F238E27FC236}">
                <a16:creationId xmlns:a16="http://schemas.microsoft.com/office/drawing/2014/main" id="{26E3263B-4281-715C-9C28-B670342691E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778750" y="4870450"/>
            <a:ext cx="812800" cy="4794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45" name="Line 39">
            <a:extLst>
              <a:ext uri="{FF2B5EF4-FFF2-40B4-BE49-F238E27FC236}">
                <a16:creationId xmlns:a16="http://schemas.microsoft.com/office/drawing/2014/main" id="{4513DF56-5A84-9341-6051-D6AFF345BEC8}"/>
              </a:ext>
            </a:extLst>
          </p:cNvPr>
          <p:cNvSpPr>
            <a:spLocks noChangeShapeType="1"/>
          </p:cNvSpPr>
          <p:nvPr/>
        </p:nvSpPr>
        <p:spPr bwMode="auto">
          <a:xfrm>
            <a:off x="7612063" y="2017713"/>
            <a:ext cx="1095375" cy="5238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46" name="Line 40">
            <a:extLst>
              <a:ext uri="{FF2B5EF4-FFF2-40B4-BE49-F238E27FC236}">
                <a16:creationId xmlns:a16="http://schemas.microsoft.com/office/drawing/2014/main" id="{ADDAC6AC-44AC-FE74-D7FB-64817EAEB61C}"/>
              </a:ext>
            </a:extLst>
          </p:cNvPr>
          <p:cNvSpPr>
            <a:spLocks noChangeShapeType="1"/>
          </p:cNvSpPr>
          <p:nvPr/>
        </p:nvSpPr>
        <p:spPr bwMode="auto">
          <a:xfrm>
            <a:off x="7564438" y="4160838"/>
            <a:ext cx="11334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48" name="Rectangle 42">
            <a:extLst>
              <a:ext uri="{FF2B5EF4-FFF2-40B4-BE49-F238E27FC236}">
                <a16:creationId xmlns:a16="http://schemas.microsoft.com/office/drawing/2014/main" id="{0ED2D59E-34CF-E34C-DBC3-43C7CBA580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37713" y="2635250"/>
            <a:ext cx="677862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400" b="1" i="0">
                <a:solidFill>
                  <a:srgbClr val="000000"/>
                </a:solidFill>
                <a:latin typeface="Times New Roman" panose="02020603050405020304" pitchFamily="18" charset="0"/>
              </a:rPr>
              <a:t>Contacts</a:t>
            </a:r>
            <a:endParaRPr lang="en-US" altLang="en-US" sz="4400" i="0">
              <a:solidFill>
                <a:srgbClr val="0000B6"/>
              </a:solidFill>
              <a:latin typeface="Book Antiqua" panose="02040602050305030304" pitchFamily="18" charset="0"/>
            </a:endParaRPr>
          </a:p>
        </p:txBody>
      </p:sp>
      <p:sp>
        <p:nvSpPr>
          <p:cNvPr id="17449" name="Line 43">
            <a:extLst>
              <a:ext uri="{FF2B5EF4-FFF2-40B4-BE49-F238E27FC236}">
                <a16:creationId xmlns:a16="http://schemas.microsoft.com/office/drawing/2014/main" id="{41FAA30A-6819-307B-C9A7-DE411531F09B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9056688" y="2490788"/>
            <a:ext cx="581025" cy="1889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50" name="Rectangle 44">
            <a:extLst>
              <a:ext uri="{FF2B5EF4-FFF2-40B4-BE49-F238E27FC236}">
                <a16:creationId xmlns:a16="http://schemas.microsoft.com/office/drawing/2014/main" id="{237CC271-2413-162E-AF70-70A6A3E634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26250" y="1187450"/>
            <a:ext cx="544513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400" b="1" i="0">
                <a:solidFill>
                  <a:srgbClr val="000000"/>
                </a:solidFill>
              </a:rPr>
              <a:t>N Well</a:t>
            </a:r>
            <a:endParaRPr lang="en-US" altLang="en-US" sz="1400" i="0">
              <a:solidFill>
                <a:srgbClr val="0000B6"/>
              </a:solidFill>
            </a:endParaRPr>
          </a:p>
        </p:txBody>
      </p:sp>
      <p:sp>
        <p:nvSpPr>
          <p:cNvPr id="17451" name="Line 45">
            <a:extLst>
              <a:ext uri="{FF2B5EF4-FFF2-40B4-BE49-F238E27FC236}">
                <a16:creationId xmlns:a16="http://schemas.microsoft.com/office/drawing/2014/main" id="{05D8DA8F-4EE0-1F1B-D5E0-1787092192A6}"/>
              </a:ext>
            </a:extLst>
          </p:cNvPr>
          <p:cNvSpPr>
            <a:spLocks noChangeShapeType="1"/>
          </p:cNvSpPr>
          <p:nvPr/>
        </p:nvSpPr>
        <p:spPr bwMode="auto">
          <a:xfrm>
            <a:off x="7388225" y="1358900"/>
            <a:ext cx="420688" cy="1746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5479A2E-244B-B344-68AC-CB54E600763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92720" y="1817688"/>
            <a:ext cx="3011152" cy="3503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7204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413634-1591-DFA6-C32E-AA4490477E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A55AAF6-332B-FFD0-E5CF-F07A98F41A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1361" y="1942892"/>
            <a:ext cx="9869277" cy="2972215"/>
          </a:xfrm>
          <a:prstGeom prst="rect">
            <a:avLst/>
          </a:prstGeom>
        </p:spPr>
      </p:pic>
      <p:sp>
        <p:nvSpPr>
          <p:cNvPr id="5" name="Rectangle 5">
            <a:extLst>
              <a:ext uri="{FF2B5EF4-FFF2-40B4-BE49-F238E27FC236}">
                <a16:creationId xmlns:a16="http://schemas.microsoft.com/office/drawing/2014/main" id="{F2762410-2633-E8B1-438B-A710E42DD1DF}"/>
              </a:ext>
            </a:extLst>
          </p:cNvPr>
          <p:cNvSpPr txBox="1">
            <a:spLocks noChangeArrowheads="1"/>
          </p:cNvSpPr>
          <p:nvPr/>
        </p:nvSpPr>
        <p:spPr>
          <a:xfrm>
            <a:off x="74023" y="101871"/>
            <a:ext cx="12043954" cy="4637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en-US" sz="2400">
                <a:solidFill>
                  <a:srgbClr val="0038A8"/>
                </a:solidFill>
              </a:rPr>
              <a:t>CMOS Inverter</a:t>
            </a:r>
            <a:endParaRPr lang="en-US" altLang="en-US" sz="2400" dirty="0">
              <a:solidFill>
                <a:srgbClr val="0038A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564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26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33350"/>
            <a:ext cx="12143890" cy="485775"/>
          </a:xfrm>
        </p:spPr>
        <p:txBody>
          <a:bodyPr rtlCol="0">
            <a:normAutofit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en-US" altLang="en-US" sz="2400" dirty="0">
                <a:solidFill>
                  <a:srgbClr val="0038A8"/>
                </a:solidFill>
              </a:rPr>
              <a:t>CMOS Inverter - First-Order DC Analysis</a:t>
            </a:r>
          </a:p>
        </p:txBody>
      </p:sp>
      <p:sp>
        <p:nvSpPr>
          <p:cNvPr id="19459" name="Rectangle 145"/>
          <p:cNvSpPr>
            <a:spLocks noChangeArrowheads="1"/>
          </p:cNvSpPr>
          <p:nvPr/>
        </p:nvSpPr>
        <p:spPr bwMode="auto">
          <a:xfrm>
            <a:off x="7869238" y="2473325"/>
            <a:ext cx="2206625" cy="16986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dirty="0"/>
              <a:t>V</a:t>
            </a:r>
            <a:r>
              <a:rPr lang="en-US" altLang="en-US" baseline="-25000" dirty="0"/>
              <a:t>OL</a:t>
            </a:r>
            <a:r>
              <a:rPr lang="en-US" altLang="en-US" dirty="0"/>
              <a:t> = 0</a:t>
            </a:r>
          </a:p>
          <a:p>
            <a:pPr algn="ctr"/>
            <a:r>
              <a:rPr lang="en-US" altLang="en-US" dirty="0"/>
              <a:t>V</a:t>
            </a:r>
            <a:r>
              <a:rPr lang="en-US" altLang="en-US" baseline="-25000" dirty="0"/>
              <a:t>OH</a:t>
            </a:r>
            <a:r>
              <a:rPr lang="en-US" altLang="en-US" dirty="0"/>
              <a:t> = V</a:t>
            </a:r>
            <a:r>
              <a:rPr lang="en-US" altLang="en-US" baseline="-25000" dirty="0"/>
              <a:t>DD</a:t>
            </a:r>
          </a:p>
        </p:txBody>
      </p:sp>
      <p:sp>
        <p:nvSpPr>
          <p:cNvPr id="19461" name="Oval 147"/>
          <p:cNvSpPr>
            <a:spLocks noChangeArrowheads="1"/>
          </p:cNvSpPr>
          <p:nvPr/>
        </p:nvSpPr>
        <p:spPr bwMode="auto">
          <a:xfrm>
            <a:off x="5986463" y="3705225"/>
            <a:ext cx="93663" cy="93663"/>
          </a:xfrm>
          <a:prstGeom prst="ellipse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9462" name="Line 148"/>
          <p:cNvSpPr>
            <a:spLocks noChangeShapeType="1"/>
          </p:cNvSpPr>
          <p:nvPr/>
        </p:nvSpPr>
        <p:spPr bwMode="auto">
          <a:xfrm flipH="1">
            <a:off x="5727701" y="2174875"/>
            <a:ext cx="619125" cy="1588"/>
          </a:xfrm>
          <a:prstGeom prst="line">
            <a:avLst/>
          </a:prstGeom>
          <a:noFill/>
          <a:ln w="1587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463" name="Line 149"/>
          <p:cNvSpPr>
            <a:spLocks noChangeShapeType="1"/>
          </p:cNvSpPr>
          <p:nvPr/>
        </p:nvSpPr>
        <p:spPr bwMode="auto">
          <a:xfrm flipH="1">
            <a:off x="6034088" y="3752850"/>
            <a:ext cx="525463" cy="1588"/>
          </a:xfrm>
          <a:prstGeom prst="line">
            <a:avLst/>
          </a:prstGeom>
          <a:noFill/>
          <a:ln w="1587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464" name="Oval 150"/>
          <p:cNvSpPr>
            <a:spLocks noChangeArrowheads="1"/>
          </p:cNvSpPr>
          <p:nvPr/>
        </p:nvSpPr>
        <p:spPr bwMode="auto">
          <a:xfrm>
            <a:off x="6559551" y="3697288"/>
            <a:ext cx="109538" cy="109538"/>
          </a:xfrm>
          <a:prstGeom prst="ellipse">
            <a:avLst/>
          </a:prstGeom>
          <a:noFill/>
          <a:ln w="1587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9465" name="Line 151"/>
          <p:cNvSpPr>
            <a:spLocks noChangeShapeType="1"/>
          </p:cNvSpPr>
          <p:nvPr/>
        </p:nvSpPr>
        <p:spPr bwMode="auto">
          <a:xfrm flipH="1">
            <a:off x="5861051" y="5414963"/>
            <a:ext cx="352425" cy="1588"/>
          </a:xfrm>
          <a:prstGeom prst="line">
            <a:avLst/>
          </a:prstGeom>
          <a:noFill/>
          <a:ln w="23813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466" name="Line 152"/>
          <p:cNvSpPr>
            <a:spLocks noChangeShapeType="1"/>
          </p:cNvSpPr>
          <p:nvPr/>
        </p:nvSpPr>
        <p:spPr bwMode="auto">
          <a:xfrm flipH="1">
            <a:off x="5932488" y="5486400"/>
            <a:ext cx="219075" cy="1588"/>
          </a:xfrm>
          <a:prstGeom prst="line">
            <a:avLst/>
          </a:prstGeom>
          <a:noFill/>
          <a:ln w="23813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467" name="Line 153"/>
          <p:cNvSpPr>
            <a:spLocks noChangeShapeType="1"/>
          </p:cNvSpPr>
          <p:nvPr/>
        </p:nvSpPr>
        <p:spPr bwMode="auto">
          <a:xfrm flipH="1">
            <a:off x="5986463" y="5556250"/>
            <a:ext cx="101600" cy="1588"/>
          </a:xfrm>
          <a:prstGeom prst="line">
            <a:avLst/>
          </a:prstGeom>
          <a:noFill/>
          <a:ln w="23813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468" name="Freeform 154"/>
          <p:cNvSpPr>
            <a:spLocks/>
          </p:cNvSpPr>
          <p:nvPr/>
        </p:nvSpPr>
        <p:spPr bwMode="auto">
          <a:xfrm>
            <a:off x="3052763" y="3249613"/>
            <a:ext cx="211138" cy="125413"/>
          </a:xfrm>
          <a:custGeom>
            <a:avLst/>
            <a:gdLst>
              <a:gd name="T0" fmla="*/ 133 w 27"/>
              <a:gd name="T1" fmla="*/ 0 h 16"/>
              <a:gd name="T2" fmla="*/ 0 w 27"/>
              <a:gd name="T3" fmla="*/ 79 h 16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27" h="16">
                <a:moveTo>
                  <a:pt x="27" y="0"/>
                </a:moveTo>
                <a:cubicBezTo>
                  <a:pt x="17" y="3"/>
                  <a:pt x="8" y="8"/>
                  <a:pt x="0" y="16"/>
                </a:cubicBezTo>
              </a:path>
            </a:pathLst>
          </a:custGeom>
          <a:noFill/>
          <a:ln w="1587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469" name="Freeform 155"/>
          <p:cNvSpPr>
            <a:spLocks/>
          </p:cNvSpPr>
          <p:nvPr/>
        </p:nvSpPr>
        <p:spPr bwMode="auto">
          <a:xfrm>
            <a:off x="2973388" y="3313113"/>
            <a:ext cx="141288" cy="133350"/>
          </a:xfrm>
          <a:custGeom>
            <a:avLst/>
            <a:gdLst>
              <a:gd name="T0" fmla="*/ 54 w 18"/>
              <a:gd name="T1" fmla="*/ 30 h 17"/>
              <a:gd name="T2" fmla="*/ 89 w 18"/>
              <a:gd name="T3" fmla="*/ 40 h 17"/>
              <a:gd name="T4" fmla="*/ 89 w 18"/>
              <a:gd name="T5" fmla="*/ 44 h 17"/>
              <a:gd name="T6" fmla="*/ 40 w 18"/>
              <a:gd name="T7" fmla="*/ 59 h 17"/>
              <a:gd name="T8" fmla="*/ 0 w 18"/>
              <a:gd name="T9" fmla="*/ 84 h 17"/>
              <a:gd name="T10" fmla="*/ 25 w 18"/>
              <a:gd name="T11" fmla="*/ 44 h 17"/>
              <a:gd name="T12" fmla="*/ 49 w 18"/>
              <a:gd name="T13" fmla="*/ 0 h 17"/>
              <a:gd name="T14" fmla="*/ 49 w 18"/>
              <a:gd name="T15" fmla="*/ 0 h 17"/>
              <a:gd name="T16" fmla="*/ 54 w 18"/>
              <a:gd name="T17" fmla="*/ 30 h 17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18" h="17">
                <a:moveTo>
                  <a:pt x="11" y="6"/>
                </a:moveTo>
                <a:cubicBezTo>
                  <a:pt x="18" y="8"/>
                  <a:pt x="18" y="8"/>
                  <a:pt x="18" y="8"/>
                </a:cubicBezTo>
                <a:cubicBezTo>
                  <a:pt x="18" y="9"/>
                  <a:pt x="18" y="9"/>
                  <a:pt x="18" y="9"/>
                </a:cubicBezTo>
                <a:cubicBezTo>
                  <a:pt x="8" y="12"/>
                  <a:pt x="8" y="12"/>
                  <a:pt x="8" y="12"/>
                </a:cubicBezTo>
                <a:cubicBezTo>
                  <a:pt x="6" y="14"/>
                  <a:pt x="3" y="16"/>
                  <a:pt x="0" y="17"/>
                </a:cubicBezTo>
                <a:cubicBezTo>
                  <a:pt x="2" y="15"/>
                  <a:pt x="4" y="12"/>
                  <a:pt x="5" y="9"/>
                </a:cubicBezTo>
                <a:cubicBezTo>
                  <a:pt x="10" y="0"/>
                  <a:pt x="10" y="0"/>
                  <a:pt x="10" y="0"/>
                </a:cubicBezTo>
                <a:cubicBezTo>
                  <a:pt x="10" y="0"/>
                  <a:pt x="10" y="0"/>
                  <a:pt x="10" y="0"/>
                </a:cubicBezTo>
                <a:cubicBezTo>
                  <a:pt x="11" y="6"/>
                  <a:pt x="11" y="6"/>
                  <a:pt x="11" y="6"/>
                </a:cubicBezTo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470" name="Freeform 156"/>
          <p:cNvSpPr>
            <a:spLocks noEditPoints="1"/>
          </p:cNvSpPr>
          <p:nvPr/>
        </p:nvSpPr>
        <p:spPr bwMode="auto">
          <a:xfrm>
            <a:off x="3036888" y="2174875"/>
            <a:ext cx="266700" cy="2354263"/>
          </a:xfrm>
          <a:custGeom>
            <a:avLst/>
            <a:gdLst>
              <a:gd name="T0" fmla="*/ 168 w 168"/>
              <a:gd name="T1" fmla="*/ 1483 h 1483"/>
              <a:gd name="T2" fmla="*/ 168 w 168"/>
              <a:gd name="T3" fmla="*/ 865 h 1483"/>
              <a:gd name="T4" fmla="*/ 0 w 168"/>
              <a:gd name="T5" fmla="*/ 588 h 1483"/>
              <a:gd name="T6" fmla="*/ 168 w 168"/>
              <a:gd name="T7" fmla="*/ 539 h 1483"/>
              <a:gd name="T8" fmla="*/ 168 w 168"/>
              <a:gd name="T9" fmla="*/ 0 h 148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68" h="1483">
                <a:moveTo>
                  <a:pt x="168" y="1483"/>
                </a:moveTo>
                <a:lnTo>
                  <a:pt x="168" y="865"/>
                </a:lnTo>
                <a:lnTo>
                  <a:pt x="0" y="588"/>
                </a:lnTo>
                <a:moveTo>
                  <a:pt x="168" y="539"/>
                </a:moveTo>
                <a:lnTo>
                  <a:pt x="168" y="0"/>
                </a:lnTo>
              </a:path>
            </a:pathLst>
          </a:custGeom>
          <a:noFill/>
          <a:ln w="1587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471" name="Freeform 157"/>
          <p:cNvSpPr>
            <a:spLocks/>
          </p:cNvSpPr>
          <p:nvPr/>
        </p:nvSpPr>
        <p:spPr bwMode="auto">
          <a:xfrm>
            <a:off x="5791201" y="4497388"/>
            <a:ext cx="211138" cy="125413"/>
          </a:xfrm>
          <a:custGeom>
            <a:avLst/>
            <a:gdLst>
              <a:gd name="T0" fmla="*/ 133 w 27"/>
              <a:gd name="T1" fmla="*/ 0 h 16"/>
              <a:gd name="T2" fmla="*/ 0 w 27"/>
              <a:gd name="T3" fmla="*/ 79 h 16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27" h="16">
                <a:moveTo>
                  <a:pt x="27" y="0"/>
                </a:moveTo>
                <a:cubicBezTo>
                  <a:pt x="17" y="3"/>
                  <a:pt x="7" y="9"/>
                  <a:pt x="0" y="16"/>
                </a:cubicBezTo>
              </a:path>
            </a:pathLst>
          </a:custGeom>
          <a:noFill/>
          <a:ln w="1587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472" name="Freeform 158"/>
          <p:cNvSpPr>
            <a:spLocks/>
          </p:cNvSpPr>
          <p:nvPr/>
        </p:nvSpPr>
        <p:spPr bwMode="auto">
          <a:xfrm>
            <a:off x="5703888" y="4560888"/>
            <a:ext cx="141288" cy="133350"/>
          </a:xfrm>
          <a:custGeom>
            <a:avLst/>
            <a:gdLst>
              <a:gd name="T0" fmla="*/ 59 w 18"/>
              <a:gd name="T1" fmla="*/ 35 h 17"/>
              <a:gd name="T2" fmla="*/ 89 w 18"/>
              <a:gd name="T3" fmla="*/ 44 h 17"/>
              <a:gd name="T4" fmla="*/ 89 w 18"/>
              <a:gd name="T5" fmla="*/ 44 h 17"/>
              <a:gd name="T6" fmla="*/ 45 w 18"/>
              <a:gd name="T7" fmla="*/ 59 h 17"/>
              <a:gd name="T8" fmla="*/ 0 w 18"/>
              <a:gd name="T9" fmla="*/ 84 h 17"/>
              <a:gd name="T10" fmla="*/ 30 w 18"/>
              <a:gd name="T11" fmla="*/ 44 h 17"/>
              <a:gd name="T12" fmla="*/ 49 w 18"/>
              <a:gd name="T13" fmla="*/ 0 h 17"/>
              <a:gd name="T14" fmla="*/ 49 w 18"/>
              <a:gd name="T15" fmla="*/ 0 h 17"/>
              <a:gd name="T16" fmla="*/ 59 w 18"/>
              <a:gd name="T17" fmla="*/ 35 h 17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18" h="17">
                <a:moveTo>
                  <a:pt x="12" y="7"/>
                </a:moveTo>
                <a:cubicBezTo>
                  <a:pt x="18" y="9"/>
                  <a:pt x="18" y="9"/>
                  <a:pt x="18" y="9"/>
                </a:cubicBezTo>
                <a:cubicBezTo>
                  <a:pt x="18" y="9"/>
                  <a:pt x="18" y="9"/>
                  <a:pt x="18" y="9"/>
                </a:cubicBezTo>
                <a:cubicBezTo>
                  <a:pt x="9" y="12"/>
                  <a:pt x="9" y="12"/>
                  <a:pt x="9" y="12"/>
                </a:cubicBezTo>
                <a:cubicBezTo>
                  <a:pt x="6" y="14"/>
                  <a:pt x="3" y="16"/>
                  <a:pt x="0" y="17"/>
                </a:cubicBezTo>
                <a:cubicBezTo>
                  <a:pt x="2" y="15"/>
                  <a:pt x="4" y="12"/>
                  <a:pt x="6" y="9"/>
                </a:cubicBezTo>
                <a:cubicBezTo>
                  <a:pt x="10" y="0"/>
                  <a:pt x="10" y="0"/>
                  <a:pt x="10" y="0"/>
                </a:cubicBezTo>
                <a:cubicBezTo>
                  <a:pt x="10" y="0"/>
                  <a:pt x="10" y="0"/>
                  <a:pt x="10" y="0"/>
                </a:cubicBezTo>
                <a:cubicBezTo>
                  <a:pt x="12" y="7"/>
                  <a:pt x="12" y="7"/>
                  <a:pt x="12" y="7"/>
                </a:cubicBezTo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473" name="Freeform 159"/>
          <p:cNvSpPr>
            <a:spLocks/>
          </p:cNvSpPr>
          <p:nvPr/>
        </p:nvSpPr>
        <p:spPr bwMode="auto">
          <a:xfrm>
            <a:off x="5767388" y="4356100"/>
            <a:ext cx="266700" cy="1058863"/>
          </a:xfrm>
          <a:custGeom>
            <a:avLst/>
            <a:gdLst>
              <a:gd name="T0" fmla="*/ 168 w 168"/>
              <a:gd name="T1" fmla="*/ 667 h 667"/>
              <a:gd name="T2" fmla="*/ 168 w 168"/>
              <a:gd name="T3" fmla="*/ 277 h 667"/>
              <a:gd name="T4" fmla="*/ 0 w 168"/>
              <a:gd name="T5" fmla="*/ 0 h 667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68" h="667">
                <a:moveTo>
                  <a:pt x="168" y="667"/>
                </a:moveTo>
                <a:lnTo>
                  <a:pt x="168" y="277"/>
                </a:lnTo>
                <a:lnTo>
                  <a:pt x="0" y="0"/>
                </a:lnTo>
              </a:path>
            </a:pathLst>
          </a:custGeom>
          <a:noFill/>
          <a:ln w="1587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474" name="Line 160"/>
          <p:cNvSpPr>
            <a:spLocks noChangeShapeType="1"/>
          </p:cNvSpPr>
          <p:nvPr/>
        </p:nvSpPr>
        <p:spPr bwMode="auto">
          <a:xfrm flipV="1">
            <a:off x="6034088" y="2174875"/>
            <a:ext cx="1588" cy="322263"/>
          </a:xfrm>
          <a:prstGeom prst="line">
            <a:avLst/>
          </a:prstGeom>
          <a:noFill/>
          <a:ln w="1587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475" name="Line 161"/>
          <p:cNvSpPr>
            <a:spLocks noChangeShapeType="1"/>
          </p:cNvSpPr>
          <p:nvPr/>
        </p:nvSpPr>
        <p:spPr bwMode="auto">
          <a:xfrm flipV="1">
            <a:off x="6034088" y="3062288"/>
            <a:ext cx="1588" cy="1216025"/>
          </a:xfrm>
          <a:prstGeom prst="line">
            <a:avLst/>
          </a:prstGeom>
          <a:noFill/>
          <a:ln w="1587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477" name="Oval 163"/>
          <p:cNvSpPr>
            <a:spLocks noChangeArrowheads="1"/>
          </p:cNvSpPr>
          <p:nvPr/>
        </p:nvSpPr>
        <p:spPr bwMode="auto">
          <a:xfrm>
            <a:off x="5978526" y="4740275"/>
            <a:ext cx="109538" cy="111125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9478" name="Line 164"/>
          <p:cNvSpPr>
            <a:spLocks noChangeShapeType="1"/>
          </p:cNvSpPr>
          <p:nvPr/>
        </p:nvSpPr>
        <p:spPr bwMode="auto">
          <a:xfrm flipH="1">
            <a:off x="2989263" y="2174875"/>
            <a:ext cx="620713" cy="1588"/>
          </a:xfrm>
          <a:prstGeom prst="line">
            <a:avLst/>
          </a:prstGeom>
          <a:noFill/>
          <a:ln w="1587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479" name="Line 165"/>
          <p:cNvSpPr>
            <a:spLocks noChangeShapeType="1"/>
          </p:cNvSpPr>
          <p:nvPr/>
        </p:nvSpPr>
        <p:spPr bwMode="auto">
          <a:xfrm flipH="1">
            <a:off x="3122613" y="5414963"/>
            <a:ext cx="361950" cy="1588"/>
          </a:xfrm>
          <a:prstGeom prst="line">
            <a:avLst/>
          </a:prstGeom>
          <a:noFill/>
          <a:ln w="23813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480" name="Line 166"/>
          <p:cNvSpPr>
            <a:spLocks noChangeShapeType="1"/>
          </p:cNvSpPr>
          <p:nvPr/>
        </p:nvSpPr>
        <p:spPr bwMode="auto">
          <a:xfrm flipH="1">
            <a:off x="3194051" y="5486400"/>
            <a:ext cx="227013" cy="1588"/>
          </a:xfrm>
          <a:prstGeom prst="line">
            <a:avLst/>
          </a:prstGeom>
          <a:noFill/>
          <a:ln w="23813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481" name="Line 167"/>
          <p:cNvSpPr>
            <a:spLocks noChangeShapeType="1"/>
          </p:cNvSpPr>
          <p:nvPr/>
        </p:nvSpPr>
        <p:spPr bwMode="auto">
          <a:xfrm flipH="1">
            <a:off x="3248026" y="5556250"/>
            <a:ext cx="109538" cy="1588"/>
          </a:xfrm>
          <a:prstGeom prst="line">
            <a:avLst/>
          </a:prstGeom>
          <a:noFill/>
          <a:ln w="23813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482" name="Oval 168"/>
          <p:cNvSpPr>
            <a:spLocks noChangeArrowheads="1"/>
          </p:cNvSpPr>
          <p:nvPr/>
        </p:nvSpPr>
        <p:spPr bwMode="auto">
          <a:xfrm>
            <a:off x="3255963" y="3902075"/>
            <a:ext cx="95250" cy="93663"/>
          </a:xfrm>
          <a:prstGeom prst="ellipse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9483" name="Line 169"/>
          <p:cNvSpPr>
            <a:spLocks noChangeShapeType="1"/>
          </p:cNvSpPr>
          <p:nvPr/>
        </p:nvSpPr>
        <p:spPr bwMode="auto">
          <a:xfrm flipH="1">
            <a:off x="3303588" y="3948113"/>
            <a:ext cx="461963" cy="1588"/>
          </a:xfrm>
          <a:prstGeom prst="line">
            <a:avLst/>
          </a:prstGeom>
          <a:noFill/>
          <a:ln w="1587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484" name="Oval 170"/>
          <p:cNvSpPr>
            <a:spLocks noChangeArrowheads="1"/>
          </p:cNvSpPr>
          <p:nvPr/>
        </p:nvSpPr>
        <p:spPr bwMode="auto">
          <a:xfrm>
            <a:off x="3765551" y="3894138"/>
            <a:ext cx="111125" cy="109538"/>
          </a:xfrm>
          <a:prstGeom prst="ellipse">
            <a:avLst/>
          </a:prstGeom>
          <a:noFill/>
          <a:ln w="1587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9485" name="Oval 171"/>
          <p:cNvSpPr>
            <a:spLocks noChangeArrowheads="1"/>
          </p:cNvSpPr>
          <p:nvPr/>
        </p:nvSpPr>
        <p:spPr bwMode="auto">
          <a:xfrm>
            <a:off x="3248026" y="3492500"/>
            <a:ext cx="109538" cy="111125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9486" name="Line 172"/>
          <p:cNvSpPr>
            <a:spLocks noChangeShapeType="1"/>
          </p:cNvSpPr>
          <p:nvPr/>
        </p:nvSpPr>
        <p:spPr bwMode="auto">
          <a:xfrm>
            <a:off x="3303588" y="5094288"/>
            <a:ext cx="1588" cy="320675"/>
          </a:xfrm>
          <a:prstGeom prst="line">
            <a:avLst/>
          </a:prstGeom>
          <a:noFill/>
          <a:ln w="1587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488" name="Rectangle 174"/>
          <p:cNvSpPr>
            <a:spLocks noChangeArrowheads="1"/>
          </p:cNvSpPr>
          <p:nvPr/>
        </p:nvSpPr>
        <p:spPr bwMode="auto">
          <a:xfrm>
            <a:off x="3051176" y="1752600"/>
            <a:ext cx="169863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000">
                <a:solidFill>
                  <a:srgbClr val="000000"/>
                </a:solidFill>
              </a:rPr>
              <a:t>V</a:t>
            </a:r>
            <a:endParaRPr lang="en-US" altLang="en-US" sz="1800" i="0">
              <a:solidFill>
                <a:schemeClr val="tx2"/>
              </a:solidFill>
            </a:endParaRPr>
          </a:p>
        </p:txBody>
      </p:sp>
      <p:sp>
        <p:nvSpPr>
          <p:cNvPr id="19489" name="Rectangle 175"/>
          <p:cNvSpPr>
            <a:spLocks noChangeArrowheads="1"/>
          </p:cNvSpPr>
          <p:nvPr/>
        </p:nvSpPr>
        <p:spPr bwMode="auto">
          <a:xfrm>
            <a:off x="3232151" y="1879600"/>
            <a:ext cx="276225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500">
                <a:solidFill>
                  <a:srgbClr val="000000"/>
                </a:solidFill>
              </a:rPr>
              <a:t>DD</a:t>
            </a:r>
            <a:endParaRPr lang="en-US" altLang="en-US" sz="1800" i="0">
              <a:solidFill>
                <a:schemeClr val="tx2"/>
              </a:solidFill>
            </a:endParaRPr>
          </a:p>
        </p:txBody>
      </p:sp>
      <p:sp>
        <p:nvSpPr>
          <p:cNvPr id="19490" name="Rectangle 176"/>
          <p:cNvSpPr>
            <a:spLocks noChangeArrowheads="1"/>
          </p:cNvSpPr>
          <p:nvPr/>
        </p:nvSpPr>
        <p:spPr bwMode="auto">
          <a:xfrm>
            <a:off x="5789613" y="1752600"/>
            <a:ext cx="169863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000">
                <a:solidFill>
                  <a:srgbClr val="000000"/>
                </a:solidFill>
              </a:rPr>
              <a:t>V</a:t>
            </a:r>
            <a:endParaRPr lang="en-US" altLang="en-US" sz="1800" i="0">
              <a:solidFill>
                <a:schemeClr val="tx2"/>
              </a:solidFill>
            </a:endParaRPr>
          </a:p>
        </p:txBody>
      </p:sp>
      <p:sp>
        <p:nvSpPr>
          <p:cNvPr id="19491" name="Rectangle 177"/>
          <p:cNvSpPr>
            <a:spLocks noChangeArrowheads="1"/>
          </p:cNvSpPr>
          <p:nvPr/>
        </p:nvSpPr>
        <p:spPr bwMode="auto">
          <a:xfrm>
            <a:off x="5970588" y="1879600"/>
            <a:ext cx="276225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500">
                <a:solidFill>
                  <a:srgbClr val="000000"/>
                </a:solidFill>
              </a:rPr>
              <a:t>DD</a:t>
            </a:r>
            <a:endParaRPr lang="en-US" altLang="en-US" sz="1800" i="0">
              <a:solidFill>
                <a:schemeClr val="tx2"/>
              </a:solidFill>
            </a:endParaRPr>
          </a:p>
        </p:txBody>
      </p:sp>
      <p:sp>
        <p:nvSpPr>
          <p:cNvPr id="19492" name="Rectangle 178"/>
          <p:cNvSpPr>
            <a:spLocks noChangeArrowheads="1"/>
          </p:cNvSpPr>
          <p:nvPr/>
        </p:nvSpPr>
        <p:spPr bwMode="auto">
          <a:xfrm>
            <a:off x="2719388" y="5795963"/>
            <a:ext cx="169863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000">
                <a:solidFill>
                  <a:srgbClr val="000000"/>
                </a:solidFill>
              </a:rPr>
              <a:t>V</a:t>
            </a:r>
            <a:endParaRPr lang="en-US" altLang="en-US" sz="1800" i="0">
              <a:solidFill>
                <a:schemeClr val="tx2"/>
              </a:solidFill>
            </a:endParaRPr>
          </a:p>
        </p:txBody>
      </p:sp>
      <p:sp>
        <p:nvSpPr>
          <p:cNvPr id="19493" name="Rectangle 179"/>
          <p:cNvSpPr>
            <a:spLocks noChangeArrowheads="1"/>
          </p:cNvSpPr>
          <p:nvPr/>
        </p:nvSpPr>
        <p:spPr bwMode="auto">
          <a:xfrm>
            <a:off x="2900363" y="5919788"/>
            <a:ext cx="149225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500">
                <a:solidFill>
                  <a:srgbClr val="000000"/>
                </a:solidFill>
              </a:rPr>
              <a:t>in</a:t>
            </a:r>
            <a:endParaRPr lang="en-US" altLang="en-US" sz="1800" i="0">
              <a:solidFill>
                <a:schemeClr val="tx2"/>
              </a:solidFill>
            </a:endParaRPr>
          </a:p>
        </p:txBody>
      </p:sp>
      <p:sp>
        <p:nvSpPr>
          <p:cNvPr id="19494" name="Rectangle 180"/>
          <p:cNvSpPr>
            <a:spLocks noChangeArrowheads="1"/>
          </p:cNvSpPr>
          <p:nvPr/>
        </p:nvSpPr>
        <p:spPr bwMode="auto">
          <a:xfrm>
            <a:off x="3121026" y="5835650"/>
            <a:ext cx="12824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000" i="0" dirty="0">
                <a:solidFill>
                  <a:srgbClr val="000000"/>
                </a:solidFill>
                <a:latin typeface="MathematicalPi 1"/>
              </a:rPr>
              <a:t>=</a:t>
            </a:r>
            <a:endParaRPr lang="en-US" altLang="en-US" sz="1800" i="0" dirty="0">
              <a:solidFill>
                <a:schemeClr val="tx2"/>
              </a:solidFill>
              <a:latin typeface="Book Antiqua" panose="02040602050305030304" pitchFamily="18" charset="0"/>
            </a:endParaRPr>
          </a:p>
        </p:txBody>
      </p:sp>
      <p:sp>
        <p:nvSpPr>
          <p:cNvPr id="19495" name="Rectangle 181"/>
          <p:cNvSpPr>
            <a:spLocks noChangeArrowheads="1"/>
          </p:cNvSpPr>
          <p:nvPr/>
        </p:nvSpPr>
        <p:spPr bwMode="auto">
          <a:xfrm>
            <a:off x="3392488" y="5795963"/>
            <a:ext cx="169863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000">
                <a:solidFill>
                  <a:srgbClr val="000000"/>
                </a:solidFill>
              </a:rPr>
              <a:t>V</a:t>
            </a:r>
            <a:endParaRPr lang="en-US" altLang="en-US" sz="1800" i="0">
              <a:solidFill>
                <a:schemeClr val="tx2"/>
              </a:solidFill>
            </a:endParaRPr>
          </a:p>
        </p:txBody>
      </p:sp>
      <p:sp>
        <p:nvSpPr>
          <p:cNvPr id="19496" name="Rectangle 182"/>
          <p:cNvSpPr>
            <a:spLocks noChangeArrowheads="1"/>
          </p:cNvSpPr>
          <p:nvPr/>
        </p:nvSpPr>
        <p:spPr bwMode="auto">
          <a:xfrm>
            <a:off x="3573463" y="5919788"/>
            <a:ext cx="276225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500">
                <a:solidFill>
                  <a:srgbClr val="000000"/>
                </a:solidFill>
              </a:rPr>
              <a:t>DD</a:t>
            </a:r>
            <a:endParaRPr lang="en-US" altLang="en-US" sz="1800" i="0">
              <a:solidFill>
                <a:schemeClr val="tx2"/>
              </a:solidFill>
            </a:endParaRPr>
          </a:p>
        </p:txBody>
      </p:sp>
      <p:sp>
        <p:nvSpPr>
          <p:cNvPr id="19497" name="Rectangle 183"/>
          <p:cNvSpPr>
            <a:spLocks noChangeArrowheads="1"/>
          </p:cNvSpPr>
          <p:nvPr/>
        </p:nvSpPr>
        <p:spPr bwMode="auto">
          <a:xfrm>
            <a:off x="5637213" y="5795963"/>
            <a:ext cx="169863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000">
                <a:solidFill>
                  <a:srgbClr val="000000"/>
                </a:solidFill>
              </a:rPr>
              <a:t>V</a:t>
            </a:r>
            <a:endParaRPr lang="en-US" altLang="en-US" sz="1800" i="0">
              <a:solidFill>
                <a:schemeClr val="tx2"/>
              </a:solidFill>
            </a:endParaRPr>
          </a:p>
        </p:txBody>
      </p:sp>
      <p:sp>
        <p:nvSpPr>
          <p:cNvPr id="19498" name="Rectangle 184"/>
          <p:cNvSpPr>
            <a:spLocks noChangeArrowheads="1"/>
          </p:cNvSpPr>
          <p:nvPr/>
        </p:nvSpPr>
        <p:spPr bwMode="auto">
          <a:xfrm>
            <a:off x="5818188" y="5919788"/>
            <a:ext cx="149225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500">
                <a:solidFill>
                  <a:srgbClr val="000000"/>
                </a:solidFill>
              </a:rPr>
              <a:t>in</a:t>
            </a:r>
            <a:endParaRPr lang="en-US" altLang="en-US" sz="1800" i="0">
              <a:solidFill>
                <a:schemeClr val="tx2"/>
              </a:solidFill>
            </a:endParaRPr>
          </a:p>
        </p:txBody>
      </p:sp>
      <p:sp>
        <p:nvSpPr>
          <p:cNvPr id="19499" name="Rectangle 185"/>
          <p:cNvSpPr>
            <a:spLocks noChangeArrowheads="1"/>
          </p:cNvSpPr>
          <p:nvPr/>
        </p:nvSpPr>
        <p:spPr bwMode="auto">
          <a:xfrm>
            <a:off x="6038851" y="5835650"/>
            <a:ext cx="12824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000" i="0" dirty="0">
                <a:solidFill>
                  <a:srgbClr val="000000"/>
                </a:solidFill>
                <a:latin typeface="MathematicalPi 1"/>
              </a:rPr>
              <a:t>=</a:t>
            </a:r>
            <a:endParaRPr lang="en-US" altLang="en-US" sz="1800" i="0" dirty="0">
              <a:solidFill>
                <a:schemeClr val="tx2"/>
              </a:solidFill>
              <a:latin typeface="Book Antiqua" panose="02040602050305030304" pitchFamily="18" charset="0"/>
            </a:endParaRPr>
          </a:p>
        </p:txBody>
      </p:sp>
      <p:sp>
        <p:nvSpPr>
          <p:cNvPr id="19500" name="Rectangle 186"/>
          <p:cNvSpPr>
            <a:spLocks noChangeArrowheads="1"/>
          </p:cNvSpPr>
          <p:nvPr/>
        </p:nvSpPr>
        <p:spPr bwMode="auto">
          <a:xfrm>
            <a:off x="6248401" y="5795963"/>
            <a:ext cx="1905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000" i="0">
                <a:solidFill>
                  <a:srgbClr val="000000"/>
                </a:solidFill>
                <a:latin typeface="Times Ten Roman"/>
              </a:rPr>
              <a:t> 0</a:t>
            </a:r>
            <a:endParaRPr lang="en-US" altLang="en-US" sz="1800" i="0">
              <a:solidFill>
                <a:schemeClr val="tx2"/>
              </a:solidFill>
              <a:latin typeface="Book Antiqua" panose="02040602050305030304" pitchFamily="18" charset="0"/>
            </a:endParaRPr>
          </a:p>
        </p:txBody>
      </p:sp>
      <p:sp>
        <p:nvSpPr>
          <p:cNvPr id="19501" name="Rectangle 187"/>
          <p:cNvSpPr>
            <a:spLocks noChangeArrowheads="1"/>
          </p:cNvSpPr>
          <p:nvPr/>
        </p:nvSpPr>
        <p:spPr bwMode="auto">
          <a:xfrm>
            <a:off x="4017963" y="3741738"/>
            <a:ext cx="169863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000">
                <a:solidFill>
                  <a:srgbClr val="000000"/>
                </a:solidFill>
              </a:rPr>
              <a:t>V</a:t>
            </a:r>
            <a:endParaRPr lang="en-US" altLang="en-US" sz="1800" i="0">
              <a:solidFill>
                <a:schemeClr val="tx2"/>
              </a:solidFill>
            </a:endParaRPr>
          </a:p>
        </p:txBody>
      </p:sp>
      <p:sp>
        <p:nvSpPr>
          <p:cNvPr id="19502" name="Rectangle 188"/>
          <p:cNvSpPr>
            <a:spLocks noChangeArrowheads="1"/>
          </p:cNvSpPr>
          <p:nvPr/>
        </p:nvSpPr>
        <p:spPr bwMode="auto">
          <a:xfrm>
            <a:off x="4198938" y="3868738"/>
            <a:ext cx="26511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500">
                <a:solidFill>
                  <a:srgbClr val="000000"/>
                </a:solidFill>
              </a:rPr>
              <a:t>out</a:t>
            </a:r>
            <a:endParaRPr lang="en-US" altLang="en-US" sz="1800" i="0">
              <a:solidFill>
                <a:schemeClr val="tx2"/>
              </a:solidFill>
            </a:endParaRPr>
          </a:p>
        </p:txBody>
      </p:sp>
      <p:sp>
        <p:nvSpPr>
          <p:cNvPr id="19503" name="Rectangle 189"/>
          <p:cNvSpPr>
            <a:spLocks noChangeArrowheads="1"/>
          </p:cNvSpPr>
          <p:nvPr/>
        </p:nvSpPr>
        <p:spPr bwMode="auto">
          <a:xfrm>
            <a:off x="6775451" y="3570288"/>
            <a:ext cx="169863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000">
                <a:solidFill>
                  <a:srgbClr val="000000"/>
                </a:solidFill>
              </a:rPr>
              <a:t>V</a:t>
            </a:r>
            <a:endParaRPr lang="en-US" altLang="en-US" sz="1800" i="0">
              <a:solidFill>
                <a:schemeClr val="tx2"/>
              </a:solidFill>
            </a:endParaRPr>
          </a:p>
        </p:txBody>
      </p:sp>
      <p:sp>
        <p:nvSpPr>
          <p:cNvPr id="19504" name="Rectangle 190"/>
          <p:cNvSpPr>
            <a:spLocks noChangeArrowheads="1"/>
          </p:cNvSpPr>
          <p:nvPr/>
        </p:nvSpPr>
        <p:spPr bwMode="auto">
          <a:xfrm>
            <a:off x="6956426" y="3694113"/>
            <a:ext cx="26511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500">
                <a:solidFill>
                  <a:srgbClr val="000000"/>
                </a:solidFill>
              </a:rPr>
              <a:t>out</a:t>
            </a:r>
            <a:endParaRPr lang="en-US" altLang="en-US" sz="1800" i="0">
              <a:solidFill>
                <a:schemeClr val="tx2"/>
              </a:solidFill>
            </a:endParaRPr>
          </a:p>
        </p:txBody>
      </p:sp>
      <p:sp>
        <p:nvSpPr>
          <p:cNvPr id="19505" name="Rectangle 191"/>
          <p:cNvSpPr>
            <a:spLocks noChangeArrowheads="1"/>
          </p:cNvSpPr>
          <p:nvPr/>
        </p:nvSpPr>
        <p:spPr bwMode="auto">
          <a:xfrm>
            <a:off x="3490913" y="4568825"/>
            <a:ext cx="1841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000">
                <a:solidFill>
                  <a:srgbClr val="000000"/>
                </a:solidFill>
              </a:rPr>
              <a:t>R</a:t>
            </a:r>
            <a:endParaRPr lang="en-US" altLang="en-US" sz="1800" i="0">
              <a:solidFill>
                <a:schemeClr val="tx2"/>
              </a:solidFill>
            </a:endParaRPr>
          </a:p>
        </p:txBody>
      </p:sp>
      <p:sp>
        <p:nvSpPr>
          <p:cNvPr id="19506" name="Rectangle 192"/>
          <p:cNvSpPr>
            <a:spLocks noChangeArrowheads="1"/>
          </p:cNvSpPr>
          <p:nvPr/>
        </p:nvSpPr>
        <p:spPr bwMode="auto">
          <a:xfrm>
            <a:off x="3673476" y="4692650"/>
            <a:ext cx="10636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500">
                <a:solidFill>
                  <a:srgbClr val="000000"/>
                </a:solidFill>
              </a:rPr>
              <a:t>n</a:t>
            </a:r>
            <a:endParaRPr lang="en-US" altLang="en-US" sz="1800" i="0">
              <a:solidFill>
                <a:schemeClr val="tx2"/>
              </a:solidFill>
            </a:endParaRPr>
          </a:p>
        </p:txBody>
      </p:sp>
      <p:sp>
        <p:nvSpPr>
          <p:cNvPr id="19507" name="Rectangle 193"/>
          <p:cNvSpPr>
            <a:spLocks noChangeArrowheads="1"/>
          </p:cNvSpPr>
          <p:nvPr/>
        </p:nvSpPr>
        <p:spPr bwMode="auto">
          <a:xfrm>
            <a:off x="6226176" y="2619375"/>
            <a:ext cx="1841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000">
                <a:solidFill>
                  <a:srgbClr val="000000"/>
                </a:solidFill>
              </a:rPr>
              <a:t>R</a:t>
            </a:r>
            <a:endParaRPr lang="en-US" altLang="en-US" sz="1800" i="0">
              <a:solidFill>
                <a:schemeClr val="tx2"/>
              </a:solidFill>
            </a:endParaRPr>
          </a:p>
        </p:txBody>
      </p:sp>
      <p:sp>
        <p:nvSpPr>
          <p:cNvPr id="19508" name="Rectangle 194"/>
          <p:cNvSpPr>
            <a:spLocks noChangeArrowheads="1"/>
          </p:cNvSpPr>
          <p:nvPr/>
        </p:nvSpPr>
        <p:spPr bwMode="auto">
          <a:xfrm>
            <a:off x="6407151" y="2743200"/>
            <a:ext cx="10636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500">
                <a:solidFill>
                  <a:srgbClr val="000000"/>
                </a:solidFill>
              </a:rPr>
              <a:t>p</a:t>
            </a:r>
            <a:endParaRPr lang="en-US" altLang="en-US" sz="1800" i="0">
              <a:solidFill>
                <a:schemeClr val="tx2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88360E3-7E09-09C1-D874-1E57A83FED01}"/>
              </a:ext>
            </a:extLst>
          </p:cNvPr>
          <p:cNvSpPr/>
          <p:nvPr/>
        </p:nvSpPr>
        <p:spPr>
          <a:xfrm>
            <a:off x="3167857" y="4460876"/>
            <a:ext cx="266700" cy="64611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AD5834C-9B8D-671C-B56F-0100105281E4}"/>
              </a:ext>
            </a:extLst>
          </p:cNvPr>
          <p:cNvSpPr/>
          <p:nvPr/>
        </p:nvSpPr>
        <p:spPr>
          <a:xfrm>
            <a:off x="5900391" y="2508251"/>
            <a:ext cx="266700" cy="64611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295359" y="290513"/>
            <a:ext cx="11731863" cy="388937"/>
          </a:xfrm>
        </p:spPr>
        <p:txBody>
          <a:bodyPr>
            <a:normAutofit fontScale="90000"/>
          </a:bodyPr>
          <a:lstStyle/>
          <a:p>
            <a:pPr algn="ctr"/>
            <a:r>
              <a:rPr lang="en-US" altLang="en-US" sz="2400" dirty="0">
                <a:solidFill>
                  <a:srgbClr val="0038A8"/>
                </a:solidFill>
              </a:rPr>
              <a:t>CMOS Inverter: Transient Response </a:t>
            </a:r>
          </a:p>
        </p:txBody>
      </p:sp>
      <p:sp>
        <p:nvSpPr>
          <p:cNvPr id="20484" name="Rectangle 16"/>
          <p:cNvSpPr>
            <a:spLocks noChangeArrowheads="1"/>
          </p:cNvSpPr>
          <p:nvPr/>
        </p:nvSpPr>
        <p:spPr bwMode="auto">
          <a:xfrm>
            <a:off x="4983163" y="3733800"/>
            <a:ext cx="11112" cy="1588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20485" name="Rectangle 17"/>
          <p:cNvSpPr>
            <a:spLocks noChangeArrowheads="1"/>
          </p:cNvSpPr>
          <p:nvPr/>
        </p:nvSpPr>
        <p:spPr bwMode="auto">
          <a:xfrm>
            <a:off x="4983163" y="5468938"/>
            <a:ext cx="1587" cy="1270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20486" name="Rectangle 18"/>
          <p:cNvSpPr>
            <a:spLocks noChangeArrowheads="1"/>
          </p:cNvSpPr>
          <p:nvPr/>
        </p:nvSpPr>
        <p:spPr bwMode="auto">
          <a:xfrm>
            <a:off x="7713663" y="5468938"/>
            <a:ext cx="1587" cy="1270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20487" name="Rectangle 19"/>
          <p:cNvSpPr>
            <a:spLocks noChangeArrowheads="1"/>
          </p:cNvSpPr>
          <p:nvPr/>
        </p:nvSpPr>
        <p:spPr bwMode="auto">
          <a:xfrm>
            <a:off x="5545138" y="5818188"/>
            <a:ext cx="11112" cy="1587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20488" name="Rectangle 20"/>
          <p:cNvSpPr>
            <a:spLocks noChangeArrowheads="1"/>
          </p:cNvSpPr>
          <p:nvPr/>
        </p:nvSpPr>
        <p:spPr bwMode="auto">
          <a:xfrm>
            <a:off x="5545138" y="5818188"/>
            <a:ext cx="11112" cy="1587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20489" name="Rectangle 21"/>
          <p:cNvSpPr>
            <a:spLocks noChangeArrowheads="1"/>
          </p:cNvSpPr>
          <p:nvPr/>
        </p:nvSpPr>
        <p:spPr bwMode="auto">
          <a:xfrm>
            <a:off x="5545138" y="5818188"/>
            <a:ext cx="11112" cy="1587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20490" name="Rectangle 22"/>
          <p:cNvSpPr>
            <a:spLocks noChangeArrowheads="1"/>
          </p:cNvSpPr>
          <p:nvPr/>
        </p:nvSpPr>
        <p:spPr bwMode="auto">
          <a:xfrm>
            <a:off x="5545138" y="5254625"/>
            <a:ext cx="11112" cy="1588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20491" name="Rectangle 23"/>
          <p:cNvSpPr>
            <a:spLocks noChangeArrowheads="1"/>
          </p:cNvSpPr>
          <p:nvPr/>
        </p:nvSpPr>
        <p:spPr bwMode="auto">
          <a:xfrm>
            <a:off x="5545138" y="5243513"/>
            <a:ext cx="11112" cy="1587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20492" name="Rectangle 24"/>
          <p:cNvSpPr>
            <a:spLocks noChangeArrowheads="1"/>
          </p:cNvSpPr>
          <p:nvPr/>
        </p:nvSpPr>
        <p:spPr bwMode="auto">
          <a:xfrm>
            <a:off x="5310188" y="5138738"/>
            <a:ext cx="1587" cy="11112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20493" name="Rectangle 25"/>
          <p:cNvSpPr>
            <a:spLocks noChangeArrowheads="1"/>
          </p:cNvSpPr>
          <p:nvPr/>
        </p:nvSpPr>
        <p:spPr bwMode="auto">
          <a:xfrm>
            <a:off x="5322888" y="5138738"/>
            <a:ext cx="1587" cy="11112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20494" name="Rectangle 26"/>
          <p:cNvSpPr>
            <a:spLocks noChangeArrowheads="1"/>
          </p:cNvSpPr>
          <p:nvPr/>
        </p:nvSpPr>
        <p:spPr bwMode="auto">
          <a:xfrm>
            <a:off x="5357813" y="5446713"/>
            <a:ext cx="11112" cy="1587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20495" name="Rectangle 27"/>
          <p:cNvSpPr>
            <a:spLocks noChangeArrowheads="1"/>
          </p:cNvSpPr>
          <p:nvPr/>
        </p:nvSpPr>
        <p:spPr bwMode="auto">
          <a:xfrm>
            <a:off x="6096000" y="3498850"/>
            <a:ext cx="11113" cy="1588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20496" name="Rectangle 28"/>
          <p:cNvSpPr>
            <a:spLocks noChangeArrowheads="1"/>
          </p:cNvSpPr>
          <p:nvPr/>
        </p:nvSpPr>
        <p:spPr bwMode="auto">
          <a:xfrm>
            <a:off x="5919788" y="3167063"/>
            <a:ext cx="12700" cy="1587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20497" name="Rectangle 29"/>
          <p:cNvSpPr>
            <a:spLocks noChangeArrowheads="1"/>
          </p:cNvSpPr>
          <p:nvPr/>
        </p:nvSpPr>
        <p:spPr bwMode="auto">
          <a:xfrm>
            <a:off x="4994275" y="5291138"/>
            <a:ext cx="11113" cy="1587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20498" name="Rectangle 30"/>
          <p:cNvSpPr>
            <a:spLocks noChangeArrowheads="1"/>
          </p:cNvSpPr>
          <p:nvPr/>
        </p:nvSpPr>
        <p:spPr bwMode="auto">
          <a:xfrm>
            <a:off x="4994275" y="5291138"/>
            <a:ext cx="11113" cy="1587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20499" name="Rectangle 31"/>
          <p:cNvSpPr>
            <a:spLocks noChangeArrowheads="1"/>
          </p:cNvSpPr>
          <p:nvPr/>
        </p:nvSpPr>
        <p:spPr bwMode="auto">
          <a:xfrm>
            <a:off x="4994275" y="5291138"/>
            <a:ext cx="11113" cy="1587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20500" name="Rectangle 32"/>
          <p:cNvSpPr>
            <a:spLocks noChangeArrowheads="1"/>
          </p:cNvSpPr>
          <p:nvPr/>
        </p:nvSpPr>
        <p:spPr bwMode="auto">
          <a:xfrm>
            <a:off x="5545138" y="5291138"/>
            <a:ext cx="1587" cy="11112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20501" name="Rectangle 33"/>
          <p:cNvSpPr>
            <a:spLocks noChangeArrowheads="1"/>
          </p:cNvSpPr>
          <p:nvPr/>
        </p:nvSpPr>
        <p:spPr bwMode="auto">
          <a:xfrm>
            <a:off x="5556250" y="4965700"/>
            <a:ext cx="1588" cy="11113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20502" name="Line 34"/>
          <p:cNvSpPr>
            <a:spLocks noChangeShapeType="1"/>
          </p:cNvSpPr>
          <p:nvPr/>
        </p:nvSpPr>
        <p:spPr bwMode="auto">
          <a:xfrm>
            <a:off x="1825625" y="4610100"/>
            <a:ext cx="1588" cy="433388"/>
          </a:xfrm>
          <a:prstGeom prst="line">
            <a:avLst/>
          </a:prstGeom>
          <a:noFill/>
          <a:ln w="1587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03" name="Line 35"/>
          <p:cNvSpPr>
            <a:spLocks noChangeShapeType="1"/>
          </p:cNvSpPr>
          <p:nvPr/>
        </p:nvSpPr>
        <p:spPr bwMode="auto">
          <a:xfrm>
            <a:off x="2519363" y="3451225"/>
            <a:ext cx="1587" cy="495300"/>
          </a:xfrm>
          <a:prstGeom prst="line">
            <a:avLst/>
          </a:prstGeom>
          <a:noFill/>
          <a:ln w="1587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04" name="Line 36"/>
          <p:cNvSpPr>
            <a:spLocks noChangeShapeType="1"/>
          </p:cNvSpPr>
          <p:nvPr/>
        </p:nvSpPr>
        <p:spPr bwMode="auto">
          <a:xfrm>
            <a:off x="2519363" y="4052888"/>
            <a:ext cx="1587" cy="481012"/>
          </a:xfrm>
          <a:prstGeom prst="line">
            <a:avLst/>
          </a:prstGeom>
          <a:noFill/>
          <a:ln w="1587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05" name="Line 37"/>
          <p:cNvSpPr>
            <a:spLocks noChangeShapeType="1"/>
          </p:cNvSpPr>
          <p:nvPr/>
        </p:nvSpPr>
        <p:spPr bwMode="auto">
          <a:xfrm>
            <a:off x="1825625" y="2713038"/>
            <a:ext cx="1588" cy="738187"/>
          </a:xfrm>
          <a:prstGeom prst="line">
            <a:avLst/>
          </a:prstGeom>
          <a:noFill/>
          <a:ln w="1587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06" name="Line 38"/>
          <p:cNvSpPr>
            <a:spLocks noChangeShapeType="1"/>
          </p:cNvSpPr>
          <p:nvPr/>
        </p:nvSpPr>
        <p:spPr bwMode="auto">
          <a:xfrm>
            <a:off x="1825625" y="1812925"/>
            <a:ext cx="1588" cy="350838"/>
          </a:xfrm>
          <a:prstGeom prst="line">
            <a:avLst/>
          </a:prstGeom>
          <a:noFill/>
          <a:ln w="1587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07" name="Line 39"/>
          <p:cNvSpPr>
            <a:spLocks noChangeShapeType="1"/>
          </p:cNvSpPr>
          <p:nvPr/>
        </p:nvSpPr>
        <p:spPr bwMode="auto">
          <a:xfrm>
            <a:off x="1452563" y="1812925"/>
            <a:ext cx="739775" cy="1588"/>
          </a:xfrm>
          <a:prstGeom prst="line">
            <a:avLst/>
          </a:prstGeom>
          <a:noFill/>
          <a:ln w="1587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08" name="Line 40"/>
          <p:cNvSpPr>
            <a:spLocks noChangeShapeType="1"/>
          </p:cNvSpPr>
          <p:nvPr/>
        </p:nvSpPr>
        <p:spPr bwMode="auto">
          <a:xfrm>
            <a:off x="4600575" y="1844675"/>
            <a:ext cx="746125" cy="1588"/>
          </a:xfrm>
          <a:prstGeom prst="line">
            <a:avLst/>
          </a:prstGeom>
          <a:noFill/>
          <a:ln w="1587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09" name="Line 41"/>
          <p:cNvSpPr>
            <a:spLocks noChangeShapeType="1"/>
          </p:cNvSpPr>
          <p:nvPr/>
        </p:nvSpPr>
        <p:spPr bwMode="auto">
          <a:xfrm>
            <a:off x="1825625" y="3451225"/>
            <a:ext cx="1098550" cy="1588"/>
          </a:xfrm>
          <a:prstGeom prst="line">
            <a:avLst/>
          </a:prstGeom>
          <a:noFill/>
          <a:ln w="1587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10" name="Oval 42"/>
          <p:cNvSpPr>
            <a:spLocks noChangeArrowheads="1"/>
          </p:cNvSpPr>
          <p:nvPr/>
        </p:nvSpPr>
        <p:spPr bwMode="auto">
          <a:xfrm>
            <a:off x="1781175" y="3405188"/>
            <a:ext cx="90488" cy="92075"/>
          </a:xfrm>
          <a:prstGeom prst="ellipse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20511" name="Oval 43"/>
          <p:cNvSpPr>
            <a:spLocks noChangeArrowheads="1"/>
          </p:cNvSpPr>
          <p:nvPr/>
        </p:nvSpPr>
        <p:spPr bwMode="auto">
          <a:xfrm>
            <a:off x="2473325" y="3405188"/>
            <a:ext cx="92075" cy="92075"/>
          </a:xfrm>
          <a:prstGeom prst="ellipse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20513" name="Line 45"/>
          <p:cNvSpPr>
            <a:spLocks noChangeShapeType="1"/>
          </p:cNvSpPr>
          <p:nvPr/>
        </p:nvSpPr>
        <p:spPr bwMode="auto">
          <a:xfrm>
            <a:off x="4973638" y="4730750"/>
            <a:ext cx="1587" cy="312738"/>
          </a:xfrm>
          <a:prstGeom prst="line">
            <a:avLst/>
          </a:prstGeom>
          <a:noFill/>
          <a:ln w="1587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14" name="Line 46"/>
          <p:cNvSpPr>
            <a:spLocks noChangeShapeType="1"/>
          </p:cNvSpPr>
          <p:nvPr/>
        </p:nvSpPr>
        <p:spPr bwMode="auto">
          <a:xfrm>
            <a:off x="4973638" y="3421063"/>
            <a:ext cx="1587" cy="762000"/>
          </a:xfrm>
          <a:prstGeom prst="line">
            <a:avLst/>
          </a:prstGeom>
          <a:noFill/>
          <a:ln w="1587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16" name="Line 48"/>
          <p:cNvSpPr>
            <a:spLocks noChangeShapeType="1"/>
          </p:cNvSpPr>
          <p:nvPr/>
        </p:nvSpPr>
        <p:spPr bwMode="auto">
          <a:xfrm flipH="1">
            <a:off x="1651000" y="5043488"/>
            <a:ext cx="342900" cy="1587"/>
          </a:xfrm>
          <a:prstGeom prst="line">
            <a:avLst/>
          </a:prstGeom>
          <a:noFill/>
          <a:ln w="23813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17" name="Line 49"/>
          <p:cNvSpPr>
            <a:spLocks noChangeShapeType="1"/>
          </p:cNvSpPr>
          <p:nvPr/>
        </p:nvSpPr>
        <p:spPr bwMode="auto">
          <a:xfrm flipH="1">
            <a:off x="1711325" y="5119688"/>
            <a:ext cx="222250" cy="1587"/>
          </a:xfrm>
          <a:prstGeom prst="line">
            <a:avLst/>
          </a:prstGeom>
          <a:noFill/>
          <a:ln w="23813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18" name="Line 50"/>
          <p:cNvSpPr>
            <a:spLocks noChangeShapeType="1"/>
          </p:cNvSpPr>
          <p:nvPr/>
        </p:nvSpPr>
        <p:spPr bwMode="auto">
          <a:xfrm flipH="1">
            <a:off x="1773238" y="5187950"/>
            <a:ext cx="98425" cy="1588"/>
          </a:xfrm>
          <a:prstGeom prst="line">
            <a:avLst/>
          </a:prstGeom>
          <a:noFill/>
          <a:ln w="23813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19" name="Line 51"/>
          <p:cNvSpPr>
            <a:spLocks noChangeShapeType="1"/>
          </p:cNvSpPr>
          <p:nvPr/>
        </p:nvSpPr>
        <p:spPr bwMode="auto">
          <a:xfrm flipH="1">
            <a:off x="4797425" y="5043488"/>
            <a:ext cx="350838" cy="1587"/>
          </a:xfrm>
          <a:prstGeom prst="line">
            <a:avLst/>
          </a:prstGeom>
          <a:noFill/>
          <a:ln w="23813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20" name="Line 52"/>
          <p:cNvSpPr>
            <a:spLocks noChangeShapeType="1"/>
          </p:cNvSpPr>
          <p:nvPr/>
        </p:nvSpPr>
        <p:spPr bwMode="auto">
          <a:xfrm flipH="1">
            <a:off x="4859338" y="5119688"/>
            <a:ext cx="220662" cy="1587"/>
          </a:xfrm>
          <a:prstGeom prst="line">
            <a:avLst/>
          </a:prstGeom>
          <a:noFill/>
          <a:ln w="23813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21" name="Line 53"/>
          <p:cNvSpPr>
            <a:spLocks noChangeShapeType="1"/>
          </p:cNvSpPr>
          <p:nvPr/>
        </p:nvSpPr>
        <p:spPr bwMode="auto">
          <a:xfrm flipH="1">
            <a:off x="4919663" y="5187950"/>
            <a:ext cx="106362" cy="1588"/>
          </a:xfrm>
          <a:prstGeom prst="line">
            <a:avLst/>
          </a:prstGeom>
          <a:noFill/>
          <a:ln w="23813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22" name="Line 54"/>
          <p:cNvSpPr>
            <a:spLocks noChangeShapeType="1"/>
          </p:cNvSpPr>
          <p:nvPr/>
        </p:nvSpPr>
        <p:spPr bwMode="auto">
          <a:xfrm flipH="1">
            <a:off x="2352675" y="4533900"/>
            <a:ext cx="342900" cy="1588"/>
          </a:xfrm>
          <a:prstGeom prst="line">
            <a:avLst/>
          </a:prstGeom>
          <a:noFill/>
          <a:ln w="23813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23" name="Line 55"/>
          <p:cNvSpPr>
            <a:spLocks noChangeShapeType="1"/>
          </p:cNvSpPr>
          <p:nvPr/>
        </p:nvSpPr>
        <p:spPr bwMode="auto">
          <a:xfrm flipH="1">
            <a:off x="2413000" y="4602163"/>
            <a:ext cx="220663" cy="1587"/>
          </a:xfrm>
          <a:prstGeom prst="line">
            <a:avLst/>
          </a:prstGeom>
          <a:noFill/>
          <a:ln w="23813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24" name="Line 56"/>
          <p:cNvSpPr>
            <a:spLocks noChangeShapeType="1"/>
          </p:cNvSpPr>
          <p:nvPr/>
        </p:nvSpPr>
        <p:spPr bwMode="auto">
          <a:xfrm flipH="1">
            <a:off x="2473325" y="4678363"/>
            <a:ext cx="100013" cy="1587"/>
          </a:xfrm>
          <a:prstGeom prst="line">
            <a:avLst/>
          </a:prstGeom>
          <a:noFill/>
          <a:ln w="23813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25" name="Line 57"/>
          <p:cNvSpPr>
            <a:spLocks noChangeShapeType="1"/>
          </p:cNvSpPr>
          <p:nvPr/>
        </p:nvSpPr>
        <p:spPr bwMode="auto">
          <a:xfrm>
            <a:off x="2374900" y="3946525"/>
            <a:ext cx="296863" cy="1588"/>
          </a:xfrm>
          <a:prstGeom prst="line">
            <a:avLst/>
          </a:prstGeom>
          <a:noFill/>
          <a:ln w="23813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26" name="Line 58"/>
          <p:cNvSpPr>
            <a:spLocks noChangeShapeType="1"/>
          </p:cNvSpPr>
          <p:nvPr/>
        </p:nvSpPr>
        <p:spPr bwMode="auto">
          <a:xfrm>
            <a:off x="2374900" y="4052888"/>
            <a:ext cx="296863" cy="1587"/>
          </a:xfrm>
          <a:prstGeom prst="line">
            <a:avLst/>
          </a:prstGeom>
          <a:noFill/>
          <a:ln w="23813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27" name="Oval 59"/>
          <p:cNvSpPr>
            <a:spLocks noChangeArrowheads="1"/>
          </p:cNvSpPr>
          <p:nvPr/>
        </p:nvSpPr>
        <p:spPr bwMode="auto">
          <a:xfrm>
            <a:off x="1773238" y="4502150"/>
            <a:ext cx="106362" cy="107950"/>
          </a:xfrm>
          <a:prstGeom prst="ellipse">
            <a:avLst/>
          </a:prstGeom>
          <a:noFill/>
          <a:ln w="1587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20528" name="Oval 60"/>
          <p:cNvSpPr>
            <a:spLocks noChangeArrowheads="1"/>
          </p:cNvSpPr>
          <p:nvPr/>
        </p:nvSpPr>
        <p:spPr bwMode="auto">
          <a:xfrm>
            <a:off x="2924175" y="3398838"/>
            <a:ext cx="106363" cy="106362"/>
          </a:xfrm>
          <a:prstGeom prst="ellipse">
            <a:avLst/>
          </a:prstGeom>
          <a:noFill/>
          <a:ln w="1587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20529" name="Line 61"/>
          <p:cNvSpPr>
            <a:spLocks noChangeShapeType="1"/>
          </p:cNvSpPr>
          <p:nvPr/>
        </p:nvSpPr>
        <p:spPr bwMode="auto">
          <a:xfrm>
            <a:off x="6375400" y="3573463"/>
            <a:ext cx="1588" cy="495300"/>
          </a:xfrm>
          <a:prstGeom prst="line">
            <a:avLst/>
          </a:prstGeom>
          <a:noFill/>
          <a:ln w="1587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30" name="Line 62"/>
          <p:cNvSpPr>
            <a:spLocks noChangeShapeType="1"/>
          </p:cNvSpPr>
          <p:nvPr/>
        </p:nvSpPr>
        <p:spPr bwMode="auto">
          <a:xfrm>
            <a:off x="6375400" y="4175125"/>
            <a:ext cx="1588" cy="479425"/>
          </a:xfrm>
          <a:prstGeom prst="line">
            <a:avLst/>
          </a:prstGeom>
          <a:noFill/>
          <a:ln w="1587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31" name="Line 63"/>
          <p:cNvSpPr>
            <a:spLocks noChangeShapeType="1"/>
          </p:cNvSpPr>
          <p:nvPr/>
        </p:nvSpPr>
        <p:spPr bwMode="auto">
          <a:xfrm>
            <a:off x="4973638" y="3573463"/>
            <a:ext cx="1698625" cy="1587"/>
          </a:xfrm>
          <a:prstGeom prst="line">
            <a:avLst/>
          </a:prstGeom>
          <a:noFill/>
          <a:ln w="1587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32" name="Oval 64"/>
          <p:cNvSpPr>
            <a:spLocks noChangeArrowheads="1"/>
          </p:cNvSpPr>
          <p:nvPr/>
        </p:nvSpPr>
        <p:spPr bwMode="auto">
          <a:xfrm>
            <a:off x="4927600" y="3527425"/>
            <a:ext cx="92075" cy="92075"/>
          </a:xfrm>
          <a:prstGeom prst="ellipse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20533" name="Oval 65"/>
          <p:cNvSpPr>
            <a:spLocks noChangeArrowheads="1"/>
          </p:cNvSpPr>
          <p:nvPr/>
        </p:nvSpPr>
        <p:spPr bwMode="auto">
          <a:xfrm>
            <a:off x="6329363" y="3527425"/>
            <a:ext cx="92075" cy="92075"/>
          </a:xfrm>
          <a:prstGeom prst="ellipse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20534" name="Line 66"/>
          <p:cNvSpPr>
            <a:spLocks noChangeShapeType="1"/>
          </p:cNvSpPr>
          <p:nvPr/>
        </p:nvSpPr>
        <p:spPr bwMode="auto">
          <a:xfrm flipH="1">
            <a:off x="6200775" y="4654550"/>
            <a:ext cx="349250" cy="1588"/>
          </a:xfrm>
          <a:prstGeom prst="line">
            <a:avLst/>
          </a:prstGeom>
          <a:noFill/>
          <a:ln w="23813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35" name="Line 67"/>
          <p:cNvSpPr>
            <a:spLocks noChangeShapeType="1"/>
          </p:cNvSpPr>
          <p:nvPr/>
        </p:nvSpPr>
        <p:spPr bwMode="auto">
          <a:xfrm flipH="1">
            <a:off x="6261100" y="4724400"/>
            <a:ext cx="220663" cy="1588"/>
          </a:xfrm>
          <a:prstGeom prst="line">
            <a:avLst/>
          </a:prstGeom>
          <a:noFill/>
          <a:ln w="23813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36" name="Line 68"/>
          <p:cNvSpPr>
            <a:spLocks noChangeShapeType="1"/>
          </p:cNvSpPr>
          <p:nvPr/>
        </p:nvSpPr>
        <p:spPr bwMode="auto">
          <a:xfrm flipH="1">
            <a:off x="6321425" y="4799013"/>
            <a:ext cx="107950" cy="1587"/>
          </a:xfrm>
          <a:prstGeom prst="line">
            <a:avLst/>
          </a:prstGeom>
          <a:noFill/>
          <a:ln w="23813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37" name="Line 69"/>
          <p:cNvSpPr>
            <a:spLocks noChangeShapeType="1"/>
          </p:cNvSpPr>
          <p:nvPr/>
        </p:nvSpPr>
        <p:spPr bwMode="auto">
          <a:xfrm>
            <a:off x="6230938" y="4068763"/>
            <a:ext cx="288925" cy="1587"/>
          </a:xfrm>
          <a:prstGeom prst="line">
            <a:avLst/>
          </a:prstGeom>
          <a:noFill/>
          <a:ln w="23813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38" name="Line 70"/>
          <p:cNvSpPr>
            <a:spLocks noChangeShapeType="1"/>
          </p:cNvSpPr>
          <p:nvPr/>
        </p:nvSpPr>
        <p:spPr bwMode="auto">
          <a:xfrm>
            <a:off x="6230938" y="4175125"/>
            <a:ext cx="288925" cy="1588"/>
          </a:xfrm>
          <a:prstGeom prst="line">
            <a:avLst/>
          </a:prstGeom>
          <a:noFill/>
          <a:ln w="23813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39" name="Oval 71"/>
          <p:cNvSpPr>
            <a:spLocks noChangeArrowheads="1"/>
          </p:cNvSpPr>
          <p:nvPr/>
        </p:nvSpPr>
        <p:spPr bwMode="auto">
          <a:xfrm>
            <a:off x="6672263" y="3519488"/>
            <a:ext cx="106362" cy="106362"/>
          </a:xfrm>
          <a:prstGeom prst="ellipse">
            <a:avLst/>
          </a:prstGeom>
          <a:noFill/>
          <a:ln w="1587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20540" name="Oval 72"/>
          <p:cNvSpPr>
            <a:spLocks noChangeArrowheads="1"/>
          </p:cNvSpPr>
          <p:nvPr/>
        </p:nvSpPr>
        <p:spPr bwMode="auto">
          <a:xfrm>
            <a:off x="4919663" y="3314700"/>
            <a:ext cx="106362" cy="106363"/>
          </a:xfrm>
          <a:prstGeom prst="ellipse">
            <a:avLst/>
          </a:prstGeom>
          <a:noFill/>
          <a:ln w="1587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20541" name="Freeform 73"/>
          <p:cNvSpPr>
            <a:spLocks/>
          </p:cNvSpPr>
          <p:nvPr/>
        </p:nvSpPr>
        <p:spPr bwMode="auto">
          <a:xfrm>
            <a:off x="1582738" y="4213225"/>
            <a:ext cx="204787" cy="122238"/>
          </a:xfrm>
          <a:custGeom>
            <a:avLst/>
            <a:gdLst>
              <a:gd name="T0" fmla="*/ 204788 w 27"/>
              <a:gd name="T1" fmla="*/ 0 h 16"/>
              <a:gd name="T2" fmla="*/ 0 w 27"/>
              <a:gd name="T3" fmla="*/ 122238 h 16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27" h="16">
                <a:moveTo>
                  <a:pt x="27" y="0"/>
                </a:moveTo>
                <a:cubicBezTo>
                  <a:pt x="17" y="3"/>
                  <a:pt x="8" y="9"/>
                  <a:pt x="0" y="16"/>
                </a:cubicBezTo>
              </a:path>
            </a:pathLst>
          </a:custGeom>
          <a:noFill/>
          <a:ln w="1587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42" name="Freeform 74"/>
          <p:cNvSpPr>
            <a:spLocks/>
          </p:cNvSpPr>
          <p:nvPr/>
        </p:nvSpPr>
        <p:spPr bwMode="auto">
          <a:xfrm>
            <a:off x="1498600" y="4273550"/>
            <a:ext cx="144463" cy="130175"/>
          </a:xfrm>
          <a:custGeom>
            <a:avLst/>
            <a:gdLst>
              <a:gd name="T0" fmla="*/ 91239 w 19"/>
              <a:gd name="T1" fmla="*/ 53601 h 17"/>
              <a:gd name="T2" fmla="*/ 144462 w 19"/>
              <a:gd name="T3" fmla="*/ 61259 h 17"/>
              <a:gd name="T4" fmla="*/ 144462 w 19"/>
              <a:gd name="T5" fmla="*/ 68916 h 17"/>
              <a:gd name="T6" fmla="*/ 68429 w 19"/>
              <a:gd name="T7" fmla="*/ 91888 h 17"/>
              <a:gd name="T8" fmla="*/ 0 w 19"/>
              <a:gd name="T9" fmla="*/ 130175 h 17"/>
              <a:gd name="T10" fmla="*/ 45620 w 19"/>
              <a:gd name="T11" fmla="*/ 68916 h 17"/>
              <a:gd name="T12" fmla="*/ 83636 w 19"/>
              <a:gd name="T13" fmla="*/ 0 h 17"/>
              <a:gd name="T14" fmla="*/ 83636 w 19"/>
              <a:gd name="T15" fmla="*/ 0 h 17"/>
              <a:gd name="T16" fmla="*/ 91239 w 19"/>
              <a:gd name="T17" fmla="*/ 53601 h 17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19" h="17">
                <a:moveTo>
                  <a:pt x="12" y="7"/>
                </a:moveTo>
                <a:cubicBezTo>
                  <a:pt x="19" y="8"/>
                  <a:pt x="19" y="8"/>
                  <a:pt x="19" y="8"/>
                </a:cubicBezTo>
                <a:cubicBezTo>
                  <a:pt x="19" y="9"/>
                  <a:pt x="19" y="9"/>
                  <a:pt x="19" y="9"/>
                </a:cubicBezTo>
                <a:cubicBezTo>
                  <a:pt x="9" y="12"/>
                  <a:pt x="9" y="12"/>
                  <a:pt x="9" y="12"/>
                </a:cubicBezTo>
                <a:cubicBezTo>
                  <a:pt x="6" y="14"/>
                  <a:pt x="3" y="16"/>
                  <a:pt x="0" y="17"/>
                </a:cubicBezTo>
                <a:cubicBezTo>
                  <a:pt x="2" y="15"/>
                  <a:pt x="4" y="12"/>
                  <a:pt x="6" y="9"/>
                </a:cubicBezTo>
                <a:cubicBezTo>
                  <a:pt x="11" y="0"/>
                  <a:pt x="11" y="0"/>
                  <a:pt x="11" y="0"/>
                </a:cubicBezTo>
                <a:cubicBezTo>
                  <a:pt x="11" y="0"/>
                  <a:pt x="11" y="0"/>
                  <a:pt x="11" y="0"/>
                </a:cubicBezTo>
                <a:cubicBezTo>
                  <a:pt x="12" y="7"/>
                  <a:pt x="12" y="7"/>
                  <a:pt x="12" y="7"/>
                </a:cubicBezTo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43" name="Freeform 75"/>
          <p:cNvSpPr>
            <a:spLocks noEditPoints="1"/>
          </p:cNvSpPr>
          <p:nvPr/>
        </p:nvSpPr>
        <p:spPr bwMode="auto">
          <a:xfrm>
            <a:off x="1566863" y="3451225"/>
            <a:ext cx="258762" cy="1050925"/>
          </a:xfrm>
          <a:custGeom>
            <a:avLst/>
            <a:gdLst>
              <a:gd name="T0" fmla="*/ 258763 w 163"/>
              <a:gd name="T1" fmla="*/ 1050925 h 662"/>
              <a:gd name="T2" fmla="*/ 0 w 163"/>
              <a:gd name="T3" fmla="*/ 625475 h 662"/>
              <a:gd name="T4" fmla="*/ 258763 w 163"/>
              <a:gd name="T5" fmla="*/ 549275 h 662"/>
              <a:gd name="T6" fmla="*/ 258763 w 163"/>
              <a:gd name="T7" fmla="*/ 0 h 662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63" h="662">
                <a:moveTo>
                  <a:pt x="163" y="662"/>
                </a:moveTo>
                <a:lnTo>
                  <a:pt x="0" y="394"/>
                </a:lnTo>
                <a:moveTo>
                  <a:pt x="163" y="346"/>
                </a:moveTo>
                <a:lnTo>
                  <a:pt x="163" y="0"/>
                </a:lnTo>
              </a:path>
            </a:pathLst>
          </a:custGeom>
          <a:noFill/>
          <a:ln w="1587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44" name="Freeform 76"/>
          <p:cNvSpPr>
            <a:spLocks/>
          </p:cNvSpPr>
          <p:nvPr/>
        </p:nvSpPr>
        <p:spPr bwMode="auto">
          <a:xfrm>
            <a:off x="4729163" y="3024188"/>
            <a:ext cx="206375" cy="122237"/>
          </a:xfrm>
          <a:custGeom>
            <a:avLst/>
            <a:gdLst>
              <a:gd name="T0" fmla="*/ 206375 w 27"/>
              <a:gd name="T1" fmla="*/ 0 h 16"/>
              <a:gd name="T2" fmla="*/ 0 w 27"/>
              <a:gd name="T3" fmla="*/ 122237 h 16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27" h="16">
                <a:moveTo>
                  <a:pt x="27" y="0"/>
                </a:moveTo>
                <a:cubicBezTo>
                  <a:pt x="17" y="3"/>
                  <a:pt x="8" y="9"/>
                  <a:pt x="0" y="16"/>
                </a:cubicBezTo>
              </a:path>
            </a:pathLst>
          </a:custGeom>
          <a:noFill/>
          <a:ln w="1587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45" name="Freeform 77"/>
          <p:cNvSpPr>
            <a:spLocks/>
          </p:cNvSpPr>
          <p:nvPr/>
        </p:nvSpPr>
        <p:spPr bwMode="auto">
          <a:xfrm>
            <a:off x="4652963" y="3086100"/>
            <a:ext cx="138112" cy="128588"/>
          </a:xfrm>
          <a:custGeom>
            <a:avLst/>
            <a:gdLst>
              <a:gd name="T0" fmla="*/ 84402 w 18"/>
              <a:gd name="T1" fmla="*/ 52948 h 17"/>
              <a:gd name="T2" fmla="*/ 138113 w 18"/>
              <a:gd name="T3" fmla="*/ 68076 h 17"/>
              <a:gd name="T4" fmla="*/ 138113 w 18"/>
              <a:gd name="T5" fmla="*/ 68076 h 17"/>
              <a:gd name="T6" fmla="*/ 61384 w 18"/>
              <a:gd name="T7" fmla="*/ 90768 h 17"/>
              <a:gd name="T8" fmla="*/ 0 w 18"/>
              <a:gd name="T9" fmla="*/ 128588 h 17"/>
              <a:gd name="T10" fmla="*/ 38365 w 18"/>
              <a:gd name="T11" fmla="*/ 68076 h 17"/>
              <a:gd name="T12" fmla="*/ 76729 w 18"/>
              <a:gd name="T13" fmla="*/ 0 h 17"/>
              <a:gd name="T14" fmla="*/ 76729 w 18"/>
              <a:gd name="T15" fmla="*/ 0 h 17"/>
              <a:gd name="T16" fmla="*/ 84402 w 18"/>
              <a:gd name="T17" fmla="*/ 52948 h 17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18" h="17">
                <a:moveTo>
                  <a:pt x="11" y="7"/>
                </a:moveTo>
                <a:cubicBezTo>
                  <a:pt x="18" y="9"/>
                  <a:pt x="18" y="9"/>
                  <a:pt x="18" y="9"/>
                </a:cubicBezTo>
                <a:cubicBezTo>
                  <a:pt x="18" y="9"/>
                  <a:pt x="18" y="9"/>
                  <a:pt x="18" y="9"/>
                </a:cubicBezTo>
                <a:cubicBezTo>
                  <a:pt x="8" y="12"/>
                  <a:pt x="8" y="12"/>
                  <a:pt x="8" y="12"/>
                </a:cubicBezTo>
                <a:cubicBezTo>
                  <a:pt x="5" y="14"/>
                  <a:pt x="2" y="16"/>
                  <a:pt x="0" y="17"/>
                </a:cubicBezTo>
                <a:cubicBezTo>
                  <a:pt x="1" y="15"/>
                  <a:pt x="3" y="12"/>
                  <a:pt x="5" y="9"/>
                </a:cubicBezTo>
                <a:cubicBezTo>
                  <a:pt x="10" y="0"/>
                  <a:pt x="10" y="0"/>
                  <a:pt x="10" y="0"/>
                </a:cubicBezTo>
                <a:cubicBezTo>
                  <a:pt x="10" y="0"/>
                  <a:pt x="10" y="0"/>
                  <a:pt x="10" y="0"/>
                </a:cubicBezTo>
                <a:cubicBezTo>
                  <a:pt x="11" y="7"/>
                  <a:pt x="11" y="7"/>
                  <a:pt x="11" y="7"/>
                </a:cubicBezTo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46" name="Freeform 78"/>
          <p:cNvSpPr>
            <a:spLocks noEditPoints="1"/>
          </p:cNvSpPr>
          <p:nvPr/>
        </p:nvSpPr>
        <p:spPr bwMode="auto">
          <a:xfrm>
            <a:off x="4714875" y="1844675"/>
            <a:ext cx="258763" cy="1470025"/>
          </a:xfrm>
          <a:custGeom>
            <a:avLst/>
            <a:gdLst>
              <a:gd name="T0" fmla="*/ 258762 w 163"/>
              <a:gd name="T1" fmla="*/ 1470025 h 926"/>
              <a:gd name="T2" fmla="*/ 0 w 163"/>
              <a:gd name="T3" fmla="*/ 1042988 h 926"/>
              <a:gd name="T4" fmla="*/ 258762 w 163"/>
              <a:gd name="T5" fmla="*/ 966788 h 926"/>
              <a:gd name="T6" fmla="*/ 258762 w 163"/>
              <a:gd name="T7" fmla="*/ 0 h 926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63" h="926">
                <a:moveTo>
                  <a:pt x="163" y="926"/>
                </a:moveTo>
                <a:lnTo>
                  <a:pt x="0" y="657"/>
                </a:lnTo>
                <a:moveTo>
                  <a:pt x="163" y="609"/>
                </a:moveTo>
                <a:lnTo>
                  <a:pt x="163" y="0"/>
                </a:lnTo>
              </a:path>
            </a:pathLst>
          </a:custGeom>
          <a:noFill/>
          <a:ln w="1587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47" name="Freeform 79"/>
          <p:cNvSpPr>
            <a:spLocks/>
          </p:cNvSpPr>
          <p:nvPr/>
        </p:nvSpPr>
        <p:spPr bwMode="auto">
          <a:xfrm>
            <a:off x="2200275" y="2095500"/>
            <a:ext cx="220663" cy="898525"/>
          </a:xfrm>
          <a:custGeom>
            <a:avLst/>
            <a:gdLst>
              <a:gd name="T0" fmla="*/ 0 w 29"/>
              <a:gd name="T1" fmla="*/ 0 h 118"/>
              <a:gd name="T2" fmla="*/ 7609 w 29"/>
              <a:gd name="T3" fmla="*/ 456877 h 118"/>
              <a:gd name="T4" fmla="*/ 144572 w 29"/>
              <a:gd name="T5" fmla="*/ 807150 h 118"/>
              <a:gd name="T6" fmla="*/ 220662 w 29"/>
              <a:gd name="T7" fmla="*/ 898525 h 118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9" h="118">
                <a:moveTo>
                  <a:pt x="0" y="0"/>
                </a:moveTo>
                <a:cubicBezTo>
                  <a:pt x="0" y="7"/>
                  <a:pt x="1" y="57"/>
                  <a:pt x="1" y="60"/>
                </a:cubicBezTo>
                <a:cubicBezTo>
                  <a:pt x="1" y="74"/>
                  <a:pt x="6" y="90"/>
                  <a:pt x="19" y="106"/>
                </a:cubicBezTo>
                <a:cubicBezTo>
                  <a:pt x="29" y="118"/>
                  <a:pt x="29" y="118"/>
                  <a:pt x="29" y="118"/>
                </a:cubicBezTo>
              </a:path>
            </a:pathLst>
          </a:custGeom>
          <a:noFill/>
          <a:ln w="31750" cap="flat">
            <a:solidFill>
              <a:srgbClr val="0038A8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48" name="Freeform 80"/>
          <p:cNvSpPr>
            <a:spLocks/>
          </p:cNvSpPr>
          <p:nvPr/>
        </p:nvSpPr>
        <p:spPr bwMode="auto">
          <a:xfrm>
            <a:off x="2336800" y="2909888"/>
            <a:ext cx="174625" cy="198437"/>
          </a:xfrm>
          <a:custGeom>
            <a:avLst/>
            <a:gdLst>
              <a:gd name="T0" fmla="*/ 68332 w 23"/>
              <a:gd name="T1" fmla="*/ 68690 h 26"/>
              <a:gd name="T2" fmla="*/ 91109 w 23"/>
              <a:gd name="T3" fmla="*/ 0 h 26"/>
              <a:gd name="T4" fmla="*/ 98701 w 23"/>
              <a:gd name="T5" fmla="*/ 0 h 26"/>
              <a:gd name="T6" fmla="*/ 129071 w 23"/>
              <a:gd name="T7" fmla="*/ 99219 h 26"/>
              <a:gd name="T8" fmla="*/ 174625 w 23"/>
              <a:gd name="T9" fmla="*/ 198437 h 26"/>
              <a:gd name="T10" fmla="*/ 91109 w 23"/>
              <a:gd name="T11" fmla="*/ 129747 h 26"/>
              <a:gd name="T12" fmla="*/ 0 w 23"/>
              <a:gd name="T13" fmla="*/ 76322 h 26"/>
              <a:gd name="T14" fmla="*/ 0 w 23"/>
              <a:gd name="T15" fmla="*/ 76322 h 26"/>
              <a:gd name="T16" fmla="*/ 68332 w 23"/>
              <a:gd name="T17" fmla="*/ 68690 h 2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23" h="26">
                <a:moveTo>
                  <a:pt x="9" y="9"/>
                </a:moveTo>
                <a:cubicBezTo>
                  <a:pt x="12" y="0"/>
                  <a:pt x="12" y="0"/>
                  <a:pt x="12" y="0"/>
                </a:cubicBezTo>
                <a:cubicBezTo>
                  <a:pt x="13" y="0"/>
                  <a:pt x="13" y="0"/>
                  <a:pt x="13" y="0"/>
                </a:cubicBezTo>
                <a:cubicBezTo>
                  <a:pt x="17" y="13"/>
                  <a:pt x="17" y="13"/>
                  <a:pt x="17" y="13"/>
                </a:cubicBezTo>
                <a:cubicBezTo>
                  <a:pt x="19" y="17"/>
                  <a:pt x="21" y="22"/>
                  <a:pt x="23" y="26"/>
                </a:cubicBezTo>
                <a:cubicBezTo>
                  <a:pt x="20" y="23"/>
                  <a:pt x="16" y="20"/>
                  <a:pt x="12" y="17"/>
                </a:cubicBezTo>
                <a:cubicBezTo>
                  <a:pt x="0" y="10"/>
                  <a:pt x="0" y="10"/>
                  <a:pt x="0" y="10"/>
                </a:cubicBezTo>
                <a:cubicBezTo>
                  <a:pt x="0" y="10"/>
                  <a:pt x="0" y="10"/>
                  <a:pt x="0" y="10"/>
                </a:cubicBezTo>
                <a:lnTo>
                  <a:pt x="9" y="9"/>
                </a:lnTo>
                <a:close/>
              </a:path>
            </a:pathLst>
          </a:custGeom>
          <a:solidFill>
            <a:srgbClr val="0038A8"/>
          </a:solidFill>
          <a:ln w="9525">
            <a:solidFill>
              <a:schemeClr val="accent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0549" name="Freeform 81"/>
          <p:cNvSpPr>
            <a:spLocks/>
          </p:cNvSpPr>
          <p:nvPr/>
        </p:nvSpPr>
        <p:spPr bwMode="auto">
          <a:xfrm>
            <a:off x="5354638" y="4159250"/>
            <a:ext cx="122237" cy="206375"/>
          </a:xfrm>
          <a:custGeom>
            <a:avLst/>
            <a:gdLst>
              <a:gd name="T0" fmla="*/ 61119 w 16"/>
              <a:gd name="T1" fmla="*/ 38218 h 27"/>
              <a:gd name="T2" fmla="*/ 122238 w 16"/>
              <a:gd name="T3" fmla="*/ 7644 h 27"/>
              <a:gd name="T4" fmla="*/ 122238 w 16"/>
              <a:gd name="T5" fmla="*/ 7644 h 27"/>
              <a:gd name="T6" fmla="*/ 76399 w 16"/>
              <a:gd name="T7" fmla="*/ 99366 h 27"/>
              <a:gd name="T8" fmla="*/ 53479 w 16"/>
              <a:gd name="T9" fmla="*/ 206375 h 27"/>
              <a:gd name="T10" fmla="*/ 30560 w 16"/>
              <a:gd name="T11" fmla="*/ 99366 h 27"/>
              <a:gd name="T12" fmla="*/ 0 w 16"/>
              <a:gd name="T13" fmla="*/ 0 h 27"/>
              <a:gd name="T14" fmla="*/ 0 w 16"/>
              <a:gd name="T15" fmla="*/ 0 h 27"/>
              <a:gd name="T16" fmla="*/ 61119 w 16"/>
              <a:gd name="T17" fmla="*/ 38218 h 27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16" h="27">
                <a:moveTo>
                  <a:pt x="8" y="5"/>
                </a:moveTo>
                <a:cubicBezTo>
                  <a:pt x="16" y="1"/>
                  <a:pt x="16" y="1"/>
                  <a:pt x="16" y="1"/>
                </a:cubicBezTo>
                <a:cubicBezTo>
                  <a:pt x="16" y="1"/>
                  <a:pt x="16" y="1"/>
                  <a:pt x="16" y="1"/>
                </a:cubicBezTo>
                <a:cubicBezTo>
                  <a:pt x="10" y="13"/>
                  <a:pt x="10" y="13"/>
                  <a:pt x="10" y="13"/>
                </a:cubicBezTo>
                <a:cubicBezTo>
                  <a:pt x="9" y="18"/>
                  <a:pt x="8" y="22"/>
                  <a:pt x="7" y="27"/>
                </a:cubicBezTo>
                <a:cubicBezTo>
                  <a:pt x="6" y="22"/>
                  <a:pt x="5" y="18"/>
                  <a:pt x="4" y="13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8" y="5"/>
                </a:lnTo>
                <a:close/>
              </a:path>
            </a:pathLst>
          </a:custGeom>
          <a:solidFill>
            <a:srgbClr val="0038A8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0550" name="Freeform 82"/>
          <p:cNvSpPr>
            <a:spLocks/>
          </p:cNvSpPr>
          <p:nvPr/>
        </p:nvSpPr>
        <p:spPr bwMode="auto">
          <a:xfrm>
            <a:off x="5414963" y="3771900"/>
            <a:ext cx="579437" cy="692150"/>
          </a:xfrm>
          <a:custGeom>
            <a:avLst/>
            <a:gdLst>
              <a:gd name="T0" fmla="*/ 579438 w 76"/>
              <a:gd name="T1" fmla="*/ 692150 h 91"/>
              <a:gd name="T2" fmla="*/ 282095 w 76"/>
              <a:gd name="T3" fmla="*/ 15212 h 91"/>
              <a:gd name="T4" fmla="*/ 0 w 76"/>
              <a:gd name="T5" fmla="*/ 463969 h 91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76" h="91">
                <a:moveTo>
                  <a:pt x="76" y="91"/>
                </a:moveTo>
                <a:cubicBezTo>
                  <a:pt x="74" y="66"/>
                  <a:pt x="67" y="2"/>
                  <a:pt x="37" y="2"/>
                </a:cubicBezTo>
                <a:cubicBezTo>
                  <a:pt x="37" y="2"/>
                  <a:pt x="2" y="0"/>
                  <a:pt x="0" y="61"/>
                </a:cubicBezTo>
              </a:path>
            </a:pathLst>
          </a:custGeom>
          <a:noFill/>
          <a:ln w="31750" cap="flat">
            <a:solidFill>
              <a:srgbClr val="0038A8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51" name="Rectangle 83"/>
          <p:cNvSpPr>
            <a:spLocks noChangeArrowheads="1"/>
          </p:cNvSpPr>
          <p:nvPr/>
        </p:nvSpPr>
        <p:spPr bwMode="auto">
          <a:xfrm>
            <a:off x="6873875" y="3397250"/>
            <a:ext cx="149225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900">
                <a:solidFill>
                  <a:srgbClr val="000000"/>
                </a:solidFill>
                <a:latin typeface="Times Ten Roman"/>
              </a:rPr>
              <a:t>V</a:t>
            </a:r>
            <a:endParaRPr lang="en-US" altLang="en-US" sz="1800" i="0">
              <a:solidFill>
                <a:schemeClr val="tx2"/>
              </a:solidFill>
              <a:latin typeface="Book Antiqua" panose="02040602050305030304" pitchFamily="18" charset="0"/>
            </a:endParaRPr>
          </a:p>
        </p:txBody>
      </p:sp>
      <p:sp>
        <p:nvSpPr>
          <p:cNvPr id="20552" name="Rectangle 84"/>
          <p:cNvSpPr>
            <a:spLocks noChangeArrowheads="1"/>
          </p:cNvSpPr>
          <p:nvPr/>
        </p:nvSpPr>
        <p:spPr bwMode="auto">
          <a:xfrm>
            <a:off x="7050088" y="3521075"/>
            <a:ext cx="228600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400">
                <a:solidFill>
                  <a:srgbClr val="000000"/>
                </a:solidFill>
                <a:latin typeface="Times Ten Roman"/>
              </a:rPr>
              <a:t>out</a:t>
            </a:r>
            <a:endParaRPr lang="en-US" altLang="en-US" sz="1800" i="0">
              <a:solidFill>
                <a:schemeClr val="tx2"/>
              </a:solidFill>
              <a:latin typeface="Book Antiqua" panose="02040602050305030304" pitchFamily="18" charset="0"/>
            </a:endParaRPr>
          </a:p>
        </p:txBody>
      </p:sp>
      <p:sp>
        <p:nvSpPr>
          <p:cNvPr id="20553" name="Rectangle 85"/>
          <p:cNvSpPr>
            <a:spLocks noChangeArrowheads="1"/>
          </p:cNvSpPr>
          <p:nvPr/>
        </p:nvSpPr>
        <p:spPr bwMode="auto">
          <a:xfrm>
            <a:off x="3125788" y="3275013"/>
            <a:ext cx="149225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900">
                <a:solidFill>
                  <a:srgbClr val="000000"/>
                </a:solidFill>
                <a:latin typeface="Times Ten Roman"/>
              </a:rPr>
              <a:t>V</a:t>
            </a:r>
            <a:endParaRPr lang="en-US" altLang="en-US" sz="1800" i="0">
              <a:solidFill>
                <a:schemeClr val="tx2"/>
              </a:solidFill>
              <a:latin typeface="Book Antiqua" panose="02040602050305030304" pitchFamily="18" charset="0"/>
            </a:endParaRPr>
          </a:p>
        </p:txBody>
      </p:sp>
      <p:sp>
        <p:nvSpPr>
          <p:cNvPr id="20554" name="Rectangle 86"/>
          <p:cNvSpPr>
            <a:spLocks noChangeArrowheads="1"/>
          </p:cNvSpPr>
          <p:nvPr/>
        </p:nvSpPr>
        <p:spPr bwMode="auto">
          <a:xfrm>
            <a:off x="3300413" y="3395663"/>
            <a:ext cx="246062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500">
                <a:solidFill>
                  <a:srgbClr val="000000"/>
                </a:solidFill>
                <a:latin typeface="Times Ten Roman"/>
              </a:rPr>
              <a:t>out</a:t>
            </a:r>
            <a:endParaRPr lang="en-US" altLang="en-US" sz="1800" i="0">
              <a:solidFill>
                <a:schemeClr val="tx2"/>
              </a:solidFill>
              <a:latin typeface="Book Antiqua" panose="02040602050305030304" pitchFamily="18" charset="0"/>
            </a:endParaRPr>
          </a:p>
        </p:txBody>
      </p:sp>
      <p:sp>
        <p:nvSpPr>
          <p:cNvPr id="20555" name="Rectangle 87"/>
          <p:cNvSpPr>
            <a:spLocks noChangeArrowheads="1"/>
          </p:cNvSpPr>
          <p:nvPr/>
        </p:nvSpPr>
        <p:spPr bwMode="auto">
          <a:xfrm>
            <a:off x="4510088" y="4286250"/>
            <a:ext cx="149225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900">
                <a:solidFill>
                  <a:srgbClr val="000000"/>
                </a:solidFill>
                <a:latin typeface="Times Ten Roman"/>
              </a:rPr>
              <a:t>R</a:t>
            </a:r>
            <a:endParaRPr lang="en-US" altLang="en-US" sz="1800" i="0">
              <a:solidFill>
                <a:schemeClr val="tx2"/>
              </a:solidFill>
              <a:latin typeface="Book Antiqua" panose="02040602050305030304" pitchFamily="18" charset="0"/>
            </a:endParaRPr>
          </a:p>
        </p:txBody>
      </p:sp>
      <p:sp>
        <p:nvSpPr>
          <p:cNvPr id="20556" name="Rectangle 88"/>
          <p:cNvSpPr>
            <a:spLocks noChangeArrowheads="1"/>
          </p:cNvSpPr>
          <p:nvPr/>
        </p:nvSpPr>
        <p:spPr bwMode="auto">
          <a:xfrm>
            <a:off x="4686300" y="4406900"/>
            <a:ext cx="90488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400">
                <a:solidFill>
                  <a:srgbClr val="000000"/>
                </a:solidFill>
                <a:latin typeface="Times Ten Roman"/>
              </a:rPr>
              <a:t>n</a:t>
            </a:r>
            <a:endParaRPr lang="en-US" altLang="en-US" sz="1800" i="0">
              <a:solidFill>
                <a:schemeClr val="tx2"/>
              </a:solidFill>
              <a:latin typeface="Book Antiqua" panose="02040602050305030304" pitchFamily="18" charset="0"/>
            </a:endParaRPr>
          </a:p>
        </p:txBody>
      </p:sp>
      <p:sp>
        <p:nvSpPr>
          <p:cNvPr id="20557" name="Rectangle 89"/>
          <p:cNvSpPr>
            <a:spLocks noChangeArrowheads="1"/>
          </p:cNvSpPr>
          <p:nvPr/>
        </p:nvSpPr>
        <p:spPr bwMode="auto">
          <a:xfrm>
            <a:off x="1362075" y="2262188"/>
            <a:ext cx="149225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900">
                <a:solidFill>
                  <a:srgbClr val="000000"/>
                </a:solidFill>
                <a:latin typeface="Times Ten Roman"/>
              </a:rPr>
              <a:t>R</a:t>
            </a:r>
            <a:endParaRPr lang="en-US" altLang="en-US" sz="1800" i="0">
              <a:solidFill>
                <a:schemeClr val="tx2"/>
              </a:solidFill>
              <a:latin typeface="Book Antiqua" panose="02040602050305030304" pitchFamily="18" charset="0"/>
            </a:endParaRPr>
          </a:p>
        </p:txBody>
      </p:sp>
      <p:sp>
        <p:nvSpPr>
          <p:cNvPr id="20558" name="Rectangle 90"/>
          <p:cNvSpPr>
            <a:spLocks noChangeArrowheads="1"/>
          </p:cNvSpPr>
          <p:nvPr/>
        </p:nvSpPr>
        <p:spPr bwMode="auto">
          <a:xfrm>
            <a:off x="1538288" y="2382838"/>
            <a:ext cx="90487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400">
                <a:solidFill>
                  <a:srgbClr val="000000"/>
                </a:solidFill>
                <a:latin typeface="Times Ten Roman"/>
              </a:rPr>
              <a:t>p</a:t>
            </a:r>
            <a:endParaRPr lang="en-US" altLang="en-US" sz="1800" i="0">
              <a:solidFill>
                <a:schemeClr val="tx2"/>
              </a:solidFill>
              <a:latin typeface="Book Antiqua" panose="02040602050305030304" pitchFamily="18" charset="0"/>
            </a:endParaRPr>
          </a:p>
        </p:txBody>
      </p:sp>
      <p:sp>
        <p:nvSpPr>
          <p:cNvPr id="20559" name="Rectangle 91"/>
          <p:cNvSpPr>
            <a:spLocks noChangeArrowheads="1"/>
          </p:cNvSpPr>
          <p:nvPr/>
        </p:nvSpPr>
        <p:spPr bwMode="auto">
          <a:xfrm>
            <a:off x="4732338" y="1458913"/>
            <a:ext cx="149225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900">
                <a:solidFill>
                  <a:srgbClr val="000000"/>
                </a:solidFill>
                <a:latin typeface="Times Ten Roman"/>
              </a:rPr>
              <a:t>V</a:t>
            </a:r>
            <a:endParaRPr lang="en-US" altLang="en-US" sz="1800" i="0">
              <a:solidFill>
                <a:schemeClr val="tx2"/>
              </a:solidFill>
              <a:latin typeface="Book Antiqua" panose="02040602050305030304" pitchFamily="18" charset="0"/>
            </a:endParaRPr>
          </a:p>
        </p:txBody>
      </p:sp>
      <p:sp>
        <p:nvSpPr>
          <p:cNvPr id="20560" name="Rectangle 92"/>
          <p:cNvSpPr>
            <a:spLocks noChangeArrowheads="1"/>
          </p:cNvSpPr>
          <p:nvPr/>
        </p:nvSpPr>
        <p:spPr bwMode="auto">
          <a:xfrm>
            <a:off x="4906963" y="1579563"/>
            <a:ext cx="260350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400">
                <a:solidFill>
                  <a:srgbClr val="000000"/>
                </a:solidFill>
                <a:latin typeface="Times Ten Roman"/>
              </a:rPr>
              <a:t>DD</a:t>
            </a:r>
            <a:endParaRPr lang="en-US" altLang="en-US" sz="1800" i="0">
              <a:solidFill>
                <a:schemeClr val="tx2"/>
              </a:solidFill>
              <a:latin typeface="Book Antiqua" panose="02040602050305030304" pitchFamily="18" charset="0"/>
            </a:endParaRPr>
          </a:p>
        </p:txBody>
      </p:sp>
      <p:sp>
        <p:nvSpPr>
          <p:cNvPr id="20561" name="Rectangle 93"/>
          <p:cNvSpPr>
            <a:spLocks noChangeArrowheads="1"/>
          </p:cNvSpPr>
          <p:nvPr/>
        </p:nvSpPr>
        <p:spPr bwMode="auto">
          <a:xfrm>
            <a:off x="1582738" y="1427163"/>
            <a:ext cx="149225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900">
                <a:solidFill>
                  <a:srgbClr val="000000"/>
                </a:solidFill>
                <a:latin typeface="Times Ten Roman"/>
              </a:rPr>
              <a:t>V</a:t>
            </a:r>
            <a:endParaRPr lang="en-US" altLang="en-US" sz="1800" i="0">
              <a:solidFill>
                <a:schemeClr val="tx2"/>
              </a:solidFill>
              <a:latin typeface="Book Antiqua" panose="02040602050305030304" pitchFamily="18" charset="0"/>
            </a:endParaRPr>
          </a:p>
        </p:txBody>
      </p:sp>
      <p:sp>
        <p:nvSpPr>
          <p:cNvPr id="20562" name="Rectangle 94"/>
          <p:cNvSpPr>
            <a:spLocks noChangeArrowheads="1"/>
          </p:cNvSpPr>
          <p:nvPr/>
        </p:nvSpPr>
        <p:spPr bwMode="auto">
          <a:xfrm>
            <a:off x="1758950" y="1547813"/>
            <a:ext cx="260350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400">
                <a:solidFill>
                  <a:srgbClr val="000000"/>
                </a:solidFill>
                <a:latin typeface="Times Ten Roman"/>
              </a:rPr>
              <a:t>DD</a:t>
            </a:r>
            <a:endParaRPr lang="en-US" altLang="en-US" sz="1800" i="0">
              <a:solidFill>
                <a:schemeClr val="tx2"/>
              </a:solidFill>
              <a:latin typeface="Book Antiqua" panose="02040602050305030304" pitchFamily="18" charset="0"/>
            </a:endParaRPr>
          </a:p>
        </p:txBody>
      </p:sp>
      <p:sp>
        <p:nvSpPr>
          <p:cNvPr id="20563" name="Rectangle 95"/>
          <p:cNvSpPr>
            <a:spLocks noChangeArrowheads="1"/>
          </p:cNvSpPr>
          <p:nvPr/>
        </p:nvSpPr>
        <p:spPr bwMode="auto">
          <a:xfrm>
            <a:off x="5132388" y="5287963"/>
            <a:ext cx="149225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900">
                <a:solidFill>
                  <a:srgbClr val="000000"/>
                </a:solidFill>
                <a:latin typeface="Times Ten Roman"/>
              </a:rPr>
              <a:t>V</a:t>
            </a:r>
            <a:endParaRPr lang="en-US" altLang="en-US" sz="1800" i="0">
              <a:solidFill>
                <a:schemeClr val="tx2"/>
              </a:solidFill>
              <a:latin typeface="Book Antiqua" panose="02040602050305030304" pitchFamily="18" charset="0"/>
            </a:endParaRPr>
          </a:p>
        </p:txBody>
      </p:sp>
      <p:sp>
        <p:nvSpPr>
          <p:cNvPr id="20564" name="Rectangle 96"/>
          <p:cNvSpPr>
            <a:spLocks noChangeArrowheads="1"/>
          </p:cNvSpPr>
          <p:nvPr/>
        </p:nvSpPr>
        <p:spPr bwMode="auto">
          <a:xfrm>
            <a:off x="5308600" y="5408613"/>
            <a:ext cx="149225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500">
                <a:solidFill>
                  <a:srgbClr val="000000"/>
                </a:solidFill>
                <a:latin typeface="Times Ten Roman"/>
              </a:rPr>
              <a:t>in</a:t>
            </a:r>
            <a:endParaRPr lang="en-US" altLang="en-US" sz="1800" i="0">
              <a:solidFill>
                <a:schemeClr val="tx2"/>
              </a:solidFill>
              <a:latin typeface="Book Antiqua" panose="02040602050305030304" pitchFamily="18" charset="0"/>
            </a:endParaRPr>
          </a:p>
        </p:txBody>
      </p:sp>
      <p:sp>
        <p:nvSpPr>
          <p:cNvPr id="20565" name="Rectangle 97"/>
          <p:cNvSpPr>
            <a:spLocks noChangeArrowheads="1"/>
          </p:cNvSpPr>
          <p:nvPr/>
        </p:nvSpPr>
        <p:spPr bwMode="auto">
          <a:xfrm>
            <a:off x="5507038" y="5326063"/>
            <a:ext cx="121828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900" i="0" dirty="0">
                <a:solidFill>
                  <a:srgbClr val="000000"/>
                </a:solidFill>
                <a:latin typeface="MathematicalPi 1"/>
              </a:rPr>
              <a:t>=</a:t>
            </a:r>
            <a:endParaRPr lang="en-US" altLang="en-US" sz="1800" i="0" dirty="0">
              <a:solidFill>
                <a:schemeClr val="tx2"/>
              </a:solidFill>
              <a:latin typeface="Book Antiqua" panose="02040602050305030304" pitchFamily="18" charset="0"/>
            </a:endParaRPr>
          </a:p>
        </p:txBody>
      </p:sp>
      <p:sp>
        <p:nvSpPr>
          <p:cNvPr id="20566" name="Rectangle 98"/>
          <p:cNvSpPr>
            <a:spLocks noChangeArrowheads="1"/>
          </p:cNvSpPr>
          <p:nvPr/>
        </p:nvSpPr>
        <p:spPr bwMode="auto">
          <a:xfrm>
            <a:off x="5770563" y="5287963"/>
            <a:ext cx="149225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900">
                <a:solidFill>
                  <a:srgbClr val="000000"/>
                </a:solidFill>
                <a:latin typeface="Times Ten Roman"/>
              </a:rPr>
              <a:t>V</a:t>
            </a:r>
            <a:endParaRPr lang="en-US" altLang="en-US" sz="1800" i="0">
              <a:solidFill>
                <a:schemeClr val="tx2"/>
              </a:solidFill>
              <a:latin typeface="Book Antiqua" panose="02040602050305030304" pitchFamily="18" charset="0"/>
            </a:endParaRPr>
          </a:p>
        </p:txBody>
      </p:sp>
      <p:sp>
        <p:nvSpPr>
          <p:cNvPr id="20567" name="Rectangle 99"/>
          <p:cNvSpPr>
            <a:spLocks noChangeArrowheads="1"/>
          </p:cNvSpPr>
          <p:nvPr/>
        </p:nvSpPr>
        <p:spPr bwMode="auto">
          <a:xfrm>
            <a:off x="5946775" y="5408613"/>
            <a:ext cx="279400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500">
                <a:solidFill>
                  <a:srgbClr val="000000"/>
                </a:solidFill>
                <a:latin typeface="Times Ten Roman"/>
              </a:rPr>
              <a:t>DD</a:t>
            </a:r>
            <a:endParaRPr lang="en-US" altLang="en-US" sz="1800" i="0">
              <a:solidFill>
                <a:schemeClr val="tx2"/>
              </a:solidFill>
              <a:latin typeface="Book Antiqua" panose="02040602050305030304" pitchFamily="18" charset="0"/>
            </a:endParaRPr>
          </a:p>
        </p:txBody>
      </p:sp>
      <p:sp>
        <p:nvSpPr>
          <p:cNvPr id="20568" name="Rectangle 100"/>
          <p:cNvSpPr>
            <a:spLocks noChangeArrowheads="1"/>
          </p:cNvSpPr>
          <p:nvPr/>
        </p:nvSpPr>
        <p:spPr bwMode="auto">
          <a:xfrm>
            <a:off x="1862138" y="5286375"/>
            <a:ext cx="149225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900">
                <a:solidFill>
                  <a:srgbClr val="000000"/>
                </a:solidFill>
                <a:latin typeface="Times Ten Roman"/>
              </a:rPr>
              <a:t>V</a:t>
            </a:r>
            <a:endParaRPr lang="en-US" altLang="en-US" sz="1800" i="0">
              <a:solidFill>
                <a:schemeClr val="tx2"/>
              </a:solidFill>
              <a:latin typeface="Book Antiqua" panose="02040602050305030304" pitchFamily="18" charset="0"/>
            </a:endParaRPr>
          </a:p>
        </p:txBody>
      </p:sp>
      <p:sp>
        <p:nvSpPr>
          <p:cNvPr id="20569" name="Rectangle 101"/>
          <p:cNvSpPr>
            <a:spLocks noChangeArrowheads="1"/>
          </p:cNvSpPr>
          <p:nvPr/>
        </p:nvSpPr>
        <p:spPr bwMode="auto">
          <a:xfrm>
            <a:off x="2038350" y="5410200"/>
            <a:ext cx="139700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400">
                <a:solidFill>
                  <a:srgbClr val="000000"/>
                </a:solidFill>
                <a:latin typeface="Times Ten Roman"/>
              </a:rPr>
              <a:t>in</a:t>
            </a:r>
            <a:endParaRPr lang="en-US" altLang="en-US" sz="1800" i="0">
              <a:solidFill>
                <a:schemeClr val="tx2"/>
              </a:solidFill>
              <a:latin typeface="Book Antiqua" panose="02040602050305030304" pitchFamily="18" charset="0"/>
            </a:endParaRPr>
          </a:p>
        </p:txBody>
      </p:sp>
      <p:sp>
        <p:nvSpPr>
          <p:cNvPr id="20570" name="Rectangle 102"/>
          <p:cNvSpPr>
            <a:spLocks noChangeArrowheads="1"/>
          </p:cNvSpPr>
          <p:nvPr/>
        </p:nvSpPr>
        <p:spPr bwMode="auto">
          <a:xfrm>
            <a:off x="2236788" y="5324475"/>
            <a:ext cx="121828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900" i="0" dirty="0">
                <a:solidFill>
                  <a:srgbClr val="000000"/>
                </a:solidFill>
                <a:latin typeface="MathematicalPi 1"/>
              </a:rPr>
              <a:t>=</a:t>
            </a:r>
            <a:endParaRPr lang="en-US" altLang="en-US" sz="1800" i="0" dirty="0">
              <a:solidFill>
                <a:schemeClr val="tx2"/>
              </a:solidFill>
              <a:latin typeface="Book Antiqua" panose="02040602050305030304" pitchFamily="18" charset="0"/>
            </a:endParaRPr>
          </a:p>
        </p:txBody>
      </p:sp>
      <p:sp>
        <p:nvSpPr>
          <p:cNvPr id="20571" name="Rectangle 103"/>
          <p:cNvSpPr>
            <a:spLocks noChangeArrowheads="1"/>
          </p:cNvSpPr>
          <p:nvPr/>
        </p:nvSpPr>
        <p:spPr bwMode="auto">
          <a:xfrm>
            <a:off x="2501900" y="5286375"/>
            <a:ext cx="122238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900" i="0">
                <a:solidFill>
                  <a:srgbClr val="000000"/>
                </a:solidFill>
                <a:latin typeface="Times Ten Roman"/>
              </a:rPr>
              <a:t>0</a:t>
            </a:r>
            <a:endParaRPr lang="en-US" altLang="en-US" sz="1800" i="0">
              <a:solidFill>
                <a:schemeClr val="tx2"/>
              </a:solidFill>
              <a:latin typeface="Book Antiqua" panose="02040602050305030304" pitchFamily="18" charset="0"/>
            </a:endParaRPr>
          </a:p>
        </p:txBody>
      </p:sp>
      <p:sp>
        <p:nvSpPr>
          <p:cNvPr id="20572" name="Rectangle 104"/>
          <p:cNvSpPr>
            <a:spLocks noChangeArrowheads="1"/>
          </p:cNvSpPr>
          <p:nvPr/>
        </p:nvSpPr>
        <p:spPr bwMode="auto">
          <a:xfrm>
            <a:off x="1400175" y="5715000"/>
            <a:ext cx="1565275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900" i="0" dirty="0">
                <a:solidFill>
                  <a:srgbClr val="000000"/>
                </a:solidFill>
                <a:latin typeface="Times Ten Roman"/>
              </a:rPr>
              <a:t>(a) Low-to-high</a:t>
            </a:r>
            <a:endParaRPr lang="en-US" altLang="en-US" sz="1800" i="0" dirty="0">
              <a:solidFill>
                <a:schemeClr val="tx2"/>
              </a:solidFill>
              <a:latin typeface="Book Antiqua" panose="02040602050305030304" pitchFamily="18" charset="0"/>
            </a:endParaRPr>
          </a:p>
        </p:txBody>
      </p:sp>
      <p:sp>
        <p:nvSpPr>
          <p:cNvPr id="20573" name="Rectangle 105"/>
          <p:cNvSpPr>
            <a:spLocks noChangeArrowheads="1"/>
          </p:cNvSpPr>
          <p:nvPr/>
        </p:nvSpPr>
        <p:spPr bwMode="auto">
          <a:xfrm>
            <a:off x="4854575" y="5715000"/>
            <a:ext cx="1552575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900" i="0">
                <a:solidFill>
                  <a:srgbClr val="000000"/>
                </a:solidFill>
                <a:latin typeface="Times Ten Roman"/>
              </a:rPr>
              <a:t>(b) High-to-low</a:t>
            </a:r>
            <a:endParaRPr lang="en-US" altLang="en-US" sz="1800" i="0">
              <a:solidFill>
                <a:schemeClr val="tx2"/>
              </a:solidFill>
              <a:latin typeface="Book Antiqua" panose="02040602050305030304" pitchFamily="18" charset="0"/>
            </a:endParaRPr>
          </a:p>
        </p:txBody>
      </p:sp>
      <p:sp>
        <p:nvSpPr>
          <p:cNvPr id="20574" name="Rectangle 106"/>
          <p:cNvSpPr>
            <a:spLocks noChangeArrowheads="1"/>
          </p:cNvSpPr>
          <p:nvPr/>
        </p:nvSpPr>
        <p:spPr bwMode="auto">
          <a:xfrm>
            <a:off x="6611938" y="3948113"/>
            <a:ext cx="161925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900">
                <a:solidFill>
                  <a:srgbClr val="000000"/>
                </a:solidFill>
                <a:latin typeface="Times Ten Roman"/>
              </a:rPr>
              <a:t>C</a:t>
            </a:r>
            <a:endParaRPr lang="en-US" altLang="en-US" sz="1800" i="0">
              <a:solidFill>
                <a:schemeClr val="tx2"/>
              </a:solidFill>
              <a:latin typeface="Book Antiqua" panose="02040602050305030304" pitchFamily="18" charset="0"/>
            </a:endParaRPr>
          </a:p>
        </p:txBody>
      </p:sp>
      <p:sp>
        <p:nvSpPr>
          <p:cNvPr id="20575" name="Rectangle 107"/>
          <p:cNvSpPr>
            <a:spLocks noChangeArrowheads="1"/>
          </p:cNvSpPr>
          <p:nvPr/>
        </p:nvSpPr>
        <p:spPr bwMode="auto">
          <a:xfrm>
            <a:off x="6788150" y="4068763"/>
            <a:ext cx="100013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400">
                <a:solidFill>
                  <a:srgbClr val="000000"/>
                </a:solidFill>
                <a:latin typeface="Times Ten Roman"/>
              </a:rPr>
              <a:t>L</a:t>
            </a:r>
            <a:endParaRPr lang="en-US" altLang="en-US" sz="1800" i="0">
              <a:solidFill>
                <a:schemeClr val="tx2"/>
              </a:solidFill>
              <a:latin typeface="Book Antiqua" panose="02040602050305030304" pitchFamily="18" charset="0"/>
            </a:endParaRPr>
          </a:p>
        </p:txBody>
      </p:sp>
      <p:sp>
        <p:nvSpPr>
          <p:cNvPr id="20576" name="Rectangle 108"/>
          <p:cNvSpPr>
            <a:spLocks noChangeArrowheads="1"/>
          </p:cNvSpPr>
          <p:nvPr/>
        </p:nvSpPr>
        <p:spPr bwMode="auto">
          <a:xfrm>
            <a:off x="2760663" y="3827463"/>
            <a:ext cx="161925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900">
                <a:solidFill>
                  <a:srgbClr val="000000"/>
                </a:solidFill>
                <a:latin typeface="Times Ten Roman"/>
              </a:rPr>
              <a:t>C</a:t>
            </a:r>
            <a:endParaRPr lang="en-US" altLang="en-US" sz="1800" i="0">
              <a:solidFill>
                <a:schemeClr val="tx2"/>
              </a:solidFill>
              <a:latin typeface="Book Antiqua" panose="02040602050305030304" pitchFamily="18" charset="0"/>
            </a:endParaRPr>
          </a:p>
        </p:txBody>
      </p:sp>
      <p:sp>
        <p:nvSpPr>
          <p:cNvPr id="20577" name="Rectangle 109"/>
          <p:cNvSpPr>
            <a:spLocks noChangeArrowheads="1"/>
          </p:cNvSpPr>
          <p:nvPr/>
        </p:nvSpPr>
        <p:spPr bwMode="auto">
          <a:xfrm>
            <a:off x="2936875" y="3946525"/>
            <a:ext cx="100013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400">
                <a:solidFill>
                  <a:srgbClr val="000000"/>
                </a:solidFill>
                <a:latin typeface="Times Ten Roman"/>
              </a:rPr>
              <a:t>L</a:t>
            </a:r>
            <a:endParaRPr lang="en-US" altLang="en-US" sz="1800" i="0">
              <a:solidFill>
                <a:schemeClr val="tx2"/>
              </a:solidFill>
              <a:latin typeface="Book Antiqua" panose="02040602050305030304" pitchFamily="18" charset="0"/>
            </a:endParaRPr>
          </a:p>
        </p:txBody>
      </p:sp>
      <p:pic>
        <p:nvPicPr>
          <p:cNvPr id="20578" name="Picture 111" descr="https://lh4.googleusercontent.com/m6mz6Xp1lSGLHuK1mDI9wYK4gM2HijI5Kw6FYMsiIwbd584ft0Hb8meqPbfieqKa0s1kXhmwNsrwQqwSovmBodNZvcR-nfA7YN9YJZkBmLLEdBmiQeBQD7ZhSI3grzzjrH-CZXk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3800" y="3554413"/>
            <a:ext cx="4117975" cy="2552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40E42F9E-9EFC-7E4C-30BF-70BA6FD482E4}"/>
              </a:ext>
            </a:extLst>
          </p:cNvPr>
          <p:cNvSpPr/>
          <p:nvPr/>
        </p:nvSpPr>
        <p:spPr>
          <a:xfrm>
            <a:off x="1694896" y="2141092"/>
            <a:ext cx="266700" cy="64611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709EE15-0F7B-9309-49D6-04CFAF1B53E9}"/>
              </a:ext>
            </a:extLst>
          </p:cNvPr>
          <p:cNvSpPr/>
          <p:nvPr/>
        </p:nvSpPr>
        <p:spPr>
          <a:xfrm>
            <a:off x="4828382" y="4125119"/>
            <a:ext cx="266700" cy="64611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D1E9DFD-162D-4FDC-833E-2ED15C5BE8D0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bg-BG" sz="2400" dirty="0">
                <a:solidFill>
                  <a:srgbClr val="0038A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Инвертор – влияние на </a:t>
            </a:r>
            <a:r>
              <a:rPr lang="en-US" sz="2400" dirty="0">
                <a:solidFill>
                  <a:srgbClr val="0038A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 </a:t>
            </a:r>
            <a:r>
              <a:rPr lang="bg-BG" sz="2400" dirty="0">
                <a:solidFill>
                  <a:srgbClr val="0038A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върху бързодействието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D564229-AC6F-4996-9344-7BDCEDA67E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280" y="1628800"/>
            <a:ext cx="2269423" cy="326612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73E8169-7538-E65B-66B0-3EF13886CC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71664" y="1504028"/>
            <a:ext cx="7553325" cy="3390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02544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D1E9DFD-162D-4FDC-833E-2ED15C5BE8D0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0038A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CMOS</a:t>
            </a:r>
            <a:r>
              <a:rPr lang="bg-BG" sz="2400" dirty="0">
                <a:solidFill>
                  <a:srgbClr val="0038A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Логически Елементи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5D49390-DA1C-E841-7475-6BB8F7CA78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1424" y="2134191"/>
            <a:ext cx="1440160" cy="87148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0C81B71-7ADC-D94B-CE72-9A5DC0C50435}"/>
              </a:ext>
            </a:extLst>
          </p:cNvPr>
          <p:cNvSpPr txBox="1"/>
          <p:nvPr/>
        </p:nvSpPr>
        <p:spPr>
          <a:xfrm>
            <a:off x="1127448" y="1124744"/>
            <a:ext cx="216597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NAND (NOT+AND)</a:t>
            </a:r>
            <a:endParaRPr lang="bg-BG" dirty="0"/>
          </a:p>
          <a:p>
            <a:r>
              <a:rPr lang="bg-BG" dirty="0"/>
              <a:t>И-НЕ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6229DBE-0BEA-21EC-E1D3-F78004E5D5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96303" y="823766"/>
            <a:ext cx="3312368" cy="260523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E8ACADC-6E32-03AB-9BB8-A68AACCA5E8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92147" y="3920286"/>
            <a:ext cx="6120680" cy="1351503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1F3403CA-E3CB-8CA0-53B8-D7017FEA79CB}"/>
              </a:ext>
            </a:extLst>
          </p:cNvPr>
          <p:cNvSpPr txBox="1"/>
          <p:nvPr/>
        </p:nvSpPr>
        <p:spPr>
          <a:xfrm>
            <a:off x="9264352" y="2301762"/>
            <a:ext cx="14657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Y = !(A . B)</a:t>
            </a:r>
            <a:endParaRPr lang="bg-B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E1D1830-AD00-2854-FD62-2DD3E3F65C82}"/>
                  </a:ext>
                </a:extLst>
              </p:cNvPr>
              <p:cNvSpPr txBox="1"/>
              <p:nvPr/>
            </p:nvSpPr>
            <p:spPr>
              <a:xfrm>
                <a:off x="8531228" y="1472652"/>
                <a:ext cx="2880320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bar>
                        <m:barPr>
                          <m:pos m:val="top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bar>
                    </m:oMath>
                  </m:oMathPara>
                </a14:m>
                <a:endParaRPr lang="bg-BG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E1D1830-AD00-2854-FD62-2DD3E3F65C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31228" y="1472652"/>
                <a:ext cx="2880320" cy="4001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148716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4FA92E-8909-782F-5A81-36DE7588D8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E9AE9C3-6E5B-69D3-6F62-BEC14E3E04A7}"/>
              </a:ext>
            </a:extLst>
          </p:cNvPr>
          <p:cNvSpPr txBox="1"/>
          <p:nvPr/>
        </p:nvSpPr>
        <p:spPr>
          <a:xfrm>
            <a:off x="0" y="0"/>
            <a:ext cx="121501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0038A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CMOS</a:t>
            </a:r>
            <a:r>
              <a:rPr lang="bg-BG" sz="2400" dirty="0">
                <a:solidFill>
                  <a:srgbClr val="0038A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Логически Елементи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3982FB6-6927-94A5-5DF8-AA009EAE3E29}"/>
              </a:ext>
            </a:extLst>
          </p:cNvPr>
          <p:cNvSpPr txBox="1"/>
          <p:nvPr/>
        </p:nvSpPr>
        <p:spPr>
          <a:xfrm>
            <a:off x="1127448" y="1124744"/>
            <a:ext cx="188384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NOR (NOT+OR)</a:t>
            </a:r>
            <a:endParaRPr lang="bg-BG" dirty="0"/>
          </a:p>
          <a:p>
            <a:r>
              <a:rPr lang="bg-BG" dirty="0"/>
              <a:t>ИЛИ-НЕ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0D69CD4-6B2A-23CC-B960-E79780712FAC}"/>
              </a:ext>
            </a:extLst>
          </p:cNvPr>
          <p:cNvSpPr txBox="1"/>
          <p:nvPr/>
        </p:nvSpPr>
        <p:spPr>
          <a:xfrm>
            <a:off x="8851141" y="2888039"/>
            <a:ext cx="14657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Y = !(A </a:t>
            </a:r>
            <a:r>
              <a:rPr lang="bg-BG" dirty="0"/>
              <a:t>+</a:t>
            </a:r>
            <a:r>
              <a:rPr lang="en-US" dirty="0"/>
              <a:t> B)</a:t>
            </a:r>
            <a:endParaRPr lang="bg-BG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008BEB3-FA4B-06FF-6857-67557BFCAD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5880" y="859993"/>
            <a:ext cx="3115157" cy="277104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48B27B5-E3D0-9B91-3343-133BF7ABF4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3432" y="2060848"/>
            <a:ext cx="1665426" cy="96974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C9660EF-5134-1C31-844B-5534031D0A0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06416" y="4418209"/>
            <a:ext cx="3715268" cy="182905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1F469AD-F02C-2CF3-8DF7-62126F23EDF4}"/>
                  </a:ext>
                </a:extLst>
              </p:cNvPr>
              <p:cNvSpPr txBox="1"/>
              <p:nvPr/>
            </p:nvSpPr>
            <p:spPr>
              <a:xfrm>
                <a:off x="8127104" y="2045458"/>
                <a:ext cx="2880320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bar>
                        <m:barPr>
                          <m:pos m:val="top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bar>
                    </m:oMath>
                  </m:oMathPara>
                </a14:m>
                <a:endParaRPr lang="bg-BG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1F469AD-F02C-2CF3-8DF7-62126F23ED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27104" y="2045458"/>
                <a:ext cx="2880320" cy="4001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82571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AE9E13-3D1E-7345-8532-EB221CB28F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62AB80F-1CC0-C666-0073-1DF858BEC669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0038A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CMOS</a:t>
            </a:r>
            <a:r>
              <a:rPr lang="bg-BG" sz="2400" dirty="0">
                <a:solidFill>
                  <a:srgbClr val="0038A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Логически Елементи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D59C83D-4AEE-57A9-D23F-BB2DA7916C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1624" y="1196752"/>
            <a:ext cx="4536504" cy="399472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36F2852-CB3D-9BFD-5440-F3F4381A5679}"/>
                  </a:ext>
                </a:extLst>
              </p:cNvPr>
              <p:cNvSpPr txBox="1"/>
              <p:nvPr/>
            </p:nvSpPr>
            <p:spPr>
              <a:xfrm>
                <a:off x="7824192" y="3194114"/>
                <a:ext cx="2880320" cy="41908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bar>
                        <m:barPr>
                          <m:pos m:val="top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</m:bar>
                    </m:oMath>
                  </m:oMathPara>
                </a14:m>
                <a:endParaRPr lang="bg-BG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36F2852-CB3D-9BFD-5440-F3F4381A56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24192" y="3194114"/>
                <a:ext cx="2880320" cy="41908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887737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698</TotalTime>
  <Words>206</Words>
  <Application>Microsoft Office PowerPoint</Application>
  <PresentationFormat>Widescreen</PresentationFormat>
  <Paragraphs>91</Paragraphs>
  <Slides>12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2" baseType="lpstr">
      <vt:lpstr>Aptos</vt:lpstr>
      <vt:lpstr>Aptos Display</vt:lpstr>
      <vt:lpstr>Arial</vt:lpstr>
      <vt:lpstr>Book Antiqua</vt:lpstr>
      <vt:lpstr>Cambria Math</vt:lpstr>
      <vt:lpstr>MathematicalPi 1</vt:lpstr>
      <vt:lpstr>Symbol</vt:lpstr>
      <vt:lpstr>Times New Roman</vt:lpstr>
      <vt:lpstr>Times Ten Roman</vt:lpstr>
      <vt:lpstr>Office Theme</vt:lpstr>
      <vt:lpstr>PowerPoint Presentation</vt:lpstr>
      <vt:lpstr>PowerPoint Presentation</vt:lpstr>
      <vt:lpstr>PowerPoint Presentation</vt:lpstr>
      <vt:lpstr>CMOS Inverter</vt:lpstr>
      <vt:lpstr>CMOS Inverter</vt:lpstr>
      <vt:lpstr>PowerPoint Presentation</vt:lpstr>
      <vt:lpstr>CMOS Inverter - First-Order DC Analysis</vt:lpstr>
      <vt:lpstr>CMOS Inverter: Transient Response 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Vassiliy Tchoumatchenko</dc:creator>
  <cp:lastModifiedBy>Vassiliy Tchoumatchenko</cp:lastModifiedBy>
  <cp:revision>23</cp:revision>
  <dcterms:created xsi:type="dcterms:W3CDTF">2025-10-27T17:36:55Z</dcterms:created>
  <dcterms:modified xsi:type="dcterms:W3CDTF">2025-12-01T13:29:56Z</dcterms:modified>
</cp:coreProperties>
</file>