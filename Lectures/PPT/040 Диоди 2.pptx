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11" r:id="rId2"/>
    <p:sldId id="309" r:id="rId3"/>
    <p:sldId id="310" r:id="rId4"/>
    <p:sldId id="295" r:id="rId5"/>
    <p:sldId id="312" r:id="rId6"/>
    <p:sldId id="313" r:id="rId7"/>
    <p:sldId id="314" r:id="rId8"/>
    <p:sldId id="308" r:id="rId9"/>
    <p:sldId id="270" r:id="rId10"/>
    <p:sldId id="303" r:id="rId11"/>
    <p:sldId id="297" r:id="rId12"/>
    <p:sldId id="274" r:id="rId13"/>
    <p:sldId id="296" r:id="rId14"/>
    <p:sldId id="304" r:id="rId15"/>
    <p:sldId id="275" r:id="rId16"/>
    <p:sldId id="298" r:id="rId17"/>
    <p:sldId id="315" r:id="rId18"/>
    <p:sldId id="318" r:id="rId19"/>
    <p:sldId id="320" r:id="rId20"/>
  </p:sldIdLst>
  <p:sldSz cx="12192000" cy="6858000"/>
  <p:notesSz cx="7104063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D7F0F3"/>
    <a:srgbClr val="E1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89020" autoAdjust="0"/>
  </p:normalViewPr>
  <p:slideViewPr>
    <p:cSldViewPr>
      <p:cViewPr varScale="1">
        <p:scale>
          <a:sx n="139" d="100"/>
          <a:sy n="139" d="100"/>
        </p:scale>
        <p:origin x="8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403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403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403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403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0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295400" y="5589589"/>
            <a:ext cx="9408584" cy="1125537"/>
          </a:xfrm>
          <a:prstGeom prst="rect">
            <a:avLst/>
          </a:prstGeom>
          <a:ln/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bg-BG" b="1"/>
              <a:t>ПРОЕКТ </a:t>
            </a:r>
            <a:r>
              <a:rPr lang="en-US" b="1"/>
              <a:t>BG</a:t>
            </a:r>
            <a:r>
              <a:rPr lang="ru-RU" b="1"/>
              <a:t>051</a:t>
            </a:r>
            <a:r>
              <a:rPr lang="en-US" b="1"/>
              <a:t>PO</a:t>
            </a:r>
            <a:r>
              <a:rPr lang="ru-RU" b="1"/>
              <a:t>001--4.3.04-004</a:t>
            </a:r>
            <a:r>
              <a:rPr lang="bg-BG" b="1"/>
              <a:t>2</a:t>
            </a:r>
          </a:p>
          <a:p>
            <a:pPr>
              <a:defRPr/>
            </a:pPr>
            <a:r>
              <a:rPr lang="bg-BG" b="1" i="1"/>
              <a:t>„Организационна и технологична инфраструктура за учене през </a:t>
            </a:r>
          </a:p>
          <a:p>
            <a:pPr>
              <a:defRPr/>
            </a:pPr>
            <a:r>
              <a:rPr lang="bg-BG" b="1" i="1"/>
              <a:t>целия живот и развитие на компетенции”</a:t>
            </a:r>
          </a:p>
          <a:p>
            <a:pPr>
              <a:defRPr/>
            </a:pPr>
            <a:r>
              <a:rPr lang="bg-BG"/>
              <a:t>Проектът се осъществява с финансовата подкрепа на</a:t>
            </a:r>
          </a:p>
          <a:p>
            <a:pPr>
              <a:defRPr/>
            </a:pPr>
            <a:r>
              <a:rPr lang="bg-BG"/>
              <a:t>Оперативна програма „Развитие на човешките ресурси”,</a:t>
            </a:r>
          </a:p>
          <a:p>
            <a:pPr>
              <a:defRPr/>
            </a:pPr>
            <a:r>
              <a:rPr lang="bg-BG"/>
              <a:t>съфинансирана от Европейския социален фонд на Европейския съюз</a:t>
            </a:r>
            <a:r>
              <a:rPr lang="en-US"/>
              <a:t>                       </a:t>
            </a:r>
            <a:endParaRPr lang="bg-BG"/>
          </a:p>
          <a:p>
            <a:pPr>
              <a:defRPr/>
            </a:pPr>
            <a:r>
              <a:rPr lang="bg-BG" b="1" i="1"/>
              <a:t>Инвестира във вашето бъдеще!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101968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81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8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7314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21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09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144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775520" y="5589240"/>
            <a:ext cx="1248139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8880309" y="5517232"/>
            <a:ext cx="1728192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775520" y="1124744"/>
            <a:ext cx="8544949" cy="36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B6DD-6A0A-4678-613A-1B1A0BB9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065E7-3D87-1199-DF21-3414E7314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6996-F7AE-752F-B42E-608E0FB1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85B7-C629-2695-8CD4-C8AC2EB2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7327-7D14-8421-6CE0-434809F4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7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WordPictureWatermark1" descr="star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917" y="1090613"/>
            <a:ext cx="7787216" cy="370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0" descr="ESF_logo_small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967" y="5570538"/>
            <a:ext cx="16764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1" descr="EU_logo_small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518" y="5661026"/>
            <a:ext cx="14351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Slide Number Placeholder 4"/>
          <p:cNvSpPr txBox="1">
            <a:spLocks noGrp="1"/>
          </p:cNvSpPr>
          <p:nvPr userDrawn="1"/>
        </p:nvSpPr>
        <p:spPr bwMode="auto">
          <a:xfrm>
            <a:off x="10513485" y="6337300"/>
            <a:ext cx="15790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bg-BG" sz="1400">
                <a:latin typeface="Times New Roman" pitchFamily="18" charset="0"/>
                <a:cs typeface="Times New Roman" pitchFamily="18" charset="0"/>
              </a:rPr>
              <a:t>стр. </a:t>
            </a:r>
            <a:fld id="{03FC9EE6-8189-4521-9576-74127F673664}" type="slidenum">
              <a:rPr lang="en-US" sz="1400" smtClean="0">
                <a:latin typeface="Times New Roman" pitchFamily="18" charset="0"/>
                <a:cs typeface="Times New Roman" pitchFamily="18" charset="0"/>
              </a:rPr>
              <a:pPr eaLnBrk="1" hangingPunct="1">
                <a:defRPr/>
              </a:pPr>
              <a:t>‹#›</a:t>
            </a:fld>
            <a:r>
              <a:rPr lang="bg-BG" sz="1400">
                <a:latin typeface="Times New Roman" pitchFamily="18" charset="0"/>
                <a:cs typeface="Times New Roman" pitchFamily="18" charset="0"/>
              </a:rPr>
              <a:t> от</a:t>
            </a:r>
            <a:r>
              <a:rPr lang="en-US" sz="1400"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bg-BG" sz="140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678517" y="5570538"/>
            <a:ext cx="1537163" cy="882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904585" y="5454650"/>
            <a:ext cx="1608899" cy="882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592565" y="980728"/>
            <a:ext cx="7918801" cy="3744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07" y="332656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07368" y="3431299"/>
            <a:ext cx="655272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Диоди</a:t>
            </a:r>
            <a:endParaRPr lang="en-US" b="0" i="0" kern="0" dirty="0"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7ACFA5-2630-5CED-96C9-A5FBBF77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764704"/>
            <a:ext cx="9696400" cy="5352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54D4C8-739D-9FA8-E3A4-B25FA90B5CEC}"/>
              </a:ext>
            </a:extLst>
          </p:cNvPr>
          <p:cNvSpPr txBox="1"/>
          <p:nvPr/>
        </p:nvSpPr>
        <p:spPr>
          <a:xfrm>
            <a:off x="126541" y="112887"/>
            <a:ext cx="7418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000" dirty="0"/>
              <a:t>Преговор – право и обратно включване на </a:t>
            </a:r>
            <a:r>
              <a:rPr lang="en-US" sz="2000" dirty="0"/>
              <a:t>PN </a:t>
            </a:r>
            <a:r>
              <a:rPr lang="bg-BG" sz="2000" dirty="0"/>
              <a:t>преход (Диод)</a:t>
            </a:r>
          </a:p>
        </p:txBody>
      </p:sp>
    </p:spTree>
    <p:extLst>
      <p:ext uri="{BB962C8B-B14F-4D97-AF65-F5344CB8AC3E}">
        <p14:creationId xmlns:p14="http://schemas.microsoft.com/office/powerpoint/2010/main" val="272227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86CAA-1A9B-F18C-91FB-3BA911D56FB7}"/>
              </a:ext>
            </a:extLst>
          </p:cNvPr>
          <p:cNvSpPr txBox="1"/>
          <p:nvPr/>
        </p:nvSpPr>
        <p:spPr>
          <a:xfrm>
            <a:off x="126541" y="112887"/>
            <a:ext cx="9945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000" dirty="0"/>
              <a:t>Разпределение на неосновните токоносители при право включване на </a:t>
            </a:r>
            <a:r>
              <a:rPr lang="en-US" sz="2000" dirty="0"/>
              <a:t>PN </a:t>
            </a:r>
            <a:r>
              <a:rPr lang="bg-BG" sz="2000" dirty="0"/>
              <a:t>преход</a:t>
            </a: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2D724A18-76C8-1E8C-C6F4-EDA17D282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836712"/>
            <a:ext cx="5472608" cy="4108223"/>
          </a:xfrm>
          <a:prstGeom prst="rect">
            <a:avLst/>
          </a:prstGeom>
        </p:spPr>
      </p:pic>
      <p:sp>
        <p:nvSpPr>
          <p:cNvPr id="8" name="Rectangle 49">
            <a:extLst>
              <a:ext uri="{FF2B5EF4-FFF2-40B4-BE49-F238E27FC236}">
                <a16:creationId xmlns:a16="http://schemas.microsoft.com/office/drawing/2014/main" id="{EC128107-7762-FAAD-1F87-96F76BAFC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984" y="980728"/>
            <a:ext cx="565736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bg-BG" sz="1400" dirty="0"/>
              <a:t>При право включване, доминантен е дифузния ток.</a:t>
            </a:r>
          </a:p>
          <a:p>
            <a:pPr marL="0" lvl="1">
              <a:spcBef>
                <a:spcPts val="600"/>
              </a:spcBef>
            </a:pPr>
            <a:r>
              <a:rPr lang="bg-BG" sz="1400" dirty="0"/>
              <a:t>Дупките от </a:t>
            </a:r>
            <a:r>
              <a:rPr lang="en-US" sz="1400" dirty="0"/>
              <a:t>P</a:t>
            </a:r>
            <a:r>
              <a:rPr lang="bg-BG" sz="1400" dirty="0"/>
              <a:t>-областта (основни токоносители) преминават в </a:t>
            </a:r>
            <a:r>
              <a:rPr lang="en-US" sz="1400" dirty="0"/>
              <a:t>N </a:t>
            </a:r>
            <a:r>
              <a:rPr lang="bg-BG" sz="1400" dirty="0"/>
              <a:t>областта, където става неосновни токоносители. </a:t>
            </a:r>
            <a:endParaRPr lang="en-US" sz="1400" dirty="0"/>
          </a:p>
          <a:p>
            <a:pPr marL="0" lvl="1">
              <a:spcBef>
                <a:spcPts val="600"/>
              </a:spcBef>
            </a:pPr>
            <a:r>
              <a:rPr lang="bg-BG" sz="1400" dirty="0"/>
              <a:t>Колкото повече се отдалечават от прехода, толкова по-вероятно е да рекомбинират. С други думи, концентрацията на дупките </a:t>
            </a:r>
            <a:r>
              <a:rPr lang="en-US" sz="1400" dirty="0" err="1"/>
              <a:t>p</a:t>
            </a:r>
            <a:r>
              <a:rPr lang="en-US" sz="1400" baseline="-25000" dirty="0" err="1"/>
              <a:t>n</a:t>
            </a:r>
            <a:r>
              <a:rPr lang="bg-BG" sz="1400" dirty="0"/>
              <a:t> в </a:t>
            </a:r>
            <a:r>
              <a:rPr lang="en-US" sz="1400" dirty="0"/>
              <a:t>N-</a:t>
            </a:r>
            <a:r>
              <a:rPr lang="bg-BG" sz="1400" dirty="0"/>
              <a:t>областта намалява с отдалечаване от границата на обеднената зона.</a:t>
            </a:r>
          </a:p>
          <a:p>
            <a:pPr marL="0" lvl="1">
              <a:spcBef>
                <a:spcPts val="600"/>
              </a:spcBef>
            </a:pPr>
            <a:r>
              <a:rPr lang="bg-BG" sz="1400" dirty="0"/>
              <a:t>Подобен процес протича и с електроните дифундиращи от </a:t>
            </a:r>
            <a:r>
              <a:rPr lang="en-US" sz="1400" dirty="0"/>
              <a:t>N-</a:t>
            </a:r>
            <a:r>
              <a:rPr lang="bg-BG" sz="1400" dirty="0"/>
              <a:t>областта в </a:t>
            </a:r>
            <a:r>
              <a:rPr lang="en-US" sz="1400" dirty="0"/>
              <a:t>P-</a:t>
            </a:r>
            <a:r>
              <a:rPr lang="bg-BG" sz="1400" dirty="0"/>
              <a:t>областта.</a:t>
            </a:r>
          </a:p>
          <a:p>
            <a:pPr marL="0" lvl="1">
              <a:spcBef>
                <a:spcPts val="600"/>
              </a:spcBef>
            </a:pPr>
            <a:endParaRPr lang="bg-BG" sz="1400" dirty="0"/>
          </a:p>
          <a:p>
            <a:pPr marL="0" lvl="1">
              <a:spcBef>
                <a:spcPts val="600"/>
              </a:spcBef>
            </a:pPr>
            <a:r>
              <a:rPr lang="bg-BG" sz="1400" dirty="0"/>
              <a:t>Токът през прехода се създава от основни токоносители. Но когато те напуснат обеднената област, те стават неосновни. </a:t>
            </a:r>
            <a:endParaRPr lang="en-US" sz="1400" dirty="0"/>
          </a:p>
          <a:p>
            <a:pPr marL="0" lvl="1">
              <a:spcBef>
                <a:spcPts val="600"/>
              </a:spcBef>
            </a:pPr>
            <a:r>
              <a:rPr lang="bg-BG" sz="1400" dirty="0"/>
              <a:t>Следователно, в неутралните региони (т.е. извън обеднената област), токът се пренася от неосновни токоносители за дадената област.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8F289-2740-5BA1-2385-D0CCFF04E4D5}"/>
              </a:ext>
            </a:extLst>
          </p:cNvPr>
          <p:cNvSpPr txBox="1"/>
          <p:nvPr/>
        </p:nvSpPr>
        <p:spPr>
          <a:xfrm>
            <a:off x="2063552" y="842228"/>
            <a:ext cx="1398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/>
              <a:t>обеднена област</a:t>
            </a:r>
          </a:p>
        </p:txBody>
      </p:sp>
    </p:spTree>
    <p:extLst>
      <p:ext uri="{BB962C8B-B14F-4D97-AF65-F5344CB8AC3E}">
        <p14:creationId xmlns:p14="http://schemas.microsoft.com/office/powerpoint/2010/main" val="231529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1343472" y="908720"/>
            <a:ext cx="2603500" cy="5180013"/>
            <a:chOff x="4698274" y="1389227"/>
            <a:chExt cx="2603863" cy="5180310"/>
          </a:xfrm>
        </p:grpSpPr>
        <p:cxnSp>
          <p:nvCxnSpPr>
            <p:cNvPr id="12" name="Straight Arrow Connector 14"/>
            <p:cNvCxnSpPr>
              <a:cxnSpLocks noChangeShapeType="1"/>
            </p:cNvCxnSpPr>
            <p:nvPr/>
          </p:nvCxnSpPr>
          <p:spPr bwMode="auto">
            <a:xfrm>
              <a:off x="4698274" y="2488474"/>
              <a:ext cx="2094412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5442915" y="2076654"/>
              <a:ext cx="0" cy="12414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auto">
            <a:xfrm>
              <a:off x="5442915" y="3318151"/>
              <a:ext cx="113680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 flipV="1">
              <a:off x="4698274" y="1489246"/>
              <a:ext cx="0" cy="182890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8"/>
            <p:cNvCxnSpPr>
              <a:cxnSpLocks noChangeShapeType="1"/>
            </p:cNvCxnSpPr>
            <p:nvPr/>
          </p:nvCxnSpPr>
          <p:spPr bwMode="auto">
            <a:xfrm flipV="1">
              <a:off x="4741817" y="3651068"/>
              <a:ext cx="0" cy="231212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4741142" y="4069081"/>
              <a:ext cx="74464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>
              <a:off x="5485784" y="4069081"/>
              <a:ext cx="0" cy="150186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5485784" y="5570942"/>
              <a:ext cx="31436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 flipH="1">
              <a:off x="4698274" y="2076654"/>
              <a:ext cx="74464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3"/>
            <p:cNvCxnSpPr>
              <a:cxnSpLocks noChangeShapeType="1"/>
            </p:cNvCxnSpPr>
            <p:nvPr/>
          </p:nvCxnSpPr>
          <p:spPr bwMode="auto">
            <a:xfrm>
              <a:off x="5721531" y="2488474"/>
              <a:ext cx="13063" cy="82949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Freeform 23"/>
            <p:cNvSpPr/>
            <p:nvPr/>
          </p:nvSpPr>
          <p:spPr bwMode="auto">
            <a:xfrm>
              <a:off x="5773161" y="4683479"/>
              <a:ext cx="1032019" cy="887463"/>
            </a:xfrm>
            <a:custGeom>
              <a:avLst/>
              <a:gdLst>
                <a:gd name="connsiteX0" fmla="*/ 0 w 1031966"/>
                <a:gd name="connsiteY0" fmla="*/ 888274 h 888274"/>
                <a:gd name="connsiteX1" fmla="*/ 287383 w 1031966"/>
                <a:gd name="connsiteY1" fmla="*/ 300446 h 888274"/>
                <a:gd name="connsiteX2" fmla="*/ 1031966 w 1031966"/>
                <a:gd name="connsiteY2" fmla="*/ 0 h 88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1966" h="888274">
                  <a:moveTo>
                    <a:pt x="0" y="888274"/>
                  </a:moveTo>
                  <a:cubicBezTo>
                    <a:pt x="57694" y="668383"/>
                    <a:pt x="115389" y="448492"/>
                    <a:pt x="287383" y="300446"/>
                  </a:cubicBezTo>
                  <a:cubicBezTo>
                    <a:pt x="459377" y="152400"/>
                    <a:pt x="745671" y="76200"/>
                    <a:pt x="1031966" y="0"/>
                  </a:cubicBezTo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25" name="Straight Arrow Connector 25"/>
            <p:cNvCxnSpPr>
              <a:cxnSpLocks noChangeShapeType="1"/>
            </p:cNvCxnSpPr>
            <p:nvPr/>
          </p:nvCxnSpPr>
          <p:spPr bwMode="auto">
            <a:xfrm>
              <a:off x="4724400" y="4526280"/>
              <a:ext cx="248194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TextBox 26"/>
            <p:cNvSpPr txBox="1">
              <a:spLocks noChangeArrowheads="1"/>
            </p:cNvSpPr>
            <p:nvPr/>
          </p:nvSpPr>
          <p:spPr bwMode="auto">
            <a:xfrm>
              <a:off x="5773783" y="2690949"/>
              <a:ext cx="61395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U</a:t>
              </a:r>
              <a:r>
                <a:rPr lang="en-US" sz="1600" baseline="-25000"/>
                <a:t>R</a:t>
              </a:r>
            </a:p>
          </p:txBody>
        </p:sp>
        <p:sp>
          <p:nvSpPr>
            <p:cNvPr id="27" name="TextBox 27"/>
            <p:cNvSpPr txBox="1">
              <a:spLocks noChangeArrowheads="1"/>
            </p:cNvSpPr>
            <p:nvPr/>
          </p:nvSpPr>
          <p:spPr bwMode="auto">
            <a:xfrm>
              <a:off x="4924696" y="2112369"/>
              <a:ext cx="61395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U</a:t>
              </a:r>
              <a:r>
                <a:rPr lang="en-US" sz="1600" baseline="-25000"/>
                <a:t>F</a:t>
              </a:r>
            </a:p>
          </p:txBody>
        </p:sp>
        <p:sp>
          <p:nvSpPr>
            <p:cNvPr id="28" name="TextBox 28"/>
            <p:cNvSpPr txBox="1">
              <a:spLocks noChangeArrowheads="1"/>
            </p:cNvSpPr>
            <p:nvPr/>
          </p:nvSpPr>
          <p:spPr bwMode="auto">
            <a:xfrm>
              <a:off x="6633755" y="2149920"/>
              <a:ext cx="343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t</a:t>
              </a:r>
            </a:p>
          </p:txBody>
        </p:sp>
        <p:sp>
          <p:nvSpPr>
            <p:cNvPr id="29" name="TextBox 29"/>
            <p:cNvSpPr txBox="1">
              <a:spLocks noChangeArrowheads="1"/>
            </p:cNvSpPr>
            <p:nvPr/>
          </p:nvSpPr>
          <p:spPr bwMode="auto">
            <a:xfrm>
              <a:off x="4700451" y="1389227"/>
              <a:ext cx="53122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u</a:t>
              </a:r>
            </a:p>
          </p:txBody>
        </p:sp>
        <p:sp>
          <p:nvSpPr>
            <p:cNvPr id="30" name="TextBox 30"/>
            <p:cNvSpPr txBox="1">
              <a:spLocks noChangeArrowheads="1"/>
            </p:cNvSpPr>
            <p:nvPr/>
          </p:nvSpPr>
          <p:spPr bwMode="auto">
            <a:xfrm>
              <a:off x="4794068" y="3481791"/>
              <a:ext cx="26125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i</a:t>
              </a:r>
            </a:p>
          </p:txBody>
        </p:sp>
        <p:sp>
          <p:nvSpPr>
            <p:cNvPr id="31" name="TextBox 31"/>
            <p:cNvSpPr txBox="1">
              <a:spLocks noChangeArrowheads="1"/>
            </p:cNvSpPr>
            <p:nvPr/>
          </p:nvSpPr>
          <p:spPr bwMode="auto">
            <a:xfrm>
              <a:off x="6958149" y="4155069"/>
              <a:ext cx="343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t</a:t>
              </a:r>
            </a:p>
          </p:txBody>
        </p:sp>
        <p:cxnSp>
          <p:nvCxnSpPr>
            <p:cNvPr id="32" name="Straight Arrow Connector 32"/>
            <p:cNvCxnSpPr>
              <a:cxnSpLocks noChangeShapeType="1"/>
            </p:cNvCxnSpPr>
            <p:nvPr/>
          </p:nvCxnSpPr>
          <p:spPr bwMode="auto">
            <a:xfrm>
              <a:off x="4966062" y="4069080"/>
              <a:ext cx="0" cy="45720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TextBox 33"/>
            <p:cNvSpPr txBox="1">
              <a:spLocks noChangeArrowheads="1"/>
            </p:cNvSpPr>
            <p:nvPr/>
          </p:nvSpPr>
          <p:spPr bwMode="auto">
            <a:xfrm>
              <a:off x="5070565" y="4155069"/>
              <a:ext cx="51598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I</a:t>
              </a:r>
              <a:r>
                <a:rPr lang="en-US" sz="1600" baseline="-25000"/>
                <a:t>F</a:t>
              </a:r>
            </a:p>
          </p:txBody>
        </p:sp>
        <p:cxnSp>
          <p:nvCxnSpPr>
            <p:cNvPr id="34" name="Straight Arrow Connector 34"/>
            <p:cNvCxnSpPr>
              <a:cxnSpLocks noChangeShapeType="1"/>
            </p:cNvCxnSpPr>
            <p:nvPr/>
          </p:nvCxnSpPr>
          <p:spPr bwMode="auto">
            <a:xfrm flipV="1">
              <a:off x="4924695" y="2057940"/>
              <a:ext cx="0" cy="41148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Arrow Connector 35"/>
            <p:cNvCxnSpPr>
              <a:cxnSpLocks noChangeShapeType="1"/>
              <a:stCxn id="33" idx="2"/>
            </p:cNvCxnSpPr>
            <p:nvPr/>
          </p:nvCxnSpPr>
          <p:spPr bwMode="auto">
            <a:xfrm flipH="1">
              <a:off x="5328556" y="4493623"/>
              <a:ext cx="1" cy="1077685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TextBox 36"/>
            <p:cNvSpPr txBox="1">
              <a:spLocks noChangeArrowheads="1"/>
            </p:cNvSpPr>
            <p:nvPr/>
          </p:nvSpPr>
          <p:spPr bwMode="auto">
            <a:xfrm>
              <a:off x="4924696" y="4880056"/>
              <a:ext cx="61395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I</a:t>
              </a:r>
              <a:r>
                <a:rPr lang="en-US" sz="1600" baseline="-25000"/>
                <a:t>RM</a:t>
              </a:r>
            </a:p>
          </p:txBody>
        </p:sp>
        <p:cxnSp>
          <p:nvCxnSpPr>
            <p:cNvPr id="42" name="Straight Arrow Connector 37"/>
            <p:cNvCxnSpPr>
              <a:cxnSpLocks noChangeShapeType="1"/>
            </p:cNvCxnSpPr>
            <p:nvPr/>
          </p:nvCxnSpPr>
          <p:spPr bwMode="auto">
            <a:xfrm>
              <a:off x="6633755" y="4155069"/>
              <a:ext cx="0" cy="371211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Arrow Connector 38"/>
            <p:cNvCxnSpPr>
              <a:cxnSpLocks noChangeShapeType="1"/>
            </p:cNvCxnSpPr>
            <p:nvPr/>
          </p:nvCxnSpPr>
          <p:spPr bwMode="auto">
            <a:xfrm flipV="1">
              <a:off x="6633755" y="4725488"/>
              <a:ext cx="0" cy="323845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TextBox 39"/>
            <p:cNvSpPr txBox="1">
              <a:spLocks noChangeArrowheads="1"/>
            </p:cNvSpPr>
            <p:nvPr/>
          </p:nvSpPr>
          <p:spPr bwMode="auto">
            <a:xfrm>
              <a:off x="6823165" y="4637854"/>
              <a:ext cx="47897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I</a:t>
              </a:r>
              <a:r>
                <a:rPr lang="en-US" sz="1600" baseline="-25000"/>
                <a:t>R</a:t>
              </a:r>
            </a:p>
          </p:txBody>
        </p:sp>
        <p:cxnSp>
          <p:nvCxnSpPr>
            <p:cNvPr id="45" name="Straight Connector 40"/>
            <p:cNvCxnSpPr>
              <a:cxnSpLocks noChangeShapeType="1"/>
            </p:cNvCxnSpPr>
            <p:nvPr/>
          </p:nvCxnSpPr>
          <p:spPr bwMode="auto">
            <a:xfrm>
              <a:off x="5486400" y="5571308"/>
              <a:ext cx="0" cy="72498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41"/>
            <p:cNvCxnSpPr>
              <a:cxnSpLocks noChangeShapeType="1"/>
              <a:stCxn id="24" idx="0"/>
            </p:cNvCxnSpPr>
            <p:nvPr/>
          </p:nvCxnSpPr>
          <p:spPr bwMode="auto">
            <a:xfrm>
              <a:off x="5773783" y="5571308"/>
              <a:ext cx="13063" cy="39188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42"/>
            <p:cNvCxnSpPr>
              <a:cxnSpLocks noChangeShapeType="1"/>
            </p:cNvCxnSpPr>
            <p:nvPr/>
          </p:nvCxnSpPr>
          <p:spPr bwMode="auto">
            <a:xfrm>
              <a:off x="6633755" y="5571308"/>
              <a:ext cx="0" cy="72498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Straight Arrow Connector 43"/>
            <p:cNvCxnSpPr>
              <a:cxnSpLocks noChangeShapeType="1"/>
            </p:cNvCxnSpPr>
            <p:nvPr/>
          </p:nvCxnSpPr>
          <p:spPr bwMode="auto">
            <a:xfrm>
              <a:off x="5486400" y="5796266"/>
              <a:ext cx="28738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Arrow Connector 44"/>
            <p:cNvCxnSpPr>
              <a:cxnSpLocks noChangeShapeType="1"/>
            </p:cNvCxnSpPr>
            <p:nvPr/>
          </p:nvCxnSpPr>
          <p:spPr bwMode="auto">
            <a:xfrm>
              <a:off x="5786846" y="5796266"/>
              <a:ext cx="846909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TextBox 45"/>
            <p:cNvSpPr txBox="1">
              <a:spLocks noChangeArrowheads="1"/>
            </p:cNvSpPr>
            <p:nvPr/>
          </p:nvSpPr>
          <p:spPr bwMode="auto">
            <a:xfrm>
              <a:off x="5486400" y="5851947"/>
              <a:ext cx="37882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t</a:t>
              </a:r>
              <a:r>
                <a:rPr lang="en-US" sz="1800" baseline="-25000"/>
                <a:t>s</a:t>
              </a:r>
            </a:p>
          </p:txBody>
        </p:sp>
        <p:sp>
          <p:nvSpPr>
            <p:cNvPr id="51" name="TextBox 46"/>
            <p:cNvSpPr txBox="1">
              <a:spLocks noChangeArrowheads="1"/>
            </p:cNvSpPr>
            <p:nvPr/>
          </p:nvSpPr>
          <p:spPr bwMode="auto">
            <a:xfrm>
              <a:off x="6032862" y="5835070"/>
              <a:ext cx="37882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 dirty="0" err="1"/>
                <a:t>t</a:t>
              </a:r>
              <a:r>
                <a:rPr lang="en-US" sz="1800" baseline="-25000" dirty="0" err="1"/>
                <a:t>r</a:t>
              </a:r>
              <a:r>
                <a:rPr lang="en-US" sz="1600" baseline="-25000" dirty="0"/>
                <a:t> </a:t>
              </a:r>
            </a:p>
          </p:txBody>
        </p:sp>
        <p:cxnSp>
          <p:nvCxnSpPr>
            <p:cNvPr id="52" name="Straight Arrow Connector 47"/>
            <p:cNvCxnSpPr>
              <a:cxnSpLocks noChangeShapeType="1"/>
            </p:cNvCxnSpPr>
            <p:nvPr/>
          </p:nvCxnSpPr>
          <p:spPr bwMode="auto">
            <a:xfrm>
              <a:off x="5486400" y="6190501"/>
              <a:ext cx="1147355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3" name="TextBox 48"/>
            <p:cNvSpPr txBox="1">
              <a:spLocks noChangeArrowheads="1"/>
            </p:cNvSpPr>
            <p:nvPr/>
          </p:nvSpPr>
          <p:spPr bwMode="auto">
            <a:xfrm>
              <a:off x="5856513" y="6230983"/>
              <a:ext cx="4332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/>
                <a:t>t</a:t>
              </a:r>
              <a:r>
                <a:rPr lang="en-US" sz="1800" baseline="-25000"/>
                <a:t>rr</a:t>
              </a:r>
            </a:p>
          </p:txBody>
        </p:sp>
      </p:grp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5087889" y="3086224"/>
            <a:ext cx="4105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Импулсни параметри на диод</a:t>
            </a:r>
            <a:endParaRPr lang="en-US" sz="1800" dirty="0"/>
          </a:p>
        </p:txBody>
      </p:sp>
      <p:sp>
        <p:nvSpPr>
          <p:cNvPr id="55" name="Rectangle 49"/>
          <p:cNvSpPr>
            <a:spLocks noChangeArrowheads="1"/>
          </p:cNvSpPr>
          <p:nvPr/>
        </p:nvSpPr>
        <p:spPr bwMode="auto">
          <a:xfrm>
            <a:off x="4295733" y="3588419"/>
            <a:ext cx="745762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bg-BG" sz="1400" dirty="0"/>
              <a:t> </a:t>
            </a:r>
            <a:r>
              <a:rPr lang="en-US" sz="1400" i="1" dirty="0"/>
              <a:t>I</a:t>
            </a:r>
            <a:r>
              <a:rPr lang="en-US" sz="1400" i="1" baseline="-25000" dirty="0"/>
              <a:t>RM</a:t>
            </a:r>
            <a:r>
              <a:rPr lang="en-US" sz="1400" i="1" dirty="0"/>
              <a:t> </a:t>
            </a:r>
            <a:r>
              <a:rPr lang="en-US" sz="1400" dirty="0"/>
              <a:t>– </a:t>
            </a:r>
            <a:r>
              <a:rPr lang="bg-BG" sz="1400" dirty="0"/>
              <a:t>импулсн</a:t>
            </a:r>
            <a:r>
              <a:rPr lang="en-US" sz="1400" dirty="0"/>
              <a:t>a</a:t>
            </a:r>
            <a:r>
              <a:rPr lang="bg-BG" sz="1400" dirty="0"/>
              <a:t> стойност на тока</a:t>
            </a:r>
            <a:r>
              <a:rPr lang="en-US" sz="1400" dirty="0"/>
              <a:t> </a:t>
            </a:r>
            <a:r>
              <a:rPr lang="bg-BG" sz="1400" dirty="0"/>
              <a:t>при обратно включване</a:t>
            </a:r>
            <a:endParaRPr lang="en-US" sz="1400" dirty="0"/>
          </a:p>
          <a:p>
            <a:pPr marL="0" lvl="1">
              <a:spcBef>
                <a:spcPts val="600"/>
              </a:spcBef>
            </a:pPr>
            <a:r>
              <a:rPr lang="bg-BG" sz="1400" i="1" dirty="0">
                <a:solidFill>
                  <a:srgbClr val="002060"/>
                </a:solidFill>
              </a:rPr>
              <a:t> </a:t>
            </a:r>
            <a:r>
              <a:rPr lang="en-US" sz="1400" i="1" dirty="0" err="1">
                <a:solidFill>
                  <a:srgbClr val="002060"/>
                </a:solidFill>
              </a:rPr>
              <a:t>t</a:t>
            </a:r>
            <a:r>
              <a:rPr lang="en-US" sz="1400" i="1" baseline="-25000" dirty="0" err="1">
                <a:solidFill>
                  <a:srgbClr val="002060"/>
                </a:solidFill>
              </a:rPr>
              <a:t>rr</a:t>
            </a:r>
            <a:r>
              <a:rPr lang="en-US" sz="1400" i="1" dirty="0">
                <a:solidFill>
                  <a:srgbClr val="002060"/>
                </a:solidFill>
              </a:rPr>
              <a:t> </a:t>
            </a:r>
            <a:r>
              <a:rPr lang="en-US" sz="1400" dirty="0"/>
              <a:t>–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bg-BG" sz="1400" dirty="0"/>
              <a:t>време за възстанояване на обратното съпротивление на диода</a:t>
            </a:r>
            <a:endParaRPr lang="en-US" sz="1400" dirty="0"/>
          </a:p>
          <a:p>
            <a:pPr marL="0" lvl="1">
              <a:spcBef>
                <a:spcPts val="600"/>
              </a:spcBef>
            </a:pPr>
            <a:endParaRPr lang="en-US" sz="1400" dirty="0"/>
          </a:p>
          <a:p>
            <a:pPr marL="0" lvl="1">
              <a:spcBef>
                <a:spcPts val="600"/>
              </a:spcBef>
            </a:pPr>
            <a:r>
              <a:rPr lang="en-US" sz="1400" i="1" dirty="0" err="1"/>
              <a:t>t</a:t>
            </a:r>
            <a:r>
              <a:rPr lang="en-US" sz="1400" i="1" baseline="-25000" dirty="0" err="1"/>
              <a:t>s</a:t>
            </a:r>
            <a:r>
              <a:rPr lang="en-US" sz="1400" dirty="0"/>
              <a:t> –</a:t>
            </a:r>
            <a:r>
              <a:rPr lang="bg-BG" sz="1400" dirty="0"/>
              <a:t> време на разнасяне на неосновните токоносители</a:t>
            </a:r>
            <a:endParaRPr lang="en-US" sz="1400" dirty="0"/>
          </a:p>
          <a:p>
            <a:pPr marL="0" lvl="1">
              <a:spcBef>
                <a:spcPts val="600"/>
              </a:spcBef>
            </a:pPr>
            <a:r>
              <a:rPr lang="en-US" sz="1400" i="1" dirty="0" err="1"/>
              <a:t>t</a:t>
            </a:r>
            <a:r>
              <a:rPr lang="en-US" sz="1400" i="1" baseline="-25000" dirty="0" err="1"/>
              <a:t>r</a:t>
            </a:r>
            <a:r>
              <a:rPr lang="bg-BG" sz="1400" dirty="0"/>
              <a:t> – време за нарастване на обратното съпротивлени</a:t>
            </a:r>
            <a:r>
              <a:rPr lang="en-US" sz="1400" dirty="0"/>
              <a:t>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8E7FB-9974-61A0-C623-921546DBD9B0}"/>
              </a:ext>
            </a:extLst>
          </p:cNvPr>
          <p:cNvSpPr txBox="1"/>
          <p:nvPr/>
        </p:nvSpPr>
        <p:spPr>
          <a:xfrm>
            <a:off x="126541" y="112887"/>
            <a:ext cx="7372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000" dirty="0"/>
              <a:t>Процеси при преминаване от право към обратно включване</a:t>
            </a:r>
          </a:p>
        </p:txBody>
      </p:sp>
      <p:sp>
        <p:nvSpPr>
          <p:cNvPr id="4" name="Rectangle 49">
            <a:extLst>
              <a:ext uri="{FF2B5EF4-FFF2-40B4-BE49-F238E27FC236}">
                <a16:creationId xmlns:a16="http://schemas.microsoft.com/office/drawing/2014/main" id="{7A10DDC6-D193-71E4-BEC9-E7595ABC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983" y="812062"/>
            <a:ext cx="6993466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bg-BG" sz="1400" dirty="0"/>
              <a:t>При право включване, в неутралните области на </a:t>
            </a:r>
            <a:r>
              <a:rPr lang="en-US" sz="1400" dirty="0"/>
              <a:t>PN</a:t>
            </a:r>
            <a:r>
              <a:rPr lang="bg-BG" sz="1400" dirty="0"/>
              <a:t> прехода (диода) се натрупват неосновни токоносители.</a:t>
            </a:r>
          </a:p>
          <a:p>
            <a:pPr marL="0" lvl="1">
              <a:spcBef>
                <a:spcPts val="600"/>
              </a:spcBef>
            </a:pPr>
            <a:r>
              <a:rPr lang="bg-BG" sz="1400" dirty="0"/>
              <a:t>Ако изведнъж сменим полярността на подаденото напрежение, токът не може да спре мигновенно. </a:t>
            </a:r>
          </a:p>
          <a:p>
            <a:pPr marL="0" lvl="1">
              <a:spcBef>
                <a:spcPts val="600"/>
              </a:spcBef>
            </a:pPr>
            <a:r>
              <a:rPr lang="bg-BG" sz="1400" dirty="0"/>
              <a:t>За кратко време диодът пропуска ток в обратна посока. Това продължава докато неосновните токоносители се „разнесът</a:t>
            </a:r>
            <a:r>
              <a:rPr lang="en-US" sz="1400" dirty="0"/>
              <a:t>”</a:t>
            </a:r>
            <a:r>
              <a:rPr lang="bg-BG" sz="1400" dirty="0"/>
              <a:t> като рекомбинират или напуснат диода.</a:t>
            </a:r>
          </a:p>
        </p:txBody>
      </p:sp>
    </p:spTree>
    <p:extLst>
      <p:ext uri="{BB962C8B-B14F-4D97-AF65-F5344CB8AC3E}">
        <p14:creationId xmlns:p14="http://schemas.microsoft.com/office/powerpoint/2010/main" val="159002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860EF-BBFC-99E2-E06D-002A8046B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412776"/>
            <a:ext cx="8996383" cy="4176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F0C09-D25B-187C-E6F6-41974F292960}"/>
              </a:ext>
            </a:extLst>
          </p:cNvPr>
          <p:cNvSpPr txBox="1"/>
          <p:nvPr/>
        </p:nvSpPr>
        <p:spPr>
          <a:xfrm>
            <a:off x="126541" y="112887"/>
            <a:ext cx="3382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000" dirty="0"/>
              <a:t>Каталожни данни за диоди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52AFC-9609-14D8-B7D4-8A6817034D02}"/>
              </a:ext>
            </a:extLst>
          </p:cNvPr>
          <p:cNvSpPr txBox="1"/>
          <p:nvPr/>
        </p:nvSpPr>
        <p:spPr>
          <a:xfrm>
            <a:off x="3647728" y="1212721"/>
            <a:ext cx="4302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>
                <a:solidFill>
                  <a:srgbClr val="FF0000"/>
                </a:solidFill>
              </a:rPr>
              <a:t>Максимално допистими стойности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5F102-959C-AFF6-59F6-F7A35BC636CA}"/>
              </a:ext>
            </a:extLst>
          </p:cNvPr>
          <p:cNvSpPr txBox="1"/>
          <p:nvPr/>
        </p:nvSpPr>
        <p:spPr>
          <a:xfrm>
            <a:off x="3719736" y="3645024"/>
            <a:ext cx="2441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>
                <a:solidFill>
                  <a:srgbClr val="0038A8"/>
                </a:solidFill>
              </a:rPr>
              <a:t>Типични стойности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C49FB-4DCA-8BD5-1786-2FD8449990AA}"/>
              </a:ext>
            </a:extLst>
          </p:cNvPr>
          <p:cNvSpPr txBox="1"/>
          <p:nvPr/>
        </p:nvSpPr>
        <p:spPr>
          <a:xfrm>
            <a:off x="10967864" y="655022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RFU02VS8S</a:t>
            </a:r>
          </a:p>
        </p:txBody>
      </p:sp>
    </p:spTree>
    <p:extLst>
      <p:ext uri="{BB962C8B-B14F-4D97-AF65-F5344CB8AC3E}">
        <p14:creationId xmlns:p14="http://schemas.microsoft.com/office/powerpoint/2010/main" val="125468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9A72-1007-CEB0-E073-AE7C3C10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141D4E-046A-A289-2C39-A4DC31D33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1971053"/>
            <a:ext cx="3168352" cy="29158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7DC0F-FB3C-A218-9AF6-FC08D3557095}"/>
              </a:ext>
            </a:extLst>
          </p:cNvPr>
          <p:cNvSpPr txBox="1"/>
          <p:nvPr/>
        </p:nvSpPr>
        <p:spPr>
          <a:xfrm>
            <a:off x="126540" y="112887"/>
            <a:ext cx="11946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Каталожни данни за диоди – волт-амперни характеристики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3D7BC-CB2F-B65B-1F11-F5F5C2A1A0A5}"/>
              </a:ext>
            </a:extLst>
          </p:cNvPr>
          <p:cNvSpPr txBox="1"/>
          <p:nvPr/>
        </p:nvSpPr>
        <p:spPr>
          <a:xfrm>
            <a:off x="10967864" y="655022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RFU02VS8S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A825D-51BB-6968-FBBD-9503110F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692695"/>
            <a:ext cx="3985810" cy="3925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7103A-ADE2-219D-5DD8-34D80C2CB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41" y="2825432"/>
            <a:ext cx="3888432" cy="372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94E10-7D1E-E7CD-243E-B833EC156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C87162-F6EC-F7B2-9049-C0EF56E79D5C}"/>
              </a:ext>
            </a:extLst>
          </p:cNvPr>
          <p:cNvSpPr txBox="1"/>
          <p:nvPr/>
        </p:nvSpPr>
        <p:spPr>
          <a:xfrm>
            <a:off x="126541" y="112887"/>
            <a:ext cx="11802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Каталожни данни за диоди – дисперсионни карти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3722DE-9E48-A1C3-EE83-D1F7C1E8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1700808"/>
            <a:ext cx="3888432" cy="3606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0459A9-336B-5660-4918-5DC435BC464C}"/>
              </a:ext>
            </a:extLst>
          </p:cNvPr>
          <p:cNvSpPr txBox="1"/>
          <p:nvPr/>
        </p:nvSpPr>
        <p:spPr>
          <a:xfrm>
            <a:off x="10967864" y="655022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RFU02VS8S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B64BB1-F541-7C7E-BEF4-533EBDEE4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1714499"/>
            <a:ext cx="3960440" cy="358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E02A29-A3EC-77FE-4077-4B15D8F3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3140968"/>
            <a:ext cx="10972800" cy="1143000"/>
          </a:xfrm>
        </p:spPr>
        <p:txBody>
          <a:bodyPr/>
          <a:lstStyle/>
          <a:p>
            <a:r>
              <a:rPr lang="bg-BG" sz="4400" dirty="0"/>
              <a:t>Приложения на диод</a:t>
            </a:r>
            <a:br>
              <a:rPr lang="bg-BG" sz="4400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254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9376" y="-21077"/>
            <a:ext cx="12065296" cy="41755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000" dirty="0">
                <a:solidFill>
                  <a:schemeClr val="tx1"/>
                </a:solidFill>
              </a:rPr>
              <a:t>Приложения </a:t>
            </a:r>
            <a:r>
              <a:rPr lang="en-US" sz="2000" dirty="0">
                <a:solidFill>
                  <a:schemeClr val="tx1"/>
                </a:solidFill>
              </a:rPr>
              <a:t>–</a:t>
            </a:r>
            <a:r>
              <a:rPr lang="bg-BG" sz="2000" dirty="0">
                <a:solidFill>
                  <a:schemeClr val="tx1"/>
                </a:solidFill>
              </a:rPr>
              <a:t> изправител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7" name="Rectangle 77"/>
          <p:cNvSpPr>
            <a:spLocks noChangeArrowheads="1"/>
          </p:cNvSpPr>
          <p:nvPr/>
        </p:nvSpPr>
        <p:spPr bwMode="auto">
          <a:xfrm>
            <a:off x="1524000" y="27843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" name="Rectangle 53"/>
          <p:cNvSpPr>
            <a:spLocks noChangeArrowheads="1"/>
          </p:cNvSpPr>
          <p:nvPr/>
        </p:nvSpPr>
        <p:spPr bwMode="auto">
          <a:xfrm>
            <a:off x="479376" y="908721"/>
            <a:ext cx="112332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През положителния полупериод диодът е отпушен. Протичащият през него ток създава пад върху товарното съпротивление </a:t>
            </a:r>
            <a:r>
              <a:rPr lang="en-US" sz="1600" dirty="0"/>
              <a:t>R</a:t>
            </a:r>
            <a:r>
              <a:rPr lang="en-US" sz="1600" baseline="-25000" dirty="0"/>
              <a:t>L</a:t>
            </a:r>
            <a:r>
              <a:rPr lang="bg-BG" sz="1600" dirty="0"/>
              <a:t>. Полученото в изхода напрежение повтаря формата на входния сигнал.</a:t>
            </a:r>
            <a:endParaRPr lang="en-US" sz="1600" dirty="0"/>
          </a:p>
        </p:txBody>
      </p:sp>
      <p:sp>
        <p:nvSpPr>
          <p:cNvPr id="112" name="AutoShape 47"/>
          <p:cNvSpPr>
            <a:spLocks noChangeAspect="1" noChangeArrowheads="1" noTextEdit="1"/>
          </p:cNvSpPr>
          <p:nvPr/>
        </p:nvSpPr>
        <p:spPr bwMode="auto">
          <a:xfrm>
            <a:off x="1927225" y="2473002"/>
            <a:ext cx="8140700" cy="207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Text Box 46"/>
          <p:cNvSpPr txBox="1">
            <a:spLocks noChangeArrowheads="1"/>
          </p:cNvSpPr>
          <p:nvPr/>
        </p:nvSpPr>
        <p:spPr bwMode="auto">
          <a:xfrm>
            <a:off x="2062164" y="3916040"/>
            <a:ext cx="5984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>
                <a:cs typeface="Times New Roman" pitchFamily="18" charset="0"/>
              </a:rPr>
              <a:t>-U</a:t>
            </a:r>
            <a:r>
              <a:rPr lang="en-US" sz="1600" baseline="-30000">
                <a:cs typeface="Times New Roman" pitchFamily="18" charset="0"/>
              </a:rPr>
              <a:t>m</a:t>
            </a:r>
            <a:endParaRPr lang="en-US" sz="1600"/>
          </a:p>
        </p:txBody>
      </p:sp>
      <p:grpSp>
        <p:nvGrpSpPr>
          <p:cNvPr id="114" name="Group 1"/>
          <p:cNvGrpSpPr>
            <a:grpSpLocks/>
          </p:cNvGrpSpPr>
          <p:nvPr/>
        </p:nvGrpSpPr>
        <p:grpSpPr bwMode="auto">
          <a:xfrm>
            <a:off x="2322514" y="1819648"/>
            <a:ext cx="7881937" cy="2029718"/>
            <a:chOff x="777029" y="2426401"/>
            <a:chExt cx="7881372" cy="2029370"/>
          </a:xfrm>
        </p:grpSpPr>
        <p:grpSp>
          <p:nvGrpSpPr>
            <p:cNvPr id="115" name="Group 43"/>
            <p:cNvGrpSpPr>
              <a:grpSpLocks/>
            </p:cNvGrpSpPr>
            <p:nvPr/>
          </p:nvGrpSpPr>
          <p:grpSpPr bwMode="auto">
            <a:xfrm>
              <a:off x="4010842" y="2850015"/>
              <a:ext cx="362101" cy="399347"/>
              <a:chOff x="6016" y="9975"/>
              <a:chExt cx="300" cy="333"/>
            </a:xfrm>
          </p:grpSpPr>
          <p:sp>
            <p:nvSpPr>
              <p:cNvPr id="153" name="AutoShape 45"/>
              <p:cNvSpPr>
                <a:spLocks noChangeArrowheads="1"/>
              </p:cNvSpPr>
              <p:nvPr/>
            </p:nvSpPr>
            <p:spPr bwMode="auto">
              <a:xfrm rot="5400000">
                <a:off x="6026" y="9999"/>
                <a:ext cx="279" cy="300"/>
              </a:xfrm>
              <a:prstGeom prst="triangle">
                <a:avLst>
                  <a:gd name="adj" fmla="val 50000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4" name="Line 44"/>
              <p:cNvSpPr>
                <a:spLocks noChangeShapeType="1"/>
              </p:cNvSpPr>
              <p:nvPr/>
            </p:nvSpPr>
            <p:spPr bwMode="auto">
              <a:xfrm>
                <a:off x="6313" y="9975"/>
                <a:ext cx="0" cy="336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16" name="Line 42"/>
            <p:cNvSpPr>
              <a:spLocks noChangeShapeType="1"/>
            </p:cNvSpPr>
            <p:nvPr/>
          </p:nvSpPr>
          <p:spPr bwMode="auto">
            <a:xfrm>
              <a:off x="4377221" y="3047899"/>
              <a:ext cx="569871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7" name="Line 41"/>
            <p:cNvSpPr>
              <a:spLocks noChangeShapeType="1"/>
            </p:cNvSpPr>
            <p:nvPr/>
          </p:nvSpPr>
          <p:spPr bwMode="auto">
            <a:xfrm>
              <a:off x="4947092" y="3047899"/>
              <a:ext cx="0" cy="12777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8" name="Rectangle 40"/>
            <p:cNvSpPr>
              <a:spLocks noChangeArrowheads="1"/>
            </p:cNvSpPr>
            <p:nvPr/>
          </p:nvSpPr>
          <p:spPr bwMode="auto">
            <a:xfrm>
              <a:off x="4824864" y="3435183"/>
              <a:ext cx="223821" cy="5888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9" name="Line 39"/>
            <p:cNvSpPr>
              <a:spLocks noChangeShapeType="1"/>
            </p:cNvSpPr>
            <p:nvPr/>
          </p:nvSpPr>
          <p:spPr bwMode="auto">
            <a:xfrm flipV="1">
              <a:off x="3489872" y="3060597"/>
              <a:ext cx="1588" cy="1265021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0" name="Line 38"/>
            <p:cNvSpPr>
              <a:spLocks noChangeShapeType="1"/>
            </p:cNvSpPr>
            <p:nvPr/>
          </p:nvSpPr>
          <p:spPr bwMode="auto">
            <a:xfrm>
              <a:off x="3493046" y="3051074"/>
              <a:ext cx="50320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1" name="Text Box 37"/>
            <p:cNvSpPr txBox="1">
              <a:spLocks noChangeArrowheads="1"/>
            </p:cNvSpPr>
            <p:nvPr/>
          </p:nvSpPr>
          <p:spPr bwMode="auto">
            <a:xfrm>
              <a:off x="4414770" y="3520474"/>
              <a:ext cx="818611" cy="417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R</a:t>
              </a:r>
              <a:r>
                <a:rPr lang="en-US" sz="1600" baseline="-30000">
                  <a:cs typeface="Times New Roman" pitchFamily="18" charset="0"/>
                </a:rPr>
                <a:t>L</a:t>
              </a:r>
              <a:endParaRPr lang="en-US" sz="1600"/>
            </a:p>
          </p:txBody>
        </p:sp>
        <p:sp>
          <p:nvSpPr>
            <p:cNvPr id="122" name="Oval 36"/>
            <p:cNvSpPr>
              <a:spLocks noChangeArrowheads="1"/>
            </p:cNvSpPr>
            <p:nvPr/>
          </p:nvSpPr>
          <p:spPr bwMode="auto">
            <a:xfrm>
              <a:off x="3307323" y="3487562"/>
              <a:ext cx="377798" cy="377760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3" name="Freeform 35"/>
            <p:cNvSpPr>
              <a:spLocks/>
            </p:cNvSpPr>
            <p:nvPr/>
          </p:nvSpPr>
          <p:spPr bwMode="auto">
            <a:xfrm>
              <a:off x="3403755" y="3594904"/>
              <a:ext cx="144601" cy="160217"/>
            </a:xfrm>
            <a:custGeom>
              <a:avLst/>
              <a:gdLst>
                <a:gd name="T0" fmla="*/ 0 w 173"/>
                <a:gd name="T1" fmla="*/ 2147483647 h 192"/>
                <a:gd name="T2" fmla="*/ 2147483647 w 173"/>
                <a:gd name="T3" fmla="*/ 0 h 192"/>
                <a:gd name="T4" fmla="*/ 2147483647 w 173"/>
                <a:gd name="T5" fmla="*/ 2147483647 h 192"/>
                <a:gd name="T6" fmla="*/ 2147483647 w 173"/>
                <a:gd name="T7" fmla="*/ 2147483647 h 192"/>
                <a:gd name="T8" fmla="*/ 2147483647 w 173"/>
                <a:gd name="T9" fmla="*/ 214748364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" h="192">
                  <a:moveTo>
                    <a:pt x="0" y="126"/>
                  </a:moveTo>
                  <a:cubicBezTo>
                    <a:pt x="9" y="63"/>
                    <a:pt x="18" y="0"/>
                    <a:pt x="35" y="0"/>
                  </a:cubicBezTo>
                  <a:cubicBezTo>
                    <a:pt x="52" y="0"/>
                    <a:pt x="85" y="95"/>
                    <a:pt x="104" y="126"/>
                  </a:cubicBezTo>
                  <a:cubicBezTo>
                    <a:pt x="123" y="157"/>
                    <a:pt x="139" y="192"/>
                    <a:pt x="150" y="184"/>
                  </a:cubicBezTo>
                  <a:cubicBezTo>
                    <a:pt x="161" y="176"/>
                    <a:pt x="171" y="97"/>
                    <a:pt x="173" y="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Text Box 34"/>
            <p:cNvSpPr txBox="1">
              <a:spLocks noChangeArrowheads="1"/>
            </p:cNvSpPr>
            <p:nvPr/>
          </p:nvSpPr>
          <p:spPr bwMode="auto">
            <a:xfrm>
              <a:off x="2717794" y="3487296"/>
              <a:ext cx="705081" cy="43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in </a:t>
              </a:r>
              <a:r>
                <a:rPr lang="en-US" sz="1600">
                  <a:cs typeface="Times New Roman" pitchFamily="18" charset="0"/>
                </a:rPr>
                <a:t>(t)</a:t>
              </a:r>
              <a:endParaRPr lang="en-US" sz="1600"/>
            </a:p>
          </p:txBody>
        </p:sp>
        <p:sp>
          <p:nvSpPr>
            <p:cNvPr id="125" name="Line 33"/>
            <p:cNvSpPr>
              <a:spLocks noChangeShapeType="1"/>
            </p:cNvSpPr>
            <p:nvPr/>
          </p:nvSpPr>
          <p:spPr bwMode="auto">
            <a:xfrm>
              <a:off x="5391128" y="3003058"/>
              <a:ext cx="0" cy="131521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32"/>
            <p:cNvSpPr>
              <a:spLocks noChangeShapeType="1"/>
            </p:cNvSpPr>
            <p:nvPr/>
          </p:nvSpPr>
          <p:spPr bwMode="auto">
            <a:xfrm>
              <a:off x="6277857" y="2614472"/>
              <a:ext cx="2390" cy="1470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31"/>
            <p:cNvSpPr>
              <a:spLocks noChangeShapeType="1"/>
            </p:cNvSpPr>
            <p:nvPr/>
          </p:nvSpPr>
          <p:spPr bwMode="auto">
            <a:xfrm flipV="1">
              <a:off x="6276662" y="3678599"/>
              <a:ext cx="1931205" cy="17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30"/>
            <p:cNvSpPr>
              <a:spLocks/>
            </p:cNvSpPr>
            <p:nvPr/>
          </p:nvSpPr>
          <p:spPr bwMode="auto">
            <a:xfrm>
              <a:off x="6286846" y="3079644"/>
              <a:ext cx="482565" cy="607909"/>
            </a:xfrm>
            <a:custGeom>
              <a:avLst/>
              <a:gdLst>
                <a:gd name="T0" fmla="*/ 0 w 576"/>
                <a:gd name="T1" fmla="*/ 2147483647 h 725"/>
                <a:gd name="T2" fmla="*/ 2147483647 w 576"/>
                <a:gd name="T3" fmla="*/ 0 h 725"/>
                <a:gd name="T4" fmla="*/ 2147483647 w 576"/>
                <a:gd name="T5" fmla="*/ 2147483647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9" name="Freeform 29"/>
            <p:cNvSpPr>
              <a:spLocks/>
            </p:cNvSpPr>
            <p:nvPr/>
          </p:nvSpPr>
          <p:spPr bwMode="auto">
            <a:xfrm>
              <a:off x="7193244" y="3081231"/>
              <a:ext cx="484152" cy="607908"/>
            </a:xfrm>
            <a:custGeom>
              <a:avLst/>
              <a:gdLst>
                <a:gd name="T0" fmla="*/ 0 w 576"/>
                <a:gd name="T1" fmla="*/ 2147483647 h 725"/>
                <a:gd name="T2" fmla="*/ 2147483647 w 576"/>
                <a:gd name="T3" fmla="*/ 0 h 725"/>
                <a:gd name="T4" fmla="*/ 2147483647 w 576"/>
                <a:gd name="T5" fmla="*/ 2147483647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" name="Text Box 28"/>
            <p:cNvSpPr txBox="1">
              <a:spLocks noChangeArrowheads="1"/>
            </p:cNvSpPr>
            <p:nvPr/>
          </p:nvSpPr>
          <p:spPr bwMode="auto">
            <a:xfrm>
              <a:off x="8167235" y="3431100"/>
              <a:ext cx="376442" cy="308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endParaRPr lang="en-US" sz="1600"/>
            </a:p>
          </p:txBody>
        </p:sp>
        <p:sp>
          <p:nvSpPr>
            <p:cNvPr id="131" name="Text Box 27"/>
            <p:cNvSpPr txBox="1">
              <a:spLocks noChangeArrowheads="1"/>
            </p:cNvSpPr>
            <p:nvPr/>
          </p:nvSpPr>
          <p:spPr bwMode="auto">
            <a:xfrm>
              <a:off x="5753229" y="2459038"/>
              <a:ext cx="658474" cy="343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out</a:t>
              </a:r>
              <a:endParaRPr lang="en-US" sz="1600"/>
            </a:p>
          </p:txBody>
        </p:sp>
        <p:sp>
          <p:nvSpPr>
            <p:cNvPr id="132" name="Line 26"/>
            <p:cNvSpPr>
              <a:spLocks noChangeShapeType="1"/>
            </p:cNvSpPr>
            <p:nvPr/>
          </p:nvSpPr>
          <p:spPr bwMode="auto">
            <a:xfrm flipH="1">
              <a:off x="6267101" y="3079580"/>
              <a:ext cx="280837" cy="239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25"/>
            <p:cNvSpPr>
              <a:spLocks noChangeShapeType="1"/>
            </p:cNvSpPr>
            <p:nvPr/>
          </p:nvSpPr>
          <p:spPr bwMode="auto">
            <a:xfrm>
              <a:off x="1090132" y="2673059"/>
              <a:ext cx="1195" cy="17827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24"/>
            <p:cNvSpPr>
              <a:spLocks noChangeShapeType="1"/>
            </p:cNvSpPr>
            <p:nvPr/>
          </p:nvSpPr>
          <p:spPr bwMode="auto">
            <a:xfrm flipV="1">
              <a:off x="1087742" y="3709686"/>
              <a:ext cx="1342044" cy="83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3"/>
            <p:cNvSpPr>
              <a:spLocks/>
            </p:cNvSpPr>
            <p:nvPr/>
          </p:nvSpPr>
          <p:spPr bwMode="auto">
            <a:xfrm>
              <a:off x="1099268" y="3101865"/>
              <a:ext cx="482565" cy="607909"/>
            </a:xfrm>
            <a:custGeom>
              <a:avLst/>
              <a:gdLst>
                <a:gd name="T0" fmla="*/ 0 w 576"/>
                <a:gd name="T1" fmla="*/ 2147483647 h 725"/>
                <a:gd name="T2" fmla="*/ 2147483647 w 576"/>
                <a:gd name="T3" fmla="*/ 0 h 725"/>
                <a:gd name="T4" fmla="*/ 2147483647 w 576"/>
                <a:gd name="T5" fmla="*/ 2147483647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6" name="Freeform 22"/>
            <p:cNvSpPr>
              <a:spLocks/>
            </p:cNvSpPr>
            <p:nvPr/>
          </p:nvSpPr>
          <p:spPr bwMode="auto">
            <a:xfrm flipV="1">
              <a:off x="1580246" y="3719297"/>
              <a:ext cx="484152" cy="607908"/>
            </a:xfrm>
            <a:custGeom>
              <a:avLst/>
              <a:gdLst>
                <a:gd name="T0" fmla="*/ 0 w 576"/>
                <a:gd name="T1" fmla="*/ 2147483647 h 725"/>
                <a:gd name="T2" fmla="*/ 2147483647 w 576"/>
                <a:gd name="T3" fmla="*/ 0 h 725"/>
                <a:gd name="T4" fmla="*/ 2147483647 w 576"/>
                <a:gd name="T5" fmla="*/ 2147483647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7" name="Text Box 21"/>
            <p:cNvSpPr txBox="1">
              <a:spLocks noChangeArrowheads="1"/>
            </p:cNvSpPr>
            <p:nvPr/>
          </p:nvSpPr>
          <p:spPr bwMode="auto">
            <a:xfrm>
              <a:off x="2299526" y="3413165"/>
              <a:ext cx="376442" cy="309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endParaRPr lang="en-US" sz="1600"/>
            </a:p>
          </p:txBody>
        </p:sp>
        <p:sp>
          <p:nvSpPr>
            <p:cNvPr id="138" name="Text Box 20"/>
            <p:cNvSpPr txBox="1">
              <a:spLocks noChangeArrowheads="1"/>
            </p:cNvSpPr>
            <p:nvPr/>
          </p:nvSpPr>
          <p:spPr bwMode="auto">
            <a:xfrm>
              <a:off x="1096108" y="2588168"/>
              <a:ext cx="658474" cy="338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in</a:t>
              </a:r>
              <a:endParaRPr lang="en-US" sz="1600"/>
            </a:p>
          </p:txBody>
        </p:sp>
        <p:sp>
          <p:nvSpPr>
            <p:cNvPr id="139" name="Line 19"/>
            <p:cNvSpPr>
              <a:spLocks noChangeShapeType="1"/>
            </p:cNvSpPr>
            <p:nvPr/>
          </p:nvSpPr>
          <p:spPr bwMode="auto">
            <a:xfrm flipH="1">
              <a:off x="1079377" y="3101101"/>
              <a:ext cx="279642" cy="119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8"/>
            <p:cNvSpPr>
              <a:spLocks noChangeShapeType="1"/>
            </p:cNvSpPr>
            <p:nvPr/>
          </p:nvSpPr>
          <p:spPr bwMode="auto">
            <a:xfrm flipH="1">
              <a:off x="1068621" y="4345771"/>
              <a:ext cx="752883" cy="3587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7"/>
            <p:cNvSpPr>
              <a:spLocks noChangeShapeType="1"/>
            </p:cNvSpPr>
            <p:nvPr/>
          </p:nvSpPr>
          <p:spPr bwMode="auto">
            <a:xfrm>
              <a:off x="3332721" y="4309746"/>
              <a:ext cx="3095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2" name="Line 16"/>
            <p:cNvSpPr>
              <a:spLocks noChangeShapeType="1"/>
            </p:cNvSpPr>
            <p:nvPr/>
          </p:nvSpPr>
          <p:spPr bwMode="auto">
            <a:xfrm>
              <a:off x="4782004" y="4333554"/>
              <a:ext cx="309541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3" name="Line 15"/>
            <p:cNvSpPr>
              <a:spLocks noChangeShapeType="1"/>
            </p:cNvSpPr>
            <p:nvPr/>
          </p:nvSpPr>
          <p:spPr bwMode="auto">
            <a:xfrm>
              <a:off x="6777389" y="3680991"/>
              <a:ext cx="415878" cy="11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Text Box 14"/>
            <p:cNvSpPr txBox="1">
              <a:spLocks noChangeArrowheads="1"/>
            </p:cNvSpPr>
            <p:nvPr/>
          </p:nvSpPr>
          <p:spPr bwMode="auto">
            <a:xfrm>
              <a:off x="777029" y="3434687"/>
              <a:ext cx="592746" cy="42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0</a:t>
              </a:r>
              <a:endParaRPr lang="en-US" sz="1600"/>
            </a:p>
          </p:txBody>
        </p:sp>
        <p:sp>
          <p:nvSpPr>
            <p:cNvPr id="145" name="Text Box 13"/>
            <p:cNvSpPr txBox="1">
              <a:spLocks noChangeArrowheads="1"/>
            </p:cNvSpPr>
            <p:nvPr/>
          </p:nvSpPr>
          <p:spPr bwMode="auto">
            <a:xfrm>
              <a:off x="1484500" y="3413165"/>
              <a:ext cx="609477" cy="416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146" name="Text Box 12"/>
            <p:cNvSpPr txBox="1">
              <a:spLocks noChangeArrowheads="1"/>
            </p:cNvSpPr>
            <p:nvPr/>
          </p:nvSpPr>
          <p:spPr bwMode="auto">
            <a:xfrm>
              <a:off x="1909939" y="3403600"/>
              <a:ext cx="647719" cy="426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147" name="Text Box 11"/>
            <p:cNvSpPr txBox="1">
              <a:spLocks noChangeArrowheads="1"/>
            </p:cNvSpPr>
            <p:nvPr/>
          </p:nvSpPr>
          <p:spPr bwMode="auto">
            <a:xfrm>
              <a:off x="6232445" y="3646317"/>
              <a:ext cx="521043" cy="387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0</a:t>
              </a:r>
              <a:endParaRPr lang="en-US" sz="1600"/>
            </a:p>
          </p:txBody>
        </p:sp>
        <p:sp>
          <p:nvSpPr>
            <p:cNvPr id="148" name="Text Box 10"/>
            <p:cNvSpPr txBox="1">
              <a:spLocks noChangeArrowheads="1"/>
            </p:cNvSpPr>
            <p:nvPr/>
          </p:nvSpPr>
          <p:spPr bwMode="auto">
            <a:xfrm>
              <a:off x="6617252" y="3664252"/>
              <a:ext cx="599917" cy="419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149" name="Text Box 9"/>
            <p:cNvSpPr txBox="1">
              <a:spLocks noChangeArrowheads="1"/>
            </p:cNvSpPr>
            <p:nvPr/>
          </p:nvSpPr>
          <p:spPr bwMode="auto">
            <a:xfrm>
              <a:off x="7030740" y="3666643"/>
              <a:ext cx="560480" cy="358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150" name="Text Box 8"/>
            <p:cNvSpPr txBox="1">
              <a:spLocks noChangeArrowheads="1"/>
            </p:cNvSpPr>
            <p:nvPr/>
          </p:nvSpPr>
          <p:spPr bwMode="auto">
            <a:xfrm>
              <a:off x="7487250" y="3664252"/>
              <a:ext cx="647719" cy="368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3</a:t>
              </a:r>
              <a:endParaRPr lang="en-US" sz="1600"/>
            </a:p>
          </p:txBody>
        </p:sp>
        <p:sp>
          <p:nvSpPr>
            <p:cNvPr id="151" name="Text Box 7"/>
            <p:cNvSpPr txBox="1">
              <a:spLocks noChangeArrowheads="1"/>
            </p:cNvSpPr>
            <p:nvPr/>
          </p:nvSpPr>
          <p:spPr bwMode="auto">
            <a:xfrm>
              <a:off x="6547938" y="2426401"/>
              <a:ext cx="2110463" cy="349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 dirty="0">
                  <a:cs typeface="Times New Roman" pitchFamily="18" charset="0"/>
                </a:rPr>
                <a:t>U</a:t>
              </a:r>
              <a:r>
                <a:rPr lang="en-US" sz="1600" baseline="-30000" dirty="0">
                  <a:cs typeface="Times New Roman" pitchFamily="18" charset="0"/>
                </a:rPr>
                <a:t>m (out) </a:t>
              </a:r>
              <a:r>
                <a:rPr lang="en-US" sz="1600" dirty="0">
                  <a:cs typeface="Times New Roman" pitchFamily="18" charset="0"/>
                </a:rPr>
                <a:t>= U</a:t>
              </a:r>
              <a:r>
                <a:rPr lang="en-US" sz="1600" baseline="-30000" dirty="0">
                  <a:cs typeface="Times New Roman" pitchFamily="18" charset="0"/>
                </a:rPr>
                <a:t>m (in) </a:t>
              </a:r>
              <a:r>
                <a:rPr lang="en-US" sz="1600" dirty="0">
                  <a:cs typeface="Times New Roman" pitchFamily="18" charset="0"/>
                </a:rPr>
                <a:t>- 0,7 V</a:t>
              </a:r>
              <a:endParaRPr lang="en-US" sz="1600" dirty="0"/>
            </a:p>
          </p:txBody>
        </p:sp>
        <p:sp>
          <p:nvSpPr>
            <p:cNvPr id="152" name="Text Box 6"/>
            <p:cNvSpPr txBox="1">
              <a:spLocks noChangeArrowheads="1"/>
            </p:cNvSpPr>
            <p:nvPr/>
          </p:nvSpPr>
          <p:spPr bwMode="auto">
            <a:xfrm>
              <a:off x="5321815" y="3470557"/>
              <a:ext cx="786345" cy="448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out </a:t>
              </a:r>
              <a:r>
                <a:rPr lang="en-US" sz="1600">
                  <a:cs typeface="Times New Roman" pitchFamily="18" charset="0"/>
                </a:rPr>
                <a:t>(t)</a:t>
              </a:r>
              <a:endParaRPr lang="en-US" sz="1600"/>
            </a:p>
          </p:txBody>
        </p:sp>
      </p:grpSp>
      <p:sp>
        <p:nvSpPr>
          <p:cNvPr id="155" name="Rectangle 2"/>
          <p:cNvSpPr>
            <a:spLocks noChangeArrowheads="1"/>
          </p:cNvSpPr>
          <p:nvPr/>
        </p:nvSpPr>
        <p:spPr bwMode="auto">
          <a:xfrm>
            <a:off x="479376" y="4551041"/>
            <a:ext cx="109452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През отрицателния полупериод диодът се запушва, през веригата не тече ток и напрежението в изхода е нула. </a:t>
            </a:r>
            <a:endParaRPr lang="en-US" sz="1600" dirty="0"/>
          </a:p>
        </p:txBody>
      </p:sp>
      <p:sp>
        <p:nvSpPr>
          <p:cNvPr id="156" name="TextBox 3"/>
          <p:cNvSpPr txBox="1">
            <a:spLocks noChangeArrowheads="1"/>
          </p:cNvSpPr>
          <p:nvPr/>
        </p:nvSpPr>
        <p:spPr bwMode="auto">
          <a:xfrm>
            <a:off x="4513264" y="3849366"/>
            <a:ext cx="2668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i="0"/>
              <a:t>Еднопътен изправител</a:t>
            </a:r>
            <a:endParaRPr lang="en-US" sz="1600" i="0"/>
          </a:p>
        </p:txBody>
      </p:sp>
      <p:sp>
        <p:nvSpPr>
          <p:cNvPr id="161" name="Text Box 46"/>
          <p:cNvSpPr txBox="1">
            <a:spLocks noChangeArrowheads="1"/>
          </p:cNvSpPr>
          <p:nvPr/>
        </p:nvSpPr>
        <p:spPr bwMode="auto">
          <a:xfrm>
            <a:off x="2062164" y="2261865"/>
            <a:ext cx="5984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>
                <a:cs typeface="Times New Roman" pitchFamily="18" charset="0"/>
              </a:rPr>
              <a:t>U</a:t>
            </a:r>
            <a:r>
              <a:rPr lang="en-US" sz="1600" baseline="-30000">
                <a:cs typeface="Times New Roman" pitchFamily="18" charset="0"/>
              </a:rPr>
              <a:t>m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89832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472" y="1495400"/>
            <a:ext cx="660082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04112" y="1249016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Изправител – положителна полувълна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840" y="1967753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= V</a:t>
            </a:r>
            <a:r>
              <a:rPr lang="en-US" sz="1400" baseline="-25000" dirty="0"/>
              <a:t>IN</a:t>
            </a:r>
            <a:r>
              <a:rPr lang="en-US" sz="1400" dirty="0"/>
              <a:t> – 0.7V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8128" y="3244152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Изправител – отрицателна полувълна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7840" y="4632049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= V</a:t>
            </a:r>
            <a:r>
              <a:rPr lang="en-US" sz="1400" baseline="-25000" dirty="0"/>
              <a:t>IN</a:t>
            </a:r>
            <a:r>
              <a:rPr lang="en-US" sz="1400" dirty="0"/>
              <a:t> – 0.7V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6B85E-C3CF-7E9F-61F9-DDEB9F1C6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45" y="1102276"/>
            <a:ext cx="3351868" cy="2449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8E1A61-0FE7-3D15-5711-928EB231E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231" y="3339887"/>
            <a:ext cx="2968665" cy="23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9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627856" y="992908"/>
            <a:ext cx="108687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През положителният полупериод диодът се отпушва и протичащият през него ток зарежда кондензатора приблизително до върховата стойност на входното напрежение (ако се пренебрегне падът върху диода).</a:t>
            </a:r>
            <a:endParaRPr lang="en-US" sz="1600" dirty="0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04" y="2780928"/>
            <a:ext cx="81026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60C4B-6E6D-AA9C-7DB2-21F80D62424B}"/>
              </a:ext>
            </a:extLst>
          </p:cNvPr>
          <p:cNvSpPr txBox="1"/>
          <p:nvPr/>
        </p:nvSpPr>
        <p:spPr>
          <a:xfrm>
            <a:off x="95734" y="44624"/>
            <a:ext cx="1204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bg-BG" sz="1800" dirty="0">
                <a:solidFill>
                  <a:schemeClr val="tx1"/>
                </a:solidFill>
              </a:rPr>
              <a:t>Филтрация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04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>
            <a:spLocks noChangeArrowheads="1"/>
          </p:cNvSpPr>
          <p:nvPr/>
        </p:nvSpPr>
        <p:spPr bwMode="auto">
          <a:xfrm>
            <a:off x="983432" y="992908"/>
            <a:ext cx="1015312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dirty="0"/>
              <a:t>Когато входното напрежение започне да спада под върховата си стойност, кондензаторът запазва заряда си и диодът се включва в обратна посока като прекъсва веригата към входния източник. </a:t>
            </a:r>
            <a:endParaRPr lang="en-US" dirty="0"/>
          </a:p>
        </p:txBody>
      </p:sp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4" y="1995290"/>
            <a:ext cx="82581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839416" y="4256882"/>
            <a:ext cx="1051316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dirty="0"/>
              <a:t>През останалата част от цикъла кондензаторът може да се разрежда само през товарното съпротивление със скорост, определена от  времеконстанта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C</a:t>
            </a:r>
            <a:r>
              <a:rPr lang="bg-BG" dirty="0"/>
              <a:t>. </a:t>
            </a:r>
            <a:endParaRPr lang="en-US" dirty="0"/>
          </a:p>
          <a:p>
            <a:endParaRPr lang="en-US" sz="800" dirty="0"/>
          </a:p>
          <a:p>
            <a:r>
              <a:rPr lang="bg-BG" dirty="0"/>
              <a:t>Колкото по-голяма е времеконстантата, толкова по-бавно ще се разреди кондензаторът. В резултат се осигурява относително постоянно напрежение със слаби </a:t>
            </a:r>
            <a:r>
              <a:rPr lang="bg-BG" dirty="0" err="1"/>
              <a:t>флуктуации</a:t>
            </a:r>
            <a:r>
              <a:rPr lang="bg-BG" dirty="0"/>
              <a:t>.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03912" y="2204864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591944" y="2060848"/>
            <a:ext cx="144016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807969" y="2204864"/>
            <a:ext cx="27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762250" y="2159146"/>
            <a:ext cx="45719" cy="45719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C7354E-56FF-C70B-E6D9-B0EFD496BB2C}"/>
              </a:ext>
            </a:extLst>
          </p:cNvPr>
          <p:cNvSpPr txBox="1"/>
          <p:nvPr/>
        </p:nvSpPr>
        <p:spPr>
          <a:xfrm>
            <a:off x="95734" y="44624"/>
            <a:ext cx="11904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bg-BG" sz="1800" dirty="0">
                <a:solidFill>
                  <a:schemeClr val="tx1"/>
                </a:solidFill>
              </a:rPr>
              <a:t>Филтрация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45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/>
          <p:cNvGrpSpPr>
            <a:grpSpLocks/>
          </p:cNvGrpSpPr>
          <p:nvPr/>
        </p:nvGrpSpPr>
        <p:grpSpPr bwMode="auto">
          <a:xfrm>
            <a:off x="695400" y="988717"/>
            <a:ext cx="8945562" cy="2301875"/>
            <a:chOff x="576263" y="1530350"/>
            <a:chExt cx="8945562" cy="2301875"/>
          </a:xfrm>
        </p:grpSpPr>
        <p:sp>
          <p:nvSpPr>
            <p:cNvPr id="33" name="AutoShape 44"/>
            <p:cNvSpPr>
              <a:spLocks noChangeAspect="1" noChangeArrowheads="1" noTextEdit="1"/>
            </p:cNvSpPr>
            <p:nvPr/>
          </p:nvSpPr>
          <p:spPr bwMode="auto">
            <a:xfrm>
              <a:off x="576263" y="1538288"/>
              <a:ext cx="8945562" cy="229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038" y="1530350"/>
              <a:ext cx="8018145" cy="2301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43"/>
            <p:cNvSpPr>
              <a:spLocks noChangeShapeType="1"/>
            </p:cNvSpPr>
            <p:nvPr/>
          </p:nvSpPr>
          <p:spPr bwMode="auto">
            <a:xfrm>
              <a:off x="5849938" y="2149475"/>
              <a:ext cx="1587" cy="13716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 flipV="1">
              <a:off x="3970338" y="2162175"/>
              <a:ext cx="3175" cy="13589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 flipV="1">
              <a:off x="3976688" y="2144713"/>
              <a:ext cx="1874837" cy="793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Oval 40"/>
            <p:cNvSpPr>
              <a:spLocks noChangeArrowheads="1"/>
            </p:cNvSpPr>
            <p:nvPr/>
          </p:nvSpPr>
          <p:spPr bwMode="auto">
            <a:xfrm>
              <a:off x="3775075" y="2622550"/>
              <a:ext cx="406400" cy="406400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3879706" y="2736632"/>
              <a:ext cx="155290" cy="173394"/>
            </a:xfrm>
            <a:custGeom>
              <a:avLst/>
              <a:gdLst>
                <a:gd name="T0" fmla="*/ 0 w 173"/>
                <a:gd name="T1" fmla="*/ 2147483647 h 192"/>
                <a:gd name="T2" fmla="*/ 2147483647 w 173"/>
                <a:gd name="T3" fmla="*/ 0 h 192"/>
                <a:gd name="T4" fmla="*/ 2147483647 w 173"/>
                <a:gd name="T5" fmla="*/ 2147483647 h 192"/>
                <a:gd name="T6" fmla="*/ 2147483647 w 173"/>
                <a:gd name="T7" fmla="*/ 2147483647 h 192"/>
                <a:gd name="T8" fmla="*/ 2147483647 w 173"/>
                <a:gd name="T9" fmla="*/ 214748364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" h="192">
                  <a:moveTo>
                    <a:pt x="0" y="126"/>
                  </a:moveTo>
                  <a:cubicBezTo>
                    <a:pt x="9" y="63"/>
                    <a:pt x="18" y="0"/>
                    <a:pt x="35" y="0"/>
                  </a:cubicBezTo>
                  <a:cubicBezTo>
                    <a:pt x="52" y="0"/>
                    <a:pt x="85" y="95"/>
                    <a:pt x="104" y="126"/>
                  </a:cubicBezTo>
                  <a:cubicBezTo>
                    <a:pt x="123" y="157"/>
                    <a:pt x="139" y="192"/>
                    <a:pt x="150" y="184"/>
                  </a:cubicBezTo>
                  <a:cubicBezTo>
                    <a:pt x="161" y="176"/>
                    <a:pt x="171" y="97"/>
                    <a:pt x="173" y="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3143042" y="2622321"/>
              <a:ext cx="757198" cy="46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in </a:t>
              </a:r>
              <a:r>
                <a:rPr lang="en-US" sz="1600">
                  <a:cs typeface="Times New Roman" pitchFamily="18" charset="0"/>
                </a:rPr>
                <a:t>(t)</a:t>
              </a:r>
              <a:endParaRPr lang="en-US" sz="1600"/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1395068" y="1747645"/>
              <a:ext cx="1283" cy="19137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36"/>
            <p:cNvSpPr>
              <a:spLocks noChangeShapeType="1"/>
            </p:cNvSpPr>
            <p:nvPr/>
          </p:nvSpPr>
          <p:spPr bwMode="auto">
            <a:xfrm flipV="1">
              <a:off x="1391218" y="2861219"/>
              <a:ext cx="1442527" cy="89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5"/>
            <p:cNvSpPr>
              <a:spLocks/>
            </p:cNvSpPr>
            <p:nvPr/>
          </p:nvSpPr>
          <p:spPr bwMode="auto">
            <a:xfrm>
              <a:off x="1403350" y="2208213"/>
              <a:ext cx="520700" cy="652462"/>
            </a:xfrm>
            <a:custGeom>
              <a:avLst/>
              <a:gdLst>
                <a:gd name="T0" fmla="*/ 0 w 576"/>
                <a:gd name="T1" fmla="*/ 30 h 725"/>
                <a:gd name="T2" fmla="*/ 13 w 576"/>
                <a:gd name="T3" fmla="*/ 0 h 725"/>
                <a:gd name="T4" fmla="*/ 24 w 576"/>
                <a:gd name="T5" fmla="*/ 30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" name="Freeform 34"/>
            <p:cNvSpPr>
              <a:spLocks/>
            </p:cNvSpPr>
            <p:nvPr/>
          </p:nvSpPr>
          <p:spPr bwMode="auto">
            <a:xfrm flipV="1">
              <a:off x="1920875" y="2870200"/>
              <a:ext cx="520700" cy="654050"/>
            </a:xfrm>
            <a:custGeom>
              <a:avLst/>
              <a:gdLst>
                <a:gd name="T0" fmla="*/ 0 w 576"/>
                <a:gd name="T1" fmla="*/ 30 h 725"/>
                <a:gd name="T2" fmla="*/ 13 w 576"/>
                <a:gd name="T3" fmla="*/ 0 h 725"/>
                <a:gd name="T4" fmla="*/ 24 w 576"/>
                <a:gd name="T5" fmla="*/ 30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Text Box 33"/>
            <p:cNvSpPr txBox="1">
              <a:spLocks noChangeArrowheads="1"/>
            </p:cNvSpPr>
            <p:nvPr/>
          </p:nvSpPr>
          <p:spPr bwMode="auto">
            <a:xfrm>
              <a:off x="2772142" y="2623605"/>
              <a:ext cx="404267" cy="333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endParaRPr lang="en-US" sz="1600"/>
            </a:p>
          </p:txBody>
        </p:sp>
        <p:sp>
          <p:nvSpPr>
            <p:cNvPr id="56" name="Text Box 32"/>
            <p:cNvSpPr txBox="1">
              <a:spLocks noChangeArrowheads="1"/>
            </p:cNvSpPr>
            <p:nvPr/>
          </p:nvSpPr>
          <p:spPr bwMode="auto">
            <a:xfrm>
              <a:off x="1400202" y="1592233"/>
              <a:ext cx="708430" cy="36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in</a:t>
              </a:r>
              <a:endParaRPr lang="en-US" sz="1600"/>
            </a:p>
          </p:txBody>
        </p:sp>
        <p:sp>
          <p:nvSpPr>
            <p:cNvPr id="57" name="Line 31"/>
            <p:cNvSpPr>
              <a:spLocks noChangeShapeType="1"/>
            </p:cNvSpPr>
            <p:nvPr/>
          </p:nvSpPr>
          <p:spPr bwMode="auto">
            <a:xfrm flipH="1">
              <a:off x="1382234" y="2207460"/>
              <a:ext cx="30159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flipH="1">
              <a:off x="1371967" y="3543235"/>
              <a:ext cx="808534" cy="385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29"/>
            <p:cNvSpPr>
              <a:spLocks noChangeShapeType="1"/>
            </p:cNvSpPr>
            <p:nvPr/>
          </p:nvSpPr>
          <p:spPr bwMode="auto">
            <a:xfrm>
              <a:off x="3802063" y="3505200"/>
              <a:ext cx="333375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5670550" y="3530600"/>
              <a:ext cx="333375" cy="158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Text Box 27"/>
            <p:cNvSpPr txBox="1">
              <a:spLocks noChangeArrowheads="1"/>
            </p:cNvSpPr>
            <p:nvPr/>
          </p:nvSpPr>
          <p:spPr bwMode="auto">
            <a:xfrm>
              <a:off x="1058821" y="2564523"/>
              <a:ext cx="636560" cy="457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0</a:t>
              </a:r>
              <a:endParaRPr lang="en-US" sz="1600"/>
            </a:p>
          </p:txBody>
        </p: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1817302" y="2541404"/>
              <a:ext cx="655811" cy="446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2274188" y="2531129"/>
              <a:ext cx="695596" cy="45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64" name="AutoShape 24"/>
            <p:cNvSpPr>
              <a:spLocks noChangeArrowheads="1"/>
            </p:cNvSpPr>
            <p:nvPr/>
          </p:nvSpPr>
          <p:spPr bwMode="auto">
            <a:xfrm rot="10800000">
              <a:off x="5664200" y="2549525"/>
              <a:ext cx="360363" cy="390525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5" name="Line 23"/>
            <p:cNvSpPr>
              <a:spLocks noChangeShapeType="1"/>
            </p:cNvSpPr>
            <p:nvPr/>
          </p:nvSpPr>
          <p:spPr bwMode="auto">
            <a:xfrm rot="5400000">
              <a:off x="5842000" y="2713038"/>
              <a:ext cx="3175" cy="4318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6" name="Text Box 22"/>
            <p:cNvSpPr txBox="1">
              <a:spLocks noChangeArrowheads="1"/>
            </p:cNvSpPr>
            <p:nvPr/>
          </p:nvSpPr>
          <p:spPr bwMode="auto">
            <a:xfrm>
              <a:off x="3640996" y="2343606"/>
              <a:ext cx="472286" cy="3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>
                  <a:cs typeface="Times New Roman" pitchFamily="18" charset="0"/>
                </a:rPr>
                <a:t>+</a:t>
              </a:r>
              <a:endParaRPr lang="en-US"/>
            </a:p>
          </p:txBody>
        </p:sp>
        <p:sp>
          <p:nvSpPr>
            <p:cNvPr id="67" name="Text Box 21"/>
            <p:cNvSpPr txBox="1">
              <a:spLocks noChangeArrowheads="1"/>
            </p:cNvSpPr>
            <p:nvPr/>
          </p:nvSpPr>
          <p:spPr bwMode="auto">
            <a:xfrm>
              <a:off x="3655112" y="2795715"/>
              <a:ext cx="435068" cy="396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>
                  <a:cs typeface="Times New Roman" pitchFamily="18" charset="0"/>
                </a:rPr>
                <a:t>_</a:t>
              </a:r>
              <a:endParaRPr lang="en-US"/>
            </a:p>
          </p:txBody>
        </p:sp>
        <p:sp>
          <p:nvSpPr>
            <p:cNvPr id="68" name="Text Box 20"/>
            <p:cNvSpPr txBox="1">
              <a:spLocks noChangeArrowheads="1"/>
            </p:cNvSpPr>
            <p:nvPr/>
          </p:nvSpPr>
          <p:spPr bwMode="auto">
            <a:xfrm>
              <a:off x="4657438" y="1710397"/>
              <a:ext cx="514639" cy="493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R</a:t>
              </a:r>
              <a:endParaRPr 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 rot="-5400000">
              <a:off x="4795994" y="1898109"/>
              <a:ext cx="128440" cy="4799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18"/>
            <p:cNvSpPr>
              <a:spLocks noChangeShapeType="1"/>
            </p:cNvSpPr>
            <p:nvPr/>
          </p:nvSpPr>
          <p:spPr bwMode="auto">
            <a:xfrm>
              <a:off x="6306591" y="2112414"/>
              <a:ext cx="0" cy="141412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17"/>
            <p:cNvSpPr>
              <a:spLocks noChangeShapeType="1"/>
            </p:cNvSpPr>
            <p:nvPr/>
          </p:nvSpPr>
          <p:spPr bwMode="auto">
            <a:xfrm>
              <a:off x="7112558" y="1777186"/>
              <a:ext cx="16684" cy="18315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V="1">
              <a:off x="7122825" y="2807274"/>
              <a:ext cx="1442527" cy="89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5"/>
            <p:cNvSpPr>
              <a:spLocks/>
            </p:cNvSpPr>
            <p:nvPr/>
          </p:nvSpPr>
          <p:spPr bwMode="auto">
            <a:xfrm flipV="1">
              <a:off x="7654925" y="2816225"/>
              <a:ext cx="519113" cy="654050"/>
            </a:xfrm>
            <a:custGeom>
              <a:avLst/>
              <a:gdLst>
                <a:gd name="T0" fmla="*/ 0 w 576"/>
                <a:gd name="T1" fmla="*/ 30 h 725"/>
                <a:gd name="T2" fmla="*/ 13 w 576"/>
                <a:gd name="T3" fmla="*/ 0 h 725"/>
                <a:gd name="T4" fmla="*/ 24 w 576"/>
                <a:gd name="T5" fmla="*/ 30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4" name="Text Box 14"/>
            <p:cNvSpPr txBox="1">
              <a:spLocks noChangeArrowheads="1"/>
            </p:cNvSpPr>
            <p:nvPr/>
          </p:nvSpPr>
          <p:spPr bwMode="auto">
            <a:xfrm>
              <a:off x="7131809" y="1615352"/>
              <a:ext cx="709713" cy="36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out</a:t>
              </a:r>
              <a:endParaRPr lang="en-US" sz="1600"/>
            </a:p>
          </p:txBody>
        </p:sp>
        <p:sp>
          <p:nvSpPr>
            <p:cNvPr id="75" name="Line 13"/>
            <p:cNvSpPr>
              <a:spLocks noChangeShapeType="1"/>
            </p:cNvSpPr>
            <p:nvPr/>
          </p:nvSpPr>
          <p:spPr bwMode="auto">
            <a:xfrm flipH="1">
              <a:off x="7103574" y="3489290"/>
              <a:ext cx="808534" cy="256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7550193" y="2488743"/>
              <a:ext cx="654527" cy="444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77" name="Text Box 11"/>
            <p:cNvSpPr txBox="1">
              <a:spLocks noChangeArrowheads="1"/>
            </p:cNvSpPr>
            <p:nvPr/>
          </p:nvSpPr>
          <p:spPr bwMode="auto">
            <a:xfrm>
              <a:off x="8005796" y="2477184"/>
              <a:ext cx="696879" cy="459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78" name="Line 10"/>
            <p:cNvSpPr>
              <a:spLocks noChangeShapeType="1"/>
            </p:cNvSpPr>
            <p:nvPr/>
          </p:nvSpPr>
          <p:spPr bwMode="auto">
            <a:xfrm>
              <a:off x="7129242" y="2804706"/>
              <a:ext cx="1283" cy="1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"/>
            <p:cNvSpPr>
              <a:spLocks noChangeShapeType="1"/>
            </p:cNvSpPr>
            <p:nvPr/>
          </p:nvSpPr>
          <p:spPr bwMode="auto">
            <a:xfrm flipV="1">
              <a:off x="7129463" y="2703513"/>
              <a:ext cx="39687" cy="10953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0" name="Line 8"/>
            <p:cNvSpPr>
              <a:spLocks noChangeShapeType="1"/>
            </p:cNvSpPr>
            <p:nvPr/>
          </p:nvSpPr>
          <p:spPr bwMode="auto">
            <a:xfrm flipH="1" flipV="1">
              <a:off x="7620000" y="2711450"/>
              <a:ext cx="30163" cy="1016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1" name="Line 7"/>
            <p:cNvSpPr>
              <a:spLocks noChangeShapeType="1"/>
            </p:cNvSpPr>
            <p:nvPr/>
          </p:nvSpPr>
          <p:spPr bwMode="auto">
            <a:xfrm>
              <a:off x="7169150" y="2703513"/>
              <a:ext cx="450850" cy="158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804710" y="3240117"/>
              <a:ext cx="722547" cy="46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- U</a:t>
              </a:r>
              <a:r>
                <a:rPr lang="en-US" sz="1600" baseline="-30000">
                  <a:cs typeface="Times New Roman" pitchFamily="18" charset="0"/>
                </a:rPr>
                <a:t>m</a:t>
              </a:r>
              <a:endParaRPr lang="en-US" sz="1600"/>
            </a:p>
          </p:txBody>
        </p:sp>
        <p:sp>
          <p:nvSpPr>
            <p:cNvPr id="83" name="Text Box 5"/>
            <p:cNvSpPr txBox="1">
              <a:spLocks noChangeArrowheads="1"/>
            </p:cNvSpPr>
            <p:nvPr/>
          </p:nvSpPr>
          <p:spPr bwMode="auto">
            <a:xfrm>
              <a:off x="795726" y="1981406"/>
              <a:ext cx="746931" cy="418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+U</a:t>
              </a:r>
              <a:r>
                <a:rPr lang="en-US" sz="1600" baseline="-30000">
                  <a:cs typeface="Times New Roman" pitchFamily="18" charset="0"/>
                </a:rPr>
                <a:t>m</a:t>
              </a:r>
              <a:endParaRPr lang="en-US" sz="1600"/>
            </a:p>
          </p:txBody>
        </p:sp>
        <p:sp>
          <p:nvSpPr>
            <p:cNvPr id="84" name="Text Box 4"/>
            <p:cNvSpPr txBox="1">
              <a:spLocks noChangeArrowheads="1"/>
            </p:cNvSpPr>
            <p:nvPr/>
          </p:nvSpPr>
          <p:spPr bwMode="auto">
            <a:xfrm>
              <a:off x="6500382" y="3193879"/>
              <a:ext cx="737948" cy="417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- U</a:t>
              </a:r>
              <a:r>
                <a:rPr lang="en-US" sz="1600" baseline="-30000">
                  <a:cs typeface="Times New Roman" pitchFamily="18" charset="0"/>
                </a:rPr>
                <a:t>m</a:t>
              </a:r>
              <a:endParaRPr lang="en-US" sz="1600"/>
            </a:p>
          </p:txBody>
        </p:sp>
        <p:sp>
          <p:nvSpPr>
            <p:cNvPr id="85" name="Text Box 3"/>
            <p:cNvSpPr txBox="1">
              <a:spLocks noChangeArrowheads="1"/>
            </p:cNvSpPr>
            <p:nvPr/>
          </p:nvSpPr>
          <p:spPr bwMode="auto">
            <a:xfrm>
              <a:off x="6445196" y="2500303"/>
              <a:ext cx="658378" cy="421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cs typeface="Times New Roman" pitchFamily="18" charset="0"/>
                </a:rPr>
                <a:t>0,7 V</a:t>
              </a:r>
              <a:endParaRPr lang="en-US" sz="1400"/>
            </a:p>
          </p:txBody>
        </p:sp>
        <p:sp>
          <p:nvSpPr>
            <p:cNvPr id="86" name="Line 2"/>
            <p:cNvSpPr>
              <a:spLocks noChangeShapeType="1"/>
            </p:cNvSpPr>
            <p:nvPr/>
          </p:nvSpPr>
          <p:spPr bwMode="auto">
            <a:xfrm>
              <a:off x="7121541" y="2812412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Rectangle 40"/>
            <p:cNvSpPr>
              <a:spLocks noChangeArrowheads="1"/>
            </p:cNvSpPr>
            <p:nvPr/>
          </p:nvSpPr>
          <p:spPr bwMode="auto">
            <a:xfrm rot="5400000">
              <a:off x="4747419" y="1850231"/>
              <a:ext cx="225425" cy="58896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34" name="Rectangle 1"/>
          <p:cNvSpPr>
            <a:spLocks noChangeArrowheads="1"/>
          </p:cNvSpPr>
          <p:nvPr/>
        </p:nvSpPr>
        <p:spPr bwMode="auto">
          <a:xfrm>
            <a:off x="695400" y="3599726"/>
            <a:ext cx="1087320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Диодите често се използват да ограничат части от даден сигнал над или под определено ниво. </a:t>
            </a:r>
          </a:p>
          <a:p>
            <a:endParaRPr lang="bg-BG" sz="1600" dirty="0"/>
          </a:p>
          <a:p>
            <a:r>
              <a:rPr lang="bg-BG" sz="1600" dirty="0"/>
              <a:t>През положителния полупериод  диодът е отпушен, напрежението върху него е 0,7 </a:t>
            </a:r>
            <a:r>
              <a:rPr lang="en-US" sz="1600" dirty="0"/>
              <a:t>V</a:t>
            </a:r>
            <a:r>
              <a:rPr lang="bg-BG" sz="1600" dirty="0"/>
              <a:t>. Тогава изходното напрежение се ограничава на ниво + 0,7 </a:t>
            </a:r>
            <a:r>
              <a:rPr lang="en-US" sz="1600" dirty="0"/>
              <a:t>V</a:t>
            </a:r>
            <a:r>
              <a:rPr lang="bg-BG" sz="1600" dirty="0"/>
              <a:t> за случаите, когато входното напрежение превиши тази стойност.</a:t>
            </a:r>
            <a:endParaRPr lang="en-US" sz="1600" dirty="0"/>
          </a:p>
          <a:p>
            <a:endParaRPr lang="en-US" sz="1600" dirty="0"/>
          </a:p>
          <a:p>
            <a:r>
              <a:rPr lang="bg-BG" sz="1600" dirty="0"/>
              <a:t>През отрицателния полупериод диодът е запушен – действа като отворен ключ и напрежението в изхода повтаря формата на входното напрежение.</a:t>
            </a:r>
            <a:endParaRPr lang="en-US" sz="1600" dirty="0"/>
          </a:p>
        </p:txBody>
      </p:sp>
      <p:pic>
        <p:nvPicPr>
          <p:cNvPr id="2" name="Picture 1" descr="Diagram, schematic&#10;&#10;Description automatically generated">
            <a:extLst>
              <a:ext uri="{FF2B5EF4-FFF2-40B4-BE49-F238E27FC236}">
                <a16:creationId xmlns:a16="http://schemas.microsoft.com/office/drawing/2014/main" id="{A67F32C6-F65C-09AA-C6F7-9C80CCD2F4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960" y="1072826"/>
            <a:ext cx="2380493" cy="2380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97311-BEF0-5F6D-FAC8-4D54840FBF50}"/>
              </a:ext>
            </a:extLst>
          </p:cNvPr>
          <p:cNvSpPr txBox="1"/>
          <p:nvPr/>
        </p:nvSpPr>
        <p:spPr>
          <a:xfrm>
            <a:off x="95734" y="44624"/>
            <a:ext cx="1204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bg-BG" sz="1800" dirty="0">
                <a:solidFill>
                  <a:schemeClr val="tx1"/>
                </a:solidFill>
              </a:rPr>
              <a:t>Ограничители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622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>
            <a:spLocks noChangeArrowheads="1"/>
          </p:cNvSpPr>
          <p:nvPr/>
        </p:nvSpPr>
        <p:spPr bwMode="auto">
          <a:xfrm>
            <a:off x="490259" y="4376141"/>
            <a:ext cx="1102119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Диодът в право включване през отрицателния полупериод и ограничава изходния сигнал на ниво -</a:t>
            </a:r>
            <a:r>
              <a:rPr lang="en-US" sz="1600" dirty="0"/>
              <a:t>0.7 </a:t>
            </a:r>
            <a:r>
              <a:rPr lang="bg-BG" sz="1600" dirty="0"/>
              <a:t>волта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bg-BG" sz="1600" dirty="0"/>
              <a:t>През положителния полупериод диодът е запушен – действа като отворен ключ и напрежението в изхода повтаря формата на входното.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99" y="973754"/>
            <a:ext cx="79248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Diagram, schematic&#10;&#10;Description automatically generated">
            <a:extLst>
              <a:ext uri="{FF2B5EF4-FFF2-40B4-BE49-F238E27FC236}">
                <a16:creationId xmlns:a16="http://schemas.microsoft.com/office/drawing/2014/main" id="{013BB6C3-DEEA-5B0E-4663-5B42A7ABFC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960" y="1072826"/>
            <a:ext cx="2380493" cy="2380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CA7B5C-0D0C-3850-8F80-0E1A8541FA42}"/>
              </a:ext>
            </a:extLst>
          </p:cNvPr>
          <p:cNvSpPr txBox="1"/>
          <p:nvPr/>
        </p:nvSpPr>
        <p:spPr>
          <a:xfrm>
            <a:off x="95734" y="44624"/>
            <a:ext cx="11904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bg-BG" sz="1800" dirty="0">
                <a:solidFill>
                  <a:schemeClr val="tx1"/>
                </a:solidFill>
              </a:rPr>
              <a:t>Ограничители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874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79376" y="3645025"/>
            <a:ext cx="11089232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Диодът ще се отпуши, когато напрежението върху анода му надвиши сумата от стойността на напрежението на батериата и пада 0,7 V върху диода. Тогава изходното напрежение се ограничава до тази стойност (3,7 V в случая) и всички по-високи входни напрежения се отрязват. </a:t>
            </a:r>
          </a:p>
          <a:p>
            <a:endParaRPr lang="bg-BG" sz="1600" dirty="0"/>
          </a:p>
          <a:p>
            <a:r>
              <a:rPr lang="bg-BG" sz="1600" dirty="0"/>
              <a:t>През отрицателния полупериод диодът е запушен – действа като отворен ключ и напрежението в изхода повтаря формата на входното.</a:t>
            </a:r>
            <a:endParaRPr lang="en-US" sz="1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992313" y="983110"/>
            <a:ext cx="8253412" cy="2301875"/>
            <a:chOff x="468313" y="1530350"/>
            <a:chExt cx="8253412" cy="2301875"/>
          </a:xfrm>
        </p:grpSpPr>
        <p:pic>
          <p:nvPicPr>
            <p:cNvPr id="15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038" y="1530350"/>
              <a:ext cx="8018462" cy="2301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" name="Group 131"/>
            <p:cNvGrpSpPr>
              <a:grpSpLocks noChangeAspect="1"/>
            </p:cNvGrpSpPr>
            <p:nvPr/>
          </p:nvGrpSpPr>
          <p:grpSpPr bwMode="auto">
            <a:xfrm>
              <a:off x="468313" y="1604963"/>
              <a:ext cx="8253412" cy="1966912"/>
              <a:chOff x="2509" y="3247"/>
              <a:chExt cx="6879" cy="1640"/>
            </a:xfrm>
          </p:grpSpPr>
          <p:sp>
            <p:nvSpPr>
              <p:cNvPr id="18" name="AutoShape 182"/>
              <p:cNvSpPr>
                <a:spLocks noChangeAspect="1" noChangeArrowheads="1" noTextEdit="1"/>
              </p:cNvSpPr>
              <p:nvPr/>
            </p:nvSpPr>
            <p:spPr bwMode="auto">
              <a:xfrm>
                <a:off x="2509" y="3247"/>
                <a:ext cx="6879" cy="1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81"/>
              <p:cNvSpPr>
                <a:spLocks noChangeShapeType="1"/>
              </p:cNvSpPr>
              <p:nvPr/>
            </p:nvSpPr>
            <p:spPr bwMode="auto">
              <a:xfrm>
                <a:off x="6713" y="3634"/>
                <a:ext cx="1" cy="609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" name="Line 180"/>
              <p:cNvSpPr>
                <a:spLocks noChangeShapeType="1"/>
              </p:cNvSpPr>
              <p:nvPr/>
            </p:nvSpPr>
            <p:spPr bwMode="auto">
              <a:xfrm flipV="1">
                <a:off x="5249" y="3643"/>
                <a:ext cx="1" cy="1058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Line 179"/>
              <p:cNvSpPr>
                <a:spLocks noChangeShapeType="1"/>
              </p:cNvSpPr>
              <p:nvPr/>
            </p:nvSpPr>
            <p:spPr bwMode="auto">
              <a:xfrm flipV="1">
                <a:off x="5253" y="3630"/>
                <a:ext cx="1462" cy="5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" name="Oval 178"/>
              <p:cNvSpPr>
                <a:spLocks noChangeArrowheads="1"/>
              </p:cNvSpPr>
              <p:nvPr/>
            </p:nvSpPr>
            <p:spPr bwMode="auto">
              <a:xfrm>
                <a:off x="5097" y="4001"/>
                <a:ext cx="316" cy="31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Freeform 177"/>
              <p:cNvSpPr>
                <a:spLocks/>
              </p:cNvSpPr>
              <p:nvPr/>
            </p:nvSpPr>
            <p:spPr bwMode="auto">
              <a:xfrm>
                <a:off x="5178" y="4090"/>
                <a:ext cx="121" cy="135"/>
              </a:xfrm>
              <a:custGeom>
                <a:avLst/>
                <a:gdLst>
                  <a:gd name="T0" fmla="*/ 0 w 173"/>
                  <a:gd name="T1" fmla="*/ 1 h 192"/>
                  <a:gd name="T2" fmla="*/ 1 w 173"/>
                  <a:gd name="T3" fmla="*/ 0 h 192"/>
                  <a:gd name="T4" fmla="*/ 1 w 173"/>
                  <a:gd name="T5" fmla="*/ 1 h 192"/>
                  <a:gd name="T6" fmla="*/ 1 w 173"/>
                  <a:gd name="T7" fmla="*/ 1 h 192"/>
                  <a:gd name="T8" fmla="*/ 1 w 173"/>
                  <a:gd name="T9" fmla="*/ 1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3" h="192">
                    <a:moveTo>
                      <a:pt x="0" y="126"/>
                    </a:moveTo>
                    <a:cubicBezTo>
                      <a:pt x="9" y="63"/>
                      <a:pt x="18" y="0"/>
                      <a:pt x="35" y="0"/>
                    </a:cubicBezTo>
                    <a:cubicBezTo>
                      <a:pt x="52" y="0"/>
                      <a:pt x="85" y="95"/>
                      <a:pt x="104" y="126"/>
                    </a:cubicBezTo>
                    <a:cubicBezTo>
                      <a:pt x="123" y="157"/>
                      <a:pt x="139" y="192"/>
                      <a:pt x="150" y="184"/>
                    </a:cubicBezTo>
                    <a:cubicBezTo>
                      <a:pt x="161" y="176"/>
                      <a:pt x="171" y="97"/>
                      <a:pt x="173" y="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Box 176"/>
              <p:cNvSpPr txBox="1">
                <a:spLocks noChangeArrowheads="1"/>
              </p:cNvSpPr>
              <p:nvPr/>
            </p:nvSpPr>
            <p:spPr bwMode="auto">
              <a:xfrm>
                <a:off x="4604" y="4001"/>
                <a:ext cx="590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u</a:t>
                </a:r>
                <a:r>
                  <a:rPr lang="en-US" sz="1600" baseline="-30000">
                    <a:cs typeface="Times New Roman" pitchFamily="18" charset="0"/>
                  </a:rPr>
                  <a:t>in </a:t>
                </a:r>
                <a:r>
                  <a:rPr lang="en-US" sz="1600">
                    <a:cs typeface="Times New Roman" pitchFamily="18" charset="0"/>
                  </a:rPr>
                  <a:t>(t)</a:t>
                </a:r>
                <a:endParaRPr lang="en-US" sz="1600"/>
              </a:p>
            </p:txBody>
          </p:sp>
          <p:sp>
            <p:nvSpPr>
              <p:cNvPr id="25" name="Line 175"/>
              <p:cNvSpPr>
                <a:spLocks noChangeShapeType="1"/>
              </p:cNvSpPr>
              <p:nvPr/>
            </p:nvSpPr>
            <p:spPr bwMode="auto">
              <a:xfrm>
                <a:off x="3242" y="3320"/>
                <a:ext cx="1" cy="14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174"/>
              <p:cNvSpPr>
                <a:spLocks noChangeShapeType="1"/>
              </p:cNvSpPr>
              <p:nvPr/>
            </p:nvSpPr>
            <p:spPr bwMode="auto">
              <a:xfrm flipV="1">
                <a:off x="3239" y="4187"/>
                <a:ext cx="1123" cy="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73"/>
              <p:cNvSpPr>
                <a:spLocks/>
              </p:cNvSpPr>
              <p:nvPr/>
            </p:nvSpPr>
            <p:spPr bwMode="auto">
              <a:xfrm>
                <a:off x="3249" y="3679"/>
                <a:ext cx="405" cy="508"/>
              </a:xfrm>
              <a:custGeom>
                <a:avLst/>
                <a:gdLst>
                  <a:gd name="T0" fmla="*/ 0 w 576"/>
                  <a:gd name="T1" fmla="*/ 30 h 725"/>
                  <a:gd name="T2" fmla="*/ 13 w 576"/>
                  <a:gd name="T3" fmla="*/ 0 h 725"/>
                  <a:gd name="T4" fmla="*/ 24 w 576"/>
                  <a:gd name="T5" fmla="*/ 30 h 7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725">
                    <a:moveTo>
                      <a:pt x="0" y="725"/>
                    </a:moveTo>
                    <a:cubicBezTo>
                      <a:pt x="113" y="362"/>
                      <a:pt x="226" y="0"/>
                      <a:pt x="322" y="0"/>
                    </a:cubicBezTo>
                    <a:cubicBezTo>
                      <a:pt x="418" y="0"/>
                      <a:pt x="517" y="606"/>
                      <a:pt x="576" y="725"/>
                    </a:cubicBezTo>
                  </a:path>
                </a:pathLst>
              </a:cu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8" name="Freeform 172"/>
              <p:cNvSpPr>
                <a:spLocks/>
              </p:cNvSpPr>
              <p:nvPr/>
            </p:nvSpPr>
            <p:spPr bwMode="auto">
              <a:xfrm flipV="1">
                <a:off x="3652" y="4193"/>
                <a:ext cx="405" cy="510"/>
              </a:xfrm>
              <a:custGeom>
                <a:avLst/>
                <a:gdLst>
                  <a:gd name="T0" fmla="*/ 0 w 576"/>
                  <a:gd name="T1" fmla="*/ 30 h 725"/>
                  <a:gd name="T2" fmla="*/ 13 w 576"/>
                  <a:gd name="T3" fmla="*/ 0 h 725"/>
                  <a:gd name="T4" fmla="*/ 24 w 576"/>
                  <a:gd name="T5" fmla="*/ 30 h 7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725">
                    <a:moveTo>
                      <a:pt x="0" y="725"/>
                    </a:moveTo>
                    <a:cubicBezTo>
                      <a:pt x="113" y="362"/>
                      <a:pt x="226" y="0"/>
                      <a:pt x="322" y="0"/>
                    </a:cubicBezTo>
                    <a:cubicBezTo>
                      <a:pt x="418" y="0"/>
                      <a:pt x="517" y="606"/>
                      <a:pt x="576" y="725"/>
                    </a:cubicBezTo>
                  </a:path>
                </a:pathLst>
              </a:cu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" name="Text Box 171"/>
              <p:cNvSpPr txBox="1">
                <a:spLocks noChangeArrowheads="1"/>
              </p:cNvSpPr>
              <p:nvPr/>
            </p:nvSpPr>
            <p:spPr bwMode="auto">
              <a:xfrm>
                <a:off x="4315" y="4003"/>
                <a:ext cx="315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t</a:t>
                </a:r>
                <a:endParaRPr lang="en-US" sz="1600"/>
              </a:p>
            </p:txBody>
          </p:sp>
          <p:sp>
            <p:nvSpPr>
              <p:cNvPr id="30" name="Line 170"/>
              <p:cNvSpPr>
                <a:spLocks noChangeShapeType="1"/>
              </p:cNvSpPr>
              <p:nvPr/>
            </p:nvSpPr>
            <p:spPr bwMode="auto">
              <a:xfrm flipH="1">
                <a:off x="3232" y="3678"/>
                <a:ext cx="235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169"/>
              <p:cNvSpPr>
                <a:spLocks noChangeShapeType="1"/>
              </p:cNvSpPr>
              <p:nvPr/>
            </p:nvSpPr>
            <p:spPr bwMode="auto">
              <a:xfrm flipH="1">
                <a:off x="3224" y="4718"/>
                <a:ext cx="630" cy="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8"/>
              <p:cNvSpPr>
                <a:spLocks noChangeShapeType="1"/>
              </p:cNvSpPr>
              <p:nvPr/>
            </p:nvSpPr>
            <p:spPr bwMode="auto">
              <a:xfrm>
                <a:off x="5118" y="4688"/>
                <a:ext cx="259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3" name="Line 167"/>
              <p:cNvSpPr>
                <a:spLocks noChangeShapeType="1"/>
              </p:cNvSpPr>
              <p:nvPr/>
            </p:nvSpPr>
            <p:spPr bwMode="auto">
              <a:xfrm>
                <a:off x="6574" y="4708"/>
                <a:ext cx="259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4" name="Text Box 166"/>
              <p:cNvSpPr txBox="1">
                <a:spLocks noChangeArrowheads="1"/>
              </p:cNvSpPr>
              <p:nvPr/>
            </p:nvSpPr>
            <p:spPr bwMode="auto">
              <a:xfrm>
                <a:off x="2980" y="3956"/>
                <a:ext cx="496" cy="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t</a:t>
                </a:r>
                <a:r>
                  <a:rPr lang="en-US" sz="1600" baseline="-30000">
                    <a:cs typeface="Times New Roman" pitchFamily="18" charset="0"/>
                  </a:rPr>
                  <a:t>0</a:t>
                </a:r>
                <a:endParaRPr lang="en-US" sz="1600"/>
              </a:p>
            </p:txBody>
          </p:sp>
          <p:sp>
            <p:nvSpPr>
              <p:cNvPr id="35" name="Text Box 165"/>
              <p:cNvSpPr txBox="1">
                <a:spLocks noChangeArrowheads="1"/>
              </p:cNvSpPr>
              <p:nvPr/>
            </p:nvSpPr>
            <p:spPr bwMode="auto">
              <a:xfrm>
                <a:off x="3571" y="3939"/>
                <a:ext cx="511" cy="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t</a:t>
                </a:r>
                <a:r>
                  <a:rPr lang="en-US" sz="1600" baseline="-30000">
                    <a:cs typeface="Times New Roman" pitchFamily="18" charset="0"/>
                  </a:rPr>
                  <a:t>1</a:t>
                </a:r>
                <a:endParaRPr lang="en-US" sz="1600"/>
              </a:p>
            </p:txBody>
          </p:sp>
          <p:sp>
            <p:nvSpPr>
              <p:cNvPr id="36" name="Text Box 164"/>
              <p:cNvSpPr txBox="1">
                <a:spLocks noChangeArrowheads="1"/>
              </p:cNvSpPr>
              <p:nvPr/>
            </p:nvSpPr>
            <p:spPr bwMode="auto">
              <a:xfrm>
                <a:off x="3927" y="3930"/>
                <a:ext cx="542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t</a:t>
                </a:r>
                <a:r>
                  <a:rPr lang="en-US" sz="1600" baseline="-30000">
                    <a:cs typeface="Times New Roman" pitchFamily="18" charset="0"/>
                  </a:rPr>
                  <a:t>2</a:t>
                </a:r>
                <a:endParaRPr lang="en-US" sz="1600"/>
              </a:p>
            </p:txBody>
          </p:sp>
          <p:sp>
            <p:nvSpPr>
              <p:cNvPr id="37" name="AutoShape 163"/>
              <p:cNvSpPr>
                <a:spLocks noChangeArrowheads="1"/>
              </p:cNvSpPr>
              <p:nvPr/>
            </p:nvSpPr>
            <p:spPr bwMode="auto">
              <a:xfrm rot="10800000">
                <a:off x="6568" y="3769"/>
                <a:ext cx="281" cy="303"/>
              </a:xfrm>
              <a:prstGeom prst="triangle">
                <a:avLst>
                  <a:gd name="adj" fmla="val 50000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Line 162"/>
              <p:cNvSpPr>
                <a:spLocks noChangeShapeType="1"/>
              </p:cNvSpPr>
              <p:nvPr/>
            </p:nvSpPr>
            <p:spPr bwMode="auto">
              <a:xfrm rot="5400000">
                <a:off x="6706" y="3898"/>
                <a:ext cx="4" cy="335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" name="Text Box 161"/>
              <p:cNvSpPr txBox="1">
                <a:spLocks noChangeArrowheads="1"/>
              </p:cNvSpPr>
              <p:nvPr/>
            </p:nvSpPr>
            <p:spPr bwMode="auto">
              <a:xfrm>
                <a:off x="5784" y="3291"/>
                <a:ext cx="401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R</a:t>
                </a:r>
                <a:endParaRPr lang="en-US" sz="1600"/>
              </a:p>
            </p:txBody>
          </p:sp>
          <p:sp>
            <p:nvSpPr>
              <p:cNvPr id="40" name="Rectangle 160"/>
              <p:cNvSpPr>
                <a:spLocks noChangeArrowheads="1"/>
              </p:cNvSpPr>
              <p:nvPr/>
            </p:nvSpPr>
            <p:spPr bwMode="auto">
              <a:xfrm rot="-5400000">
                <a:off x="5891" y="3438"/>
                <a:ext cx="101" cy="37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59"/>
              <p:cNvSpPr>
                <a:spLocks noChangeShapeType="1"/>
              </p:cNvSpPr>
              <p:nvPr/>
            </p:nvSpPr>
            <p:spPr bwMode="auto">
              <a:xfrm>
                <a:off x="7909" y="3343"/>
                <a:ext cx="14" cy="14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158"/>
              <p:cNvSpPr>
                <a:spLocks noChangeShapeType="1"/>
              </p:cNvSpPr>
              <p:nvPr/>
            </p:nvSpPr>
            <p:spPr bwMode="auto">
              <a:xfrm flipV="1">
                <a:off x="7918" y="4145"/>
                <a:ext cx="1124" cy="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57"/>
              <p:cNvSpPr>
                <a:spLocks/>
              </p:cNvSpPr>
              <p:nvPr/>
            </p:nvSpPr>
            <p:spPr bwMode="auto">
              <a:xfrm flipV="1">
                <a:off x="8332" y="4152"/>
                <a:ext cx="404" cy="508"/>
              </a:xfrm>
              <a:custGeom>
                <a:avLst/>
                <a:gdLst>
                  <a:gd name="T0" fmla="*/ 0 w 576"/>
                  <a:gd name="T1" fmla="*/ 30 h 725"/>
                  <a:gd name="T2" fmla="*/ 13 w 576"/>
                  <a:gd name="T3" fmla="*/ 0 h 725"/>
                  <a:gd name="T4" fmla="*/ 24 w 576"/>
                  <a:gd name="T5" fmla="*/ 30 h 7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725">
                    <a:moveTo>
                      <a:pt x="0" y="725"/>
                    </a:moveTo>
                    <a:cubicBezTo>
                      <a:pt x="113" y="362"/>
                      <a:pt x="226" y="0"/>
                      <a:pt x="322" y="0"/>
                    </a:cubicBezTo>
                    <a:cubicBezTo>
                      <a:pt x="418" y="0"/>
                      <a:pt x="517" y="606"/>
                      <a:pt x="576" y="725"/>
                    </a:cubicBezTo>
                  </a:path>
                </a:pathLst>
              </a:cu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4" name="Line 156"/>
              <p:cNvSpPr>
                <a:spLocks noChangeShapeType="1"/>
              </p:cNvSpPr>
              <p:nvPr/>
            </p:nvSpPr>
            <p:spPr bwMode="auto">
              <a:xfrm flipH="1">
                <a:off x="7902" y="4677"/>
                <a:ext cx="631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 Box 155"/>
              <p:cNvSpPr txBox="1">
                <a:spLocks noChangeArrowheads="1"/>
              </p:cNvSpPr>
              <p:nvPr/>
            </p:nvSpPr>
            <p:spPr bwMode="auto">
              <a:xfrm>
                <a:off x="8856" y="3874"/>
                <a:ext cx="232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t</a:t>
                </a:r>
                <a:r>
                  <a:rPr lang="en-US" sz="1200" baseline="-30000">
                    <a:cs typeface="Times New Roman" pitchFamily="18" charset="0"/>
                  </a:rPr>
                  <a:t>1</a:t>
                </a:r>
                <a:endParaRPr lang="en-US"/>
              </a:p>
            </p:txBody>
          </p:sp>
          <p:sp>
            <p:nvSpPr>
              <p:cNvPr id="46" name="Line 154"/>
              <p:cNvSpPr>
                <a:spLocks noChangeShapeType="1"/>
              </p:cNvSpPr>
              <p:nvPr/>
            </p:nvSpPr>
            <p:spPr bwMode="auto">
              <a:xfrm>
                <a:off x="7923" y="4143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153"/>
              <p:cNvSpPr>
                <a:spLocks noChangeShapeType="1"/>
              </p:cNvSpPr>
              <p:nvPr/>
            </p:nvSpPr>
            <p:spPr bwMode="auto">
              <a:xfrm flipV="1">
                <a:off x="7923" y="3956"/>
                <a:ext cx="66" cy="19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8" name="Line 152"/>
              <p:cNvSpPr>
                <a:spLocks noChangeShapeType="1"/>
              </p:cNvSpPr>
              <p:nvPr/>
            </p:nvSpPr>
            <p:spPr bwMode="auto">
              <a:xfrm flipH="1" flipV="1">
                <a:off x="8263" y="3972"/>
                <a:ext cx="65" cy="176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9" name="Line 151"/>
              <p:cNvSpPr>
                <a:spLocks noChangeShapeType="1"/>
              </p:cNvSpPr>
              <p:nvPr/>
            </p:nvSpPr>
            <p:spPr bwMode="auto">
              <a:xfrm>
                <a:off x="7989" y="3972"/>
                <a:ext cx="27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0" name="Text Box 150"/>
              <p:cNvSpPr txBox="1">
                <a:spLocks noChangeArrowheads="1"/>
              </p:cNvSpPr>
              <p:nvPr/>
            </p:nvSpPr>
            <p:spPr bwMode="auto">
              <a:xfrm>
                <a:off x="2673" y="4524"/>
                <a:ext cx="758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400">
                    <a:cs typeface="Times New Roman" pitchFamily="18" charset="0"/>
                  </a:rPr>
                  <a:t>- 12V</a:t>
                </a:r>
                <a:endParaRPr lang="en-US" sz="1400"/>
              </a:p>
            </p:txBody>
          </p:sp>
          <p:sp>
            <p:nvSpPr>
              <p:cNvPr id="51" name="Text Box 149"/>
              <p:cNvSpPr txBox="1">
                <a:spLocks noChangeArrowheads="1"/>
              </p:cNvSpPr>
              <p:nvPr/>
            </p:nvSpPr>
            <p:spPr bwMode="auto">
              <a:xfrm>
                <a:off x="2661" y="3504"/>
                <a:ext cx="714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400">
                    <a:cs typeface="Times New Roman" pitchFamily="18" charset="0"/>
                  </a:rPr>
                  <a:t>+12 V</a:t>
                </a:r>
                <a:endParaRPr lang="en-US" sz="1400"/>
              </a:p>
            </p:txBody>
          </p:sp>
          <p:sp>
            <p:nvSpPr>
              <p:cNvPr id="52" name="Text Box 148"/>
              <p:cNvSpPr txBox="1">
                <a:spLocks noChangeArrowheads="1"/>
              </p:cNvSpPr>
              <p:nvPr/>
            </p:nvSpPr>
            <p:spPr bwMode="auto">
              <a:xfrm>
                <a:off x="7141" y="4494"/>
                <a:ext cx="71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400">
                    <a:cs typeface="Times New Roman" pitchFamily="18" charset="0"/>
                  </a:rPr>
                  <a:t>- 12 V</a:t>
                </a:r>
                <a:endParaRPr lang="en-US" sz="1400"/>
              </a:p>
            </p:txBody>
          </p:sp>
          <p:sp>
            <p:nvSpPr>
              <p:cNvPr id="53" name="Text Box 147"/>
              <p:cNvSpPr txBox="1">
                <a:spLocks noChangeArrowheads="1"/>
              </p:cNvSpPr>
              <p:nvPr/>
            </p:nvSpPr>
            <p:spPr bwMode="auto">
              <a:xfrm>
                <a:off x="7105" y="3813"/>
                <a:ext cx="61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400">
                    <a:cs typeface="Times New Roman" pitchFamily="18" charset="0"/>
                  </a:rPr>
                  <a:t>3,7 V</a:t>
                </a:r>
                <a:endParaRPr lang="en-US" sz="1400"/>
              </a:p>
            </p:txBody>
          </p:sp>
          <p:sp>
            <p:nvSpPr>
              <p:cNvPr id="54" name="Line 146"/>
              <p:cNvSpPr>
                <a:spLocks noChangeShapeType="1"/>
              </p:cNvSpPr>
              <p:nvPr/>
            </p:nvSpPr>
            <p:spPr bwMode="auto">
              <a:xfrm>
                <a:off x="7916" y="4149"/>
                <a:ext cx="2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5" name="Group 139"/>
              <p:cNvGrpSpPr>
                <a:grpSpLocks/>
              </p:cNvGrpSpPr>
              <p:nvPr/>
            </p:nvGrpSpPr>
            <p:grpSpPr bwMode="auto">
              <a:xfrm rot="5400000" flipV="1">
                <a:off x="6628" y="4177"/>
                <a:ext cx="200" cy="333"/>
                <a:chOff x="4462" y="9588"/>
                <a:chExt cx="200" cy="333"/>
              </a:xfrm>
            </p:grpSpPr>
            <p:grpSp>
              <p:nvGrpSpPr>
                <p:cNvPr id="63" name="Group 143"/>
                <p:cNvGrpSpPr>
                  <a:grpSpLocks/>
                </p:cNvGrpSpPr>
                <p:nvPr/>
              </p:nvGrpSpPr>
              <p:grpSpPr bwMode="auto">
                <a:xfrm>
                  <a:off x="4462" y="9605"/>
                  <a:ext cx="71" cy="316"/>
                  <a:chOff x="4641" y="6963"/>
                  <a:chExt cx="72" cy="316"/>
                </a:xfrm>
              </p:grpSpPr>
              <p:sp>
                <p:nvSpPr>
                  <p:cNvPr id="67" name="Line 145"/>
                  <p:cNvSpPr>
                    <a:spLocks noChangeShapeType="1"/>
                  </p:cNvSpPr>
                  <p:nvPr/>
                </p:nvSpPr>
                <p:spPr bwMode="auto">
                  <a:xfrm>
                    <a:off x="4641" y="6952"/>
                    <a:ext cx="1" cy="316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68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7038"/>
                    <a:ext cx="0" cy="140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64" name="Group 140"/>
                <p:cNvGrpSpPr>
                  <a:grpSpLocks/>
                </p:cNvGrpSpPr>
                <p:nvPr/>
              </p:nvGrpSpPr>
              <p:grpSpPr bwMode="auto">
                <a:xfrm>
                  <a:off x="4591" y="9588"/>
                  <a:ext cx="71" cy="316"/>
                  <a:chOff x="4641" y="6963"/>
                  <a:chExt cx="72" cy="316"/>
                </a:xfrm>
              </p:grpSpPr>
              <p:sp>
                <p:nvSpPr>
                  <p:cNvPr id="65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4641" y="6950"/>
                    <a:ext cx="1" cy="316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66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4713" y="7035"/>
                    <a:ext cx="0" cy="140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sp>
            <p:nvSpPr>
              <p:cNvPr id="56" name="Line 138"/>
              <p:cNvSpPr>
                <a:spLocks noChangeShapeType="1"/>
              </p:cNvSpPr>
              <p:nvPr/>
            </p:nvSpPr>
            <p:spPr bwMode="auto">
              <a:xfrm>
                <a:off x="6713" y="4446"/>
                <a:ext cx="0" cy="259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7" name="Text Box 137"/>
              <p:cNvSpPr txBox="1">
                <a:spLocks noChangeArrowheads="1"/>
              </p:cNvSpPr>
              <p:nvPr/>
            </p:nvSpPr>
            <p:spPr bwMode="auto">
              <a:xfrm>
                <a:off x="3250" y="3247"/>
                <a:ext cx="43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u</a:t>
                </a:r>
                <a:r>
                  <a:rPr lang="en-US" sz="1600" baseline="-30000">
                    <a:cs typeface="Times New Roman" pitchFamily="18" charset="0"/>
                  </a:rPr>
                  <a:t>in</a:t>
                </a:r>
                <a:endParaRPr lang="en-US" sz="1600"/>
              </a:p>
            </p:txBody>
          </p:sp>
          <p:sp>
            <p:nvSpPr>
              <p:cNvPr id="58" name="Text Box 136"/>
              <p:cNvSpPr txBox="1">
                <a:spLocks noChangeArrowheads="1"/>
              </p:cNvSpPr>
              <p:nvPr/>
            </p:nvSpPr>
            <p:spPr bwMode="auto">
              <a:xfrm>
                <a:off x="7923" y="3276"/>
                <a:ext cx="547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u</a:t>
                </a:r>
                <a:r>
                  <a:rPr lang="en-US" sz="1600" baseline="-30000">
                    <a:cs typeface="Times New Roman" pitchFamily="18" charset="0"/>
                  </a:rPr>
                  <a:t>out</a:t>
                </a:r>
                <a:endParaRPr lang="en-US" sz="1600"/>
              </a:p>
            </p:txBody>
          </p:sp>
          <p:sp>
            <p:nvSpPr>
              <p:cNvPr id="59" name="Text Box 135"/>
              <p:cNvSpPr txBox="1">
                <a:spLocks noChangeArrowheads="1"/>
              </p:cNvSpPr>
              <p:nvPr/>
            </p:nvSpPr>
            <p:spPr bwMode="auto">
              <a:xfrm>
                <a:off x="6205" y="4186"/>
                <a:ext cx="441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400">
                    <a:cs typeface="Times New Roman" pitchFamily="18" charset="0"/>
                  </a:rPr>
                  <a:t>3V</a:t>
                </a:r>
                <a:endParaRPr lang="en-US" sz="1400"/>
              </a:p>
            </p:txBody>
          </p:sp>
          <p:sp>
            <p:nvSpPr>
              <p:cNvPr id="60" name="Line 134"/>
              <p:cNvSpPr>
                <a:spLocks noChangeShapeType="1"/>
              </p:cNvSpPr>
              <p:nvPr/>
            </p:nvSpPr>
            <p:spPr bwMode="auto">
              <a:xfrm flipH="1">
                <a:off x="7784" y="3974"/>
                <a:ext cx="17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Box 133"/>
              <p:cNvSpPr txBox="1">
                <a:spLocks noChangeArrowheads="1"/>
              </p:cNvSpPr>
              <p:nvPr/>
            </p:nvSpPr>
            <p:spPr bwMode="auto">
              <a:xfrm>
                <a:off x="6787" y="4000"/>
                <a:ext cx="265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bg-BG" sz="1600">
                    <a:cs typeface="Times New Roman" pitchFamily="18" charset="0"/>
                  </a:rPr>
                  <a:t>+</a:t>
                </a:r>
                <a:endParaRPr lang="bg-BG" sz="1600"/>
              </a:p>
            </p:txBody>
          </p:sp>
          <p:sp>
            <p:nvSpPr>
              <p:cNvPr id="62" name="Text Box 132"/>
              <p:cNvSpPr txBox="1">
                <a:spLocks noChangeArrowheads="1"/>
              </p:cNvSpPr>
              <p:nvPr/>
            </p:nvSpPr>
            <p:spPr bwMode="auto">
              <a:xfrm>
                <a:off x="6775" y="4310"/>
                <a:ext cx="238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bg-BG" sz="1600">
                    <a:cs typeface="Times New Roman" pitchFamily="18" charset="0"/>
                  </a:rPr>
                  <a:t>_</a:t>
                </a:r>
                <a:endParaRPr lang="bg-BG" sz="1600"/>
              </a:p>
            </p:txBody>
          </p:sp>
        </p:grpSp>
        <p:sp>
          <p:nvSpPr>
            <p:cNvPr id="17" name="Rectangle 40"/>
            <p:cNvSpPr>
              <a:spLocks noChangeArrowheads="1"/>
            </p:cNvSpPr>
            <p:nvPr/>
          </p:nvSpPr>
          <p:spPr bwMode="auto">
            <a:xfrm rot="5400000">
              <a:off x="4545013" y="1771650"/>
              <a:ext cx="223837" cy="58896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4F8AE4C-D00F-8C5B-24B8-DB552838C534}"/>
              </a:ext>
            </a:extLst>
          </p:cNvPr>
          <p:cNvSpPr txBox="1"/>
          <p:nvPr/>
        </p:nvSpPr>
        <p:spPr>
          <a:xfrm>
            <a:off x="95734" y="44624"/>
            <a:ext cx="1204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bg-BG" sz="1800" dirty="0">
                <a:solidFill>
                  <a:schemeClr val="tx1"/>
                </a:solidFill>
              </a:rPr>
              <a:t>Ограничители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83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1"/>
          <p:cNvGrpSpPr>
            <a:grpSpLocks/>
          </p:cNvGrpSpPr>
          <p:nvPr/>
        </p:nvGrpSpPr>
        <p:grpSpPr bwMode="auto">
          <a:xfrm>
            <a:off x="2063553" y="1052737"/>
            <a:ext cx="8366125" cy="2312987"/>
            <a:chOff x="565150" y="1519238"/>
            <a:chExt cx="8366125" cy="2312987"/>
          </a:xfrm>
        </p:grpSpPr>
        <p:pic>
          <p:nvPicPr>
            <p:cNvPr id="70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038" y="1530350"/>
              <a:ext cx="8018462" cy="2301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AutoShape 73"/>
            <p:cNvSpPr>
              <a:spLocks noChangeAspect="1" noChangeArrowheads="1" noTextEdit="1"/>
            </p:cNvSpPr>
            <p:nvPr/>
          </p:nvSpPr>
          <p:spPr bwMode="auto">
            <a:xfrm>
              <a:off x="565150" y="1519238"/>
              <a:ext cx="8366125" cy="213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72"/>
            <p:cNvSpPr>
              <a:spLocks noChangeShapeType="1"/>
            </p:cNvSpPr>
            <p:nvPr/>
          </p:nvSpPr>
          <p:spPr bwMode="auto">
            <a:xfrm>
              <a:off x="5062538" y="2020888"/>
              <a:ext cx="0" cy="70643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3" name="Line 71"/>
            <p:cNvSpPr>
              <a:spLocks noChangeShapeType="1"/>
            </p:cNvSpPr>
            <p:nvPr/>
          </p:nvSpPr>
          <p:spPr bwMode="auto">
            <a:xfrm flipV="1">
              <a:off x="3360738" y="2033588"/>
              <a:ext cx="1587" cy="1228725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4" name="Line 70"/>
            <p:cNvSpPr>
              <a:spLocks noChangeShapeType="1"/>
            </p:cNvSpPr>
            <p:nvPr/>
          </p:nvSpPr>
          <p:spPr bwMode="auto">
            <a:xfrm flipV="1">
              <a:off x="3365500" y="2016125"/>
              <a:ext cx="2370138" cy="635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75" name="Group 66"/>
            <p:cNvGrpSpPr>
              <a:grpSpLocks/>
            </p:cNvGrpSpPr>
            <p:nvPr/>
          </p:nvGrpSpPr>
          <p:grpSpPr bwMode="auto">
            <a:xfrm>
              <a:off x="2611365" y="2449146"/>
              <a:ext cx="940027" cy="420783"/>
              <a:chOff x="4289" y="9276"/>
              <a:chExt cx="809" cy="362"/>
            </a:xfrm>
          </p:grpSpPr>
          <p:sp>
            <p:nvSpPr>
              <p:cNvPr id="141" name="Oval 69"/>
              <p:cNvSpPr>
                <a:spLocks noChangeArrowheads="1"/>
              </p:cNvSpPr>
              <p:nvPr/>
            </p:nvSpPr>
            <p:spPr bwMode="auto">
              <a:xfrm>
                <a:off x="4782" y="9276"/>
                <a:ext cx="316" cy="31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2" name="Freeform 68"/>
              <p:cNvSpPr>
                <a:spLocks/>
              </p:cNvSpPr>
              <p:nvPr/>
            </p:nvSpPr>
            <p:spPr bwMode="auto">
              <a:xfrm>
                <a:off x="4862" y="9364"/>
                <a:ext cx="122" cy="135"/>
              </a:xfrm>
              <a:custGeom>
                <a:avLst/>
                <a:gdLst>
                  <a:gd name="T0" fmla="*/ 0 w 173"/>
                  <a:gd name="T1" fmla="*/ 1 h 192"/>
                  <a:gd name="T2" fmla="*/ 1 w 173"/>
                  <a:gd name="T3" fmla="*/ 0 h 192"/>
                  <a:gd name="T4" fmla="*/ 1 w 173"/>
                  <a:gd name="T5" fmla="*/ 1 h 192"/>
                  <a:gd name="T6" fmla="*/ 1 w 173"/>
                  <a:gd name="T7" fmla="*/ 1 h 192"/>
                  <a:gd name="T8" fmla="*/ 1 w 173"/>
                  <a:gd name="T9" fmla="*/ 1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3" h="192">
                    <a:moveTo>
                      <a:pt x="0" y="126"/>
                    </a:moveTo>
                    <a:cubicBezTo>
                      <a:pt x="9" y="63"/>
                      <a:pt x="18" y="0"/>
                      <a:pt x="35" y="0"/>
                    </a:cubicBezTo>
                    <a:cubicBezTo>
                      <a:pt x="52" y="0"/>
                      <a:pt x="85" y="95"/>
                      <a:pt x="104" y="126"/>
                    </a:cubicBezTo>
                    <a:cubicBezTo>
                      <a:pt x="123" y="157"/>
                      <a:pt x="139" y="192"/>
                      <a:pt x="150" y="184"/>
                    </a:cubicBezTo>
                    <a:cubicBezTo>
                      <a:pt x="161" y="176"/>
                      <a:pt x="171" y="97"/>
                      <a:pt x="173" y="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Text Box 67"/>
              <p:cNvSpPr txBox="1">
                <a:spLocks noChangeArrowheads="1"/>
              </p:cNvSpPr>
              <p:nvPr/>
            </p:nvSpPr>
            <p:spPr bwMode="auto">
              <a:xfrm>
                <a:off x="4289" y="9276"/>
                <a:ext cx="590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1600">
                    <a:cs typeface="Times New Roman" pitchFamily="18" charset="0"/>
                  </a:rPr>
                  <a:t>u</a:t>
                </a:r>
                <a:r>
                  <a:rPr lang="en-US" sz="1600" baseline="-30000">
                    <a:cs typeface="Times New Roman" pitchFamily="18" charset="0"/>
                  </a:rPr>
                  <a:t>in </a:t>
                </a:r>
                <a:r>
                  <a:rPr lang="en-US" sz="1600">
                    <a:cs typeface="Times New Roman" pitchFamily="18" charset="0"/>
                  </a:rPr>
                  <a:t>(t)</a:t>
                </a:r>
                <a:endParaRPr lang="en-US" sz="1600"/>
              </a:p>
            </p:txBody>
          </p:sp>
        </p:grpSp>
        <p:sp>
          <p:nvSpPr>
            <p:cNvPr id="76" name="Line 65"/>
            <p:cNvSpPr>
              <a:spLocks noChangeShapeType="1"/>
            </p:cNvSpPr>
            <p:nvPr/>
          </p:nvSpPr>
          <p:spPr bwMode="auto">
            <a:xfrm>
              <a:off x="1028773" y="1657562"/>
              <a:ext cx="1162" cy="17307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64"/>
            <p:cNvSpPr>
              <a:spLocks noChangeShapeType="1"/>
            </p:cNvSpPr>
            <p:nvPr/>
          </p:nvSpPr>
          <p:spPr bwMode="auto">
            <a:xfrm flipV="1">
              <a:off x="1025287" y="2664187"/>
              <a:ext cx="1304883" cy="81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63"/>
            <p:cNvSpPr>
              <a:spLocks/>
            </p:cNvSpPr>
            <p:nvPr/>
          </p:nvSpPr>
          <p:spPr bwMode="auto">
            <a:xfrm>
              <a:off x="1036638" y="2073275"/>
              <a:ext cx="471487" cy="590550"/>
            </a:xfrm>
            <a:custGeom>
              <a:avLst/>
              <a:gdLst>
                <a:gd name="T0" fmla="*/ 0 w 576"/>
                <a:gd name="T1" fmla="*/ 29 h 725"/>
                <a:gd name="T2" fmla="*/ 13 w 576"/>
                <a:gd name="T3" fmla="*/ 0 h 725"/>
                <a:gd name="T4" fmla="*/ 24 w 576"/>
                <a:gd name="T5" fmla="*/ 29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9" name="Freeform 62"/>
            <p:cNvSpPr>
              <a:spLocks/>
            </p:cNvSpPr>
            <p:nvPr/>
          </p:nvSpPr>
          <p:spPr bwMode="auto">
            <a:xfrm flipV="1">
              <a:off x="1504950" y="2671763"/>
              <a:ext cx="471488" cy="592137"/>
            </a:xfrm>
            <a:custGeom>
              <a:avLst/>
              <a:gdLst>
                <a:gd name="T0" fmla="*/ 0 w 576"/>
                <a:gd name="T1" fmla="*/ 30 h 725"/>
                <a:gd name="T2" fmla="*/ 13 w 576"/>
                <a:gd name="T3" fmla="*/ 0 h 725"/>
                <a:gd name="T4" fmla="*/ 24 w 576"/>
                <a:gd name="T5" fmla="*/ 30 h 7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5">
                  <a:moveTo>
                    <a:pt x="0" y="725"/>
                  </a:moveTo>
                  <a:cubicBezTo>
                    <a:pt x="113" y="362"/>
                    <a:pt x="226" y="0"/>
                    <a:pt x="322" y="0"/>
                  </a:cubicBezTo>
                  <a:cubicBezTo>
                    <a:pt x="418" y="0"/>
                    <a:pt x="517" y="606"/>
                    <a:pt x="576" y="725"/>
                  </a:cubicBezTo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0" name="Text Box 61"/>
            <p:cNvSpPr txBox="1">
              <a:spLocks noChangeArrowheads="1"/>
            </p:cNvSpPr>
            <p:nvPr/>
          </p:nvSpPr>
          <p:spPr bwMode="auto">
            <a:xfrm>
              <a:off x="2275558" y="2450308"/>
              <a:ext cx="366018" cy="301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>
                  <a:cs typeface="Times New Roman" pitchFamily="18" charset="0"/>
                </a:rPr>
                <a:t>t</a:t>
              </a:r>
              <a:endParaRPr lang="en-US"/>
            </a:p>
          </p:txBody>
        </p:sp>
        <p:sp>
          <p:nvSpPr>
            <p:cNvPr id="81" name="Line 60"/>
            <p:cNvSpPr>
              <a:spLocks noChangeShapeType="1"/>
            </p:cNvSpPr>
            <p:nvPr/>
          </p:nvSpPr>
          <p:spPr bwMode="auto">
            <a:xfrm flipH="1">
              <a:off x="1017153" y="2073695"/>
              <a:ext cx="271899" cy="116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59"/>
            <p:cNvSpPr>
              <a:spLocks noChangeShapeType="1"/>
            </p:cNvSpPr>
            <p:nvPr/>
          </p:nvSpPr>
          <p:spPr bwMode="auto">
            <a:xfrm flipH="1">
              <a:off x="1007857" y="3281413"/>
              <a:ext cx="732036" cy="465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58"/>
            <p:cNvSpPr>
              <a:spLocks noChangeShapeType="1"/>
            </p:cNvSpPr>
            <p:nvPr/>
          </p:nvSpPr>
          <p:spPr bwMode="auto">
            <a:xfrm>
              <a:off x="3208338" y="3248025"/>
              <a:ext cx="301625" cy="158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" name="Line 57"/>
            <p:cNvSpPr>
              <a:spLocks noChangeShapeType="1"/>
            </p:cNvSpPr>
            <p:nvPr/>
          </p:nvSpPr>
          <p:spPr bwMode="auto">
            <a:xfrm>
              <a:off x="4900613" y="3270250"/>
              <a:ext cx="300037" cy="158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" name="Text Box 56"/>
            <p:cNvSpPr txBox="1">
              <a:spLocks noChangeArrowheads="1"/>
            </p:cNvSpPr>
            <p:nvPr/>
          </p:nvSpPr>
          <p:spPr bwMode="auto">
            <a:xfrm>
              <a:off x="724339" y="2395676"/>
              <a:ext cx="576333" cy="41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0</a:t>
              </a:r>
              <a:endParaRPr lang="en-US" sz="1600"/>
            </a:p>
          </p:txBody>
        </p:sp>
        <p:sp>
          <p:nvSpPr>
            <p:cNvPr id="86" name="Text Box 55"/>
            <p:cNvSpPr txBox="1">
              <a:spLocks noChangeArrowheads="1"/>
            </p:cNvSpPr>
            <p:nvPr/>
          </p:nvSpPr>
          <p:spPr bwMode="auto">
            <a:xfrm>
              <a:off x="1411058" y="2375915"/>
              <a:ext cx="592601" cy="403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87" name="Text Box 54"/>
            <p:cNvSpPr txBox="1">
              <a:spLocks noChangeArrowheads="1"/>
            </p:cNvSpPr>
            <p:nvPr/>
          </p:nvSpPr>
          <p:spPr bwMode="auto">
            <a:xfrm>
              <a:off x="1824717" y="2365454"/>
              <a:ext cx="629783" cy="416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88" name="AutoShape 53"/>
            <p:cNvSpPr>
              <a:spLocks noChangeArrowheads="1"/>
            </p:cNvSpPr>
            <p:nvPr/>
          </p:nvSpPr>
          <p:spPr bwMode="auto">
            <a:xfrm rot="10800000">
              <a:off x="4894263" y="2178050"/>
              <a:ext cx="323850" cy="354013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9" name="Line 52"/>
            <p:cNvSpPr>
              <a:spLocks noChangeShapeType="1"/>
            </p:cNvSpPr>
            <p:nvPr/>
          </p:nvSpPr>
          <p:spPr bwMode="auto">
            <a:xfrm rot="5400000">
              <a:off x="5055394" y="2326481"/>
              <a:ext cx="1588" cy="390525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0" name="Text Box 51"/>
            <p:cNvSpPr txBox="1">
              <a:spLocks noChangeArrowheads="1"/>
            </p:cNvSpPr>
            <p:nvPr/>
          </p:nvSpPr>
          <p:spPr bwMode="auto">
            <a:xfrm>
              <a:off x="3982480" y="1623853"/>
              <a:ext cx="465947" cy="44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R</a:t>
              </a:r>
              <a:endParaRPr lang="en-US" sz="1600"/>
            </a:p>
          </p:txBody>
        </p:sp>
        <p:sp>
          <p:nvSpPr>
            <p:cNvPr id="91" name="Rectangle 50"/>
            <p:cNvSpPr>
              <a:spLocks noChangeArrowheads="1"/>
            </p:cNvSpPr>
            <p:nvPr/>
          </p:nvSpPr>
          <p:spPr bwMode="auto">
            <a:xfrm rot="-5400000">
              <a:off x="4107950" y="1793640"/>
              <a:ext cx="116238" cy="4334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49"/>
            <p:cNvSpPr>
              <a:spLocks noChangeShapeType="1"/>
            </p:cNvSpPr>
            <p:nvPr/>
          </p:nvSpPr>
          <p:spPr bwMode="auto">
            <a:xfrm>
              <a:off x="7352169" y="1720331"/>
              <a:ext cx="16267" cy="16563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8"/>
            <p:cNvSpPr>
              <a:spLocks noChangeShapeType="1"/>
            </p:cNvSpPr>
            <p:nvPr/>
          </p:nvSpPr>
          <p:spPr bwMode="auto">
            <a:xfrm flipV="1">
              <a:off x="7362627" y="2652563"/>
              <a:ext cx="1306045" cy="81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7"/>
            <p:cNvSpPr>
              <a:spLocks noChangeShapeType="1"/>
            </p:cNvSpPr>
            <p:nvPr/>
          </p:nvSpPr>
          <p:spPr bwMode="auto">
            <a:xfrm flipH="1">
              <a:off x="7370760" y="2854818"/>
              <a:ext cx="733198" cy="116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Box 46"/>
            <p:cNvSpPr txBox="1">
              <a:spLocks noChangeArrowheads="1"/>
            </p:cNvSpPr>
            <p:nvPr/>
          </p:nvSpPr>
          <p:spPr bwMode="auto">
            <a:xfrm>
              <a:off x="8354942" y="2345693"/>
              <a:ext cx="268413" cy="40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t</a:t>
              </a:r>
              <a:r>
                <a:rPr lang="en-US" sz="1200" baseline="-30000">
                  <a:cs typeface="Times New Roman" pitchFamily="18" charset="0"/>
                </a:rPr>
                <a:t>1</a:t>
              </a:r>
              <a:endParaRPr lang="en-US"/>
            </a:p>
          </p:txBody>
        </p:sp>
        <p:sp>
          <p:nvSpPr>
            <p:cNvPr id="96" name="Text Box 45"/>
            <p:cNvSpPr txBox="1">
              <a:spLocks noChangeArrowheads="1"/>
            </p:cNvSpPr>
            <p:nvPr/>
          </p:nvSpPr>
          <p:spPr bwMode="auto">
            <a:xfrm>
              <a:off x="7402133" y="2353830"/>
              <a:ext cx="629783" cy="414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97" name="Line 44"/>
            <p:cNvSpPr>
              <a:spLocks noChangeShapeType="1"/>
            </p:cNvSpPr>
            <p:nvPr/>
          </p:nvSpPr>
          <p:spPr bwMode="auto">
            <a:xfrm>
              <a:off x="7368436" y="2650238"/>
              <a:ext cx="1162" cy="11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8" name="Group 40"/>
            <p:cNvGrpSpPr>
              <a:grpSpLocks/>
            </p:cNvGrpSpPr>
            <p:nvPr/>
          </p:nvGrpSpPr>
          <p:grpSpPr bwMode="auto">
            <a:xfrm>
              <a:off x="7368436" y="2452633"/>
              <a:ext cx="470595" cy="203417"/>
              <a:chOff x="8383" y="9279"/>
              <a:chExt cx="405" cy="175"/>
            </a:xfrm>
          </p:grpSpPr>
          <p:sp>
            <p:nvSpPr>
              <p:cNvPr id="138" name="Line 43"/>
              <p:cNvSpPr>
                <a:spLocks noChangeShapeType="1"/>
              </p:cNvSpPr>
              <p:nvPr/>
            </p:nvSpPr>
            <p:spPr bwMode="auto">
              <a:xfrm flipV="1">
                <a:off x="8385" y="9291"/>
                <a:ext cx="52" cy="163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9" name="Line 42"/>
              <p:cNvSpPr>
                <a:spLocks noChangeShapeType="1"/>
              </p:cNvSpPr>
              <p:nvPr/>
            </p:nvSpPr>
            <p:spPr bwMode="auto">
              <a:xfrm flipH="1" flipV="1">
                <a:off x="8722" y="9279"/>
                <a:ext cx="66" cy="175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0" name="Line 41"/>
              <p:cNvSpPr>
                <a:spLocks noChangeShapeType="1"/>
              </p:cNvSpPr>
              <p:nvPr/>
            </p:nvSpPr>
            <p:spPr bwMode="auto">
              <a:xfrm>
                <a:off x="8449" y="9279"/>
                <a:ext cx="271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99" name="Text Box 39"/>
            <p:cNvSpPr txBox="1">
              <a:spLocks noChangeArrowheads="1"/>
            </p:cNvSpPr>
            <p:nvPr/>
          </p:nvSpPr>
          <p:spPr bwMode="auto">
            <a:xfrm>
              <a:off x="6575978" y="2666512"/>
              <a:ext cx="830803" cy="377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 dirty="0">
                  <a:cs typeface="Times New Roman" pitchFamily="18" charset="0"/>
                </a:rPr>
                <a:t>- 4,7 V</a:t>
              </a:r>
              <a:endParaRPr lang="en-US" sz="1600" dirty="0"/>
            </a:p>
          </p:txBody>
        </p:sp>
        <p:sp>
          <p:nvSpPr>
            <p:cNvPr id="100" name="Text Box 38"/>
            <p:cNvSpPr txBox="1">
              <a:spLocks noChangeArrowheads="1"/>
            </p:cNvSpPr>
            <p:nvPr/>
          </p:nvSpPr>
          <p:spPr bwMode="auto">
            <a:xfrm>
              <a:off x="6665449" y="2266651"/>
              <a:ext cx="716930" cy="310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4,7 V</a:t>
              </a:r>
              <a:endParaRPr lang="en-US" sz="1600"/>
            </a:p>
          </p:txBody>
        </p:sp>
        <p:sp>
          <p:nvSpPr>
            <p:cNvPr id="101" name="Line 37"/>
            <p:cNvSpPr>
              <a:spLocks noChangeShapeType="1"/>
            </p:cNvSpPr>
            <p:nvPr/>
          </p:nvSpPr>
          <p:spPr bwMode="auto">
            <a:xfrm>
              <a:off x="7360303" y="2656050"/>
              <a:ext cx="2324" cy="2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2" name="Group 34"/>
            <p:cNvGrpSpPr>
              <a:grpSpLocks/>
            </p:cNvGrpSpPr>
            <p:nvPr/>
          </p:nvGrpSpPr>
          <p:grpSpPr bwMode="auto">
            <a:xfrm rot="5400000" flipV="1">
              <a:off x="5046822" y="2589861"/>
              <a:ext cx="82529" cy="367180"/>
              <a:chOff x="4641" y="6963"/>
              <a:chExt cx="72" cy="316"/>
            </a:xfrm>
          </p:grpSpPr>
          <p:sp>
            <p:nvSpPr>
              <p:cNvPr id="136" name="Line 36"/>
              <p:cNvSpPr>
                <a:spLocks noChangeShapeType="1"/>
              </p:cNvSpPr>
              <p:nvPr/>
            </p:nvSpPr>
            <p:spPr bwMode="auto">
              <a:xfrm>
                <a:off x="4641" y="6956"/>
                <a:ext cx="1" cy="32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7" name="Line 35"/>
              <p:cNvSpPr>
                <a:spLocks noChangeShapeType="1"/>
              </p:cNvSpPr>
              <p:nvPr/>
            </p:nvSpPr>
            <p:spPr bwMode="auto">
              <a:xfrm>
                <a:off x="4713" y="7038"/>
                <a:ext cx="0" cy="14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03" name="Group 31"/>
            <p:cNvGrpSpPr>
              <a:grpSpLocks/>
            </p:cNvGrpSpPr>
            <p:nvPr/>
          </p:nvGrpSpPr>
          <p:grpSpPr bwMode="auto">
            <a:xfrm rot="5400000" flipV="1">
              <a:off x="5027068" y="2738646"/>
              <a:ext cx="82529" cy="367180"/>
              <a:chOff x="4641" y="6963"/>
              <a:chExt cx="72" cy="316"/>
            </a:xfrm>
          </p:grpSpPr>
          <p:sp>
            <p:nvSpPr>
              <p:cNvPr id="134" name="Line 33"/>
              <p:cNvSpPr>
                <a:spLocks noChangeShapeType="1"/>
              </p:cNvSpPr>
              <p:nvPr/>
            </p:nvSpPr>
            <p:spPr bwMode="auto">
              <a:xfrm>
                <a:off x="4641" y="6963"/>
                <a:ext cx="1" cy="316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5" name="Line 32"/>
              <p:cNvSpPr>
                <a:spLocks noChangeShapeType="1"/>
              </p:cNvSpPr>
              <p:nvPr/>
            </p:nvSpPr>
            <p:spPr bwMode="auto">
              <a:xfrm>
                <a:off x="4713" y="7042"/>
                <a:ext cx="0" cy="138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>
              <a:off x="5062538" y="2965450"/>
              <a:ext cx="0" cy="301625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" name="Text Box 29"/>
            <p:cNvSpPr txBox="1">
              <a:spLocks noChangeArrowheads="1"/>
            </p:cNvSpPr>
            <p:nvPr/>
          </p:nvSpPr>
          <p:spPr bwMode="auto">
            <a:xfrm>
              <a:off x="4471666" y="2664187"/>
              <a:ext cx="512425" cy="385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4V</a:t>
              </a:r>
              <a:endParaRPr lang="en-US" sz="1600"/>
            </a:p>
          </p:txBody>
        </p:sp>
        <p:sp>
          <p:nvSpPr>
            <p:cNvPr id="106" name="Line 28"/>
            <p:cNvSpPr>
              <a:spLocks noChangeShapeType="1"/>
            </p:cNvSpPr>
            <p:nvPr/>
          </p:nvSpPr>
          <p:spPr bwMode="auto">
            <a:xfrm flipH="1">
              <a:off x="7206924" y="2452633"/>
              <a:ext cx="199857" cy="232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 Box 27"/>
            <p:cNvSpPr txBox="1">
              <a:spLocks noChangeArrowheads="1"/>
            </p:cNvSpPr>
            <p:nvPr/>
          </p:nvSpPr>
          <p:spPr bwMode="auto">
            <a:xfrm>
              <a:off x="5117716" y="2456120"/>
              <a:ext cx="307920" cy="284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bg-BG" sz="1600">
                  <a:cs typeface="Times New Roman" pitchFamily="18" charset="0"/>
                </a:rPr>
                <a:t>+</a:t>
              </a:r>
              <a:endParaRPr lang="bg-BG" sz="1600"/>
            </a:p>
          </p:txBody>
        </p:sp>
        <p:sp>
          <p:nvSpPr>
            <p:cNvPr id="108" name="Text Box 26"/>
            <p:cNvSpPr txBox="1">
              <a:spLocks noChangeArrowheads="1"/>
            </p:cNvSpPr>
            <p:nvPr/>
          </p:nvSpPr>
          <p:spPr bwMode="auto">
            <a:xfrm>
              <a:off x="5138051" y="2768801"/>
              <a:ext cx="276547" cy="405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bg-BG" sz="1200">
                  <a:cs typeface="Times New Roman" pitchFamily="18" charset="0"/>
                </a:rPr>
                <a:t>_</a:t>
              </a:r>
              <a:endParaRPr lang="bg-BG"/>
            </a:p>
          </p:txBody>
        </p:sp>
        <p:sp>
          <p:nvSpPr>
            <p:cNvPr id="109" name="Text Box 25"/>
            <p:cNvSpPr txBox="1">
              <a:spLocks noChangeArrowheads="1"/>
            </p:cNvSpPr>
            <p:nvPr/>
          </p:nvSpPr>
          <p:spPr bwMode="auto">
            <a:xfrm>
              <a:off x="1062470" y="1519238"/>
              <a:ext cx="501968" cy="423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in</a:t>
              </a:r>
              <a:endParaRPr lang="en-US" sz="1600"/>
            </a:p>
          </p:txBody>
        </p:sp>
        <p:sp>
          <p:nvSpPr>
            <p:cNvPr id="110" name="Text Box 24"/>
            <p:cNvSpPr txBox="1">
              <a:spLocks noChangeArrowheads="1"/>
            </p:cNvSpPr>
            <p:nvPr/>
          </p:nvSpPr>
          <p:spPr bwMode="auto">
            <a:xfrm>
              <a:off x="7341711" y="1614554"/>
              <a:ext cx="662318" cy="387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u</a:t>
              </a:r>
              <a:r>
                <a:rPr lang="en-US" sz="1600" baseline="-30000">
                  <a:cs typeface="Times New Roman" pitchFamily="18" charset="0"/>
                </a:rPr>
                <a:t>out</a:t>
              </a:r>
              <a:endParaRPr lang="en-US" sz="1600"/>
            </a:p>
          </p:txBody>
        </p:sp>
        <p:sp>
          <p:nvSpPr>
            <p:cNvPr id="111" name="Line 23"/>
            <p:cNvSpPr>
              <a:spLocks noChangeShapeType="1"/>
            </p:cNvSpPr>
            <p:nvPr/>
          </p:nvSpPr>
          <p:spPr bwMode="auto">
            <a:xfrm>
              <a:off x="5734050" y="2022475"/>
              <a:ext cx="0" cy="70643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" name="Line 22"/>
            <p:cNvSpPr>
              <a:spLocks noChangeShapeType="1"/>
            </p:cNvSpPr>
            <p:nvPr/>
          </p:nvSpPr>
          <p:spPr bwMode="auto">
            <a:xfrm>
              <a:off x="5572125" y="3271838"/>
              <a:ext cx="301625" cy="3175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3" name="AutoShape 21"/>
            <p:cNvSpPr>
              <a:spLocks noChangeArrowheads="1"/>
            </p:cNvSpPr>
            <p:nvPr/>
          </p:nvSpPr>
          <p:spPr bwMode="auto">
            <a:xfrm rot="10800000" flipV="1">
              <a:off x="5567363" y="2168525"/>
              <a:ext cx="323850" cy="355600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4" name="Line 20"/>
            <p:cNvSpPr>
              <a:spLocks noChangeShapeType="1"/>
            </p:cNvSpPr>
            <p:nvPr/>
          </p:nvSpPr>
          <p:spPr bwMode="auto">
            <a:xfrm rot="5400000">
              <a:off x="5727700" y="1976438"/>
              <a:ext cx="1587" cy="38893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15" name="Group 14"/>
            <p:cNvGrpSpPr>
              <a:grpSpLocks/>
            </p:cNvGrpSpPr>
            <p:nvPr/>
          </p:nvGrpSpPr>
          <p:grpSpPr bwMode="auto">
            <a:xfrm>
              <a:off x="5539508" y="2736255"/>
              <a:ext cx="388095" cy="219691"/>
              <a:chOff x="6825" y="9592"/>
              <a:chExt cx="333" cy="189"/>
            </a:xfrm>
          </p:grpSpPr>
          <p:sp>
            <p:nvSpPr>
              <p:cNvPr id="129" name="Line 19"/>
              <p:cNvSpPr>
                <a:spLocks noChangeShapeType="1"/>
              </p:cNvSpPr>
              <p:nvPr/>
            </p:nvSpPr>
            <p:spPr bwMode="auto">
              <a:xfrm rot="5400000" flipV="1">
                <a:off x="7000" y="9622"/>
                <a:ext cx="0" cy="316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0" name="Line 18"/>
              <p:cNvSpPr>
                <a:spLocks noChangeShapeType="1"/>
              </p:cNvSpPr>
              <p:nvPr/>
            </p:nvSpPr>
            <p:spPr bwMode="auto">
              <a:xfrm rot="5400000" flipV="1">
                <a:off x="6991" y="9523"/>
                <a:ext cx="0" cy="14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31" name="Group 15"/>
              <p:cNvGrpSpPr>
                <a:grpSpLocks/>
              </p:cNvGrpSpPr>
              <p:nvPr/>
            </p:nvGrpSpPr>
            <p:grpSpPr bwMode="auto">
              <a:xfrm rot="5400000" flipV="1">
                <a:off x="6947" y="9527"/>
                <a:ext cx="71" cy="316"/>
                <a:chOff x="4641" y="6963"/>
                <a:chExt cx="72" cy="316"/>
              </a:xfrm>
            </p:grpSpPr>
            <p:sp>
              <p:nvSpPr>
                <p:cNvPr id="132" name="Line 17"/>
                <p:cNvSpPr>
                  <a:spLocks noChangeShapeType="1"/>
                </p:cNvSpPr>
                <p:nvPr/>
              </p:nvSpPr>
              <p:spPr bwMode="auto">
                <a:xfrm>
                  <a:off x="4641" y="6963"/>
                  <a:ext cx="1" cy="316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33" name="Line 16"/>
                <p:cNvSpPr>
                  <a:spLocks noChangeShapeType="1"/>
                </p:cNvSpPr>
                <p:nvPr/>
              </p:nvSpPr>
              <p:spPr bwMode="auto">
                <a:xfrm>
                  <a:off x="4711" y="7036"/>
                  <a:ext cx="0" cy="139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sp>
          <p:nvSpPr>
            <p:cNvPr id="116" name="Line 13"/>
            <p:cNvSpPr>
              <a:spLocks noChangeShapeType="1"/>
            </p:cNvSpPr>
            <p:nvPr/>
          </p:nvSpPr>
          <p:spPr bwMode="auto">
            <a:xfrm>
              <a:off x="5734050" y="2967038"/>
              <a:ext cx="0" cy="303212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7" name="Text Box 12"/>
            <p:cNvSpPr txBox="1">
              <a:spLocks noChangeArrowheads="1"/>
            </p:cNvSpPr>
            <p:nvPr/>
          </p:nvSpPr>
          <p:spPr bwMode="auto">
            <a:xfrm>
              <a:off x="5876477" y="2640939"/>
              <a:ext cx="512425" cy="384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4V</a:t>
              </a:r>
              <a:endParaRPr lang="en-US" sz="1600"/>
            </a:p>
          </p:txBody>
        </p:sp>
        <p:sp>
          <p:nvSpPr>
            <p:cNvPr id="118" name="Text Box 11"/>
            <p:cNvSpPr txBox="1">
              <a:spLocks noChangeArrowheads="1"/>
            </p:cNvSpPr>
            <p:nvPr/>
          </p:nvSpPr>
          <p:spPr bwMode="auto">
            <a:xfrm>
              <a:off x="5870668" y="2902476"/>
              <a:ext cx="309082" cy="283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bg-BG" sz="1600">
                  <a:cs typeface="Times New Roman" pitchFamily="18" charset="0"/>
                </a:rPr>
                <a:t>+</a:t>
              </a:r>
              <a:endParaRPr lang="bg-BG" sz="1600"/>
            </a:p>
          </p:txBody>
        </p:sp>
        <p:sp>
          <p:nvSpPr>
            <p:cNvPr id="119" name="Text Box 10"/>
            <p:cNvSpPr txBox="1">
              <a:spLocks noChangeArrowheads="1"/>
            </p:cNvSpPr>
            <p:nvPr/>
          </p:nvSpPr>
          <p:spPr bwMode="auto">
            <a:xfrm>
              <a:off x="5876477" y="2401488"/>
              <a:ext cx="276547" cy="405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bg-BG" sz="1200">
                  <a:cs typeface="Times New Roman" pitchFamily="18" charset="0"/>
                </a:rPr>
                <a:t>_</a:t>
              </a:r>
              <a:endParaRPr lang="bg-BG"/>
            </a:p>
          </p:txBody>
        </p:sp>
        <p:sp>
          <p:nvSpPr>
            <p:cNvPr id="120" name="Oval 9"/>
            <p:cNvSpPr>
              <a:spLocks noChangeArrowheads="1"/>
            </p:cNvSpPr>
            <p:nvPr/>
          </p:nvSpPr>
          <p:spPr bwMode="auto">
            <a:xfrm>
              <a:off x="5023597" y="1990004"/>
              <a:ext cx="70880" cy="6858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1" name="Group 5"/>
            <p:cNvGrpSpPr>
              <a:grpSpLocks/>
            </p:cNvGrpSpPr>
            <p:nvPr/>
          </p:nvGrpSpPr>
          <p:grpSpPr bwMode="auto">
            <a:xfrm flipV="1">
              <a:off x="7827411" y="2649076"/>
              <a:ext cx="470595" cy="203417"/>
              <a:chOff x="8383" y="9279"/>
              <a:chExt cx="405" cy="175"/>
            </a:xfrm>
          </p:grpSpPr>
          <p:sp>
            <p:nvSpPr>
              <p:cNvPr id="126" name="Line 8"/>
              <p:cNvSpPr>
                <a:spLocks noChangeShapeType="1"/>
              </p:cNvSpPr>
              <p:nvPr/>
            </p:nvSpPr>
            <p:spPr bwMode="auto">
              <a:xfrm flipV="1">
                <a:off x="8383" y="9291"/>
                <a:ext cx="53" cy="163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7" name="Line 7"/>
              <p:cNvSpPr>
                <a:spLocks noChangeShapeType="1"/>
              </p:cNvSpPr>
              <p:nvPr/>
            </p:nvSpPr>
            <p:spPr bwMode="auto">
              <a:xfrm flipH="1" flipV="1">
                <a:off x="8722" y="9279"/>
                <a:ext cx="66" cy="175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8" name="Line 6"/>
              <p:cNvSpPr>
                <a:spLocks noChangeShapeType="1"/>
              </p:cNvSpPr>
              <p:nvPr/>
            </p:nvSpPr>
            <p:spPr bwMode="auto">
              <a:xfrm>
                <a:off x="8449" y="9279"/>
                <a:ext cx="271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22" name="Line 4"/>
            <p:cNvSpPr>
              <a:spLocks noChangeShapeType="1"/>
            </p:cNvSpPr>
            <p:nvPr/>
          </p:nvSpPr>
          <p:spPr bwMode="auto">
            <a:xfrm>
              <a:off x="6282002" y="2003952"/>
              <a:ext cx="2324" cy="127978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Box 3"/>
            <p:cNvSpPr txBox="1">
              <a:spLocks noChangeArrowheads="1"/>
            </p:cNvSpPr>
            <p:nvPr/>
          </p:nvSpPr>
          <p:spPr bwMode="auto">
            <a:xfrm>
              <a:off x="4446102" y="2136464"/>
              <a:ext cx="511263" cy="353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D</a:t>
              </a:r>
              <a:r>
                <a:rPr lang="en-US" sz="1600" baseline="-30000">
                  <a:cs typeface="Times New Roman" pitchFamily="18" charset="0"/>
                </a:rPr>
                <a:t>1</a:t>
              </a:r>
              <a:endParaRPr lang="en-US" sz="1600"/>
            </a:p>
          </p:txBody>
        </p:sp>
        <p:sp>
          <p:nvSpPr>
            <p:cNvPr id="124" name="Text Box 2"/>
            <p:cNvSpPr txBox="1">
              <a:spLocks noChangeArrowheads="1"/>
            </p:cNvSpPr>
            <p:nvPr/>
          </p:nvSpPr>
          <p:spPr bwMode="auto">
            <a:xfrm>
              <a:off x="5876477" y="2153900"/>
              <a:ext cx="520559" cy="389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600">
                  <a:cs typeface="Times New Roman" pitchFamily="18" charset="0"/>
                </a:rPr>
                <a:t>D</a:t>
              </a:r>
              <a:r>
                <a:rPr lang="en-US" sz="1600" baseline="-30000">
                  <a:cs typeface="Times New Roman" pitchFamily="18" charset="0"/>
                </a:rPr>
                <a:t>2</a:t>
              </a:r>
              <a:endParaRPr lang="en-US" sz="1600"/>
            </a:p>
          </p:txBody>
        </p:sp>
        <p:sp>
          <p:nvSpPr>
            <p:cNvPr id="125" name="Rectangle 40"/>
            <p:cNvSpPr>
              <a:spLocks noChangeArrowheads="1"/>
            </p:cNvSpPr>
            <p:nvPr/>
          </p:nvSpPr>
          <p:spPr bwMode="auto">
            <a:xfrm rot="5400000">
              <a:off x="4132263" y="1722437"/>
              <a:ext cx="223838" cy="58896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4" name="Rectangle 1"/>
          <p:cNvSpPr>
            <a:spLocks noChangeArrowheads="1"/>
          </p:cNvSpPr>
          <p:nvPr/>
        </p:nvSpPr>
        <p:spPr bwMode="auto">
          <a:xfrm>
            <a:off x="839416" y="3717032"/>
            <a:ext cx="972108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dirty="0"/>
              <a:t>Когато входното напрежение надвиши +4,7 V диодът </a:t>
            </a:r>
            <a:r>
              <a:rPr lang="en-US" sz="1600" i="1" dirty="0"/>
              <a:t>D</a:t>
            </a:r>
            <a:r>
              <a:rPr lang="bg-BG" sz="1600" baseline="-25000" dirty="0"/>
              <a:t>1</a:t>
            </a:r>
            <a:r>
              <a:rPr lang="bg-BG" sz="1600" dirty="0"/>
              <a:t> се отпушва и ограничава входното напрежение до + 4,7 V. </a:t>
            </a:r>
          </a:p>
          <a:p>
            <a:endParaRPr lang="bg-BG" sz="1600" dirty="0"/>
          </a:p>
          <a:p>
            <a:r>
              <a:rPr lang="bg-BG" sz="1600" dirty="0"/>
              <a:t>Диодът </a:t>
            </a:r>
            <a:r>
              <a:rPr lang="en-US" sz="1600" i="1" dirty="0"/>
              <a:t>D</a:t>
            </a:r>
            <a:r>
              <a:rPr lang="bg-BG" sz="1600" baseline="-25000" dirty="0"/>
              <a:t>2 </a:t>
            </a:r>
            <a:r>
              <a:rPr lang="bg-BG" sz="1600" dirty="0"/>
              <a:t>се отпушва когато напрежението достигне – 4,</a:t>
            </a:r>
            <a:r>
              <a:rPr lang="en-US" sz="1600" dirty="0"/>
              <a:t>7</a:t>
            </a:r>
            <a:r>
              <a:rPr lang="bg-BG" sz="1600" dirty="0"/>
              <a:t> V. Следователно положителни напрежения над 4,</a:t>
            </a:r>
            <a:r>
              <a:rPr lang="en-US" sz="1600" dirty="0"/>
              <a:t>7</a:t>
            </a:r>
            <a:r>
              <a:rPr lang="bg-BG" sz="1600" dirty="0"/>
              <a:t> </a:t>
            </a:r>
            <a:r>
              <a:rPr lang="en-US" sz="1600" dirty="0"/>
              <a:t>V</a:t>
            </a:r>
            <a:r>
              <a:rPr lang="bg-BG" sz="1600" dirty="0"/>
              <a:t> и отрицателни под – 4,</a:t>
            </a:r>
            <a:r>
              <a:rPr lang="en-US" sz="1600" dirty="0"/>
              <a:t>7</a:t>
            </a:r>
            <a:r>
              <a:rPr lang="bg-BG" sz="1600" dirty="0"/>
              <a:t> </a:t>
            </a:r>
            <a:r>
              <a:rPr lang="en-US" sz="1600" dirty="0"/>
              <a:t>V</a:t>
            </a:r>
            <a:r>
              <a:rPr lang="bg-BG" sz="1600" dirty="0"/>
              <a:t> се отрязват.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22B11-54FA-CA09-1359-C783B1AA9DD5}"/>
              </a:ext>
            </a:extLst>
          </p:cNvPr>
          <p:cNvSpPr txBox="1"/>
          <p:nvPr/>
        </p:nvSpPr>
        <p:spPr>
          <a:xfrm>
            <a:off x="95735" y="44624"/>
            <a:ext cx="6096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bg-BG" sz="1800" dirty="0">
                <a:solidFill>
                  <a:schemeClr val="tx1"/>
                </a:solidFill>
              </a:rPr>
              <a:t>Ограничители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624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200" dirty="0"/>
              <a:t>Задачи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BE7-3AFF-3382-78B4-64BF1351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Преходни процеси в схеми с диоди</a:t>
            </a:r>
          </a:p>
        </p:txBody>
      </p:sp>
    </p:spTree>
    <p:extLst>
      <p:ext uri="{BB962C8B-B14F-4D97-AF65-F5344CB8AC3E}">
        <p14:creationId xmlns:p14="http://schemas.microsoft.com/office/powerpoint/2010/main" val="289986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12462F-5AF6-2CCB-D88E-63D09DCBE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412776"/>
            <a:ext cx="4056478" cy="2780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B8DD90-1BA8-B3EC-A15E-2BFDE481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908720"/>
            <a:ext cx="4897638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16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B039-1F83-F599-3956-2DFD0315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C8CB4-3AE6-BC9A-F968-F42202E1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556792"/>
            <a:ext cx="4408303" cy="3140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3A4E9-C49E-C359-8A82-208118D9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908720"/>
            <a:ext cx="5430630" cy="476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751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4453</TotalTime>
  <Words>811</Words>
  <Application>Microsoft Office PowerPoint</Application>
  <PresentationFormat>Widescreen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Narrow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Приложения на диод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Задачи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creator>ПРОЕКТ BG051PO001--4.3.04-0042</dc:creator>
  <cp:lastModifiedBy>Vassiliy Tchoumatchenko</cp:lastModifiedBy>
  <cp:revision>216</cp:revision>
  <cp:lastPrinted>2020-05-26T16:19:14Z</cp:lastPrinted>
  <dcterms:created xsi:type="dcterms:W3CDTF">2013-03-19T07:28:34Z</dcterms:created>
  <dcterms:modified xsi:type="dcterms:W3CDTF">2025-10-21T06:36:44Z</dcterms:modified>
</cp:coreProperties>
</file>