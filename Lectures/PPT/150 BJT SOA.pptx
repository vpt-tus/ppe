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40" r:id="rId2"/>
    <p:sldId id="307" r:id="rId3"/>
    <p:sldId id="308" r:id="rId4"/>
    <p:sldId id="336" r:id="rId5"/>
    <p:sldId id="339" r:id="rId6"/>
    <p:sldId id="309" r:id="rId7"/>
    <p:sldId id="310" r:id="rId8"/>
    <p:sldId id="312" r:id="rId9"/>
    <p:sldId id="313" r:id="rId10"/>
    <p:sldId id="315" r:id="rId1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61" y="5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24AB-2C2F-4935-B67B-5A68DF43EAFA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9544D-D715-40D7-BC31-F8A346D97C7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2513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9599-7FFB-A5CD-F5A0-4B14D9EA2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4944AC-E81C-DE01-E4DE-72466CBF7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57B20-B467-57F5-9F67-152A323D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94D2-25B1-2A7B-9327-8599CF6C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DF86-F233-C32F-F538-5F94BBC9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1419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E186-F073-1F09-54A5-6643FC24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FAB8C-0862-1891-8AFA-38E2CEF0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D224B-9AC9-7C18-2E81-D7509F9E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9A89-2168-B50A-CAC0-A33F9179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2A00E-38FD-55AE-D4D7-70DE8DB4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7400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591C-1B96-3004-D104-25000ADC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591C5-8C15-4A83-B39E-B227FD6D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1969-BA5B-1AF9-052F-40F78C7BF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9936E-E58D-EB0F-2A4C-429A8E14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9D855-50F8-FE97-8787-1F443A83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362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5E9A-ECC2-8B14-64E7-C6E11599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2DCB-936E-A8FB-3A7D-45C55C510D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17A36-52A1-7E75-07EE-12699A23A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286D2-8508-F054-30AF-18E5C61C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51910-1D25-0F6F-E2C0-C4F261E6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82CD-4198-FA54-4C49-CFB64BD7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85373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3CC3-1242-3126-9493-34BA7F54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917A5-8E8D-5075-E81E-30AF1B90E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E8040-E8CD-4ED8-F307-B8F87DCE3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484509-F3E9-CC25-D786-33A92A124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C10748-0178-E873-EFF0-CE21974AB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D1CBD4-1041-6E34-7CDC-BCFFC0FD9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3C420-F425-355F-CF8E-3F2BA26D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555219-48B2-2357-F0F1-E4B1C113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9516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2A36-0CC2-35CD-A339-1FA1B6EA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DCC87-BCFD-F4A2-B7A8-ACC2EDF3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FCDA2-B92F-DE75-434E-688A454F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5E2D3-1B2A-8626-ED16-CC0A1ED8F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3617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74CC47-1386-DE7B-75E4-F58FEF3B0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560C-6146-8D2E-08C6-5765D08C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8EF57-8134-795A-1E19-C64BC0C6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646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8096-1102-A25E-32B1-B0162284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53F3C-E02E-9870-26D7-76E7752F6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901BD-08A3-2128-31F0-6D9E7A21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949FB-69C3-5AA3-6E1F-C9F5288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ECD44-CD55-E343-8E47-3572168D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E4E46-D0D4-7B70-BFA1-5C74AD50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9434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F118-1134-A79D-B065-6C8E30CA1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BB2FD-7F7E-007F-D4C4-3BFF78F91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82957-A807-30F6-F7D4-9D6FD0A62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903C-4621-D169-4D26-EC0B09D5E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531F8-5F64-52B1-2D5D-F622CE79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08BDB-094C-56CA-8089-F68CD5B3B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4489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DA17-D5CC-781B-2E0B-A74E7B64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B14EB5-9F27-FE98-04A5-54237AE92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D1D7-AACB-FCA4-EFA9-A60984C8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F7C8-5DA2-09DF-DA42-302C035B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02C54-F5EF-62E5-28E1-082554B3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5351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EA93D6-85C1-89A3-4486-9B9376B72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3E985-E40F-C71E-C8EA-E8F2A0EDF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72F-C295-04D7-86CF-46388471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E456C-10FE-0060-63E1-632AA2A1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FEC20-6A53-22A7-BC04-C1B09AC7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1388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77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50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0663B-A1F4-B046-3D7D-37C8563A4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7252-316D-9AD5-007E-7EEC2D4EF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D6571-82CF-FD0C-641E-F171E706C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5FB64-19E4-4EC1-9AA3-76686029FE44}" type="datetimeFigureOut">
              <a:rPr lang="bg-BG" smtClean="0"/>
              <a:t>25.11.2025 г.</a:t>
            </a:fld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2626-FDDF-2080-1BB8-7113BFF98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07C58-44CB-09DA-C2C1-6265C522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861DE-F4EC-4562-8E30-41C286D1D3C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04640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5.png"/><Relationship Id="rId5" Type="http://schemas.openxmlformats.org/officeDocument/2006/relationships/image" Target="../media/image12.wmf"/><Relationship Id="rId10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9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2"/>
          <p:cNvSpPr/>
          <p:nvPr/>
        </p:nvSpPr>
        <p:spPr>
          <a:xfrm>
            <a:off x="655454" y="5013000"/>
            <a:ext cx="9544425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</a:pPr>
            <a:r>
              <a:rPr lang="bg-BG" sz="3200" b="0" strike="noStrike" spc="-1" dirty="0">
                <a:solidFill>
                  <a:srgbClr val="0038A8"/>
                </a:solidFill>
                <a:latin typeface="Calibri Light"/>
              </a:rPr>
              <a:t>Област на безопасна работа</a:t>
            </a:r>
            <a:br>
              <a:rPr lang="en-US" sz="3200" b="0" strike="noStrike" spc="-1" dirty="0">
                <a:solidFill>
                  <a:srgbClr val="0038A8"/>
                </a:solidFill>
                <a:latin typeface="Calibri Light"/>
              </a:rPr>
            </a:br>
            <a:r>
              <a:rPr lang="en-US" sz="3200" b="0" strike="noStrike" spc="-1" dirty="0">
                <a:solidFill>
                  <a:srgbClr val="0038A8"/>
                </a:solidFill>
                <a:latin typeface="Calibri Light"/>
              </a:rPr>
              <a:t>Safe Operating Area</a:t>
            </a:r>
          </a:p>
        </p:txBody>
      </p:sp>
      <p:pic>
        <p:nvPicPr>
          <p:cNvPr id="115" name="Picture 4"/>
          <p:cNvPicPr/>
          <p:nvPr/>
        </p:nvPicPr>
        <p:blipFill>
          <a:blip r:embed="rId2"/>
          <a:stretch/>
        </p:blipFill>
        <p:spPr>
          <a:xfrm>
            <a:off x="551520" y="275760"/>
            <a:ext cx="904680" cy="914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476" y="-31117"/>
            <a:ext cx="12212204" cy="60369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dirty="0">
                <a:solidFill>
                  <a:srgbClr val="0070C0"/>
                </a:solidFill>
                <a:latin typeface="Arial Narrow" pitchFamily="34" charset="0"/>
              </a:rPr>
              <a:t>Максимално допустими параметри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335360" y="4451048"/>
            <a:ext cx="1033264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/>
              <a:t>Тези параметри определят нивата, над които елементът се разрушава. Те не би трябвало дори да се доближават за всички режими на работа. В противен случай елементът може да не функционира нормално или да се съкрати срокът му за експлоатация.  </a:t>
            </a:r>
          </a:p>
          <a:p>
            <a:r>
              <a:rPr lang="en-US" sz="1000" i="0" dirty="0"/>
              <a:t> 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35360" y="3178711"/>
            <a:ext cx="1123324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b="1" i="0" dirty="0">
                <a:solidFill>
                  <a:srgbClr val="0038A8"/>
                </a:solidFill>
              </a:rPr>
              <a:t>Максимално допустимите параметри</a:t>
            </a:r>
            <a:r>
              <a:rPr lang="en-US" sz="1800" i="0" dirty="0">
                <a:solidFill>
                  <a:srgbClr val="0038A8"/>
                </a:solidFill>
              </a:rPr>
              <a:t> </a:t>
            </a:r>
            <a:r>
              <a:rPr lang="bg-BG" sz="1800" i="0" dirty="0"/>
              <a:t>определят границите на токове, напрежения, мощности и други величини в транзистора, които не трябва да се надвишават, за да се гарантира надеждна експлоатация. Те се задават в каталозите от фирмите производители за всеки тип транзистор. </a:t>
            </a:r>
            <a:endParaRPr lang="en-US" sz="1800" i="0" dirty="0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7616" y="1075459"/>
            <a:ext cx="23622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157" y="1050171"/>
            <a:ext cx="24574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3111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2209800" y="1069628"/>
            <a:ext cx="7772400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endParaRPr lang="en-US" sz="2000" i="1" kern="0" baseline="-25000" dirty="0"/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708731" y="3965235"/>
          <a:ext cx="275113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69900" progId="Equation.3">
                  <p:embed/>
                </p:oleObj>
              </mc:Choice>
              <mc:Fallback>
                <p:oleObj name="Equation" r:id="rId2" imgW="1193800" imgH="469900" progId="Equation.3">
                  <p:embed/>
                  <p:pic>
                    <p:nvPicPr>
                      <p:cNvPr id="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731" y="3965235"/>
                        <a:ext cx="275113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1"/>
          <p:cNvGraphicFramePr>
            <a:graphicFrameLocks noChangeAspect="1"/>
          </p:cNvGraphicFramePr>
          <p:nvPr/>
        </p:nvGraphicFramePr>
        <p:xfrm>
          <a:off x="7464152" y="1974057"/>
          <a:ext cx="15684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48975" imgH="431613" progId="Equation.3">
                  <p:embed/>
                </p:oleObj>
              </mc:Choice>
              <mc:Fallback>
                <p:oleObj name="Equation" r:id="rId4" imgW="748975" imgH="431613" progId="Equation.3">
                  <p:embed/>
                  <p:pic>
                    <p:nvPicPr>
                      <p:cNvPr id="1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1974057"/>
                        <a:ext cx="15684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4"/>
          <p:cNvSpPr>
            <a:spLocks noChangeArrowheads="1"/>
          </p:cNvSpPr>
          <p:nvPr/>
        </p:nvSpPr>
        <p:spPr bwMode="auto">
          <a:xfrm>
            <a:off x="1991306" y="2299166"/>
            <a:ext cx="150714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2400" i="1" dirty="0">
                <a:latin typeface="Times New Roman" pitchFamily="18" charset="0"/>
              </a:rPr>
              <a:t>P</a:t>
            </a:r>
            <a:r>
              <a:rPr lang="bg-BG" sz="2400" dirty="0">
                <a:latin typeface="Times New Roman" pitchFamily="18" charset="0"/>
              </a:rPr>
              <a:t> = </a:t>
            </a:r>
            <a:r>
              <a:rPr lang="en-US" sz="2400" i="1" dirty="0">
                <a:latin typeface="Times New Roman" pitchFamily="18" charset="0"/>
              </a:rPr>
              <a:t>U</a:t>
            </a:r>
            <a:r>
              <a:rPr lang="en-US" sz="2400" i="1" baseline="-25000" dirty="0">
                <a:latin typeface="Times New Roman" pitchFamily="18" charset="0"/>
              </a:rPr>
              <a:t>CE</a:t>
            </a:r>
            <a:r>
              <a:rPr lang="en-US" sz="2400" i="1" dirty="0">
                <a:latin typeface="Times New Roman" pitchFamily="18" charset="0"/>
              </a:rPr>
              <a:t>I</a:t>
            </a:r>
            <a:r>
              <a:rPr lang="en-US" sz="2400" i="1" baseline="-25000" dirty="0">
                <a:latin typeface="Times New Roman" pitchFamily="18" charset="0"/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21" name="Text Box 35"/>
          <p:cNvSpPr txBox="1">
            <a:spLocks noChangeArrowheads="1"/>
          </p:cNvSpPr>
          <p:nvPr/>
        </p:nvSpPr>
        <p:spPr bwMode="auto">
          <a:xfrm>
            <a:off x="505241" y="2817379"/>
            <a:ext cx="5014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Мощност, отделена в колекторния преход</a:t>
            </a:r>
            <a:endParaRPr lang="en-US" sz="1800" i="0" dirty="0"/>
          </a:p>
        </p:txBody>
      </p:sp>
      <p:sp>
        <p:nvSpPr>
          <p:cNvPr id="22" name="Text Box 36"/>
          <p:cNvSpPr txBox="1">
            <a:spLocks noChangeArrowheads="1"/>
          </p:cNvSpPr>
          <p:nvPr/>
        </p:nvSpPr>
        <p:spPr bwMode="auto">
          <a:xfrm>
            <a:off x="6250454" y="2949279"/>
            <a:ext cx="51021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Мощност, разсеяна в околната среда</a:t>
            </a:r>
            <a:endParaRPr lang="en-US" sz="1800" dirty="0"/>
          </a:p>
        </p:txBody>
      </p:sp>
      <p:sp>
        <p:nvSpPr>
          <p:cNvPr id="26" name="Text Box 42"/>
          <p:cNvSpPr txBox="1">
            <a:spLocks noChangeArrowheads="1"/>
          </p:cNvSpPr>
          <p:nvPr/>
        </p:nvSpPr>
        <p:spPr bwMode="auto">
          <a:xfrm>
            <a:off x="5735960" y="3994942"/>
            <a:ext cx="6233107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Отделената мощност трябва винаги да е по-малка от </a:t>
            </a:r>
            <a:r>
              <a:rPr lang="en-US" sz="1800" i="0" dirty="0"/>
              <a:t>max</a:t>
            </a:r>
            <a:r>
              <a:rPr lang="bg-BG" sz="1800" i="0" dirty="0"/>
              <a:t> допустимата </a:t>
            </a:r>
            <a:r>
              <a:rPr lang="en-US" sz="1800" dirty="0" err="1"/>
              <a:t>P</a:t>
            </a:r>
            <a:r>
              <a:rPr lang="en-US" sz="1800" i="0" baseline="-25000" dirty="0" err="1"/>
              <a:t>Cmax</a:t>
            </a:r>
            <a:r>
              <a:rPr lang="en-US" sz="1800" i="0" dirty="0"/>
              <a:t>. </a:t>
            </a:r>
            <a:endParaRPr lang="bg-BG" sz="1800" i="0" dirty="0"/>
          </a:p>
          <a:p>
            <a:pPr>
              <a:spcBef>
                <a:spcPct val="50000"/>
              </a:spcBef>
            </a:pPr>
            <a:r>
              <a:rPr lang="bg-BG" sz="1800" i="0" dirty="0"/>
              <a:t>В противен случай транзисторът изгаря.</a:t>
            </a:r>
            <a:endParaRPr lang="en-US" sz="1800" i="0" dirty="0"/>
          </a:p>
        </p:txBody>
      </p:sp>
      <p:sp>
        <p:nvSpPr>
          <p:cNvPr id="28" name="Rectangle 27"/>
          <p:cNvSpPr/>
          <p:nvPr/>
        </p:nvSpPr>
        <p:spPr>
          <a:xfrm>
            <a:off x="551384" y="1182045"/>
            <a:ext cx="4320480" cy="792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bg-BG" b="1" dirty="0">
                <a:solidFill>
                  <a:srgbClr val="0038A8"/>
                </a:solidFill>
              </a:rPr>
              <a:t> </a:t>
            </a:r>
            <a:r>
              <a:rPr lang="en-US" b="1" kern="0" dirty="0">
                <a:solidFill>
                  <a:srgbClr val="0038A8"/>
                </a:solidFill>
              </a:rPr>
              <a:t>Max </a:t>
            </a:r>
            <a:r>
              <a:rPr lang="bg-BG" b="1" kern="0" dirty="0">
                <a:solidFill>
                  <a:srgbClr val="0038A8"/>
                </a:solidFill>
              </a:rPr>
              <a:t>температура на прехода</a:t>
            </a:r>
            <a:r>
              <a:rPr lang="en-US" b="1" i="1" kern="0" dirty="0">
                <a:solidFill>
                  <a:srgbClr val="0038A8"/>
                </a:solidFill>
              </a:rPr>
              <a:t> </a:t>
            </a:r>
            <a:r>
              <a:rPr lang="en-US" i="1" kern="0" dirty="0" err="1"/>
              <a:t>T</a:t>
            </a:r>
            <a:r>
              <a:rPr lang="en-US" i="1" kern="0" baseline="-25000" dirty="0" err="1"/>
              <a:t>C</a:t>
            </a:r>
            <a:r>
              <a:rPr lang="en-US" kern="0" baseline="-25000" dirty="0" err="1"/>
              <a:t>max</a:t>
            </a:r>
            <a:endParaRPr lang="en-US" i="1" kern="0" baseline="-25000" dirty="0"/>
          </a:p>
          <a:p>
            <a:pPr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bg-BG" dirty="0"/>
              <a:t> </a:t>
            </a:r>
            <a:r>
              <a:rPr lang="en-US" b="1" kern="0" dirty="0">
                <a:solidFill>
                  <a:srgbClr val="0038A8"/>
                </a:solidFill>
              </a:rPr>
              <a:t>Max </a:t>
            </a:r>
            <a:r>
              <a:rPr lang="bg-BG" b="1" kern="0" dirty="0">
                <a:solidFill>
                  <a:srgbClr val="0038A8"/>
                </a:solidFill>
              </a:rPr>
              <a:t>мощност в колектора</a:t>
            </a:r>
            <a:r>
              <a:rPr lang="en-US" b="1" i="1" kern="0" dirty="0">
                <a:solidFill>
                  <a:srgbClr val="0038A8"/>
                </a:solidFill>
              </a:rPr>
              <a:t> </a:t>
            </a:r>
            <a:r>
              <a:rPr lang="en-US" i="1" kern="0" dirty="0" err="1"/>
              <a:t>P</a:t>
            </a:r>
            <a:r>
              <a:rPr lang="en-US" i="1" kern="0" baseline="-25000" dirty="0" err="1"/>
              <a:t>Cmax</a:t>
            </a:r>
            <a:endParaRPr lang="en-US" i="1" kern="0" baseline="-250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B426A58-84DD-7DDD-4497-DFCCBC75FB91}"/>
              </a:ext>
            </a:extLst>
          </p:cNvPr>
          <p:cNvSpPr txBox="1">
            <a:spLocks noChangeArrowheads="1"/>
          </p:cNvSpPr>
          <p:nvPr/>
        </p:nvSpPr>
        <p:spPr>
          <a:xfrm>
            <a:off x="4476" y="-31117"/>
            <a:ext cx="9148763" cy="60369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Максимална Мощност</a:t>
            </a:r>
          </a:p>
        </p:txBody>
      </p:sp>
    </p:spTree>
    <p:extLst>
      <p:ext uri="{BB962C8B-B14F-4D97-AF65-F5344CB8AC3E}">
        <p14:creationId xmlns:p14="http://schemas.microsoft.com/office/powerpoint/2010/main" val="1162157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9179B-1F06-496F-AFD9-45ACBD7C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27484"/>
            <a:ext cx="8048179" cy="25489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DE9109-29ED-4EDB-949F-C9C500E0A4D9}"/>
              </a:ext>
            </a:extLst>
          </p:cNvPr>
          <p:cNvSpPr/>
          <p:nvPr/>
        </p:nvSpPr>
        <p:spPr>
          <a:xfrm>
            <a:off x="335360" y="2608676"/>
            <a:ext cx="7920880" cy="4320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D0699-CFEC-46BC-9FE3-2B05DF02D1EB}"/>
              </a:ext>
            </a:extLst>
          </p:cNvPr>
          <p:cNvSpPr txBox="1"/>
          <p:nvPr/>
        </p:nvSpPr>
        <p:spPr>
          <a:xfrm>
            <a:off x="11393383" y="6581001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FJP5027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B1287B-1C92-481F-ACE9-8BC3C2FE00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614"/>
          <a:stretch/>
        </p:blipFill>
        <p:spPr>
          <a:xfrm>
            <a:off x="6744072" y="3276468"/>
            <a:ext cx="4302532" cy="3581532"/>
          </a:xfrm>
          <a:prstGeom prst="rect">
            <a:avLst/>
          </a:prstGeom>
        </p:spPr>
      </p:pic>
      <p:sp>
        <p:nvSpPr>
          <p:cNvPr id="9" name="Rectangle 34">
            <a:extLst>
              <a:ext uri="{FF2B5EF4-FFF2-40B4-BE49-F238E27FC236}">
                <a16:creationId xmlns:a16="http://schemas.microsoft.com/office/drawing/2014/main" id="{0E6860F0-9BF1-4F71-A465-9D35C79A3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449" y="4074123"/>
            <a:ext cx="1558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sz="2400" i="1" dirty="0">
                <a:latin typeface="Times New Roman" pitchFamily="18" charset="0"/>
              </a:rPr>
              <a:t>P</a:t>
            </a:r>
            <a:r>
              <a:rPr lang="bg-BG" sz="2400" dirty="0">
                <a:latin typeface="Times New Roman" pitchFamily="18" charset="0"/>
              </a:rPr>
              <a:t> = </a:t>
            </a:r>
            <a:r>
              <a:rPr lang="en-US" sz="2400" i="1" dirty="0">
                <a:latin typeface="Times New Roman" pitchFamily="18" charset="0"/>
              </a:rPr>
              <a:t>U</a:t>
            </a:r>
            <a:r>
              <a:rPr lang="en-US" sz="2400" i="1" baseline="-25000" dirty="0">
                <a:latin typeface="Times New Roman" pitchFamily="18" charset="0"/>
              </a:rPr>
              <a:t>CE </a:t>
            </a:r>
            <a:r>
              <a:rPr lang="en-US" sz="2400" i="1" dirty="0">
                <a:latin typeface="Times New Roman" pitchFamily="18" charset="0"/>
              </a:rPr>
              <a:t>I</a:t>
            </a:r>
            <a:r>
              <a:rPr lang="en-US" sz="2400" i="1" baseline="-25000" dirty="0">
                <a:latin typeface="Times New Roman" pitchFamily="18" charset="0"/>
              </a:rPr>
              <a:t>C</a:t>
            </a:r>
            <a:r>
              <a:rPr lang="en-US" sz="2400" dirty="0"/>
              <a:t> </a:t>
            </a:r>
          </a:p>
        </p:txBody>
      </p:sp>
      <p:sp>
        <p:nvSpPr>
          <p:cNvPr id="10" name="Text Box 35">
            <a:extLst>
              <a:ext uri="{FF2B5EF4-FFF2-40B4-BE49-F238E27FC236}">
                <a16:creationId xmlns:a16="http://schemas.microsoft.com/office/drawing/2014/main" id="{AC7449A5-A8AD-4BCE-AB16-33C377381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592336"/>
            <a:ext cx="5014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Мощност, отделена в колекторния преход</a:t>
            </a:r>
            <a:endParaRPr lang="en-US" sz="1800" i="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B6B770-AD6B-4503-57EF-7923C2373710}"/>
              </a:ext>
            </a:extLst>
          </p:cNvPr>
          <p:cNvSpPr txBox="1">
            <a:spLocks noChangeArrowheads="1"/>
          </p:cNvSpPr>
          <p:nvPr/>
        </p:nvSpPr>
        <p:spPr>
          <a:xfrm>
            <a:off x="4476" y="-31117"/>
            <a:ext cx="9148763" cy="60369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Максимална Мощност</a:t>
            </a:r>
          </a:p>
        </p:txBody>
      </p:sp>
    </p:spTree>
    <p:extLst>
      <p:ext uri="{BB962C8B-B14F-4D97-AF65-F5344CB8AC3E}">
        <p14:creationId xmlns:p14="http://schemas.microsoft.com/office/powerpoint/2010/main" val="279277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9179B-1F06-496F-AFD9-45ACBD7C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727484"/>
            <a:ext cx="8048179" cy="25489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DE9109-29ED-4EDB-949F-C9C500E0A4D9}"/>
              </a:ext>
            </a:extLst>
          </p:cNvPr>
          <p:cNvSpPr/>
          <p:nvPr/>
        </p:nvSpPr>
        <p:spPr>
          <a:xfrm>
            <a:off x="335360" y="2608676"/>
            <a:ext cx="7920880" cy="4320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D0699-CFEC-46BC-9FE3-2B05DF02D1EB}"/>
              </a:ext>
            </a:extLst>
          </p:cNvPr>
          <p:cNvSpPr txBox="1"/>
          <p:nvPr/>
        </p:nvSpPr>
        <p:spPr>
          <a:xfrm>
            <a:off x="11393383" y="6581001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FJP5027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B1287B-1C92-481F-ACE9-8BC3C2FE00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614"/>
          <a:stretch/>
        </p:blipFill>
        <p:spPr>
          <a:xfrm>
            <a:off x="6744072" y="3276468"/>
            <a:ext cx="4302532" cy="3581532"/>
          </a:xfrm>
          <a:prstGeom prst="rect">
            <a:avLst/>
          </a:prstGeom>
        </p:spPr>
      </p:pic>
      <p:sp>
        <p:nvSpPr>
          <p:cNvPr id="10" name="Text Box 35">
            <a:extLst>
              <a:ext uri="{FF2B5EF4-FFF2-40B4-BE49-F238E27FC236}">
                <a16:creationId xmlns:a16="http://schemas.microsoft.com/office/drawing/2014/main" id="{AC7449A5-A8AD-4BCE-AB16-33C377381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34" y="5807350"/>
            <a:ext cx="50146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Максимално допустимата мощност намалява с увеличаване на температурата.</a:t>
            </a:r>
            <a:endParaRPr lang="en-US" sz="1800" i="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CB6B770-AD6B-4503-57EF-7923C2373710}"/>
              </a:ext>
            </a:extLst>
          </p:cNvPr>
          <p:cNvSpPr txBox="1">
            <a:spLocks noChangeArrowheads="1"/>
          </p:cNvSpPr>
          <p:nvPr/>
        </p:nvSpPr>
        <p:spPr>
          <a:xfrm>
            <a:off x="4476" y="-31117"/>
            <a:ext cx="9148763" cy="60369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Максимална Температура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52365-7B1C-0CE2-EB5A-EF51D0A9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13" y="4170279"/>
            <a:ext cx="5967129" cy="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3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7328" y="40891"/>
            <a:ext cx="9148763" cy="50778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Отвеждане на топлината</a:t>
            </a:r>
          </a:p>
        </p:txBody>
      </p:sp>
      <p:pic>
        <p:nvPicPr>
          <p:cNvPr id="2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745" y="1021701"/>
            <a:ext cx="3127375" cy="23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924" y="1208373"/>
            <a:ext cx="5889832" cy="2231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623392" y="3784532"/>
            <a:ext cx="100091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Отделената в прехода топлина се отвежда през корпуса на транзистора. </a:t>
            </a:r>
            <a:endParaRPr lang="en-US" sz="1800" dirty="0"/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551384" y="4250412"/>
            <a:ext cx="11233248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Биполярните транзистори се срещат с пластмасови или метални корпуси според разсейваната от тях мощност.</a:t>
            </a:r>
          </a:p>
          <a:p>
            <a:pPr>
              <a:spcBef>
                <a:spcPct val="50000"/>
              </a:spcBef>
            </a:pPr>
            <a:r>
              <a:rPr lang="bg-BG" sz="1800" i="0" dirty="0"/>
              <a:t>Средномощните транзистори имат метална плоча до корпуса си. При мощните корпусът е метален за по-бързото разсейване на топлината. </a:t>
            </a:r>
            <a:endParaRPr lang="en-US" sz="1800" i="0" dirty="0"/>
          </a:p>
        </p:txBody>
      </p:sp>
    </p:spTree>
    <p:extLst>
      <p:ext uri="{BB962C8B-B14F-4D97-AF65-F5344CB8AC3E}">
        <p14:creationId xmlns:p14="http://schemas.microsoft.com/office/powerpoint/2010/main" val="347443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24680" y="-31117"/>
            <a:ext cx="9148763" cy="64135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itchFamily="34" charset="0"/>
              </a:rPr>
              <a:t>Топлинно съпротивление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4689475" y="1802036"/>
          <a:ext cx="15367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253890" progId="Equation.3">
                  <p:embed/>
                </p:oleObj>
              </mc:Choice>
              <mc:Fallback>
                <p:oleObj name="Equation" r:id="rId2" imgW="761669" imgH="253890" progId="Equation.3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475" y="1802036"/>
                        <a:ext cx="15367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2281238" y="1814735"/>
          <a:ext cx="208756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865" imgH="253890" progId="Equation.3">
                  <p:embed/>
                </p:oleObj>
              </mc:Choice>
              <mc:Fallback>
                <p:oleObj name="Equation" r:id="rId4" imgW="1002865" imgH="253890" progId="Equation.3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1814735"/>
                        <a:ext cx="2087562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/>
        </p:nvGraphicFramePr>
        <p:xfrm>
          <a:off x="2260600" y="3751486"/>
          <a:ext cx="2946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394" imgH="253890" progId="Equation.3">
                  <p:embed/>
                </p:oleObj>
              </mc:Choice>
              <mc:Fallback>
                <p:oleObj name="Equation" r:id="rId6" imgW="1396394" imgH="253890" progId="Equation.3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3751486"/>
                        <a:ext cx="2946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8704263" y="3179986"/>
            <a:ext cx="1530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/>
              <a:t>Радиатор</a:t>
            </a:r>
            <a:endParaRPr lang="en-US" sz="1800" i="0"/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79376" y="992410"/>
            <a:ext cx="1123324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b="1" i="0" dirty="0">
                <a:solidFill>
                  <a:schemeClr val="accent2"/>
                </a:solidFill>
              </a:rPr>
              <a:t>Топлинното съпротивление</a:t>
            </a:r>
            <a:r>
              <a:rPr lang="en-US" sz="1800" dirty="0">
                <a:solidFill>
                  <a:schemeClr val="accent2"/>
                </a:solidFill>
              </a:rPr>
              <a:t> </a:t>
            </a:r>
            <a:r>
              <a:rPr lang="en-US" sz="1800" dirty="0" err="1"/>
              <a:t>R</a:t>
            </a:r>
            <a:r>
              <a:rPr lang="en-US" sz="1800" baseline="-25000" dirty="0" err="1"/>
              <a:t>th</a:t>
            </a:r>
            <a:r>
              <a:rPr lang="en-US" sz="1800" i="0" dirty="0"/>
              <a:t> </a:t>
            </a:r>
            <a:r>
              <a:rPr lang="bg-BG" sz="1800" i="0" dirty="0"/>
              <a:t>показва ефективността при отделяне на топлината от транзистора и се измерва в</a:t>
            </a:r>
            <a:r>
              <a:rPr lang="en-US" sz="1800" i="0" dirty="0"/>
              <a:t> </a:t>
            </a:r>
            <a:r>
              <a:rPr lang="en-US" sz="1800" dirty="0"/>
              <a:t>K</a:t>
            </a:r>
            <a:r>
              <a:rPr lang="en-US" sz="1800" i="0" dirty="0"/>
              <a:t>/</a:t>
            </a:r>
            <a:r>
              <a:rPr lang="en-US" sz="1800" dirty="0"/>
              <a:t>W</a:t>
            </a:r>
            <a:r>
              <a:rPr lang="bg-BG" sz="1800" dirty="0"/>
              <a:t> </a:t>
            </a:r>
            <a:r>
              <a:rPr lang="bg-BG" sz="1800" i="0" dirty="0"/>
              <a:t>или в</a:t>
            </a:r>
            <a:r>
              <a:rPr lang="en-US" sz="1800" i="0" dirty="0"/>
              <a:t> </a:t>
            </a:r>
            <a:r>
              <a:rPr lang="en-US" sz="1800" i="0" baseline="30000" dirty="0"/>
              <a:t>o</a:t>
            </a:r>
            <a:r>
              <a:rPr lang="bg-BG" sz="1800" dirty="0"/>
              <a:t>С</a:t>
            </a:r>
            <a:r>
              <a:rPr lang="en-US" sz="1800" i="0" dirty="0"/>
              <a:t>/</a:t>
            </a:r>
            <a:r>
              <a:rPr lang="en-US" sz="1800" dirty="0"/>
              <a:t>W</a:t>
            </a:r>
            <a:r>
              <a:rPr lang="bg-BG" sz="1800" dirty="0"/>
              <a:t> </a:t>
            </a:r>
            <a:r>
              <a:rPr lang="en-US" sz="1800" i="0" dirty="0"/>
              <a:t>. 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551384" y="2437035"/>
            <a:ext cx="9476854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bg-BG" dirty="0"/>
              <a:t>Колкото</a:t>
            </a:r>
            <a:r>
              <a:rPr lang="en-US" dirty="0"/>
              <a:t> </a:t>
            </a:r>
            <a:r>
              <a:rPr lang="bg-BG" b="1" dirty="0">
                <a:solidFill>
                  <a:schemeClr val="accent2"/>
                </a:solidFill>
              </a:rPr>
              <a:t>по-малко е топлинното съпротивление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bg-BG" dirty="0"/>
              <a:t>толкова </a:t>
            </a:r>
            <a:r>
              <a:rPr lang="en-US" dirty="0"/>
              <a:t> </a:t>
            </a:r>
            <a:r>
              <a:rPr lang="bg-BG" b="1" dirty="0">
                <a:solidFill>
                  <a:schemeClr val="accent2"/>
                </a:solidFill>
              </a:rPr>
              <a:t>по-голяма </a:t>
            </a:r>
          </a:p>
          <a:p>
            <a:r>
              <a:rPr lang="bg-BG" dirty="0"/>
              <a:t>е</a:t>
            </a:r>
            <a:r>
              <a:rPr lang="bg-BG" b="1" dirty="0">
                <a:solidFill>
                  <a:schemeClr val="accent2"/>
                </a:solidFill>
              </a:rPr>
              <a:t> </a:t>
            </a:r>
            <a:r>
              <a:rPr lang="bg-BG" dirty="0"/>
              <a:t>максимално допустимата мощност</a:t>
            </a:r>
            <a:r>
              <a:rPr lang="bg-BG" b="1" dirty="0">
                <a:solidFill>
                  <a:schemeClr val="accent2"/>
                </a:solidFill>
              </a:rPr>
              <a:t>. </a:t>
            </a:r>
            <a:endParaRPr lang="en-US" dirty="0"/>
          </a:p>
        </p:txBody>
      </p:sp>
      <p:pic>
        <p:nvPicPr>
          <p:cNvPr id="16" name="Picture 11" descr="rth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900" y="3595910"/>
            <a:ext cx="3957638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7164389" y="1492474"/>
          <a:ext cx="2746375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93800" imgH="469900" progId="Equation.3">
                  <p:embed/>
                </p:oleObj>
              </mc:Choice>
              <mc:Fallback>
                <p:oleObj name="Equation" r:id="rId9" imgW="1193800" imgH="469900" progId="Equation.3">
                  <p:embed/>
                  <p:pic>
                    <p:nvPicPr>
                      <p:cNvPr id="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9" y="1492474"/>
                        <a:ext cx="2746375" cy="108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39616" y="4376787"/>
            <a:ext cx="10081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/>
              <a:t>Преход-корпус</a:t>
            </a:r>
            <a:endParaRPr 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3503712" y="4376787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/>
              <a:t>Корпус-</a:t>
            </a:r>
          </a:p>
          <a:p>
            <a:pPr algn="ctr"/>
            <a:r>
              <a:rPr lang="bg-BG" sz="1600" dirty="0"/>
              <a:t>радиатор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4583832" y="4376787"/>
            <a:ext cx="15457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1600" dirty="0"/>
              <a:t>Радиатор-околна среда</a:t>
            </a:r>
            <a:endParaRPr lang="en-US" sz="1600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999656" y="4160762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3863752" y="4160762"/>
            <a:ext cx="144016" cy="2160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799856" y="4160762"/>
            <a:ext cx="216024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5A72E6E-873A-2705-89AB-0D47C6FF5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725" y="5690045"/>
            <a:ext cx="6182588" cy="10097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378D10-50F2-4336-8524-7605B872D8D4}"/>
              </a:ext>
            </a:extLst>
          </p:cNvPr>
          <p:cNvSpPr txBox="1"/>
          <p:nvPr/>
        </p:nvSpPr>
        <p:spPr>
          <a:xfrm>
            <a:off x="5798294" y="6620246"/>
            <a:ext cx="5954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u="none" strike="noStrike" baseline="0" dirty="0">
                <a:latin typeface="Swiss721-BlackSWA"/>
              </a:rPr>
              <a:t>2N5684</a:t>
            </a:r>
            <a:endParaRPr lang="bg-BG" sz="1000" dirty="0"/>
          </a:p>
        </p:txBody>
      </p:sp>
    </p:spTree>
    <p:extLst>
      <p:ext uri="{BB962C8B-B14F-4D97-AF65-F5344CB8AC3E}">
        <p14:creationId xmlns:p14="http://schemas.microsoft.com/office/powerpoint/2010/main" val="1518613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24680" y="-31117"/>
            <a:ext cx="9148763" cy="50778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Максимален колекторен ток</a:t>
            </a:r>
          </a:p>
        </p:txBody>
      </p:sp>
      <p:pic>
        <p:nvPicPr>
          <p:cNvPr id="19" name="Picture 7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52" y="1052737"/>
            <a:ext cx="6994525" cy="258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0" name="Object 70"/>
          <p:cNvGraphicFramePr>
            <a:graphicFrameLocks noChangeAspect="1"/>
          </p:cNvGraphicFramePr>
          <p:nvPr/>
        </p:nvGraphicFramePr>
        <p:xfrm>
          <a:off x="3935413" y="4768850"/>
          <a:ext cx="377983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28800" imgH="431640" progId="Equation.3">
                  <p:embed/>
                </p:oleObj>
              </mc:Choice>
              <mc:Fallback>
                <p:oleObj name="Equation" r:id="rId3" imgW="1828800" imgH="431640" progId="Equation.3">
                  <p:embed/>
                  <p:pic>
                    <p:nvPicPr>
                      <p:cNvPr id="2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4768850"/>
                        <a:ext cx="377983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77"/>
          <p:cNvSpPr txBox="1">
            <a:spLocks noChangeArrowheads="1"/>
          </p:cNvSpPr>
          <p:nvPr/>
        </p:nvSpPr>
        <p:spPr bwMode="auto">
          <a:xfrm>
            <a:off x="479376" y="3992216"/>
            <a:ext cx="11161240" cy="73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b="1" i="0" dirty="0">
                <a:solidFill>
                  <a:schemeClr val="accent2"/>
                </a:solidFill>
              </a:rPr>
              <a:t>Максималният колекторен ток</a:t>
            </a:r>
            <a:r>
              <a:rPr lang="en-US" sz="1800" i="0" dirty="0">
                <a:solidFill>
                  <a:schemeClr val="accent2"/>
                </a:solidFill>
              </a:rPr>
              <a:t> </a:t>
            </a:r>
            <a:r>
              <a:rPr lang="en-US" sz="1800" dirty="0" err="1"/>
              <a:t>I</a:t>
            </a:r>
            <a:r>
              <a:rPr lang="en-US" sz="1800" baseline="-25000" dirty="0" err="1"/>
              <a:t>C</a:t>
            </a:r>
            <a:r>
              <a:rPr lang="en-US" sz="1800" i="0" baseline="-25000" dirty="0" err="1"/>
              <a:t>max</a:t>
            </a:r>
            <a:r>
              <a:rPr lang="en-US" sz="1800" i="0" dirty="0"/>
              <a:t> </a:t>
            </a:r>
            <a:r>
              <a:rPr lang="bg-BG" sz="1800" i="0" dirty="0"/>
              <a:t> показва максималният</a:t>
            </a:r>
            <a:r>
              <a:rPr lang="en-US" sz="1800" i="0" dirty="0"/>
              <a:t> </a:t>
            </a:r>
            <a:r>
              <a:rPr lang="bg-BG" sz="1800" i="0" dirty="0"/>
              <a:t>ток, който може да протече през транзистора без да се надвиши </a:t>
            </a:r>
            <a:r>
              <a:rPr lang="en-US" sz="1800" dirty="0" err="1"/>
              <a:t>P</a:t>
            </a:r>
            <a:r>
              <a:rPr lang="en-US" sz="1800" baseline="-25000" dirty="0" err="1"/>
              <a:t>C</a:t>
            </a:r>
            <a:r>
              <a:rPr lang="en-US" sz="1800" i="0" baseline="-25000" dirty="0" err="1"/>
              <a:t>max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97964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28427" y="-27384"/>
            <a:ext cx="9148763" cy="4349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dirty="0">
                <a:solidFill>
                  <a:schemeClr val="accent2"/>
                </a:solidFill>
                <a:latin typeface="Arial Narrow" panose="020B0606020202030204" pitchFamily="34" charset="0"/>
              </a:rPr>
              <a:t>Област на безопасна работа</a:t>
            </a:r>
          </a:p>
        </p:txBody>
      </p:sp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343" y="1111883"/>
            <a:ext cx="3600450" cy="2986088"/>
          </a:xfrm>
          <a:prstGeom prst="rect">
            <a:avLst/>
          </a:prstGeom>
          <a:noFill/>
        </p:spPr>
      </p:pic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1150394" y="1735771"/>
            <a:ext cx="186372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 flipV="1">
            <a:off x="3569743" y="3032759"/>
            <a:ext cx="0" cy="6016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 flipH="1" flipV="1">
            <a:off x="3325269" y="2639059"/>
            <a:ext cx="244475" cy="4048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8"/>
          <p:cNvSpPr>
            <a:spLocks/>
          </p:cNvSpPr>
          <p:nvPr/>
        </p:nvSpPr>
        <p:spPr bwMode="auto">
          <a:xfrm>
            <a:off x="2388644" y="1562733"/>
            <a:ext cx="1135063" cy="1157288"/>
          </a:xfrm>
          <a:custGeom>
            <a:avLst/>
            <a:gdLst>
              <a:gd name="T0" fmla="*/ 0 w 715"/>
              <a:gd name="T1" fmla="*/ 0 h 729"/>
              <a:gd name="T2" fmla="*/ 255588 w 715"/>
              <a:gd name="T3" fmla="*/ 728663 h 729"/>
              <a:gd name="T4" fmla="*/ 1135063 w 715"/>
              <a:gd name="T5" fmla="*/ 1157288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5" h="729">
                <a:moveTo>
                  <a:pt x="0" y="0"/>
                </a:moveTo>
                <a:cubicBezTo>
                  <a:pt x="21" y="169"/>
                  <a:pt x="42" y="338"/>
                  <a:pt x="161" y="459"/>
                </a:cubicBezTo>
                <a:cubicBezTo>
                  <a:pt x="280" y="580"/>
                  <a:pt x="625" y="684"/>
                  <a:pt x="715" y="72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396332" y="1503996"/>
            <a:ext cx="973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0038A8"/>
                </a:solidFill>
              </a:rPr>
              <a:t>I</a:t>
            </a:r>
            <a:r>
              <a:rPr lang="en-US" sz="1800" b="1" baseline="-25000">
                <a:solidFill>
                  <a:srgbClr val="0038A8"/>
                </a:solidFill>
              </a:rPr>
              <a:t>Cmax</a:t>
            </a:r>
          </a:p>
        </p:txBody>
      </p:sp>
      <p:sp>
        <p:nvSpPr>
          <p:cNvPr id="45" name="Text Box 10"/>
          <p:cNvSpPr txBox="1">
            <a:spLocks noChangeArrowheads="1"/>
          </p:cNvSpPr>
          <p:nvPr/>
        </p:nvSpPr>
        <p:spPr bwMode="auto">
          <a:xfrm>
            <a:off x="2666456" y="2024696"/>
            <a:ext cx="1028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 err="1">
                <a:solidFill>
                  <a:srgbClr val="0038A8"/>
                </a:solidFill>
              </a:rPr>
              <a:t>P</a:t>
            </a:r>
            <a:r>
              <a:rPr lang="en-US" sz="1800" b="1" baseline="-25000" dirty="0" err="1">
                <a:solidFill>
                  <a:srgbClr val="0038A8"/>
                </a:solidFill>
              </a:rPr>
              <a:t>Cmax</a:t>
            </a:r>
            <a:endParaRPr lang="en-US" sz="1800" b="1" baseline="-25000" dirty="0">
              <a:solidFill>
                <a:srgbClr val="0038A8"/>
              </a:solidFill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3268119" y="3888421"/>
            <a:ext cx="2117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 err="1">
                <a:solidFill>
                  <a:srgbClr val="0038A8"/>
                </a:solidFill>
              </a:rPr>
              <a:t>U</a:t>
            </a:r>
            <a:r>
              <a:rPr lang="en-US" sz="1800" b="1" baseline="-25000" dirty="0" err="1">
                <a:solidFill>
                  <a:srgbClr val="0038A8"/>
                </a:solidFill>
              </a:rPr>
              <a:t>Cmax</a:t>
            </a:r>
            <a:r>
              <a:rPr lang="en-US" sz="1800" b="1" dirty="0">
                <a:solidFill>
                  <a:srgbClr val="0038A8"/>
                </a:solidFill>
              </a:rPr>
              <a:t>&lt; U</a:t>
            </a:r>
            <a:r>
              <a:rPr lang="en-US" sz="1800" b="1" baseline="-25000" dirty="0">
                <a:solidFill>
                  <a:srgbClr val="0038A8"/>
                </a:solidFill>
              </a:rPr>
              <a:t>BR</a:t>
            </a: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119336" y="5588038"/>
            <a:ext cx="1160728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Ако работната точка е избрана в областта на безопасна работа, това гарантира, че по време на експлоатация няма да се надвишат максимално- допустимите параметри</a:t>
            </a:r>
            <a:r>
              <a:rPr lang="en-US" sz="1800" i="0" dirty="0"/>
              <a:t>.</a:t>
            </a:r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3523706" y="2974021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2368006" y="1692908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3293518" y="2594608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3525293" y="3566158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1118643" y="1704021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CE7AA-6757-70F6-A81A-2FF291D0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760" y="570263"/>
            <a:ext cx="532521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78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1384" y="1484784"/>
            <a:ext cx="3600450" cy="2986088"/>
          </a:xfrm>
          <a:prstGeom prst="rect">
            <a:avLst/>
          </a:prstGeom>
          <a:noFill/>
        </p:spPr>
      </p:pic>
      <p:sp>
        <p:nvSpPr>
          <p:cNvPr id="40" name="Line 5"/>
          <p:cNvSpPr>
            <a:spLocks noChangeShapeType="1"/>
          </p:cNvSpPr>
          <p:nvPr/>
        </p:nvSpPr>
        <p:spPr bwMode="auto">
          <a:xfrm>
            <a:off x="1239032" y="2146635"/>
            <a:ext cx="1863725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Line 6"/>
          <p:cNvSpPr>
            <a:spLocks noChangeShapeType="1"/>
          </p:cNvSpPr>
          <p:nvPr/>
        </p:nvSpPr>
        <p:spPr bwMode="auto">
          <a:xfrm flipV="1">
            <a:off x="3658381" y="3443623"/>
            <a:ext cx="0" cy="6016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 flipH="1" flipV="1">
            <a:off x="3413907" y="3049923"/>
            <a:ext cx="244475" cy="40481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 8"/>
          <p:cNvSpPr>
            <a:spLocks/>
          </p:cNvSpPr>
          <p:nvPr/>
        </p:nvSpPr>
        <p:spPr bwMode="auto">
          <a:xfrm>
            <a:off x="2477282" y="1973597"/>
            <a:ext cx="1135063" cy="1157288"/>
          </a:xfrm>
          <a:custGeom>
            <a:avLst/>
            <a:gdLst>
              <a:gd name="T0" fmla="*/ 0 w 715"/>
              <a:gd name="T1" fmla="*/ 0 h 729"/>
              <a:gd name="T2" fmla="*/ 255588 w 715"/>
              <a:gd name="T3" fmla="*/ 728663 h 729"/>
              <a:gd name="T4" fmla="*/ 1135063 w 715"/>
              <a:gd name="T5" fmla="*/ 1157288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5" h="729">
                <a:moveTo>
                  <a:pt x="0" y="0"/>
                </a:moveTo>
                <a:cubicBezTo>
                  <a:pt x="21" y="169"/>
                  <a:pt x="42" y="338"/>
                  <a:pt x="161" y="459"/>
                </a:cubicBezTo>
                <a:cubicBezTo>
                  <a:pt x="280" y="580"/>
                  <a:pt x="625" y="684"/>
                  <a:pt x="715" y="729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484970" y="1914860"/>
            <a:ext cx="9731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 err="1">
                <a:solidFill>
                  <a:schemeClr val="accent2"/>
                </a:solidFill>
              </a:rPr>
              <a:t>I</a:t>
            </a:r>
            <a:r>
              <a:rPr lang="en-US" sz="1800" b="1" baseline="-25000" dirty="0" err="1">
                <a:solidFill>
                  <a:schemeClr val="accent2"/>
                </a:solidFill>
              </a:rPr>
              <a:t>Cmax</a:t>
            </a:r>
            <a:endParaRPr lang="en-US" sz="1800" b="1" baseline="-25000" dirty="0">
              <a:solidFill>
                <a:schemeClr val="accent2"/>
              </a:solidFill>
            </a:endParaRPr>
          </a:p>
        </p:txBody>
      </p:sp>
      <p:sp>
        <p:nvSpPr>
          <p:cNvPr id="45" name="Text Box 10"/>
          <p:cNvSpPr txBox="1">
            <a:spLocks noChangeArrowheads="1"/>
          </p:cNvSpPr>
          <p:nvPr/>
        </p:nvSpPr>
        <p:spPr bwMode="auto">
          <a:xfrm>
            <a:off x="2755094" y="2435560"/>
            <a:ext cx="1028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 err="1">
                <a:solidFill>
                  <a:srgbClr val="0038A8"/>
                </a:solidFill>
              </a:rPr>
              <a:t>P</a:t>
            </a:r>
            <a:r>
              <a:rPr lang="en-US" sz="1800" b="1" baseline="-25000" dirty="0" err="1">
                <a:solidFill>
                  <a:srgbClr val="0038A8"/>
                </a:solidFill>
              </a:rPr>
              <a:t>Cmax</a:t>
            </a:r>
            <a:endParaRPr lang="en-US" sz="1800" b="1" baseline="-25000" dirty="0">
              <a:solidFill>
                <a:srgbClr val="0038A8"/>
              </a:solidFill>
            </a:endParaRPr>
          </a:p>
        </p:txBody>
      </p:sp>
      <p:sp>
        <p:nvSpPr>
          <p:cNvPr id="46" name="Text Box 11"/>
          <p:cNvSpPr txBox="1">
            <a:spLocks noChangeArrowheads="1"/>
          </p:cNvSpPr>
          <p:nvPr/>
        </p:nvSpPr>
        <p:spPr bwMode="auto">
          <a:xfrm>
            <a:off x="3356757" y="4299285"/>
            <a:ext cx="21177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 err="1">
                <a:solidFill>
                  <a:schemeClr val="accent2"/>
                </a:solidFill>
              </a:rPr>
              <a:t>U</a:t>
            </a:r>
            <a:r>
              <a:rPr lang="en-US" sz="1800" b="1" baseline="-25000" dirty="0" err="1">
                <a:solidFill>
                  <a:schemeClr val="accent2"/>
                </a:solidFill>
              </a:rPr>
              <a:t>Cmax</a:t>
            </a:r>
            <a:r>
              <a:rPr lang="en-US" sz="1800" b="1" dirty="0">
                <a:solidFill>
                  <a:schemeClr val="accent2"/>
                </a:solidFill>
              </a:rPr>
              <a:t>&lt; U</a:t>
            </a:r>
            <a:r>
              <a:rPr lang="en-US" sz="1800" b="1" baseline="-25000" dirty="0">
                <a:solidFill>
                  <a:schemeClr val="accent2"/>
                </a:solidFill>
              </a:rPr>
              <a:t>BR</a:t>
            </a:r>
          </a:p>
        </p:txBody>
      </p:sp>
      <p:sp>
        <p:nvSpPr>
          <p:cNvPr id="47" name="Text Box 12"/>
          <p:cNvSpPr txBox="1">
            <a:spLocks noChangeArrowheads="1"/>
          </p:cNvSpPr>
          <p:nvPr/>
        </p:nvSpPr>
        <p:spPr bwMode="auto">
          <a:xfrm>
            <a:off x="1970870" y="2994361"/>
            <a:ext cx="1042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2000" b="1" dirty="0">
                <a:solidFill>
                  <a:srgbClr val="FF0000"/>
                </a:solidFill>
              </a:rPr>
              <a:t>ОБР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8" name="Text Box 13"/>
          <p:cNvSpPr txBox="1">
            <a:spLocks noChangeArrowheads="1"/>
          </p:cNvSpPr>
          <p:nvPr/>
        </p:nvSpPr>
        <p:spPr bwMode="auto">
          <a:xfrm>
            <a:off x="235844" y="6050176"/>
            <a:ext cx="116658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bg-BG" sz="1800" i="0" dirty="0"/>
              <a:t>С увеличаване на температурата областта на безопасна работа се</a:t>
            </a:r>
            <a:r>
              <a:rPr lang="en-US" sz="1800" i="0" dirty="0"/>
              <a:t> “</a:t>
            </a:r>
            <a:r>
              <a:rPr lang="bg-BG" sz="1800" i="0" dirty="0"/>
              <a:t>свива“.</a:t>
            </a:r>
            <a:endParaRPr lang="en-US" sz="1800" i="0" dirty="0"/>
          </a:p>
        </p:txBody>
      </p:sp>
      <p:sp>
        <p:nvSpPr>
          <p:cNvPr id="49" name="Oval 14"/>
          <p:cNvSpPr>
            <a:spLocks noChangeArrowheads="1"/>
          </p:cNvSpPr>
          <p:nvPr/>
        </p:nvSpPr>
        <p:spPr bwMode="auto">
          <a:xfrm>
            <a:off x="3612344" y="3384885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Oval 15"/>
          <p:cNvSpPr>
            <a:spLocks noChangeArrowheads="1"/>
          </p:cNvSpPr>
          <p:nvPr/>
        </p:nvSpPr>
        <p:spPr bwMode="auto">
          <a:xfrm>
            <a:off x="2456644" y="2103772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16"/>
          <p:cNvSpPr>
            <a:spLocks noChangeArrowheads="1"/>
          </p:cNvSpPr>
          <p:nvPr/>
        </p:nvSpPr>
        <p:spPr bwMode="auto">
          <a:xfrm>
            <a:off x="3382156" y="3005472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Oval 17"/>
          <p:cNvSpPr>
            <a:spLocks noChangeArrowheads="1"/>
          </p:cNvSpPr>
          <p:nvPr/>
        </p:nvSpPr>
        <p:spPr bwMode="auto">
          <a:xfrm>
            <a:off x="3613931" y="3977022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Oval 18"/>
          <p:cNvSpPr>
            <a:spLocks noChangeArrowheads="1"/>
          </p:cNvSpPr>
          <p:nvPr/>
        </p:nvSpPr>
        <p:spPr bwMode="auto">
          <a:xfrm>
            <a:off x="1207281" y="2114885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1221008" y="2387672"/>
            <a:ext cx="1521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6"/>
          <p:cNvSpPr>
            <a:spLocks noChangeShapeType="1"/>
          </p:cNvSpPr>
          <p:nvPr/>
        </p:nvSpPr>
        <p:spPr bwMode="auto">
          <a:xfrm flipV="1">
            <a:off x="3195460" y="3535309"/>
            <a:ext cx="0" cy="53238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 flipH="1" flipV="1">
            <a:off x="2995942" y="3186944"/>
            <a:ext cx="199518" cy="35819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Freeform 8"/>
          <p:cNvSpPr>
            <a:spLocks/>
          </p:cNvSpPr>
          <p:nvPr/>
        </p:nvSpPr>
        <p:spPr bwMode="auto">
          <a:xfrm>
            <a:off x="2231555" y="2234560"/>
            <a:ext cx="926335" cy="1024024"/>
          </a:xfrm>
          <a:custGeom>
            <a:avLst/>
            <a:gdLst>
              <a:gd name="T0" fmla="*/ 0 w 715"/>
              <a:gd name="T1" fmla="*/ 0 h 729"/>
              <a:gd name="T2" fmla="*/ 255588 w 715"/>
              <a:gd name="T3" fmla="*/ 728663 h 729"/>
              <a:gd name="T4" fmla="*/ 1135063 w 715"/>
              <a:gd name="T5" fmla="*/ 1157288 h 7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5" h="729">
                <a:moveTo>
                  <a:pt x="0" y="0"/>
                </a:moveTo>
                <a:cubicBezTo>
                  <a:pt x="21" y="169"/>
                  <a:pt x="42" y="338"/>
                  <a:pt x="161" y="459"/>
                </a:cubicBezTo>
                <a:cubicBezTo>
                  <a:pt x="280" y="580"/>
                  <a:pt x="625" y="684"/>
                  <a:pt x="715" y="729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840475" y="1641661"/>
            <a:ext cx="1255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i="1" dirty="0">
                <a:solidFill>
                  <a:srgbClr val="FF0000"/>
                </a:solidFill>
              </a:rPr>
              <a:t>Т</a:t>
            </a:r>
            <a:r>
              <a:rPr lang="bg-BG" baseline="-25000" dirty="0">
                <a:solidFill>
                  <a:srgbClr val="FF0000"/>
                </a:solidFill>
              </a:rPr>
              <a:t>2</a:t>
            </a:r>
            <a:r>
              <a:rPr lang="bg-BG" dirty="0">
                <a:solidFill>
                  <a:srgbClr val="FF0000"/>
                </a:solidFill>
              </a:rPr>
              <a:t> </a:t>
            </a:r>
            <a:r>
              <a:rPr lang="bg-BG" dirty="0"/>
              <a:t>&gt;</a:t>
            </a:r>
            <a:r>
              <a:rPr lang="bg-BG" dirty="0">
                <a:solidFill>
                  <a:srgbClr val="FF0000"/>
                </a:solidFill>
              </a:rPr>
              <a:t> </a:t>
            </a:r>
            <a:r>
              <a:rPr lang="bg-BG" i="1" dirty="0">
                <a:solidFill>
                  <a:schemeClr val="accent2"/>
                </a:solidFill>
              </a:rPr>
              <a:t>Т</a:t>
            </a:r>
            <a:r>
              <a:rPr lang="bg-BG" baseline="-25000" dirty="0">
                <a:solidFill>
                  <a:schemeClr val="accent2"/>
                </a:solidFill>
              </a:rPr>
              <a:t>1</a:t>
            </a:r>
            <a:endParaRPr lang="en-US" baseline="-25000" dirty="0">
              <a:solidFill>
                <a:schemeClr val="accent2"/>
              </a:solidFill>
            </a:endParaRPr>
          </a:p>
        </p:txBody>
      </p:sp>
      <p:sp>
        <p:nvSpPr>
          <p:cNvPr id="29" name="Oval 14"/>
          <p:cNvSpPr>
            <a:spLocks noChangeArrowheads="1"/>
          </p:cNvSpPr>
          <p:nvPr/>
        </p:nvSpPr>
        <p:spPr bwMode="auto">
          <a:xfrm>
            <a:off x="2969406" y="3148347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14"/>
          <p:cNvSpPr>
            <a:spLocks noChangeArrowheads="1"/>
          </p:cNvSpPr>
          <p:nvPr/>
        </p:nvSpPr>
        <p:spPr bwMode="auto">
          <a:xfrm>
            <a:off x="3127352" y="3500692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Oval 14"/>
          <p:cNvSpPr>
            <a:spLocks noChangeArrowheads="1"/>
          </p:cNvSpPr>
          <p:nvPr/>
        </p:nvSpPr>
        <p:spPr bwMode="auto">
          <a:xfrm>
            <a:off x="2187104" y="2343222"/>
            <a:ext cx="88900" cy="889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10B01D80-496C-4680-B70E-298219471E42}"/>
              </a:ext>
            </a:extLst>
          </p:cNvPr>
          <p:cNvSpPr txBox="1">
            <a:spLocks noChangeArrowheads="1"/>
          </p:cNvSpPr>
          <p:nvPr/>
        </p:nvSpPr>
        <p:spPr>
          <a:xfrm>
            <a:off x="-28427" y="-27384"/>
            <a:ext cx="9148763" cy="4349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2400" dirty="0">
                <a:solidFill>
                  <a:schemeClr val="accent2"/>
                </a:solidFill>
                <a:latin typeface="Arial Narrow" panose="020B0606020202030204" pitchFamily="34" charset="0"/>
              </a:rPr>
              <a:t>Област на безопасна работа</a:t>
            </a:r>
            <a:r>
              <a:rPr lang="en-US" sz="2400" dirty="0">
                <a:solidFill>
                  <a:schemeClr val="accent2"/>
                </a:solidFill>
                <a:latin typeface="Arial Narrow" panose="020B0606020202030204" pitchFamily="34" charset="0"/>
              </a:rPr>
              <a:t> (Safe operating area)</a:t>
            </a:r>
            <a:endParaRPr lang="bg-BG" sz="2400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C1F02-EBC6-4F37-818F-2D8C1E64C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436" y="1023862"/>
            <a:ext cx="4302532" cy="40521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B44819F-CF23-414D-A801-BD377049FCD6}"/>
              </a:ext>
            </a:extLst>
          </p:cNvPr>
          <p:cNvSpPr txBox="1"/>
          <p:nvPr/>
        </p:nvSpPr>
        <p:spPr>
          <a:xfrm>
            <a:off x="11393383" y="6581001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JFP5027</a:t>
            </a:r>
          </a:p>
        </p:txBody>
      </p:sp>
    </p:spTree>
    <p:extLst>
      <p:ext uri="{BB962C8B-B14F-4D97-AF65-F5344CB8AC3E}">
        <p14:creationId xmlns:p14="http://schemas.microsoft.com/office/powerpoint/2010/main" val="346341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356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Display</vt:lpstr>
      <vt:lpstr>Arial</vt:lpstr>
      <vt:lpstr>Arial Narrow</vt:lpstr>
      <vt:lpstr>Calibri Light</vt:lpstr>
      <vt:lpstr>Swiss721-BlackSWA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Vassiliy Tchoumatchenko</dc:creator>
  <cp:lastModifiedBy>Vassiliy Tchoumatchenko</cp:lastModifiedBy>
  <cp:revision>4</cp:revision>
  <dcterms:created xsi:type="dcterms:W3CDTF">2025-10-27T17:36:55Z</dcterms:created>
  <dcterms:modified xsi:type="dcterms:W3CDTF">2025-11-25T06:28:21Z</dcterms:modified>
</cp:coreProperties>
</file>