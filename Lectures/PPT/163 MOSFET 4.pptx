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40" r:id="rId2"/>
    <p:sldId id="345" r:id="rId3"/>
    <p:sldId id="414" r:id="rId4"/>
    <p:sldId id="415" r:id="rId5"/>
    <p:sldId id="416" r:id="rId6"/>
    <p:sldId id="417" r:id="rId7"/>
    <p:sldId id="394" r:id="rId8"/>
    <p:sldId id="418" r:id="rId9"/>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8" autoAdjust="0"/>
    <p:restoredTop sz="83632" autoAdjust="0"/>
  </p:normalViewPr>
  <p:slideViewPr>
    <p:cSldViewPr snapToGrid="0">
      <p:cViewPr varScale="1">
        <p:scale>
          <a:sx n="135" d="100"/>
          <a:sy n="135"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724AB-2C2F-4935-B67B-5A68DF43EAFA}" type="datetimeFigureOut">
              <a:rPr lang="bg-BG" smtClean="0"/>
              <a:t>1.12.2025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9544D-D715-40D7-BC31-F8A346D97C74}" type="slidenum">
              <a:rPr lang="bg-BG" smtClean="0"/>
              <a:t>‹#›</a:t>
            </a:fld>
            <a:endParaRPr lang="bg-BG"/>
          </a:p>
        </p:txBody>
      </p:sp>
    </p:spTree>
    <p:extLst>
      <p:ext uri="{BB962C8B-B14F-4D97-AF65-F5344CB8AC3E}">
        <p14:creationId xmlns:p14="http://schemas.microsoft.com/office/powerpoint/2010/main" val="382513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bg-BG" dirty="0"/>
          </a:p>
        </p:txBody>
      </p:sp>
      <p:sp>
        <p:nvSpPr>
          <p:cNvPr id="4" name="Slide Number Placeholder 3"/>
          <p:cNvSpPr>
            <a:spLocks noGrp="1"/>
          </p:cNvSpPr>
          <p:nvPr>
            <p:ph type="sldNum" sz="quarter" idx="5"/>
          </p:nvPr>
        </p:nvSpPr>
        <p:spPr/>
        <p:txBody>
          <a:bodyPr/>
          <a:lstStyle/>
          <a:p>
            <a:fld id="{B429544D-D715-40D7-BC31-F8A346D97C74}" type="slidenum">
              <a:rPr lang="bg-BG" smtClean="0"/>
              <a:t>2</a:t>
            </a:fld>
            <a:endParaRPr lang="bg-BG"/>
          </a:p>
        </p:txBody>
      </p:sp>
    </p:spTree>
    <p:extLst>
      <p:ext uri="{BB962C8B-B14F-4D97-AF65-F5344CB8AC3E}">
        <p14:creationId xmlns:p14="http://schemas.microsoft.com/office/powerpoint/2010/main" val="3108684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1E16-FB98-B19C-6EFC-988FC5CAB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6E32F-75DF-697A-A079-9F84C6A5E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00AC3-AE0C-4095-D21E-A6B3A84CFA69}"/>
              </a:ext>
            </a:extLst>
          </p:cNvPr>
          <p:cNvSpPr>
            <a:spLocks noGrp="1"/>
          </p:cNvSpPr>
          <p:nvPr>
            <p:ph type="body" idx="1"/>
          </p:nvPr>
        </p:nvSpPr>
        <p:spPr/>
        <p:txBody>
          <a:bodyPr/>
          <a:lstStyle/>
          <a:p>
            <a:r>
              <a:rPr lang="ru-RU" sz="1200" b="0" i="0" u="none" strike="noStrike" kern="1200" dirty="0">
                <a:solidFill>
                  <a:schemeClr val="tx1"/>
                </a:solidFill>
                <a:effectLst/>
                <a:latin typeface="+mn-lt"/>
                <a:ea typeface="+mn-ea"/>
                <a:cs typeface="+mn-cs"/>
              </a:rPr>
              <a:t>Цел: Студентите ще могат да обяснят необходимостта от диод със свободен ход при превключване на индуктивни товари, да интерпретират кривата на безопасната работна зона (SOA) на MOSFET и да разберат основната работа и значението на CMOS инвертора.</a:t>
            </a:r>
            <a:endParaRPr lang="bg-BG" b="0" dirty="0"/>
          </a:p>
        </p:txBody>
      </p:sp>
      <p:sp>
        <p:nvSpPr>
          <p:cNvPr id="4" name="Slide Number Placeholder 3">
            <a:extLst>
              <a:ext uri="{FF2B5EF4-FFF2-40B4-BE49-F238E27FC236}">
                <a16:creationId xmlns:a16="http://schemas.microsoft.com/office/drawing/2014/main" id="{B66FB717-2881-00E4-36AD-E417FD7AB087}"/>
              </a:ext>
            </a:extLst>
          </p:cNvPr>
          <p:cNvSpPr>
            <a:spLocks noGrp="1"/>
          </p:cNvSpPr>
          <p:nvPr>
            <p:ph type="sldNum" sz="quarter" idx="5"/>
          </p:nvPr>
        </p:nvSpPr>
        <p:spPr/>
        <p:txBody>
          <a:bodyPr/>
          <a:lstStyle/>
          <a:p>
            <a:fld id="{B429544D-D715-40D7-BC31-F8A346D97C74}" type="slidenum">
              <a:rPr lang="bg-BG" smtClean="0"/>
              <a:t>3</a:t>
            </a:fld>
            <a:endParaRPr lang="bg-BG"/>
          </a:p>
        </p:txBody>
      </p:sp>
    </p:spTree>
    <p:extLst>
      <p:ext uri="{BB962C8B-B14F-4D97-AF65-F5344CB8AC3E}">
        <p14:creationId xmlns:p14="http://schemas.microsoft.com/office/powerpoint/2010/main" val="496168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627BD-63C7-7B56-1064-5F145E568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753E8-C9AA-1F25-1F1F-9AB1F2B45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A03C9-BE65-4D1B-D02F-C57CDD14EC7B}"/>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F5ABA728-5715-8032-C8F1-BC9C0362828A}"/>
              </a:ext>
            </a:extLst>
          </p:cNvPr>
          <p:cNvSpPr>
            <a:spLocks noGrp="1"/>
          </p:cNvSpPr>
          <p:nvPr>
            <p:ph type="sldNum" sz="quarter" idx="5"/>
          </p:nvPr>
        </p:nvSpPr>
        <p:spPr/>
        <p:txBody>
          <a:bodyPr/>
          <a:lstStyle/>
          <a:p>
            <a:fld id="{B429544D-D715-40D7-BC31-F8A346D97C74}" type="slidenum">
              <a:rPr lang="bg-BG" smtClean="0"/>
              <a:t>4</a:t>
            </a:fld>
            <a:endParaRPr lang="bg-BG"/>
          </a:p>
        </p:txBody>
      </p:sp>
    </p:spTree>
    <p:extLst>
      <p:ext uri="{BB962C8B-B14F-4D97-AF65-F5344CB8AC3E}">
        <p14:creationId xmlns:p14="http://schemas.microsoft.com/office/powerpoint/2010/main" val="343052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bg-BG" sz="1800" b="0" i="0" u="none" strike="noStrike" baseline="0" dirty="0">
              <a:solidFill>
                <a:srgbClr val="000000"/>
              </a:solidFill>
              <a:latin typeface="ArialMT"/>
            </a:endParaRPr>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7</a:t>
            </a:fld>
            <a:endParaRPr lang="en-US"/>
          </a:p>
        </p:txBody>
      </p:sp>
    </p:spTree>
    <p:extLst>
      <p:ext uri="{BB962C8B-B14F-4D97-AF65-F5344CB8AC3E}">
        <p14:creationId xmlns:p14="http://schemas.microsoft.com/office/powerpoint/2010/main" val="494754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9599-7FFB-A5CD-F5A0-4B14D9EA2A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a:extLst>
              <a:ext uri="{FF2B5EF4-FFF2-40B4-BE49-F238E27FC236}">
                <a16:creationId xmlns:a16="http://schemas.microsoft.com/office/drawing/2014/main" id="{F14944AC-E81C-DE01-E4DE-72466CBF7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a:extLst>
              <a:ext uri="{FF2B5EF4-FFF2-40B4-BE49-F238E27FC236}">
                <a16:creationId xmlns:a16="http://schemas.microsoft.com/office/drawing/2014/main" id="{A0C57B20-B467-57F5-9F67-152A323D5705}"/>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47094D2-25B1-2A7B-9327-8599CF6C3C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1856DF86-F233-C32F-F538-5F94BBC9390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9141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E186-F073-1F09-54A5-6643FC244EB2}"/>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682FAB8C-0862-1891-8AFA-38E2CEF06A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DA7D224B-9AC9-7C18-2E81-D7509F9E093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94D9A89-2168-B50A-CAC0-A33F917932A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ECC2A00E-38FD-55AE-D4D7-70DE8DB41329}"/>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47400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591C-1B96-3004-D104-25000ADC35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a:extLst>
              <a:ext uri="{FF2B5EF4-FFF2-40B4-BE49-F238E27FC236}">
                <a16:creationId xmlns:a16="http://schemas.microsoft.com/office/drawing/2014/main" id="{0A8591C5-8C15-4A83-B39E-B227FD6D4D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C21969-BA5B-1AF9-052F-40F78C7BF75E}"/>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6D59936E-E58D-EB0F-2A4C-429A8E14469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6D9D855-50F8-FE97-8787-1F443A83ACDF}"/>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93362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5E9A-ECC2-8B14-64E7-C6E115992253}"/>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99852DCB-936E-A8FB-3A7D-45C55C510D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a:extLst>
              <a:ext uri="{FF2B5EF4-FFF2-40B4-BE49-F238E27FC236}">
                <a16:creationId xmlns:a16="http://schemas.microsoft.com/office/drawing/2014/main" id="{F3317A36-52A1-7E75-07EE-12699A23A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a:extLst>
              <a:ext uri="{FF2B5EF4-FFF2-40B4-BE49-F238E27FC236}">
                <a16:creationId xmlns:a16="http://schemas.microsoft.com/office/drawing/2014/main" id="{C4F286D2-8508-F054-30AF-18E5C61C9AB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82051910-1D25-0F6F-E2C0-C4F261E638AC}"/>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647182CD-4198-FA54-4C49-CFB64BD785B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4853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3CC3-1242-3126-9493-34BA7F54EAAD}"/>
              </a:ext>
            </a:extLst>
          </p:cNvPr>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a:extLst>
              <a:ext uri="{FF2B5EF4-FFF2-40B4-BE49-F238E27FC236}">
                <a16:creationId xmlns:a16="http://schemas.microsoft.com/office/drawing/2014/main" id="{5D4917A5-8E8D-5075-E81E-30AF1B90E5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3E8040-E8CD-4ED8-F307-B8F87DCE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a:extLst>
              <a:ext uri="{FF2B5EF4-FFF2-40B4-BE49-F238E27FC236}">
                <a16:creationId xmlns:a16="http://schemas.microsoft.com/office/drawing/2014/main" id="{64484509-F3E9-CC25-D786-33A92A124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C10748-0178-E873-EFF0-CE21974AB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a:extLst>
              <a:ext uri="{FF2B5EF4-FFF2-40B4-BE49-F238E27FC236}">
                <a16:creationId xmlns:a16="http://schemas.microsoft.com/office/drawing/2014/main" id="{95D1CBD4-1041-6E34-7CDC-BCFFC0FD963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8" name="Footer Placeholder 7">
            <a:extLst>
              <a:ext uri="{FF2B5EF4-FFF2-40B4-BE49-F238E27FC236}">
                <a16:creationId xmlns:a16="http://schemas.microsoft.com/office/drawing/2014/main" id="{5F43C420-F425-355F-CF8E-3F2BA26D14F1}"/>
              </a:ext>
            </a:extLst>
          </p:cNvPr>
          <p:cNvSpPr>
            <a:spLocks noGrp="1"/>
          </p:cNvSpPr>
          <p:nvPr>
            <p:ph type="ftr" sz="quarter" idx="11"/>
          </p:nvPr>
        </p:nvSpPr>
        <p:spPr/>
        <p:txBody>
          <a:bodyPr/>
          <a:lstStyle/>
          <a:p>
            <a:endParaRPr lang="bg-BG"/>
          </a:p>
        </p:txBody>
      </p:sp>
      <p:sp>
        <p:nvSpPr>
          <p:cNvPr id="9" name="Slide Number Placeholder 8">
            <a:extLst>
              <a:ext uri="{FF2B5EF4-FFF2-40B4-BE49-F238E27FC236}">
                <a16:creationId xmlns:a16="http://schemas.microsoft.com/office/drawing/2014/main" id="{FB555219-48B2-2357-F0F1-E4B1C113A97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9516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2A36-0CC2-35CD-A339-1FA1B6EA5E9B}"/>
              </a:ext>
            </a:extLst>
          </p:cNvPr>
          <p:cNvSpPr>
            <a:spLocks noGrp="1"/>
          </p:cNvSpPr>
          <p:nvPr>
            <p:ph type="title"/>
          </p:nvPr>
        </p:nvSpPr>
        <p:spPr/>
        <p:txBody>
          <a:bodyPr/>
          <a:lstStyle/>
          <a:p>
            <a:r>
              <a:rPr lang="en-US"/>
              <a:t>Click to edit Master title style</a:t>
            </a:r>
            <a:endParaRPr lang="bg-BG"/>
          </a:p>
        </p:txBody>
      </p:sp>
      <p:sp>
        <p:nvSpPr>
          <p:cNvPr id="3" name="Date Placeholder 2">
            <a:extLst>
              <a:ext uri="{FF2B5EF4-FFF2-40B4-BE49-F238E27FC236}">
                <a16:creationId xmlns:a16="http://schemas.microsoft.com/office/drawing/2014/main" id="{B91DCC87-BCFD-F4A2-B7A8-ACC2EDF35DBA}"/>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4" name="Footer Placeholder 3">
            <a:extLst>
              <a:ext uri="{FF2B5EF4-FFF2-40B4-BE49-F238E27FC236}">
                <a16:creationId xmlns:a16="http://schemas.microsoft.com/office/drawing/2014/main" id="{287FCDA2-B92F-DE75-434E-688A454F5721}"/>
              </a:ext>
            </a:extLst>
          </p:cNvPr>
          <p:cNvSpPr>
            <a:spLocks noGrp="1"/>
          </p:cNvSpPr>
          <p:nvPr>
            <p:ph type="ftr" sz="quarter" idx="11"/>
          </p:nvPr>
        </p:nvSpPr>
        <p:spPr/>
        <p:txBody>
          <a:bodyPr/>
          <a:lstStyle/>
          <a:p>
            <a:endParaRPr lang="bg-BG"/>
          </a:p>
        </p:txBody>
      </p:sp>
      <p:sp>
        <p:nvSpPr>
          <p:cNvPr id="5" name="Slide Number Placeholder 4">
            <a:extLst>
              <a:ext uri="{FF2B5EF4-FFF2-40B4-BE49-F238E27FC236}">
                <a16:creationId xmlns:a16="http://schemas.microsoft.com/office/drawing/2014/main" id="{82A5E2D3-1B2A-8626-ED16-CC0A1ED8F61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3617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4CC47-1386-DE7B-75E4-F58FEF3B07B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3" name="Footer Placeholder 2">
            <a:extLst>
              <a:ext uri="{FF2B5EF4-FFF2-40B4-BE49-F238E27FC236}">
                <a16:creationId xmlns:a16="http://schemas.microsoft.com/office/drawing/2014/main" id="{3CE0560C-6146-8D2E-08C6-5765D08C4726}"/>
              </a:ext>
            </a:extLst>
          </p:cNvPr>
          <p:cNvSpPr>
            <a:spLocks noGrp="1"/>
          </p:cNvSpPr>
          <p:nvPr>
            <p:ph type="ftr" sz="quarter" idx="11"/>
          </p:nvPr>
        </p:nvSpPr>
        <p:spPr/>
        <p:txBody>
          <a:bodyPr/>
          <a:lstStyle/>
          <a:p>
            <a:endParaRPr lang="bg-BG"/>
          </a:p>
        </p:txBody>
      </p:sp>
      <p:sp>
        <p:nvSpPr>
          <p:cNvPr id="4" name="Slide Number Placeholder 3">
            <a:extLst>
              <a:ext uri="{FF2B5EF4-FFF2-40B4-BE49-F238E27FC236}">
                <a16:creationId xmlns:a16="http://schemas.microsoft.com/office/drawing/2014/main" id="{6FA8EF57-8134-795A-1E19-C64BC0C6079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026469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8096-1102-A25E-32B1-B01622848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a:extLst>
              <a:ext uri="{FF2B5EF4-FFF2-40B4-BE49-F238E27FC236}">
                <a16:creationId xmlns:a16="http://schemas.microsoft.com/office/drawing/2014/main" id="{CCA53F3C-E02E-9870-26D7-76E7752F6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a:extLst>
              <a:ext uri="{FF2B5EF4-FFF2-40B4-BE49-F238E27FC236}">
                <a16:creationId xmlns:a16="http://schemas.microsoft.com/office/drawing/2014/main" id="{62E901BD-08A3-2128-31F0-6D9E7A210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949FB-69C3-5AA3-6E1F-C9F52882A680}"/>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586ECD44-CD55-E343-8E47-3572168DD708}"/>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BD3E4E46-D0D4-7B70-BFA1-5C74AD503D6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9434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F118-1134-A79D-B065-6C8E30CA1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a:extLst>
              <a:ext uri="{FF2B5EF4-FFF2-40B4-BE49-F238E27FC236}">
                <a16:creationId xmlns:a16="http://schemas.microsoft.com/office/drawing/2014/main" id="{1DBBB2FD-7F7E-007F-D4C4-3BFF78F91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a:extLst>
              <a:ext uri="{FF2B5EF4-FFF2-40B4-BE49-F238E27FC236}">
                <a16:creationId xmlns:a16="http://schemas.microsoft.com/office/drawing/2014/main" id="{7F482957-A807-30F6-F7D4-9D6FD0A62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7903C-4621-D169-4D26-EC0B09D5EB08}"/>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789531F8-5F64-52B1-2D5D-F622CE79C2EB}"/>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2CA08BDB-094C-56CA-8089-F68CD5B3B42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4489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DA17-D5CC-781B-2E0B-A74E7B64C21C}"/>
              </a:ext>
            </a:extLst>
          </p:cNvPr>
          <p:cNvSpPr>
            <a:spLocks noGrp="1"/>
          </p:cNvSpPr>
          <p:nvPr>
            <p:ph type="title"/>
          </p:nvPr>
        </p:nvSpPr>
        <p:spPr/>
        <p:txBody>
          <a:bodyPr/>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49B14EB5-9F27-FE98-04A5-54237AE926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0B0CD1D7-AACB-FCA4-EFA9-A60984C8E07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33F5F7C8-5DA2-09DF-DA42-302C035B47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A202C54-F5EF-62E5-28E1-082554B3896E}"/>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53519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EA93D6-85C1-89A3-4486-9B9376B72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5CB3E985-E40F-C71E-C8EA-E8F2A0EDF0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6ED3872F-C295-04D7-86CF-463884713DE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01E456C-10FE-0060-63E1-632AA2A10049}"/>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519FEC20-6A53-22A7-BC04-C1B09AC70935}"/>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691388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072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76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C0663B-A1F4-B046-3D7D-37C8563A4A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a:extLst>
              <a:ext uri="{FF2B5EF4-FFF2-40B4-BE49-F238E27FC236}">
                <a16:creationId xmlns:a16="http://schemas.microsoft.com/office/drawing/2014/main" id="{156E7252-316D-9AD5-007E-7EEC2D4EF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5F8D6571-82CF-FD0C-641E-F171E706C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2F82626-FDDF-2080-1BB8-7113BFF98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bg-BG"/>
          </a:p>
        </p:txBody>
      </p:sp>
      <p:sp>
        <p:nvSpPr>
          <p:cNvPr id="6" name="Slide Number Placeholder 5">
            <a:extLst>
              <a:ext uri="{FF2B5EF4-FFF2-40B4-BE49-F238E27FC236}">
                <a16:creationId xmlns:a16="http://schemas.microsoft.com/office/drawing/2014/main" id="{03807C58-44CB-09DA-C2C1-6265C5227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861DE-F4EC-4562-8E30-41C286D1D3C4}" type="slidenum">
              <a:rPr lang="bg-BG" smtClean="0"/>
              <a:t>‹#›</a:t>
            </a:fld>
            <a:endParaRPr lang="bg-BG"/>
          </a:p>
        </p:txBody>
      </p:sp>
    </p:spTree>
    <p:extLst>
      <p:ext uri="{BB962C8B-B14F-4D97-AF65-F5344CB8AC3E}">
        <p14:creationId xmlns:p14="http://schemas.microsoft.com/office/powerpoint/2010/main" val="4204640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2"/>
          <p:cNvSpPr/>
          <p:nvPr/>
        </p:nvSpPr>
        <p:spPr>
          <a:xfrm>
            <a:off x="655454" y="5013000"/>
            <a:ext cx="9544425" cy="10796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a:lnSpc>
                <a:spcPct val="90000"/>
              </a:lnSpc>
              <a:spcAft>
                <a:spcPts val="601"/>
              </a:spcAft>
            </a:pPr>
            <a:r>
              <a:rPr lang="bg-BG" sz="3200" spc="-1" dirty="0">
                <a:solidFill>
                  <a:srgbClr val="0038A8"/>
                </a:solidFill>
                <a:latin typeface="+mj-lt"/>
              </a:rPr>
              <a:t>Полеви транзистор</a:t>
            </a:r>
          </a:p>
          <a:p>
            <a:pPr>
              <a:lnSpc>
                <a:spcPct val="90000"/>
              </a:lnSpc>
              <a:spcAft>
                <a:spcPts val="601"/>
              </a:spcAft>
            </a:pPr>
            <a:r>
              <a:rPr lang="en-US" sz="3200" spc="-1" dirty="0">
                <a:solidFill>
                  <a:srgbClr val="0038A8"/>
                </a:solidFill>
                <a:latin typeface="+mj-lt"/>
              </a:rPr>
              <a:t>MOSFET - metal-oxide-semiconductor field-effect transistor</a:t>
            </a:r>
            <a:endParaRPr lang="ru-RU" sz="3200" b="0" strike="noStrike" spc="-1" dirty="0">
              <a:solidFill>
                <a:srgbClr val="0038A8"/>
              </a:solidFill>
              <a:latin typeface="+mj-lt"/>
            </a:endParaRPr>
          </a:p>
        </p:txBody>
      </p:sp>
      <p:pic>
        <p:nvPicPr>
          <p:cNvPr id="115" name="Picture 4"/>
          <p:cNvPicPr/>
          <p:nvPr/>
        </p:nvPicPr>
        <p:blipFill>
          <a:blip r:embed="rId2"/>
          <a:stretch/>
        </p:blipFill>
        <p:spPr>
          <a:xfrm>
            <a:off x="551520" y="275760"/>
            <a:ext cx="904680" cy="9140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6DAF93-7A92-5F2A-FFD1-2DE3F39293E9}"/>
              </a:ext>
            </a:extLst>
          </p:cNvPr>
          <p:cNvSpPr txBox="1"/>
          <p:nvPr/>
        </p:nvSpPr>
        <p:spPr>
          <a:xfrm>
            <a:off x="234265" y="2865519"/>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Тема: </a:t>
            </a:r>
            <a:r>
              <a:rPr lang="ru-RU" sz="2400" dirty="0">
                <a:solidFill>
                  <a:srgbClr val="0038A8"/>
                </a:solidFill>
                <a:latin typeface="+mj-lt"/>
                <a:cs typeface="Arial" panose="020B0604020202020204" pitchFamily="34" charset="0"/>
              </a:rPr>
              <a:t>MOSFET-и в действие - опасности и възможности</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3046515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12EA-E6C9-AB06-5AEA-278799926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F5EFEE-8002-5C69-2C8A-A91424F9A105}"/>
              </a:ext>
            </a:extLst>
          </p:cNvPr>
          <p:cNvSpPr txBox="1"/>
          <p:nvPr/>
        </p:nvSpPr>
        <p:spPr>
          <a:xfrm>
            <a:off x="534076" y="1711465"/>
            <a:ext cx="10618792" cy="1600438"/>
          </a:xfrm>
          <a:prstGeom prst="rect">
            <a:avLst/>
          </a:prstGeom>
          <a:noFill/>
        </p:spPr>
        <p:txBody>
          <a:bodyPr wrap="square" rtlCol="0">
            <a:spAutoFit/>
          </a:bodyPr>
          <a:lstStyle/>
          <a:p>
            <a:pPr fontAlgn="base"/>
            <a:r>
              <a:rPr lang="ru-RU" sz="1400" dirty="0"/>
              <a:t>Досега всички наши примери използваха резистивни товари. Но в реалния свят на силовата електроника най-често срещаните товари не са резистори. Те са двигатели, соленоиди, релета и намотките на захранващи трансформатори. Какво е общото между всички тях? Те са притежават индуктивност.</a:t>
            </a:r>
          </a:p>
          <a:p>
            <a:pPr fontAlgn="base"/>
            <a:endParaRPr lang="ru-RU" sz="1400" dirty="0"/>
          </a:p>
          <a:p>
            <a:pPr fontAlgn="base"/>
            <a:r>
              <a:rPr lang="ru-RU" sz="1400" dirty="0"/>
              <a:t>Проблемът: Превключването на индуктивност е коренно различно и много по-опасно от превключването на резистор. Индуктивността съхранява енергия в магнитно поле и ще устои на всеки опит за внезапна промяна на тока, протичащ през него. Това съпротивление приема формата на мощен пик на напрежение.</a:t>
            </a:r>
            <a:endParaRPr lang="en-US" sz="1400" dirty="0"/>
          </a:p>
        </p:txBody>
      </p:sp>
    </p:spTree>
    <p:extLst>
      <p:ext uri="{BB962C8B-B14F-4D97-AF65-F5344CB8AC3E}">
        <p14:creationId xmlns:p14="http://schemas.microsoft.com/office/powerpoint/2010/main" val="123057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732EE-1B4D-F95A-FE3F-CCD9E0821CA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337F446-1938-179C-047D-0C40395C3489}"/>
              </a:ext>
            </a:extLst>
          </p:cNvPr>
          <p:cNvPicPr>
            <a:picLocks noChangeAspect="1"/>
          </p:cNvPicPr>
          <p:nvPr/>
        </p:nvPicPr>
        <p:blipFill>
          <a:blip r:embed="rId3"/>
          <a:stretch>
            <a:fillRect/>
          </a:stretch>
        </p:blipFill>
        <p:spPr>
          <a:xfrm>
            <a:off x="4087066" y="971043"/>
            <a:ext cx="3416863" cy="2936411"/>
          </a:xfrm>
          <a:prstGeom prst="rect">
            <a:avLst/>
          </a:prstGeom>
        </p:spPr>
      </p:pic>
      <p:sp>
        <p:nvSpPr>
          <p:cNvPr id="2" name="TextBox 1">
            <a:extLst>
              <a:ext uri="{FF2B5EF4-FFF2-40B4-BE49-F238E27FC236}">
                <a16:creationId xmlns:a16="http://schemas.microsoft.com/office/drawing/2014/main" id="{90724A99-3914-907C-128B-257A218017F5}"/>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Предизвикателството: Превключване на индуктивни товари</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F172CEA3-8919-C232-8027-EB7A4F91CA96}"/>
              </a:ext>
            </a:extLst>
          </p:cNvPr>
          <p:cNvSpPr txBox="1"/>
          <p:nvPr/>
        </p:nvSpPr>
        <p:spPr>
          <a:xfrm>
            <a:off x="436971" y="1043873"/>
            <a:ext cx="4482987" cy="2246769"/>
          </a:xfrm>
          <a:prstGeom prst="rect">
            <a:avLst/>
          </a:prstGeom>
          <a:noFill/>
        </p:spPr>
        <p:txBody>
          <a:bodyPr wrap="square" rtlCol="0">
            <a:spAutoFit/>
          </a:bodyPr>
          <a:lstStyle/>
          <a:p>
            <a:pPr fontAlgn="base"/>
            <a:r>
              <a:rPr lang="ru-RU" sz="1400" dirty="0"/>
              <a:t>Нека разгледаме </a:t>
            </a:r>
            <a:r>
              <a:rPr lang="en-US" sz="1400" dirty="0"/>
              <a:t>MOSFET </a:t>
            </a:r>
            <a:r>
              <a:rPr lang="bg-BG" sz="1400" dirty="0"/>
              <a:t>ключ с индуктивен товар</a:t>
            </a:r>
            <a:r>
              <a:rPr lang="ru-RU" sz="1400" dirty="0"/>
              <a:t>.</a:t>
            </a:r>
          </a:p>
          <a:p>
            <a:pPr fontAlgn="base"/>
            <a:endParaRPr lang="ru-RU" sz="1400" dirty="0"/>
          </a:p>
          <a:p>
            <a:pPr fontAlgn="base"/>
            <a:r>
              <a:rPr lang="ru-RU" sz="1400" dirty="0"/>
              <a:t>Когато MOSFET е включен, токът протича постоянно през индуктивността </a:t>
            </a:r>
            <a:r>
              <a:rPr lang="en-US" sz="1400" dirty="0"/>
              <a:t>L1</a:t>
            </a:r>
            <a:r>
              <a:rPr lang="ru-RU" sz="1400" dirty="0"/>
              <a:t>. </a:t>
            </a:r>
          </a:p>
          <a:p>
            <a:pPr fontAlgn="base"/>
            <a:endParaRPr lang="ru-RU" sz="1400" dirty="0"/>
          </a:p>
          <a:p>
            <a:pPr fontAlgn="base"/>
            <a:r>
              <a:rPr lang="ru-RU" sz="1400" dirty="0"/>
              <a:t>Когато внезапно изключим MOSFET-а, </a:t>
            </a:r>
            <a:r>
              <a:rPr lang="bg-BG" sz="1400" dirty="0"/>
              <a:t>ние </a:t>
            </a:r>
            <a:r>
              <a:rPr lang="ru-RU" sz="1400" dirty="0"/>
              <a:t>се опитваме да принудим тока на индуктивността да спадне до нула мигновено. </a:t>
            </a:r>
            <a:endParaRPr lang="en-US" sz="1400" dirty="0"/>
          </a:p>
          <a:p>
            <a:pPr fontAlgn="base"/>
            <a:endParaRPr lang="en-US" sz="1400" dirty="0"/>
          </a:p>
          <a:p>
            <a:pPr fontAlgn="base"/>
            <a:endParaRPr lang="ru-RU" sz="1400" dirty="0"/>
          </a:p>
        </p:txBody>
      </p:sp>
      <p:pic>
        <p:nvPicPr>
          <p:cNvPr id="8" name="Picture 7">
            <a:extLst>
              <a:ext uri="{FF2B5EF4-FFF2-40B4-BE49-F238E27FC236}">
                <a16:creationId xmlns:a16="http://schemas.microsoft.com/office/drawing/2014/main" id="{4157BE3C-60AC-2A27-3289-0171990B7DCB}"/>
              </a:ext>
            </a:extLst>
          </p:cNvPr>
          <p:cNvPicPr>
            <a:picLocks noChangeAspect="1"/>
          </p:cNvPicPr>
          <p:nvPr/>
        </p:nvPicPr>
        <p:blipFill>
          <a:blip r:embed="rId4"/>
          <a:stretch>
            <a:fillRect/>
          </a:stretch>
        </p:blipFill>
        <p:spPr>
          <a:xfrm>
            <a:off x="8188890" y="971043"/>
            <a:ext cx="3730678" cy="5578948"/>
          </a:xfrm>
          <a:prstGeom prst="rect">
            <a:avLst/>
          </a:prstGeom>
        </p:spPr>
      </p:pic>
      <p:sp>
        <p:nvSpPr>
          <p:cNvPr id="13" name="TextBox 12">
            <a:extLst>
              <a:ext uri="{FF2B5EF4-FFF2-40B4-BE49-F238E27FC236}">
                <a16:creationId xmlns:a16="http://schemas.microsoft.com/office/drawing/2014/main" id="{82951329-047D-562C-91EC-047F30A3DD1A}"/>
              </a:ext>
            </a:extLst>
          </p:cNvPr>
          <p:cNvSpPr txBox="1"/>
          <p:nvPr/>
        </p:nvSpPr>
        <p:spPr>
          <a:xfrm>
            <a:off x="326716" y="4065132"/>
            <a:ext cx="7935252" cy="2462213"/>
          </a:xfrm>
          <a:prstGeom prst="rect">
            <a:avLst/>
          </a:prstGeom>
          <a:noFill/>
        </p:spPr>
        <p:txBody>
          <a:bodyPr wrap="square">
            <a:spAutoFit/>
          </a:bodyPr>
          <a:lstStyle/>
          <a:p>
            <a:pPr fontAlgn="base"/>
            <a:r>
              <a:rPr lang="ru-RU" sz="1400" dirty="0"/>
              <a:t>Индуктивността реагира, като създава пик на напрежение съгласно закона: </a:t>
            </a:r>
          </a:p>
          <a:p>
            <a:pPr fontAlgn="base"/>
            <a:endParaRPr lang="ru-RU" sz="1400" dirty="0"/>
          </a:p>
          <a:p>
            <a:pPr fontAlgn="base"/>
            <a:r>
              <a:rPr lang="ru-RU" sz="1400" dirty="0"/>
              <a:t>	</a:t>
            </a:r>
            <a:r>
              <a:rPr lang="en-US" sz="1400" dirty="0">
                <a:latin typeface="Consolas" panose="020B0609020204030204" pitchFamily="49" charset="0"/>
              </a:rPr>
              <a:t>U</a:t>
            </a:r>
            <a:r>
              <a:rPr lang="ru-RU" sz="1400" dirty="0">
                <a:latin typeface="Consolas" panose="020B0609020204030204" pitchFamily="49" charset="0"/>
              </a:rPr>
              <a:t> = -L * (di/dt)</a:t>
            </a:r>
          </a:p>
          <a:p>
            <a:pPr fontAlgn="base"/>
            <a:endParaRPr lang="ru-RU" sz="1400" dirty="0"/>
          </a:p>
          <a:p>
            <a:pPr fontAlgn="base"/>
            <a:r>
              <a:rPr lang="en-US" sz="1400" dirty="0"/>
              <a:t>d</a:t>
            </a:r>
            <a:r>
              <a:rPr lang="ru-RU" sz="1400" dirty="0"/>
              <a:t>i/dt е </a:t>
            </a:r>
            <a:r>
              <a:rPr lang="bg-BG" sz="1400" dirty="0"/>
              <a:t>голямо</a:t>
            </a:r>
            <a:r>
              <a:rPr lang="ru-RU" sz="1400" dirty="0"/>
              <a:t>, така че индуцираното напрежение </a:t>
            </a:r>
            <a:r>
              <a:rPr lang="en-US" sz="1400" dirty="0"/>
              <a:t>U</a:t>
            </a:r>
            <a:r>
              <a:rPr lang="ru-RU" sz="1400" dirty="0"/>
              <a:t> също е </a:t>
            </a:r>
            <a:r>
              <a:rPr lang="bg-BG" sz="1400" dirty="0"/>
              <a:t>значително</a:t>
            </a:r>
            <a:r>
              <a:rPr lang="ru-RU" sz="1400" dirty="0"/>
              <a:t> – често стотици или хиляди волта.</a:t>
            </a:r>
            <a:endParaRPr lang="en-US" sz="1400" dirty="0"/>
          </a:p>
          <a:p>
            <a:pPr fontAlgn="base"/>
            <a:endParaRPr lang="en-US" sz="1400" dirty="0"/>
          </a:p>
          <a:p>
            <a:pPr fontAlgn="base"/>
            <a:r>
              <a:rPr lang="ru-RU" sz="1400" dirty="0"/>
              <a:t>Този пик на напрежението се появява на изхода на нашия MOSFET. Той почти сигурно ще надвиши максималното </a:t>
            </a:r>
            <a:r>
              <a:rPr lang="bg-BG" sz="1400" dirty="0"/>
              <a:t>допустимо</a:t>
            </a:r>
            <a:r>
              <a:rPr lang="ru-RU" sz="1400" dirty="0"/>
              <a:t> напрежение дрейн-сорс Vds(max) и ще причини незабавна, катастрофална повреда.</a:t>
            </a:r>
            <a:endParaRPr lang="en-US" sz="1400" dirty="0"/>
          </a:p>
          <a:p>
            <a:pPr fontAlgn="base"/>
            <a:endParaRPr lang="en-US" sz="1400" dirty="0"/>
          </a:p>
        </p:txBody>
      </p:sp>
    </p:spTree>
    <p:extLst>
      <p:ext uri="{BB962C8B-B14F-4D97-AF65-F5344CB8AC3E}">
        <p14:creationId xmlns:p14="http://schemas.microsoft.com/office/powerpoint/2010/main" val="1748308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2E7185-8C7E-A653-A062-A938271C73EB}"/>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Решението: Диод паралелно на индуктивността</a:t>
            </a:r>
            <a:endParaRPr lang="bg-BG" sz="2400" dirty="0">
              <a:solidFill>
                <a:srgbClr val="0038A8"/>
              </a:solidFill>
              <a:latin typeface="+mj-lt"/>
              <a:cs typeface="Arial" panose="020B0604020202020204" pitchFamily="34" charset="0"/>
            </a:endParaRPr>
          </a:p>
        </p:txBody>
      </p:sp>
      <p:pic>
        <p:nvPicPr>
          <p:cNvPr id="4" name="Picture 3">
            <a:extLst>
              <a:ext uri="{FF2B5EF4-FFF2-40B4-BE49-F238E27FC236}">
                <a16:creationId xmlns:a16="http://schemas.microsoft.com/office/drawing/2014/main" id="{D69A3F36-45C9-37AA-8D36-01A4AA8AB039}"/>
              </a:ext>
            </a:extLst>
          </p:cNvPr>
          <p:cNvPicPr>
            <a:picLocks noChangeAspect="1"/>
          </p:cNvPicPr>
          <p:nvPr/>
        </p:nvPicPr>
        <p:blipFill>
          <a:blip r:embed="rId2"/>
          <a:stretch>
            <a:fillRect/>
          </a:stretch>
        </p:blipFill>
        <p:spPr>
          <a:xfrm>
            <a:off x="3304476" y="3605001"/>
            <a:ext cx="3561159" cy="3022375"/>
          </a:xfrm>
          <a:prstGeom prst="rect">
            <a:avLst/>
          </a:prstGeom>
        </p:spPr>
      </p:pic>
      <p:pic>
        <p:nvPicPr>
          <p:cNvPr id="6" name="Picture 5">
            <a:extLst>
              <a:ext uri="{FF2B5EF4-FFF2-40B4-BE49-F238E27FC236}">
                <a16:creationId xmlns:a16="http://schemas.microsoft.com/office/drawing/2014/main" id="{B82FC4E5-0A88-BA25-0773-66C780DFBC67}"/>
              </a:ext>
            </a:extLst>
          </p:cNvPr>
          <p:cNvPicPr>
            <a:picLocks noChangeAspect="1"/>
          </p:cNvPicPr>
          <p:nvPr/>
        </p:nvPicPr>
        <p:blipFill>
          <a:blip r:embed="rId3"/>
          <a:stretch>
            <a:fillRect/>
          </a:stretch>
        </p:blipFill>
        <p:spPr>
          <a:xfrm>
            <a:off x="8682503" y="1594131"/>
            <a:ext cx="3273773" cy="4895681"/>
          </a:xfrm>
          <a:prstGeom prst="rect">
            <a:avLst/>
          </a:prstGeom>
        </p:spPr>
      </p:pic>
      <p:sp>
        <p:nvSpPr>
          <p:cNvPr id="8" name="TextBox 7">
            <a:extLst>
              <a:ext uri="{FF2B5EF4-FFF2-40B4-BE49-F238E27FC236}">
                <a16:creationId xmlns:a16="http://schemas.microsoft.com/office/drawing/2014/main" id="{EA69015C-2609-34FD-D0C8-BBFCB8F605A0}"/>
              </a:ext>
            </a:extLst>
          </p:cNvPr>
          <p:cNvSpPr txBox="1"/>
          <p:nvPr/>
        </p:nvSpPr>
        <p:spPr>
          <a:xfrm>
            <a:off x="182071" y="817323"/>
            <a:ext cx="8427855" cy="2893100"/>
          </a:xfrm>
          <a:prstGeom prst="rect">
            <a:avLst/>
          </a:prstGeom>
          <a:noFill/>
        </p:spPr>
        <p:txBody>
          <a:bodyPr wrap="square">
            <a:spAutoFit/>
          </a:bodyPr>
          <a:lstStyle/>
          <a:p>
            <a:r>
              <a:rPr lang="bg-BG" sz="1400" dirty="0"/>
              <a:t>Как да защитим нашия MOSFET? Трябва да осигурим на тока на </a:t>
            </a:r>
            <a:r>
              <a:rPr lang="ru-RU" sz="1400" dirty="0"/>
              <a:t>индуктивността</a:t>
            </a:r>
            <a:r>
              <a:rPr lang="bg-BG" sz="1400" dirty="0"/>
              <a:t> безопасен, алтернативен път, когато ключът се отвори. Използваме диод паралелно на индуктивността  (</a:t>
            </a:r>
            <a:r>
              <a:rPr lang="de-DE" sz="1400" dirty="0" err="1"/>
              <a:t>freewheeling</a:t>
            </a:r>
            <a:r>
              <a:rPr lang="bg-BG" sz="1400" dirty="0"/>
              <a:t>, flyback, snubber или clamp </a:t>
            </a:r>
            <a:r>
              <a:rPr lang="en-US" sz="1400" dirty="0"/>
              <a:t>diode</a:t>
            </a:r>
            <a:r>
              <a:rPr lang="bg-BG" sz="1400" dirty="0"/>
              <a:t>).</a:t>
            </a:r>
            <a:endParaRPr lang="en-US" sz="1400" dirty="0"/>
          </a:p>
          <a:p>
            <a:endParaRPr lang="bg-BG" sz="1400" dirty="0"/>
          </a:p>
          <a:p>
            <a:r>
              <a:rPr lang="bg-BG" sz="1400" dirty="0"/>
              <a:t>Когато MOSFET е включен, този диод е обратно поляризиран и не прави нищо. В момента, в който MOSFET се изключи, напрежението на дрейна се покачва рязко нагоре. Веднага щом надвиши захранващото напрежение с 0,7 V, диодът става право право поляризиран и запова да пропуска ток. Токът на индуктора сега има затворен контур за „свободно движение“ през диода, безопасно разсейвайки енергията си, вместо да създава пик на напрежението. Това ограничава напрежението на дрейна до безопасно ниво.</a:t>
            </a:r>
          </a:p>
          <a:p>
            <a:endParaRPr lang="bg-BG" sz="1400" dirty="0"/>
          </a:p>
          <a:p>
            <a:r>
              <a:rPr lang="bg-BG" sz="1400" dirty="0"/>
              <a:t>Избор на диод: Този диод трябва да е бърз! Шотки диод често е добър избор тук поради ниското си </a:t>
            </a:r>
            <a:r>
              <a:rPr lang="en-US" sz="1400" dirty="0"/>
              <a:t>U</a:t>
            </a:r>
            <a:r>
              <a:rPr lang="bg-BG" sz="1400" dirty="0"/>
              <a:t>f и малкото време за превключване </a:t>
            </a:r>
            <a:r>
              <a:rPr lang="en-US" sz="1400" dirty="0" err="1"/>
              <a:t>trr</a:t>
            </a:r>
            <a:r>
              <a:rPr lang="bg-BG" sz="1400" dirty="0"/>
              <a:t>.</a:t>
            </a:r>
          </a:p>
        </p:txBody>
      </p:sp>
    </p:spTree>
    <p:extLst>
      <p:ext uri="{BB962C8B-B14F-4D97-AF65-F5344CB8AC3E}">
        <p14:creationId xmlns:p14="http://schemas.microsoft.com/office/powerpoint/2010/main" val="176160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4F857C-71A9-3B4F-6F7A-DFFCB20D041A}"/>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Област на безопасна работа – </a:t>
            </a:r>
            <a:r>
              <a:rPr lang="de-DE" sz="2400" dirty="0">
                <a:solidFill>
                  <a:srgbClr val="0038A8"/>
                </a:solidFill>
                <a:latin typeface="+mj-lt"/>
                <a:cs typeface="Arial" panose="020B0604020202020204" pitchFamily="34" charset="0"/>
              </a:rPr>
              <a:t>Safe Operating Area (SOA)</a:t>
            </a:r>
            <a:r>
              <a:rPr lang="bg-BG" sz="2400" dirty="0">
                <a:solidFill>
                  <a:srgbClr val="0038A8"/>
                </a:solidFill>
                <a:latin typeface="+mj-lt"/>
                <a:cs typeface="Arial" panose="020B0604020202020204" pitchFamily="34" charset="0"/>
              </a:rPr>
              <a:t>  </a:t>
            </a:r>
          </a:p>
        </p:txBody>
      </p:sp>
      <p:sp>
        <p:nvSpPr>
          <p:cNvPr id="4" name="TextBox 3">
            <a:extLst>
              <a:ext uri="{FF2B5EF4-FFF2-40B4-BE49-F238E27FC236}">
                <a16:creationId xmlns:a16="http://schemas.microsoft.com/office/drawing/2014/main" id="{9B26CD45-B8A7-C284-F6C8-D9C2664A969D}"/>
              </a:ext>
            </a:extLst>
          </p:cNvPr>
          <p:cNvSpPr txBox="1"/>
          <p:nvPr/>
        </p:nvSpPr>
        <p:spPr>
          <a:xfrm>
            <a:off x="468327" y="1060727"/>
            <a:ext cx="11123514" cy="738664"/>
          </a:xfrm>
          <a:prstGeom prst="rect">
            <a:avLst/>
          </a:prstGeom>
          <a:noFill/>
        </p:spPr>
        <p:txBody>
          <a:bodyPr wrap="square">
            <a:spAutoFit/>
          </a:bodyPr>
          <a:lstStyle/>
          <a:p>
            <a:r>
              <a:rPr lang="bg-BG" sz="1400" dirty="0"/>
              <a:t>Вече видяхме един от механизмите на повреда на </a:t>
            </a:r>
            <a:r>
              <a:rPr lang="en-US" sz="1400" dirty="0"/>
              <a:t>MOSFET – </a:t>
            </a:r>
            <a:r>
              <a:rPr lang="bg-BG" sz="1400" dirty="0"/>
              <a:t>надхвърляне на максимално допустимото напрежение дрейн-сорс. </a:t>
            </a:r>
          </a:p>
          <a:p>
            <a:r>
              <a:rPr lang="bg-BG" sz="1400" dirty="0"/>
              <a:t>Нека формализираме всички граници, като разгледаме графиката на зоната за безопасна работа от каталожните данни.</a:t>
            </a:r>
          </a:p>
          <a:p>
            <a:r>
              <a:rPr lang="bg-BG" sz="1400" dirty="0"/>
              <a:t>Докато комбинацията от напрежение и ток остава в тази област, </a:t>
            </a:r>
            <a:r>
              <a:rPr lang="en-US" sz="1400" dirty="0"/>
              <a:t>MOSFET-a</a:t>
            </a:r>
            <a:r>
              <a:rPr lang="bg-BG" sz="1400" dirty="0"/>
              <a:t> е в безопасност.</a:t>
            </a:r>
          </a:p>
        </p:txBody>
      </p:sp>
      <p:pic>
        <p:nvPicPr>
          <p:cNvPr id="6" name="Picture 5">
            <a:extLst>
              <a:ext uri="{FF2B5EF4-FFF2-40B4-BE49-F238E27FC236}">
                <a16:creationId xmlns:a16="http://schemas.microsoft.com/office/drawing/2014/main" id="{5C52D6F2-F3C7-BD3C-BDDC-033428DE9DB3}"/>
              </a:ext>
            </a:extLst>
          </p:cNvPr>
          <p:cNvPicPr>
            <a:picLocks noChangeAspect="1"/>
          </p:cNvPicPr>
          <p:nvPr/>
        </p:nvPicPr>
        <p:blipFill>
          <a:blip r:embed="rId2"/>
          <a:stretch>
            <a:fillRect/>
          </a:stretch>
        </p:blipFill>
        <p:spPr>
          <a:xfrm>
            <a:off x="910353" y="2706786"/>
            <a:ext cx="7404212" cy="3140407"/>
          </a:xfrm>
          <a:prstGeom prst="rect">
            <a:avLst/>
          </a:prstGeom>
        </p:spPr>
      </p:pic>
      <p:cxnSp>
        <p:nvCxnSpPr>
          <p:cNvPr id="9" name="Straight Arrow Connector 8">
            <a:extLst>
              <a:ext uri="{FF2B5EF4-FFF2-40B4-BE49-F238E27FC236}">
                <a16:creationId xmlns:a16="http://schemas.microsoft.com/office/drawing/2014/main" id="{C800FAE5-830E-AEDE-9EE3-CB2F1C4CD54B}"/>
              </a:ext>
            </a:extLst>
          </p:cNvPr>
          <p:cNvCxnSpPr>
            <a:cxnSpLocks/>
          </p:cNvCxnSpPr>
          <p:nvPr/>
        </p:nvCxnSpPr>
        <p:spPr>
          <a:xfrm flipH="1">
            <a:off x="5765575" y="2168665"/>
            <a:ext cx="2605636" cy="12603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357112C-36D6-5F88-33DD-FFD104EA59A0}"/>
              </a:ext>
            </a:extLst>
          </p:cNvPr>
          <p:cNvSpPr txBox="1"/>
          <p:nvPr/>
        </p:nvSpPr>
        <p:spPr>
          <a:xfrm>
            <a:off x="8411671" y="1799333"/>
            <a:ext cx="3487667" cy="1384995"/>
          </a:xfrm>
          <a:prstGeom prst="rect">
            <a:avLst/>
          </a:prstGeom>
          <a:noFill/>
        </p:spPr>
        <p:txBody>
          <a:bodyPr wrap="square">
            <a:spAutoFit/>
          </a:bodyPr>
          <a:lstStyle/>
          <a:p>
            <a:r>
              <a:rPr lang="bg-BG" sz="1200" dirty="0"/>
              <a:t>Ограничена от максималната допустима мощност. Тази диагонална линия показва максималната непрекъсната мощност, която устройството може да разсее, въз основа на неговото термично съпротивление (R_th(jc)) и ако корпусът му се държи при 25°C. </a:t>
            </a:r>
            <a:br>
              <a:rPr lang="bg-BG" sz="1200" dirty="0"/>
            </a:br>
            <a:r>
              <a:rPr lang="bg-BG" sz="1200" dirty="0"/>
              <a:t>Pd = Vds * Id.</a:t>
            </a:r>
          </a:p>
        </p:txBody>
      </p:sp>
      <p:sp>
        <p:nvSpPr>
          <p:cNvPr id="18" name="TextBox 17">
            <a:extLst>
              <a:ext uri="{FF2B5EF4-FFF2-40B4-BE49-F238E27FC236}">
                <a16:creationId xmlns:a16="http://schemas.microsoft.com/office/drawing/2014/main" id="{9B47E48D-3880-C22E-CBEB-C662D66FE25A}"/>
              </a:ext>
            </a:extLst>
          </p:cNvPr>
          <p:cNvSpPr txBox="1"/>
          <p:nvPr/>
        </p:nvSpPr>
        <p:spPr>
          <a:xfrm>
            <a:off x="8472361" y="4355171"/>
            <a:ext cx="3119479" cy="461665"/>
          </a:xfrm>
          <a:prstGeom prst="rect">
            <a:avLst/>
          </a:prstGeom>
          <a:noFill/>
        </p:spPr>
        <p:txBody>
          <a:bodyPr wrap="square">
            <a:spAutoFit/>
          </a:bodyPr>
          <a:lstStyle/>
          <a:p>
            <a:r>
              <a:rPr lang="bg-BG" sz="1200" dirty="0"/>
              <a:t>Тази вертикална линия е</a:t>
            </a:r>
            <a:r>
              <a:rPr lang="ru-RU" sz="1200" dirty="0"/>
              <a:t>напрежението на пробив дрейн – сорс Ubr(dss)</a:t>
            </a:r>
            <a:endParaRPr lang="bg-BG" sz="1200" dirty="0"/>
          </a:p>
        </p:txBody>
      </p:sp>
      <p:sp>
        <p:nvSpPr>
          <p:cNvPr id="20" name="TextBox 19">
            <a:extLst>
              <a:ext uri="{FF2B5EF4-FFF2-40B4-BE49-F238E27FC236}">
                <a16:creationId xmlns:a16="http://schemas.microsoft.com/office/drawing/2014/main" id="{2ECFAE7A-4650-7A6E-5269-15DFC2A9AA14}"/>
              </a:ext>
            </a:extLst>
          </p:cNvPr>
          <p:cNvSpPr txBox="1"/>
          <p:nvPr/>
        </p:nvSpPr>
        <p:spPr>
          <a:xfrm>
            <a:off x="4060448" y="1929923"/>
            <a:ext cx="3036409" cy="461665"/>
          </a:xfrm>
          <a:prstGeom prst="rect">
            <a:avLst/>
          </a:prstGeom>
          <a:noFill/>
        </p:spPr>
        <p:txBody>
          <a:bodyPr wrap="none" rtlCol="0">
            <a:spAutoFit/>
          </a:bodyPr>
          <a:lstStyle/>
          <a:p>
            <a:r>
              <a:rPr lang="ru-RU" sz="1200" dirty="0"/>
              <a:t>Максимален импулсен ток, който </a:t>
            </a:r>
          </a:p>
          <a:p>
            <a:r>
              <a:rPr lang="ru-RU" sz="1200" dirty="0"/>
              <a:t>Е ограничен </a:t>
            </a:r>
            <a:r>
              <a:rPr lang="bg-BG" sz="1200" dirty="0"/>
              <a:t>от корпуса на транзистора</a:t>
            </a:r>
          </a:p>
        </p:txBody>
      </p:sp>
      <p:cxnSp>
        <p:nvCxnSpPr>
          <p:cNvPr id="21" name="Straight Arrow Connector 20">
            <a:extLst>
              <a:ext uri="{FF2B5EF4-FFF2-40B4-BE49-F238E27FC236}">
                <a16:creationId xmlns:a16="http://schemas.microsoft.com/office/drawing/2014/main" id="{6A5A6C60-1DBA-4E35-F985-5A3294BCFCCE}"/>
              </a:ext>
            </a:extLst>
          </p:cNvPr>
          <p:cNvCxnSpPr>
            <a:cxnSpLocks/>
            <a:stCxn id="20" idx="2"/>
          </p:cNvCxnSpPr>
          <p:nvPr/>
        </p:nvCxnSpPr>
        <p:spPr>
          <a:xfrm flipH="1">
            <a:off x="5148628" y="2391588"/>
            <a:ext cx="430025" cy="51253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BDB351C-C50A-7EDF-972B-6ED28B158524}"/>
              </a:ext>
            </a:extLst>
          </p:cNvPr>
          <p:cNvSpPr txBox="1"/>
          <p:nvPr/>
        </p:nvSpPr>
        <p:spPr>
          <a:xfrm>
            <a:off x="242049" y="2065187"/>
            <a:ext cx="3571223" cy="461665"/>
          </a:xfrm>
          <a:prstGeom prst="rect">
            <a:avLst/>
          </a:prstGeom>
          <a:noFill/>
        </p:spPr>
        <p:txBody>
          <a:bodyPr wrap="square">
            <a:spAutoFit/>
          </a:bodyPr>
          <a:lstStyle/>
          <a:p>
            <a:r>
              <a:rPr lang="bg-BG" sz="1200" dirty="0"/>
              <a:t>Тук работата е ограничена само от Rds(on). Това е областта на непрекъснатия ток</a:t>
            </a:r>
          </a:p>
        </p:txBody>
      </p:sp>
      <p:cxnSp>
        <p:nvCxnSpPr>
          <p:cNvPr id="25" name="Straight Arrow Connector 24">
            <a:extLst>
              <a:ext uri="{FF2B5EF4-FFF2-40B4-BE49-F238E27FC236}">
                <a16:creationId xmlns:a16="http://schemas.microsoft.com/office/drawing/2014/main" id="{62F3D42E-66B5-130E-BE81-FF33C56502C2}"/>
              </a:ext>
            </a:extLst>
          </p:cNvPr>
          <p:cNvCxnSpPr>
            <a:cxnSpLocks/>
          </p:cNvCxnSpPr>
          <p:nvPr/>
        </p:nvCxnSpPr>
        <p:spPr>
          <a:xfrm>
            <a:off x="2273862" y="2526852"/>
            <a:ext cx="911099" cy="7783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0E43ACD-9AE9-4D01-2518-BAFDC10C5A18}"/>
              </a:ext>
            </a:extLst>
          </p:cNvPr>
          <p:cNvCxnSpPr>
            <a:cxnSpLocks/>
            <a:stCxn id="18" idx="1"/>
          </p:cNvCxnSpPr>
          <p:nvPr/>
        </p:nvCxnSpPr>
        <p:spPr>
          <a:xfrm flipH="1">
            <a:off x="7004402" y="4586004"/>
            <a:ext cx="1467959" cy="5044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176A8FD-E91F-E09C-614B-8A510FD35677}"/>
              </a:ext>
            </a:extLst>
          </p:cNvPr>
          <p:cNvSpPr txBox="1"/>
          <p:nvPr/>
        </p:nvSpPr>
        <p:spPr>
          <a:xfrm>
            <a:off x="8440716" y="3654333"/>
            <a:ext cx="3240360" cy="461665"/>
          </a:xfrm>
          <a:prstGeom prst="rect">
            <a:avLst/>
          </a:prstGeom>
          <a:noFill/>
        </p:spPr>
        <p:txBody>
          <a:bodyPr wrap="square" rtlCol="0">
            <a:spAutoFit/>
          </a:bodyPr>
          <a:lstStyle/>
          <a:p>
            <a:r>
              <a:rPr lang="bg-BG" sz="1200" dirty="0"/>
              <a:t>Намаляване на максималната допустима мощност поради термална нестабилност</a:t>
            </a:r>
            <a:endParaRPr lang="en-US" sz="1200" dirty="0"/>
          </a:p>
        </p:txBody>
      </p:sp>
      <p:cxnSp>
        <p:nvCxnSpPr>
          <p:cNvPr id="30" name="Straight Arrow Connector 29">
            <a:extLst>
              <a:ext uri="{FF2B5EF4-FFF2-40B4-BE49-F238E27FC236}">
                <a16:creationId xmlns:a16="http://schemas.microsoft.com/office/drawing/2014/main" id="{12347BAE-D47B-A0D3-F8DB-847B1EAF437A}"/>
              </a:ext>
            </a:extLst>
          </p:cNvPr>
          <p:cNvCxnSpPr>
            <a:cxnSpLocks/>
            <a:stCxn id="29" idx="1"/>
          </p:cNvCxnSpPr>
          <p:nvPr/>
        </p:nvCxnSpPr>
        <p:spPr>
          <a:xfrm flipH="1">
            <a:off x="6586917" y="3885166"/>
            <a:ext cx="1853799" cy="2308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6677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1F6555-DD9D-72FB-0EAF-3E016A11FC05}"/>
              </a:ext>
            </a:extLst>
          </p:cNvPr>
          <p:cNvSpPr txBox="1"/>
          <p:nvPr/>
        </p:nvSpPr>
        <p:spPr>
          <a:xfrm>
            <a:off x="0" y="0"/>
            <a:ext cx="12192000" cy="461665"/>
          </a:xfrm>
          <a:prstGeom prst="rect">
            <a:avLst/>
          </a:prstGeom>
          <a:noFill/>
        </p:spPr>
        <p:txBody>
          <a:bodyPr wrap="square" rtlCol="0">
            <a:spAutoFit/>
          </a:bodyPr>
          <a:lstStyle/>
          <a:p>
            <a:pPr algn="ctr"/>
            <a:r>
              <a:rPr lang="bg-BG" sz="2400" dirty="0">
                <a:solidFill>
                  <a:srgbClr val="0038A8"/>
                </a:solidFill>
                <a:latin typeface="+mj-lt"/>
                <a:cs typeface="Arial" panose="020B0604020202020204" pitchFamily="34" charset="0"/>
              </a:rPr>
              <a:t>Термална нестабилност</a:t>
            </a:r>
            <a:endParaRPr lang="en-US" sz="2400" dirty="0">
              <a:solidFill>
                <a:srgbClr val="0038A8"/>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201D71A-F876-3200-FF90-65E0D3C8C078}"/>
              </a:ext>
            </a:extLst>
          </p:cNvPr>
          <p:cNvSpPr txBox="1"/>
          <p:nvPr/>
        </p:nvSpPr>
        <p:spPr>
          <a:xfrm>
            <a:off x="247932" y="702869"/>
            <a:ext cx="10513168" cy="738664"/>
          </a:xfrm>
          <a:prstGeom prst="rect">
            <a:avLst/>
          </a:prstGeom>
          <a:noFill/>
        </p:spPr>
        <p:txBody>
          <a:bodyPr wrap="square" rtlCol="0">
            <a:spAutoFit/>
          </a:bodyPr>
          <a:lstStyle/>
          <a:p>
            <a:r>
              <a:rPr lang="bg-BG" sz="1400" dirty="0"/>
              <a:t>Област на термална нестабилност:  Повишаването на температурата на транзистора води до нарастване на </a:t>
            </a:r>
            <a:r>
              <a:rPr lang="en-US" sz="1400" dirty="0"/>
              <a:t>Id</a:t>
            </a:r>
            <a:r>
              <a:rPr lang="bg-BG" sz="1400" dirty="0"/>
              <a:t> и респективно на загубите (</a:t>
            </a:r>
            <a:r>
              <a:rPr lang="en-US" sz="1400" dirty="0"/>
              <a:t>P=I.U)</a:t>
            </a:r>
            <a:r>
              <a:rPr lang="bg-BG" sz="1400" dirty="0"/>
              <a:t>. По-високите загуби предизвикват ново увеличение на температурата и се получава положителна обратна връзка </a:t>
            </a:r>
            <a:r>
              <a:rPr lang="bg-BG" sz="1400" dirty="0">
                <a:sym typeface="Wingdings" panose="05000000000000000000" pitchFamily="2" charset="2"/>
              </a:rPr>
              <a:t></a:t>
            </a:r>
            <a:r>
              <a:rPr lang="bg-BG" sz="1400" dirty="0"/>
              <a:t>.</a:t>
            </a:r>
          </a:p>
        </p:txBody>
      </p:sp>
      <p:pic>
        <p:nvPicPr>
          <p:cNvPr id="7" name="Picture 6">
            <a:extLst>
              <a:ext uri="{FF2B5EF4-FFF2-40B4-BE49-F238E27FC236}">
                <a16:creationId xmlns:a16="http://schemas.microsoft.com/office/drawing/2014/main" id="{64BDC7D6-7459-DEF5-4E7D-7926D8BBBF60}"/>
              </a:ext>
            </a:extLst>
          </p:cNvPr>
          <p:cNvPicPr>
            <a:picLocks noChangeAspect="1"/>
          </p:cNvPicPr>
          <p:nvPr/>
        </p:nvPicPr>
        <p:blipFill>
          <a:blip r:embed="rId3"/>
          <a:stretch>
            <a:fillRect/>
          </a:stretch>
        </p:blipFill>
        <p:spPr>
          <a:xfrm>
            <a:off x="5033330" y="1816506"/>
            <a:ext cx="5943490" cy="3759889"/>
          </a:xfrm>
          <a:prstGeom prst="rect">
            <a:avLst/>
          </a:prstGeom>
        </p:spPr>
      </p:pic>
      <p:sp>
        <p:nvSpPr>
          <p:cNvPr id="15" name="TextBox 14">
            <a:extLst>
              <a:ext uri="{FF2B5EF4-FFF2-40B4-BE49-F238E27FC236}">
                <a16:creationId xmlns:a16="http://schemas.microsoft.com/office/drawing/2014/main" id="{0D571DBB-FDCF-50BF-07E5-05D1E670AB4F}"/>
              </a:ext>
            </a:extLst>
          </p:cNvPr>
          <p:cNvSpPr txBox="1"/>
          <p:nvPr/>
        </p:nvSpPr>
        <p:spPr>
          <a:xfrm>
            <a:off x="47328" y="6556263"/>
            <a:ext cx="7439868" cy="246221"/>
          </a:xfrm>
          <a:prstGeom prst="rect">
            <a:avLst/>
          </a:prstGeom>
          <a:noFill/>
        </p:spPr>
        <p:txBody>
          <a:bodyPr wrap="square">
            <a:spAutoFit/>
          </a:bodyPr>
          <a:lstStyle/>
          <a:p>
            <a:r>
              <a:rPr lang="en-US" sz="1000" dirty="0"/>
              <a:t>Infineon AP99007, Linear mode operation and safe operating diagram of power MOSFETs, Johannes </a:t>
            </a:r>
            <a:r>
              <a:rPr lang="en-US" sz="1000" dirty="0" err="1"/>
              <a:t>Schoiswohl</a:t>
            </a:r>
            <a:r>
              <a:rPr lang="en-US" sz="1000" dirty="0"/>
              <a:t>.</a:t>
            </a:r>
            <a:endParaRPr lang="bg-BG" sz="1000" dirty="0"/>
          </a:p>
        </p:txBody>
      </p:sp>
      <p:sp>
        <p:nvSpPr>
          <p:cNvPr id="4" name="TextBox 3">
            <a:extLst>
              <a:ext uri="{FF2B5EF4-FFF2-40B4-BE49-F238E27FC236}">
                <a16:creationId xmlns:a16="http://schemas.microsoft.com/office/drawing/2014/main" id="{70755237-3CDA-1B8A-71A0-A3042F9F366E}"/>
              </a:ext>
            </a:extLst>
          </p:cNvPr>
          <p:cNvSpPr txBox="1"/>
          <p:nvPr/>
        </p:nvSpPr>
        <p:spPr>
          <a:xfrm>
            <a:off x="247932" y="1857164"/>
            <a:ext cx="4429264" cy="2677656"/>
          </a:xfrm>
          <a:prstGeom prst="rect">
            <a:avLst/>
          </a:prstGeom>
          <a:noFill/>
        </p:spPr>
        <p:txBody>
          <a:bodyPr wrap="square">
            <a:spAutoFit/>
          </a:bodyPr>
          <a:lstStyle/>
          <a:p>
            <a:r>
              <a:rPr lang="bg-BG" sz="1400" dirty="0"/>
              <a:t>Това явление е известно още като ефект на </a:t>
            </a:r>
            <a:r>
              <a:rPr lang="de-DE" sz="1400" dirty="0"/>
              <a:t>Spirito </a:t>
            </a:r>
            <a:r>
              <a:rPr lang="bg-BG" sz="1400" dirty="0"/>
              <a:t> и се причинява от неравномерното разпределение на тока по силициевия кристал. </a:t>
            </a:r>
          </a:p>
          <a:p>
            <a:endParaRPr lang="bg-BG" sz="1400" dirty="0"/>
          </a:p>
          <a:p>
            <a:r>
              <a:rPr lang="bg-BG" sz="1400" dirty="0"/>
              <a:t>Под точката ZTC, ако малка област е с по-висока температура от останалата част на кристала, тя ще консумира повече ток и ще разсейва повече мощност, като се нагрява още повече. </a:t>
            </a:r>
          </a:p>
          <a:p>
            <a:endParaRPr lang="bg-BG" sz="1400" dirty="0"/>
          </a:p>
          <a:p>
            <a:r>
              <a:rPr lang="bg-BG" sz="1400" dirty="0"/>
              <a:t>Този процес в крайна сметка води до термично претоварване и разрушаване на MOSFET транзистора като при късо съединение.</a:t>
            </a:r>
          </a:p>
        </p:txBody>
      </p:sp>
    </p:spTree>
    <p:extLst>
      <p:ext uri="{BB962C8B-B14F-4D97-AF65-F5344CB8AC3E}">
        <p14:creationId xmlns:p14="http://schemas.microsoft.com/office/powerpoint/2010/main" val="1555532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A146A-DFC8-A2A0-D01D-08B88EDA7308}"/>
              </a:ext>
            </a:extLst>
          </p:cNvPr>
          <p:cNvSpPr txBox="1"/>
          <p:nvPr/>
        </p:nvSpPr>
        <p:spPr>
          <a:xfrm>
            <a:off x="0" y="0"/>
            <a:ext cx="12192000" cy="461665"/>
          </a:xfrm>
          <a:prstGeom prst="rect">
            <a:avLst/>
          </a:prstGeom>
          <a:noFill/>
        </p:spPr>
        <p:txBody>
          <a:bodyPr wrap="square" rtlCol="0">
            <a:spAutoFit/>
          </a:bodyPr>
          <a:lstStyle/>
          <a:p>
            <a:pPr algn="ctr"/>
            <a:r>
              <a:rPr lang="bg-BG" sz="2400" dirty="0">
                <a:solidFill>
                  <a:srgbClr val="0038A8"/>
                </a:solidFill>
                <a:latin typeface="+mj-lt"/>
                <a:cs typeface="Arial" panose="020B0604020202020204" pitchFamily="34" charset="0"/>
              </a:rPr>
              <a:t>Обобщение</a:t>
            </a:r>
            <a:endParaRPr lang="en-US" sz="2400" dirty="0">
              <a:solidFill>
                <a:srgbClr val="0038A8"/>
              </a:solidFill>
              <a:latin typeface="+mj-lt"/>
              <a:cs typeface="Arial" panose="020B0604020202020204" pitchFamily="34" charset="0"/>
            </a:endParaRPr>
          </a:p>
        </p:txBody>
      </p:sp>
      <p:sp>
        <p:nvSpPr>
          <p:cNvPr id="4" name="TextBox 3">
            <a:extLst>
              <a:ext uri="{FF2B5EF4-FFF2-40B4-BE49-F238E27FC236}">
                <a16:creationId xmlns:a16="http://schemas.microsoft.com/office/drawing/2014/main" id="{A33CABC5-B745-5FF8-FAD9-658C9FD5808A}"/>
              </a:ext>
            </a:extLst>
          </p:cNvPr>
          <p:cNvSpPr txBox="1"/>
          <p:nvPr/>
        </p:nvSpPr>
        <p:spPr>
          <a:xfrm>
            <a:off x="709064" y="1690969"/>
            <a:ext cx="10263736" cy="1200329"/>
          </a:xfrm>
          <a:prstGeom prst="rect">
            <a:avLst/>
          </a:prstGeom>
          <a:noFill/>
        </p:spPr>
        <p:txBody>
          <a:bodyPr wrap="square">
            <a:spAutoFit/>
          </a:bodyPr>
          <a:lstStyle/>
          <a:p>
            <a:r>
              <a:rPr lang="bg-BG" dirty="0"/>
              <a:t>Научихме, че превключването на индуктивни товари е опасно и изисква диод за защита.</a:t>
            </a:r>
          </a:p>
          <a:p>
            <a:endParaRPr lang="bg-BG" dirty="0"/>
          </a:p>
          <a:p>
            <a:r>
              <a:rPr lang="bg-BG" dirty="0"/>
              <a:t>Научихме се как да използваме SOA графиката, за да гарантираме, че устройството ни работи в рамките на ограниченията си за напрежение, ток и мощност.</a:t>
            </a:r>
          </a:p>
        </p:txBody>
      </p:sp>
    </p:spTree>
    <p:extLst>
      <p:ext uri="{BB962C8B-B14F-4D97-AF65-F5344CB8AC3E}">
        <p14:creationId xmlns:p14="http://schemas.microsoft.com/office/powerpoint/2010/main" val="2724621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689</TotalTime>
  <Words>781</Words>
  <Application>Microsoft Office PowerPoint</Application>
  <PresentationFormat>Widescreen</PresentationFormat>
  <Paragraphs>52</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ArialMT</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Vassiliy Tchoumatchenko</dc:creator>
  <cp:lastModifiedBy>Vassiliy Tchoumatchenko</cp:lastModifiedBy>
  <cp:revision>22</cp:revision>
  <dcterms:created xsi:type="dcterms:W3CDTF">2025-10-27T17:36:55Z</dcterms:created>
  <dcterms:modified xsi:type="dcterms:W3CDTF">2025-12-01T13:19:59Z</dcterms:modified>
</cp:coreProperties>
</file>