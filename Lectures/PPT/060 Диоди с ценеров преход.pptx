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27" r:id="rId2"/>
    <p:sldId id="259" r:id="rId3"/>
    <p:sldId id="263" r:id="rId4"/>
    <p:sldId id="265" r:id="rId5"/>
    <p:sldId id="308" r:id="rId6"/>
    <p:sldId id="310" r:id="rId7"/>
    <p:sldId id="329" r:id="rId8"/>
    <p:sldId id="317" r:id="rId9"/>
    <p:sldId id="318" r:id="rId10"/>
    <p:sldId id="266" r:id="rId11"/>
    <p:sldId id="264" r:id="rId12"/>
    <p:sldId id="295" r:id="rId13"/>
    <p:sldId id="322" r:id="rId14"/>
    <p:sldId id="321" r:id="rId15"/>
    <p:sldId id="271" r:id="rId16"/>
    <p:sldId id="320" r:id="rId17"/>
    <p:sldId id="275" r:id="rId18"/>
    <p:sldId id="315" r:id="rId19"/>
    <p:sldId id="313" r:id="rId20"/>
    <p:sldId id="324" r:id="rId2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A8"/>
    <a:srgbClr val="D7F0F3"/>
    <a:srgbClr val="E1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7" autoAdjust="0"/>
    <p:restoredTop sz="94059" autoAdjust="0"/>
  </p:normalViewPr>
  <p:slideViewPr>
    <p:cSldViewPr>
      <p:cViewPr varScale="1">
        <p:scale>
          <a:sx n="142" d="100"/>
          <a:sy n="142" d="100"/>
        </p:scale>
        <p:origin x="106" y="3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501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7C656D6-A842-4425-A532-3D5FCD608661}" type="datetime1">
              <a:rPr lang="en-US"/>
              <a:pPr>
                <a:defRPr/>
              </a:pPr>
              <a:t>10/27/2025</a:t>
            </a:fld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501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B2F23AD-DD44-49C7-AB14-59A495CA5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591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01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9EB583F-6715-4920-B56D-72B9914B75E2}" type="datetime1">
              <a:rPr lang="en-US"/>
              <a:pPr>
                <a:defRPr/>
              </a:pPr>
              <a:t>10/27/2025</a:t>
            </a:fld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01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0702B6B-561A-4A8F-9B90-C1F5C818ED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913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86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73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39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30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68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03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103632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88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9" r:id="rId4"/>
    <p:sldLayoutId id="2147483660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07" y="332656"/>
            <a:ext cx="9048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35360" y="4941168"/>
            <a:ext cx="655272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9pPr>
          </a:lstStyle>
          <a:p>
            <a:pPr>
              <a:defRPr/>
            </a:pPr>
            <a:r>
              <a:rPr lang="bg-BG" b="0" i="0" kern="0" dirty="0" err="1">
                <a:solidFill>
                  <a:srgbClr val="0038A8"/>
                </a:solidFill>
                <a:effectLst/>
                <a:latin typeface="Arial Narrow" pitchFamily="34" charset="0"/>
              </a:rPr>
              <a:t>Ценеров</a:t>
            </a:r>
            <a:r>
              <a:rPr lang="en-US" b="0" i="0" kern="0" dirty="0">
                <a:solidFill>
                  <a:srgbClr val="0038A8"/>
                </a:solidFill>
                <a:effectLst/>
                <a:latin typeface="Arial Narrow" pitchFamily="34" charset="0"/>
              </a:rPr>
              <a:t> </a:t>
            </a:r>
            <a:r>
              <a:rPr lang="bg-BG" b="0" i="0" kern="0" dirty="0">
                <a:solidFill>
                  <a:srgbClr val="0038A8"/>
                </a:solidFill>
                <a:effectLst/>
                <a:latin typeface="Arial Narrow" pitchFamily="34" charset="0"/>
              </a:rPr>
              <a:t>диод</a:t>
            </a:r>
            <a:endParaRPr lang="en-US" b="0" i="0" kern="0" dirty="0">
              <a:solidFill>
                <a:srgbClr val="0038A8"/>
              </a:solidFill>
              <a:effectLst/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839416" y="4286465"/>
            <a:ext cx="11089232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Ценеровият диод е оптимизиран да работи в областта на електрически пробив. </a:t>
            </a:r>
          </a:p>
          <a:p>
            <a:pPr>
              <a:spcBef>
                <a:spcPct val="50000"/>
              </a:spcBef>
            </a:pPr>
            <a:r>
              <a:rPr lang="bg-BG" sz="1800" i="0" dirty="0"/>
              <a:t>При настъпване на пробив, напрежението </a:t>
            </a:r>
            <a:r>
              <a:rPr lang="en-US" sz="1800" dirty="0"/>
              <a:t>U</a:t>
            </a:r>
            <a:r>
              <a:rPr lang="en-US" sz="1800" baseline="-25000" dirty="0"/>
              <a:t>Z</a:t>
            </a:r>
            <a:r>
              <a:rPr lang="en-US" sz="1800" i="0" dirty="0"/>
              <a:t> </a:t>
            </a:r>
            <a:r>
              <a:rPr lang="bg-BG" sz="1800" i="0" dirty="0"/>
              <a:t>върху ценеровия диод остава почти постоянно независимо от промяната на тока през диода. </a:t>
            </a:r>
            <a:endParaRPr lang="en-US" sz="1800" i="0" dirty="0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F4A0AC99-2EA7-B5E9-100C-7D45E68CF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651" y="908720"/>
            <a:ext cx="3394939" cy="187220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11DC550-BAA8-2F61-D3A0-717D4C63E21F}"/>
              </a:ext>
            </a:extLst>
          </p:cNvPr>
          <p:cNvSpPr/>
          <p:nvPr/>
        </p:nvSpPr>
        <p:spPr>
          <a:xfrm>
            <a:off x="878227" y="5651432"/>
            <a:ext cx="4313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/>
              <a:t>Приложения</a:t>
            </a:r>
          </a:p>
          <a:p>
            <a:r>
              <a:rPr lang="bg-BG" dirty="0"/>
              <a:t>Стабилизатор на напрежение.</a:t>
            </a:r>
          </a:p>
          <a:p>
            <a:r>
              <a:rPr lang="bg-BG" dirty="0"/>
              <a:t>Защита от пренапрежение.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793155-A2A4-4BC5-008E-324AA3AD4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701902"/>
            <a:ext cx="2994943" cy="2748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623392" y="4869160"/>
            <a:ext cx="10945215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800" i="0" dirty="0"/>
              <a:t>При право включване </a:t>
            </a:r>
            <a:r>
              <a:rPr lang="bg-BG" sz="1800" i="0" dirty="0" err="1"/>
              <a:t>ценеровият</a:t>
            </a:r>
            <a:r>
              <a:rPr lang="bg-BG" sz="1800" i="0" dirty="0"/>
              <a:t> диод се отпушва при </a:t>
            </a:r>
            <a:r>
              <a:rPr lang="en-US" sz="1800" i="0" dirty="0"/>
              <a:t>0.7 V, </a:t>
            </a:r>
            <a:r>
              <a:rPr lang="bg-BG" sz="1800" i="0" dirty="0"/>
              <a:t>точно като</a:t>
            </a:r>
            <a:r>
              <a:rPr lang="en-US" sz="1800" i="0" dirty="0"/>
              <a:t> Si </a:t>
            </a:r>
            <a:r>
              <a:rPr lang="bg-BG" sz="1800" i="0" dirty="0"/>
              <a:t>диод</a:t>
            </a:r>
            <a:r>
              <a:rPr lang="en-US" sz="1800" i="0" dirty="0"/>
              <a:t> </a:t>
            </a:r>
            <a:r>
              <a:rPr lang="bg-BG" sz="1800" i="0" dirty="0"/>
              <a:t>с </a:t>
            </a:r>
            <a:r>
              <a:rPr lang="en-US" sz="1800" i="0" dirty="0"/>
              <a:t>p-n </a:t>
            </a:r>
            <a:r>
              <a:rPr lang="bg-BG" sz="1800" i="0" dirty="0"/>
              <a:t>преход</a:t>
            </a:r>
            <a:r>
              <a:rPr lang="en-US" sz="1800" i="0" dirty="0"/>
              <a:t>.</a:t>
            </a:r>
            <a:endParaRPr lang="bg-BG" sz="1800" i="0" dirty="0"/>
          </a:p>
          <a:p>
            <a:r>
              <a:rPr lang="en-US" sz="800" i="0" dirty="0"/>
              <a:t> </a:t>
            </a:r>
          </a:p>
          <a:p>
            <a:r>
              <a:rPr lang="bg-BG" sz="1800" i="0" dirty="0"/>
              <a:t>При обратно включване обратният ток преди пробив</a:t>
            </a:r>
            <a:r>
              <a:rPr lang="en-US" sz="1800" i="0" dirty="0"/>
              <a:t>a</a:t>
            </a:r>
            <a:r>
              <a:rPr lang="bg-BG" sz="1800" i="0" dirty="0"/>
              <a:t> е много малък.</a:t>
            </a:r>
          </a:p>
          <a:p>
            <a:r>
              <a:rPr lang="bg-BG" sz="800" i="0" dirty="0"/>
              <a:t> </a:t>
            </a:r>
            <a:endParaRPr lang="en-US" sz="800" i="0" dirty="0"/>
          </a:p>
          <a:p>
            <a:r>
              <a:rPr lang="bg-BG" sz="1800" i="0" dirty="0"/>
              <a:t>В областта на пробив се наблюдава рязко нарастване на тока при оставащо почти постоянно напрежение. 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792D079F-CA65-714E-9178-1C8DA9C9A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040" y="1484784"/>
            <a:ext cx="2591162" cy="1428949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D43A733B-D63B-5392-4EF4-6B48E183A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2776"/>
            <a:ext cx="2581635" cy="1419423"/>
          </a:xfrm>
          <a:prstGeom prst="rect">
            <a:avLst/>
          </a:prstGeom>
        </p:spPr>
      </p:pic>
      <p:pic>
        <p:nvPicPr>
          <p:cNvPr id="10" name="Picture 9" descr="Shape&#10;&#10;Description automatically generated">
            <a:extLst>
              <a:ext uri="{FF2B5EF4-FFF2-40B4-BE49-F238E27FC236}">
                <a16:creationId xmlns:a16="http://schemas.microsoft.com/office/drawing/2014/main" id="{4A457224-3B41-BAA3-ABF7-B30AED0189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4" y="1136180"/>
            <a:ext cx="2380493" cy="2380493"/>
          </a:xfrm>
          <a:prstGeom prst="rect">
            <a:avLst/>
          </a:prstGeom>
        </p:spPr>
      </p:pic>
      <p:pic>
        <p:nvPicPr>
          <p:cNvPr id="12" name="Picture 11" descr="Shape, rectangle&#10;&#10;Description automatically generated">
            <a:extLst>
              <a:ext uri="{FF2B5EF4-FFF2-40B4-BE49-F238E27FC236}">
                <a16:creationId xmlns:a16="http://schemas.microsoft.com/office/drawing/2014/main" id="{168BD319-DE54-1C6D-1A37-644E114014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1196752"/>
            <a:ext cx="2523749" cy="23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2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23"/>
          <p:cNvSpPr txBox="1">
            <a:spLocks noChangeArrowheads="1"/>
          </p:cNvSpPr>
          <p:nvPr/>
        </p:nvSpPr>
        <p:spPr bwMode="auto">
          <a:xfrm>
            <a:off x="1122957" y="4509120"/>
            <a:ext cx="961256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800" i="0" dirty="0"/>
              <a:t>Ценеровият диод поддържа постоянно напрежение при значителна промяна на входното напрежение и тока</a:t>
            </a:r>
            <a:r>
              <a:rPr lang="en-US" sz="1800" i="0" dirty="0"/>
              <a:t> </a:t>
            </a:r>
            <a:r>
              <a:rPr lang="bg-BG" sz="1800" i="0" dirty="0"/>
              <a:t>през дода. </a:t>
            </a:r>
          </a:p>
          <a:p>
            <a:endParaRPr lang="bg-BG" sz="800" i="0" dirty="0"/>
          </a:p>
          <a:p>
            <a:r>
              <a:rPr lang="bg-BG" sz="1800" i="0" dirty="0"/>
              <a:t>В областта на пробив ценеровият диод действа като източник на постоянно напрежение с големина </a:t>
            </a:r>
            <a:r>
              <a:rPr lang="en-US" sz="1800" dirty="0"/>
              <a:t>U</a:t>
            </a:r>
            <a:r>
              <a:rPr lang="en-US" sz="1800" baseline="-25000" dirty="0"/>
              <a:t>Z</a:t>
            </a:r>
            <a:r>
              <a:rPr lang="en-US" sz="1800" i="0" dirty="0"/>
              <a:t>.</a:t>
            </a:r>
          </a:p>
        </p:txBody>
      </p:sp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A6BB9699-A3C7-593B-8A25-CEB7935CDD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92" y="1412776"/>
            <a:ext cx="2523749" cy="2380493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718D34A-5D0E-C3CA-0B5D-C1B98534B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92" y="1858851"/>
            <a:ext cx="2591162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Rectangle 4"/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315263"/>
              </a:buClr>
              <a:buSzPct val="75000"/>
              <a:buFont typeface="Wingdings" pitchFamily="2" charset="2"/>
              <a:buChar char="q"/>
              <a:defRPr sz="3200">
                <a:solidFill>
                  <a:srgbClr val="315263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FC9D1E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Font typeface="Times New Roman" pitchFamily="18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itchFamily="18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itchFamily="18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itchFamily="18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itchFamily="18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bg-BG" altLang="en-US" sz="2400">
              <a:solidFill>
                <a:schemeClr val="tx1"/>
              </a:solidFill>
            </a:endParaRPr>
          </a:p>
        </p:txBody>
      </p:sp>
      <p:sp>
        <p:nvSpPr>
          <p:cNvPr id="25608" name="Rectangle 6"/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315263"/>
              </a:buClr>
              <a:buSzPct val="75000"/>
              <a:buFont typeface="Wingdings" pitchFamily="2" charset="2"/>
              <a:buChar char="q"/>
              <a:defRPr sz="3200">
                <a:solidFill>
                  <a:srgbClr val="315263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FC9D1E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Font typeface="Times New Roman" pitchFamily="18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itchFamily="18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itchFamily="18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itchFamily="18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itchFamily="18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bg-BG" altLang="en-US" sz="2400">
              <a:solidFill>
                <a:schemeClr val="tx1"/>
              </a:solidFill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0"/>
            <a:ext cx="9144000" cy="48793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bg-BG" sz="2400" dirty="0">
                <a:solidFill>
                  <a:schemeClr val="tx1"/>
                </a:solidFill>
              </a:rPr>
              <a:t>Прагов модел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EF1428-D201-4496-98E9-41A6B6435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514" y="1143000"/>
            <a:ext cx="6995134" cy="50613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3F57AB-4A11-4156-9CB6-C61FA2C4F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45" y="1400099"/>
            <a:ext cx="4420869" cy="405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30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02D8D0B-6E8F-102D-F85A-F6CB3DE2B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27" y="1154700"/>
            <a:ext cx="2846521" cy="15697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6702C9-0BB4-8D69-E00E-298C178DA422}"/>
              </a:ext>
            </a:extLst>
          </p:cNvPr>
          <p:cNvSpPr txBox="1"/>
          <p:nvPr/>
        </p:nvSpPr>
        <p:spPr>
          <a:xfrm>
            <a:off x="263351" y="357990"/>
            <a:ext cx="66385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 Като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използвате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прагов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модел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ценеров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диод,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определете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токовете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падовете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напрежение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разсейваните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мощности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върху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резистор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диод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bg-BG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5DBE9B-CFFC-08E7-D2EE-43DBE35C9AAF}"/>
              </a:ext>
            </a:extLst>
          </p:cNvPr>
          <p:cNvSpPr txBox="1"/>
          <p:nvPr/>
        </p:nvSpPr>
        <p:spPr>
          <a:xfrm>
            <a:off x="1239676" y="2951886"/>
            <a:ext cx="3272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Uz = 8V, U1 = 10V, R1 = 1k</a:t>
            </a:r>
            <a:r>
              <a:rPr lang="el-GR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Ω</a:t>
            </a:r>
            <a:endParaRPr lang="bg-BG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0623B-A632-DD38-E1A7-DBD4110A8112}"/>
              </a:ext>
            </a:extLst>
          </p:cNvPr>
          <p:cNvSpPr txBox="1"/>
          <p:nvPr/>
        </p:nvSpPr>
        <p:spPr>
          <a:xfrm>
            <a:off x="191344" y="3593241"/>
            <a:ext cx="118093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600" dirty="0"/>
              <a:t>1) Източникът на напрежение U1, диодът D1 и резисторът R1 са свързани последователно =&gt; през тях тече еднакъв ток I.</a:t>
            </a:r>
          </a:p>
          <a:p>
            <a:r>
              <a:rPr lang="bg-BG" sz="1600" dirty="0"/>
              <a:t>2) Диодът е включен в обратна посока и U1 &gt; </a:t>
            </a:r>
            <a:r>
              <a:rPr lang="bg-BG" sz="1600" dirty="0" err="1"/>
              <a:t>Uz</a:t>
            </a:r>
            <a:r>
              <a:rPr lang="bg-BG" sz="1600" dirty="0"/>
              <a:t> =&gt; диодът е в режим на пробив и </a:t>
            </a:r>
            <a:r>
              <a:rPr lang="bg-BG" sz="1600" dirty="0" err="1"/>
              <a:t>Ud</a:t>
            </a:r>
            <a:r>
              <a:rPr lang="bg-BG" sz="1600" dirty="0"/>
              <a:t> = </a:t>
            </a:r>
            <a:r>
              <a:rPr lang="bg-BG" sz="1600" dirty="0" err="1"/>
              <a:t>Uz</a:t>
            </a:r>
            <a:r>
              <a:rPr lang="bg-BG" sz="1600" dirty="0"/>
              <a:t>.</a:t>
            </a:r>
          </a:p>
          <a:p>
            <a:r>
              <a:rPr lang="bg-BG" sz="1600" dirty="0"/>
              <a:t>3) От законът на </a:t>
            </a:r>
            <a:r>
              <a:rPr lang="bg-BG" sz="1600" dirty="0" err="1"/>
              <a:t>Кирхоф</a:t>
            </a:r>
            <a:r>
              <a:rPr lang="bg-BG" sz="1600" dirty="0"/>
              <a:t> за напреженията =&gt; U1 = </a:t>
            </a:r>
            <a:r>
              <a:rPr lang="bg-BG" sz="1600" dirty="0" err="1"/>
              <a:t>Ur</a:t>
            </a:r>
            <a:r>
              <a:rPr lang="bg-BG" sz="1600" dirty="0"/>
              <a:t> + </a:t>
            </a:r>
            <a:r>
              <a:rPr lang="bg-BG" sz="1600" dirty="0" err="1"/>
              <a:t>Ud</a:t>
            </a:r>
            <a:r>
              <a:rPr lang="bg-BG" sz="1600" dirty="0"/>
              <a:t>; </a:t>
            </a:r>
            <a:r>
              <a:rPr lang="bg-BG" sz="1600" dirty="0" err="1"/>
              <a:t>Ur</a:t>
            </a:r>
            <a:r>
              <a:rPr lang="bg-BG" sz="1600" dirty="0"/>
              <a:t> = U1 - </a:t>
            </a:r>
            <a:r>
              <a:rPr lang="bg-BG" sz="1600" dirty="0" err="1"/>
              <a:t>Ud</a:t>
            </a:r>
            <a:r>
              <a:rPr lang="bg-BG" sz="1600" dirty="0"/>
              <a:t> = 10V - 8V = 2V</a:t>
            </a:r>
          </a:p>
          <a:p>
            <a:r>
              <a:rPr lang="bg-BG" sz="1600" dirty="0"/>
              <a:t>4) От законът на Ом =&gt; I = Ur / R1 = 2V / 1kOhm = 2mA</a:t>
            </a:r>
          </a:p>
          <a:p>
            <a:r>
              <a:rPr lang="bg-BG" sz="1600" dirty="0"/>
              <a:t>5) Мощността, разсейвана върху резистора е </a:t>
            </a:r>
            <a:r>
              <a:rPr lang="bg-BG" sz="1600" dirty="0" err="1"/>
              <a:t>Pr</a:t>
            </a:r>
            <a:r>
              <a:rPr lang="bg-BG" sz="1600" dirty="0"/>
              <a:t> = </a:t>
            </a:r>
            <a:r>
              <a:rPr lang="bg-BG" sz="1600" dirty="0" err="1"/>
              <a:t>Ur</a:t>
            </a:r>
            <a:r>
              <a:rPr lang="bg-BG" sz="1600" dirty="0"/>
              <a:t> . I = 2V . 2mA = 4mW</a:t>
            </a:r>
          </a:p>
          <a:p>
            <a:r>
              <a:rPr lang="bg-BG" sz="1600" dirty="0"/>
              <a:t>6) Мощността, разсейвана върху диода е </a:t>
            </a:r>
            <a:r>
              <a:rPr lang="bg-BG" sz="1600" dirty="0" err="1"/>
              <a:t>Pd</a:t>
            </a:r>
            <a:r>
              <a:rPr lang="bg-BG" sz="1600" dirty="0"/>
              <a:t> = </a:t>
            </a:r>
            <a:r>
              <a:rPr lang="bg-BG" sz="1600" dirty="0" err="1"/>
              <a:t>Ud</a:t>
            </a:r>
            <a:r>
              <a:rPr lang="bg-BG" sz="1600" dirty="0"/>
              <a:t> . I = 8V . 2mA = 16mW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3C88F5-9912-1D9C-D949-23C596CBB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192" y="5283376"/>
            <a:ext cx="3524742" cy="1324160"/>
          </a:xfrm>
          <a:prstGeom prst="rect">
            <a:avLst/>
          </a:prstGeom>
        </p:spPr>
      </p:pic>
      <p:pic>
        <p:nvPicPr>
          <p:cNvPr id="21" name="Picture 20" descr="Shape&#10;&#10;Description automatically generated">
            <a:extLst>
              <a:ext uri="{FF2B5EF4-FFF2-40B4-BE49-F238E27FC236}">
                <a16:creationId xmlns:a16="http://schemas.microsoft.com/office/drawing/2014/main" id="{9EAA3899-91DF-A305-2E29-DBED5EF908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778363"/>
            <a:ext cx="2523749" cy="238049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1F5F227-5280-B1EB-C505-3503684EA7A6}"/>
              </a:ext>
            </a:extLst>
          </p:cNvPr>
          <p:cNvSpPr txBox="1"/>
          <p:nvPr/>
        </p:nvSpPr>
        <p:spPr>
          <a:xfrm>
            <a:off x="10118134" y="1096654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Qx</a:t>
            </a:r>
            <a:r>
              <a:rPr lang="en-US" sz="1400" dirty="0"/>
              <a:t> = </a:t>
            </a:r>
            <a:r>
              <a:rPr lang="en-US" sz="1400" dirty="0" err="1"/>
              <a:t>Ud</a:t>
            </a:r>
            <a:endParaRPr lang="en-US" sz="1400" dirty="0"/>
          </a:p>
          <a:p>
            <a:r>
              <a:rPr lang="en-US" sz="1400" dirty="0" err="1"/>
              <a:t>Qy</a:t>
            </a:r>
            <a:r>
              <a:rPr lang="en-US" sz="1400" dirty="0"/>
              <a:t> = Id</a:t>
            </a:r>
            <a:endParaRPr lang="bg-BG" sz="1400" dirty="0"/>
          </a:p>
        </p:txBody>
      </p:sp>
    </p:spTree>
    <p:extLst>
      <p:ext uri="{BB962C8B-B14F-4D97-AF65-F5344CB8AC3E}">
        <p14:creationId xmlns:p14="http://schemas.microsoft.com/office/powerpoint/2010/main" val="487083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02D8D0B-6E8F-102D-F85A-F6CB3DE2B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27" y="1154700"/>
            <a:ext cx="2846521" cy="15697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6702C9-0BB4-8D69-E00E-298C178DA422}"/>
              </a:ext>
            </a:extLst>
          </p:cNvPr>
          <p:cNvSpPr txBox="1"/>
          <p:nvPr/>
        </p:nvSpPr>
        <p:spPr>
          <a:xfrm>
            <a:off x="263351" y="357990"/>
            <a:ext cx="67825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Като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използвате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прагов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модел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ценеров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диод,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определете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токовете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падовете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напрежение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разсейваните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мощности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върху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резистор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диод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bg-BG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5DBE9B-CFFC-08E7-D2EE-43DBE35C9AAF}"/>
              </a:ext>
            </a:extLst>
          </p:cNvPr>
          <p:cNvSpPr txBox="1"/>
          <p:nvPr/>
        </p:nvSpPr>
        <p:spPr>
          <a:xfrm>
            <a:off x="1239676" y="2951886"/>
            <a:ext cx="3272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Uz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= </a:t>
            </a:r>
            <a:r>
              <a:rPr lang="bg-BG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V, U1 = </a:t>
            </a:r>
            <a:r>
              <a:rPr lang="bg-BG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V, R1 = 1k</a:t>
            </a:r>
            <a:r>
              <a:rPr lang="el-GR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Ω</a:t>
            </a:r>
            <a:endParaRPr lang="bg-BG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0623B-A632-DD38-E1A7-DBD4110A8112}"/>
              </a:ext>
            </a:extLst>
          </p:cNvPr>
          <p:cNvSpPr txBox="1"/>
          <p:nvPr/>
        </p:nvSpPr>
        <p:spPr>
          <a:xfrm>
            <a:off x="191344" y="3593241"/>
            <a:ext cx="118093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600" dirty="0"/>
              <a:t>1) Източникът на напрежение U1, диодът D1 и резисторът R1 са свързани последователно =&gt; през тях тече еднакъв ток I.</a:t>
            </a:r>
          </a:p>
          <a:p>
            <a:r>
              <a:rPr lang="bg-BG" sz="1600" dirty="0"/>
              <a:t>2) Диодът е включен в обратна посока и U1 &lt; </a:t>
            </a:r>
            <a:r>
              <a:rPr lang="bg-BG" sz="1600" dirty="0" err="1"/>
              <a:t>Uz</a:t>
            </a:r>
            <a:r>
              <a:rPr lang="bg-BG" sz="1600" dirty="0"/>
              <a:t> =&gt; диодът е запушен и през него не тече ток, т.е. </a:t>
            </a:r>
            <a:r>
              <a:rPr lang="en-US" sz="1600" dirty="0"/>
              <a:t>I = 0A</a:t>
            </a:r>
            <a:r>
              <a:rPr lang="bg-BG" sz="1600" dirty="0"/>
              <a:t>.</a:t>
            </a:r>
            <a:endParaRPr lang="en-US" sz="1600" dirty="0"/>
          </a:p>
          <a:p>
            <a:r>
              <a:rPr lang="en-US" sz="1600" dirty="0"/>
              <a:t>3</a:t>
            </a:r>
            <a:r>
              <a:rPr lang="bg-BG" sz="1600" dirty="0"/>
              <a:t>) От законът на Ом =&gt; </a:t>
            </a:r>
            <a:r>
              <a:rPr lang="bg-BG" sz="1600" dirty="0" err="1"/>
              <a:t>Ur</a:t>
            </a:r>
            <a:r>
              <a:rPr lang="bg-BG" sz="1600" dirty="0"/>
              <a:t> </a:t>
            </a:r>
            <a:r>
              <a:rPr lang="en-US" sz="1600" dirty="0"/>
              <a:t>= </a:t>
            </a:r>
            <a:r>
              <a:rPr lang="bg-BG" sz="1600" dirty="0"/>
              <a:t>R1 </a:t>
            </a:r>
            <a:r>
              <a:rPr lang="en-US" sz="1600" dirty="0"/>
              <a:t>. I </a:t>
            </a:r>
            <a:r>
              <a:rPr lang="bg-BG" sz="1600" dirty="0"/>
              <a:t>= </a:t>
            </a:r>
            <a:r>
              <a:rPr lang="en-US" sz="1600"/>
              <a:t>1</a:t>
            </a:r>
            <a:r>
              <a:rPr lang="en-US" sz="1600" dirty="0"/>
              <a:t> </a:t>
            </a:r>
            <a:r>
              <a:rPr lang="bg-BG" sz="1600"/>
              <a:t>kOhm </a:t>
            </a:r>
            <a:r>
              <a:rPr lang="en-US" sz="1600" dirty="0"/>
              <a:t>. 0 </a:t>
            </a:r>
            <a:r>
              <a:rPr lang="bg-BG" sz="1600" dirty="0"/>
              <a:t>= </a:t>
            </a:r>
            <a:r>
              <a:rPr lang="en-US" sz="1600" dirty="0"/>
              <a:t>0V</a:t>
            </a:r>
            <a:endParaRPr lang="bg-BG" sz="1600" dirty="0"/>
          </a:p>
          <a:p>
            <a:r>
              <a:rPr lang="en-US" sz="1600" dirty="0"/>
              <a:t>4</a:t>
            </a:r>
            <a:r>
              <a:rPr lang="bg-BG" sz="1600" dirty="0"/>
              <a:t>) От законът на </a:t>
            </a:r>
            <a:r>
              <a:rPr lang="bg-BG" sz="1600" dirty="0" err="1"/>
              <a:t>Кирхоф</a:t>
            </a:r>
            <a:r>
              <a:rPr lang="bg-BG" sz="1600" dirty="0"/>
              <a:t> за напреженията =&gt; U1 = </a:t>
            </a:r>
            <a:r>
              <a:rPr lang="bg-BG" sz="1600" dirty="0" err="1"/>
              <a:t>Ur</a:t>
            </a:r>
            <a:r>
              <a:rPr lang="bg-BG" sz="1600" dirty="0"/>
              <a:t> + </a:t>
            </a:r>
            <a:r>
              <a:rPr lang="bg-BG" sz="1600" dirty="0" err="1"/>
              <a:t>Ud</a:t>
            </a:r>
            <a:r>
              <a:rPr lang="bg-BG" sz="1600" dirty="0"/>
              <a:t>; U</a:t>
            </a:r>
            <a:r>
              <a:rPr lang="en-US" sz="1600" dirty="0"/>
              <a:t>d</a:t>
            </a:r>
            <a:r>
              <a:rPr lang="bg-BG" sz="1600" dirty="0"/>
              <a:t> = U1 - U</a:t>
            </a:r>
            <a:r>
              <a:rPr lang="en-US" sz="1600" dirty="0"/>
              <a:t>r</a:t>
            </a:r>
            <a:r>
              <a:rPr lang="bg-BG" sz="1600" dirty="0"/>
              <a:t> = </a:t>
            </a:r>
            <a:r>
              <a:rPr lang="en-US" sz="1600" dirty="0"/>
              <a:t>8</a:t>
            </a:r>
            <a:r>
              <a:rPr lang="bg-BG" sz="1600" dirty="0"/>
              <a:t>V - </a:t>
            </a:r>
            <a:r>
              <a:rPr lang="en-US" sz="1600" dirty="0"/>
              <a:t>0</a:t>
            </a:r>
            <a:r>
              <a:rPr lang="bg-BG" sz="1600" dirty="0"/>
              <a:t>V = </a:t>
            </a:r>
            <a:r>
              <a:rPr lang="en-US" sz="1600" dirty="0"/>
              <a:t>8</a:t>
            </a:r>
            <a:r>
              <a:rPr lang="bg-BG" sz="1600" dirty="0"/>
              <a:t>V</a:t>
            </a:r>
          </a:p>
          <a:p>
            <a:r>
              <a:rPr lang="bg-BG" sz="1600" dirty="0"/>
              <a:t>5) Мощността, разсейвана върху резистора е </a:t>
            </a:r>
            <a:r>
              <a:rPr lang="bg-BG" sz="1600" dirty="0" err="1"/>
              <a:t>Pr</a:t>
            </a:r>
            <a:r>
              <a:rPr lang="bg-BG" sz="1600" dirty="0"/>
              <a:t> = </a:t>
            </a:r>
            <a:r>
              <a:rPr lang="bg-BG" sz="1600" dirty="0" err="1"/>
              <a:t>Ur</a:t>
            </a:r>
            <a:r>
              <a:rPr lang="bg-BG" sz="1600" dirty="0"/>
              <a:t> . I = </a:t>
            </a:r>
            <a:r>
              <a:rPr lang="en-US" sz="1600" dirty="0"/>
              <a:t>0</a:t>
            </a:r>
            <a:r>
              <a:rPr lang="bg-BG" sz="1600" dirty="0"/>
              <a:t>W</a:t>
            </a:r>
          </a:p>
          <a:p>
            <a:r>
              <a:rPr lang="bg-BG" sz="1600" dirty="0"/>
              <a:t>6) Мощността, разсейвана върху диода е </a:t>
            </a:r>
            <a:r>
              <a:rPr lang="bg-BG" sz="1600" dirty="0" err="1"/>
              <a:t>Pd</a:t>
            </a:r>
            <a:r>
              <a:rPr lang="bg-BG" sz="1600" dirty="0"/>
              <a:t> = </a:t>
            </a:r>
            <a:r>
              <a:rPr lang="bg-BG" sz="1600" dirty="0" err="1"/>
              <a:t>Ud</a:t>
            </a:r>
            <a:r>
              <a:rPr lang="bg-BG" sz="1600" dirty="0"/>
              <a:t> . I = </a:t>
            </a:r>
            <a:r>
              <a:rPr lang="en-US" sz="1600" dirty="0"/>
              <a:t>0</a:t>
            </a:r>
            <a:r>
              <a:rPr lang="bg-BG" sz="1600" dirty="0"/>
              <a:t>W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6FE4442C-662A-9FF3-E794-B8B8F6B146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136" y="858529"/>
            <a:ext cx="2523749" cy="2380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D8D1F9-378A-51CF-9736-8D8243C88D2E}"/>
              </a:ext>
            </a:extLst>
          </p:cNvPr>
          <p:cNvSpPr txBox="1"/>
          <p:nvPr/>
        </p:nvSpPr>
        <p:spPr>
          <a:xfrm>
            <a:off x="10118134" y="1096654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Qx</a:t>
            </a:r>
            <a:r>
              <a:rPr lang="en-US" sz="1400" dirty="0"/>
              <a:t> = </a:t>
            </a:r>
            <a:r>
              <a:rPr lang="en-US" sz="1400" dirty="0" err="1"/>
              <a:t>Ud</a:t>
            </a:r>
            <a:endParaRPr lang="en-US" sz="1400" dirty="0"/>
          </a:p>
          <a:p>
            <a:r>
              <a:rPr lang="en-US" sz="1400" dirty="0" err="1"/>
              <a:t>Qy</a:t>
            </a:r>
            <a:r>
              <a:rPr lang="en-US" sz="1400" dirty="0"/>
              <a:t> = Id</a:t>
            </a:r>
            <a:endParaRPr lang="bg-BG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27EE20-E3A2-309E-27B7-83CF1EE6B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200" y="5375496"/>
            <a:ext cx="3505689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32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7C7939-4B07-4ED1-82C8-2336C7708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04" y="800100"/>
            <a:ext cx="6163535" cy="52680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68AFF08-F410-4AF9-A26D-3CA819A67601}"/>
              </a:ext>
            </a:extLst>
          </p:cNvPr>
          <p:cNvSpPr/>
          <p:nvPr/>
        </p:nvSpPr>
        <p:spPr>
          <a:xfrm>
            <a:off x="313801" y="4643681"/>
            <a:ext cx="187220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94CD6E72-E762-A5BE-5E0D-8FFBB3C1EB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1916832"/>
            <a:ext cx="2523749" cy="23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31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6802CF-2244-4B0A-BF4F-1572D78CC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692696"/>
            <a:ext cx="6182588" cy="452500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F3CBADB-03FA-4F82-87FC-E2F2C3B1549B}"/>
              </a:ext>
            </a:extLst>
          </p:cNvPr>
          <p:cNvSpPr/>
          <p:nvPr/>
        </p:nvSpPr>
        <p:spPr>
          <a:xfrm>
            <a:off x="220463" y="4778855"/>
            <a:ext cx="187220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A493EDAC-58D1-1EF0-0C32-6057A4D52A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184" y="1916832"/>
            <a:ext cx="2523749" cy="23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57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0"/>
            <a:ext cx="9144000" cy="47667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Параметри – напрежение на пробив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12024" y="1872838"/>
            <a:ext cx="45436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/>
              <a:t>Ценеровите диоди се характеризират с напрежение на пробив </a:t>
            </a:r>
            <a:r>
              <a:rPr lang="en-US" dirty="0"/>
              <a:t>U</a:t>
            </a:r>
            <a:r>
              <a:rPr lang="en-US" baseline="-25000" dirty="0"/>
              <a:t>Z</a:t>
            </a:r>
            <a:r>
              <a:rPr lang="bg-BG" dirty="0"/>
              <a:t>, което се задава за конкретен ток </a:t>
            </a:r>
            <a:r>
              <a:rPr lang="en-US" dirty="0"/>
              <a:t>I</a:t>
            </a:r>
            <a:r>
              <a:rPr lang="en-US" baseline="-25000" dirty="0"/>
              <a:t>Z</a:t>
            </a:r>
            <a:r>
              <a:rPr lang="en-US" dirty="0"/>
              <a:t>.</a:t>
            </a:r>
            <a:endParaRPr lang="bg-BG" dirty="0"/>
          </a:p>
        </p:txBody>
      </p:sp>
      <p:sp>
        <p:nvSpPr>
          <p:cNvPr id="18" name="Text Box 34"/>
          <p:cNvSpPr txBox="1">
            <a:spLocks noChangeArrowheads="1"/>
          </p:cNvSpPr>
          <p:nvPr/>
        </p:nvSpPr>
        <p:spPr bwMode="auto">
          <a:xfrm>
            <a:off x="551383" y="3994107"/>
            <a:ext cx="1011661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800" i="0" dirty="0"/>
              <a:t>Пробивното напрежение </a:t>
            </a:r>
            <a:r>
              <a:rPr lang="en-US" sz="1800" dirty="0"/>
              <a:t>U</a:t>
            </a:r>
            <a:r>
              <a:rPr lang="en-US" sz="1800" baseline="-25000" dirty="0"/>
              <a:t>Z</a:t>
            </a:r>
            <a:r>
              <a:rPr lang="en-US" sz="1800" i="0" dirty="0"/>
              <a:t> </a:t>
            </a:r>
            <a:r>
              <a:rPr lang="bg-BG" sz="1800" i="0" dirty="0"/>
              <a:t> е от порядъка на няколко волта до няколко стотици волта. За всеки ценеров диод се задават и толерансите за </a:t>
            </a:r>
            <a:r>
              <a:rPr lang="bg-BG" sz="1800" i="0" dirty="0" err="1"/>
              <a:t>ценеровото</a:t>
            </a:r>
            <a:r>
              <a:rPr lang="bg-BG" sz="1800" i="0" dirty="0"/>
              <a:t> напрежение. </a:t>
            </a:r>
          </a:p>
          <a:p>
            <a:endParaRPr lang="bg-BG" sz="800" i="0" dirty="0"/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1A5EB32A-745A-8321-4BF0-4B54CDF604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6" y="1236771"/>
            <a:ext cx="2606045" cy="23804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760994-6EF9-A04F-2AA0-7614A7A58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25" y="4723945"/>
            <a:ext cx="9173855" cy="18576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0649C-3CC5-9C0C-E255-44437D34B4D2}"/>
              </a:ext>
            </a:extLst>
          </p:cNvPr>
          <p:cNvSpPr txBox="1"/>
          <p:nvPr/>
        </p:nvSpPr>
        <p:spPr>
          <a:xfrm>
            <a:off x="10560496" y="6560983"/>
            <a:ext cx="18952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BZX84C36VLY</a:t>
            </a:r>
            <a:endParaRPr lang="bg-BG" sz="1200" dirty="0"/>
          </a:p>
        </p:txBody>
      </p:sp>
    </p:spTree>
    <p:extLst>
      <p:ext uri="{BB962C8B-B14F-4D97-AF65-F5344CB8AC3E}">
        <p14:creationId xmlns:p14="http://schemas.microsoft.com/office/powerpoint/2010/main" val="3276455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206625" y="0"/>
            <a:ext cx="77724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Динамично съпротивление </a:t>
            </a:r>
            <a:r>
              <a:rPr lang="en-US" sz="2400" dirty="0" err="1">
                <a:solidFill>
                  <a:schemeClr val="tx1"/>
                </a:solidFill>
                <a:latin typeface="Arial Narrow" pitchFamily="34" charset="0"/>
              </a:rPr>
              <a:t>r</a:t>
            </a:r>
            <a:r>
              <a:rPr lang="en-US" sz="2400" baseline="-25000" dirty="0" err="1">
                <a:solidFill>
                  <a:schemeClr val="tx1"/>
                </a:solidFill>
                <a:latin typeface="Arial Narrow" pitchFamily="34" charset="0"/>
              </a:rPr>
              <a:t>Z</a:t>
            </a:r>
            <a:endParaRPr lang="en-US" sz="2400" baseline="-250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75920" y="2383720"/>
            <a:ext cx="6321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bg-BG" dirty="0"/>
              <a:t>Динамичното</a:t>
            </a:r>
            <a:r>
              <a:rPr lang="en-US" dirty="0"/>
              <a:t> (</a:t>
            </a:r>
            <a:r>
              <a:rPr lang="bg-BG" dirty="0"/>
              <a:t>променливотоково</a:t>
            </a:r>
            <a:r>
              <a:rPr lang="en-US" dirty="0"/>
              <a:t>) </a:t>
            </a:r>
            <a:r>
              <a:rPr lang="bg-BG" b="1" dirty="0">
                <a:solidFill>
                  <a:schemeClr val="accent2"/>
                </a:solidFill>
              </a:rPr>
              <a:t>съпротивление</a:t>
            </a:r>
            <a:r>
              <a:rPr lang="en-US" dirty="0"/>
              <a:t> </a:t>
            </a:r>
            <a:r>
              <a:rPr lang="en-US" i="1" dirty="0" err="1"/>
              <a:t>r</a:t>
            </a:r>
            <a:r>
              <a:rPr lang="en-US" i="1" baseline="-25000" dirty="0" err="1"/>
              <a:t>Z</a:t>
            </a:r>
            <a:r>
              <a:rPr lang="en-US" dirty="0"/>
              <a:t> </a:t>
            </a:r>
            <a:r>
              <a:rPr lang="bg-BG" dirty="0"/>
              <a:t>се дефинира като отношение на нарастъка на напрежението и нарастъка на тока около дадена работна точка. </a:t>
            </a:r>
          </a:p>
        </p:txBody>
      </p:sp>
      <p:sp>
        <p:nvSpPr>
          <p:cNvPr id="6" name="Rectangle 5"/>
          <p:cNvSpPr/>
          <p:nvPr/>
        </p:nvSpPr>
        <p:spPr>
          <a:xfrm>
            <a:off x="839416" y="4437113"/>
            <a:ext cx="10585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bg-BG" dirty="0"/>
              <a:t>Колкото по-малко е динамичното съпротивление, толкова характеристиката е по-стръмна и диодът е по-добър като стабилизатор на напрежение.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600057" y="1363598"/>
                <a:ext cx="2880320" cy="668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𝑟</m:t>
                    </m:r>
                    <m:r>
                      <a:rPr lang="en-US" sz="240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𝑑𝑈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𝑍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𝑑𝐼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𝑍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Cambria Math"/>
                      </a:rPr>
                      <m:t>≈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𝑍</m:t>
                            </m:r>
                            <m:r>
                              <a:rPr lang="bg-BG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bg-BG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𝑍</m:t>
                            </m:r>
                            <m:r>
                              <a:rPr lang="bg-BG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𝑍</m:t>
                            </m:r>
                            <m:r>
                              <a:rPr lang="bg-BG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bg-BG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𝑍</m:t>
                            </m:r>
                            <m:r>
                              <a:rPr lang="bg-BG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57" y="1363598"/>
                <a:ext cx="2880320" cy="6680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EB6EA224-584A-BBC1-2B10-79E59F3D20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810502"/>
            <a:ext cx="3470141" cy="316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08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06625" y="0"/>
            <a:ext cx="77724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Температурен коефициент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12" name="Rectangle 38"/>
          <p:cNvSpPr>
            <a:spLocks noChangeArrowheads="1"/>
          </p:cNvSpPr>
          <p:nvPr/>
        </p:nvSpPr>
        <p:spPr bwMode="auto">
          <a:xfrm>
            <a:off x="1524000" y="251314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Rectangle 40"/>
          <p:cNvSpPr>
            <a:spLocks noChangeArrowheads="1"/>
          </p:cNvSpPr>
          <p:nvPr/>
        </p:nvSpPr>
        <p:spPr bwMode="auto">
          <a:xfrm>
            <a:off x="1524000" y="252425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76228" y="1807657"/>
                <a:ext cx="2746841" cy="656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𝑇𝐾𝑈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𝑧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baseline="30000" dirty="0"/>
                        <m:t>o</m:t>
                      </m:r>
                      <m:r>
                        <m:rPr>
                          <m:nor/>
                        </m:rPr>
                        <a:rPr lang="en-US" dirty="0"/>
                        <m:t>C</m:t>
                      </m:r>
                      <m:r>
                        <m:rPr>
                          <m:nor/>
                        </m:rPr>
                        <a:rPr lang="en-US" b="0" i="0" dirty="0" smtClean="0"/>
                        <m:t>]</m:t>
                      </m:r>
                      <m:r>
                        <a:rPr lang="en-US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28" y="1807657"/>
                <a:ext cx="2746841" cy="6562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583832" y="2179797"/>
            <a:ext cx="1331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i="1" baseline="-25000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bg-BG" sz="2000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bg-BG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const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Box 36"/>
          <p:cNvSpPr txBox="1">
            <a:spLocks noChangeArrowheads="1"/>
          </p:cNvSpPr>
          <p:nvPr/>
        </p:nvSpPr>
        <p:spPr bwMode="auto">
          <a:xfrm>
            <a:off x="740647" y="4365104"/>
            <a:ext cx="968913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800" b="1" i="0" dirty="0">
                <a:solidFill>
                  <a:schemeClr val="accent2"/>
                </a:solidFill>
              </a:rPr>
              <a:t>Температурният коефициент на напрежението на пробив</a:t>
            </a:r>
            <a:r>
              <a:rPr lang="bg-BG" sz="1800" i="0" dirty="0">
                <a:solidFill>
                  <a:schemeClr val="accent2"/>
                </a:solidFill>
              </a:rPr>
              <a:t>  </a:t>
            </a:r>
            <a:r>
              <a:rPr lang="en-US" sz="1800" dirty="0"/>
              <a:t>TKU</a:t>
            </a:r>
            <a:r>
              <a:rPr lang="en-US" sz="1800" baseline="-25000" dirty="0"/>
              <a:t>Z</a:t>
            </a:r>
            <a:r>
              <a:rPr lang="en-US" sz="1800" i="0" dirty="0"/>
              <a:t> </a:t>
            </a:r>
            <a:r>
              <a:rPr lang="bg-BG" sz="1800" i="0" dirty="0"/>
              <a:t>отчита влиянието на температурата върху стойността на пробивното напрежение в </a:t>
            </a:r>
            <a:r>
              <a:rPr lang="en-US" sz="1800" i="0" dirty="0"/>
              <a:t>mV/</a:t>
            </a:r>
            <a:r>
              <a:rPr lang="en-US" sz="1800" i="0" baseline="30000" dirty="0" err="1"/>
              <a:t>o</a:t>
            </a:r>
            <a:r>
              <a:rPr lang="en-US" sz="1800" i="0" dirty="0" err="1"/>
              <a:t>C</a:t>
            </a:r>
            <a:r>
              <a:rPr lang="en-US" sz="1800" i="0" dirty="0"/>
              <a:t> </a:t>
            </a:r>
            <a:r>
              <a:rPr lang="bg-BG" sz="1800" i="0" dirty="0"/>
              <a:t>или </a:t>
            </a:r>
            <a:r>
              <a:rPr lang="en-US" sz="1800" i="0" dirty="0"/>
              <a:t>%/</a:t>
            </a:r>
            <a:r>
              <a:rPr lang="en-US" sz="1800" i="0" baseline="30000" dirty="0"/>
              <a:t> </a:t>
            </a:r>
            <a:r>
              <a:rPr lang="en-US" sz="1800" i="0" baseline="30000" dirty="0" err="1"/>
              <a:t>o</a:t>
            </a:r>
            <a:r>
              <a:rPr lang="en-US" sz="1800" i="0" dirty="0" err="1"/>
              <a:t>C</a:t>
            </a:r>
            <a:r>
              <a:rPr lang="bg-BG" sz="1800" i="0" dirty="0"/>
              <a:t>. </a:t>
            </a:r>
            <a:r>
              <a:rPr lang="bg-BG" sz="1800" b="1" i="0" dirty="0"/>
              <a:t> </a:t>
            </a:r>
            <a:endParaRPr lang="en-US" sz="1800" b="1" i="0" dirty="0"/>
          </a:p>
          <a:p>
            <a:endParaRPr lang="en-US" sz="800" b="1" i="0" dirty="0"/>
          </a:p>
          <a:p>
            <a:r>
              <a:rPr lang="bg-BG" sz="1800" i="0" dirty="0"/>
              <a:t>Той може</a:t>
            </a:r>
            <a:r>
              <a:rPr lang="en-US" sz="1800" i="0" dirty="0"/>
              <a:t> </a:t>
            </a:r>
            <a:r>
              <a:rPr lang="bg-BG" sz="1800" i="0" dirty="0"/>
              <a:t>се дефинира и</a:t>
            </a:r>
            <a:r>
              <a:rPr lang="en-US" sz="1800" i="0" dirty="0"/>
              <a:t> </a:t>
            </a:r>
            <a:r>
              <a:rPr lang="bg-BG" sz="1800" i="0" dirty="0"/>
              <a:t>с процентното изменение на напрежението </a:t>
            </a:r>
            <a:r>
              <a:rPr lang="en-US" sz="1800" i="0" dirty="0"/>
              <a:t>U</a:t>
            </a:r>
            <a:r>
              <a:rPr lang="en-US" sz="1800" i="0" baseline="-25000" dirty="0"/>
              <a:t>Z</a:t>
            </a:r>
            <a:r>
              <a:rPr lang="en-US" sz="1800" i="0" dirty="0"/>
              <a:t> </a:t>
            </a:r>
            <a:r>
              <a:rPr lang="bg-BG" sz="1800" i="0" dirty="0"/>
              <a:t>спрямо промяната на температурата. </a:t>
            </a: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DBF3A973-05A4-4DAC-8C71-AC4FE7C429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16" t="-1954" b="1954"/>
          <a:stretch/>
        </p:blipFill>
        <p:spPr bwMode="auto">
          <a:xfrm>
            <a:off x="6600056" y="1156607"/>
            <a:ext cx="28385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2FE782-B88B-44DB-B648-9A25BBB17277}"/>
                  </a:ext>
                </a:extLst>
              </p:cNvPr>
              <p:cNvSpPr txBox="1"/>
              <p:nvPr/>
            </p:nvSpPr>
            <p:spPr>
              <a:xfrm>
                <a:off x="976228" y="2668255"/>
                <a:ext cx="2969531" cy="660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𝑇𝐾𝑈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𝑧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[%/</m:t>
                      </m:r>
                      <m:r>
                        <m:rPr>
                          <m:nor/>
                        </m:rPr>
                        <a:rPr lang="en-US" baseline="30000" dirty="0"/>
                        <m:t>o</m:t>
                      </m:r>
                      <m:r>
                        <m:rPr>
                          <m:nor/>
                        </m:rPr>
                        <a:rPr lang="en-US" dirty="0"/>
                        <m:t>C</m:t>
                      </m:r>
                      <m:r>
                        <m:rPr>
                          <m:nor/>
                        </m:rPr>
                        <a:rPr lang="en-US" b="0" i="0" dirty="0" smtClean="0"/>
                        <m:t>]</m:t>
                      </m:r>
                      <m:r>
                        <a:rPr lang="en-US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𝑍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2FE782-B88B-44DB-B648-9A25BBB17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28" y="2668255"/>
                <a:ext cx="2969531" cy="6600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028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C2C1A-E924-4E6B-9C2B-99272981E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15" y="1533260"/>
            <a:ext cx="8202170" cy="3791479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D0C48A7B-1C9E-3772-9031-D20062E98B5F}"/>
              </a:ext>
            </a:extLst>
          </p:cNvPr>
          <p:cNvSpPr txBox="1">
            <a:spLocks noChangeArrowheads="1"/>
          </p:cNvSpPr>
          <p:nvPr/>
        </p:nvSpPr>
        <p:spPr>
          <a:xfrm>
            <a:off x="2209800" y="0"/>
            <a:ext cx="77724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kern="0" dirty="0">
                <a:solidFill>
                  <a:schemeClr val="tx1"/>
                </a:solidFill>
                <a:latin typeface="Arial Narrow" pitchFamily="34" charset="0"/>
              </a:rPr>
              <a:t>Влияние на температурата</a:t>
            </a:r>
            <a:endParaRPr lang="en-US" sz="2400" kern="0" dirty="0">
              <a:solidFill>
                <a:schemeClr val="tx1"/>
              </a:solidFill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34F12F-E80D-5D6C-1FE5-968B938C21CD}"/>
                  </a:ext>
                </a:extLst>
              </p:cNvPr>
              <p:cNvSpPr txBox="1"/>
              <p:nvPr/>
            </p:nvSpPr>
            <p:spPr>
              <a:xfrm>
                <a:off x="335360" y="1533260"/>
                <a:ext cx="3041794" cy="663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𝑇𝐾𝑈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𝑧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baseline="30000" dirty="0"/>
                        <m:t>o</m:t>
                      </m:r>
                      <m:r>
                        <m:rPr>
                          <m:nor/>
                        </m:rPr>
                        <a:rPr lang="en-US" dirty="0"/>
                        <m:t>C</m:t>
                      </m:r>
                      <m:r>
                        <m:rPr>
                          <m:nor/>
                        </m:rPr>
                        <a:rPr lang="en-US" b="0" i="0" dirty="0" smtClean="0"/>
                        <m:t>]</m:t>
                      </m:r>
                      <m:r>
                        <a:rPr lang="en-US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34F12F-E80D-5D6C-1FE5-968B938C2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1533260"/>
                <a:ext cx="3041794" cy="6636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43B3CB-A782-72B3-1677-708AFCCF1158}"/>
              </a:ext>
            </a:extLst>
          </p:cNvPr>
          <p:cNvCxnSpPr/>
          <p:nvPr/>
        </p:nvCxnSpPr>
        <p:spPr>
          <a:xfrm>
            <a:off x="2783632" y="2924944"/>
            <a:ext cx="7272808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5B216A-4FB3-18D0-F607-A487CD1D557D}"/>
              </a:ext>
            </a:extLst>
          </p:cNvPr>
          <p:cNvSpPr txBox="1"/>
          <p:nvPr/>
        </p:nvSpPr>
        <p:spPr>
          <a:xfrm>
            <a:off x="10175044" y="2740278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I=const</a:t>
            </a:r>
            <a:endParaRPr lang="bg-BG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45B0E-A68D-23E1-4F58-C79F90A7619D}"/>
              </a:ext>
            </a:extLst>
          </p:cNvPr>
          <p:cNvSpPr txBox="1"/>
          <p:nvPr/>
        </p:nvSpPr>
        <p:spPr>
          <a:xfrm>
            <a:off x="2037985" y="3212134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TKUz</a:t>
            </a:r>
            <a:r>
              <a:rPr lang="en-US" i="1" dirty="0"/>
              <a:t> &lt; 0</a:t>
            </a:r>
            <a:endParaRPr lang="bg-BG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8021D-5634-1815-7F1E-01F5FABA402D}"/>
              </a:ext>
            </a:extLst>
          </p:cNvPr>
          <p:cNvSpPr txBox="1"/>
          <p:nvPr/>
        </p:nvSpPr>
        <p:spPr>
          <a:xfrm>
            <a:off x="9083538" y="3315204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TKUz</a:t>
            </a:r>
            <a:r>
              <a:rPr lang="en-US" i="1" dirty="0"/>
              <a:t> &gt; 0</a:t>
            </a:r>
            <a:endParaRPr lang="bg-BG" i="1" dirty="0"/>
          </a:p>
        </p:txBody>
      </p:sp>
    </p:spTree>
    <p:extLst>
      <p:ext uri="{BB962C8B-B14F-4D97-AF65-F5344CB8AC3E}">
        <p14:creationId xmlns:p14="http://schemas.microsoft.com/office/powerpoint/2010/main" val="3813053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99BD90-58DE-4923-BCD7-71061551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620688"/>
            <a:ext cx="5572903" cy="4953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40F5B3-556E-4531-8417-84D36D9E9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222" y="620688"/>
            <a:ext cx="5772956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55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24001" y="0"/>
            <a:ext cx="9143999" cy="69269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Максимална мощност</a:t>
            </a:r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auto">
          <a:xfrm>
            <a:off x="670720" y="4088352"/>
            <a:ext cx="11521280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>
              <a:spcBef>
                <a:spcPct val="50000"/>
              </a:spcBef>
            </a:pPr>
            <a:r>
              <a:rPr lang="bg-BG" sz="1800" i="0" dirty="0"/>
              <a:t>Мощността, отделена в </a:t>
            </a:r>
            <a:r>
              <a:rPr lang="bg-BG" sz="1800" i="0" dirty="0" err="1"/>
              <a:t>ценеровия</a:t>
            </a:r>
            <a:r>
              <a:rPr lang="bg-BG" sz="1800" i="0" dirty="0"/>
              <a:t> диод, работещ в режим на пробив е </a:t>
            </a:r>
            <a:r>
              <a:rPr lang="en-US" sz="1800" dirty="0"/>
              <a:t>P</a:t>
            </a:r>
            <a:r>
              <a:rPr lang="en-US" sz="1800" baseline="-25000" dirty="0"/>
              <a:t>Z</a:t>
            </a:r>
            <a:r>
              <a:rPr lang="en-US" sz="1800" i="0" dirty="0"/>
              <a:t> = </a:t>
            </a:r>
            <a:r>
              <a:rPr lang="en-US" sz="1800" dirty="0" err="1"/>
              <a:t>U</a:t>
            </a:r>
            <a:r>
              <a:rPr lang="en-US" sz="1800" baseline="-25000" dirty="0" err="1"/>
              <a:t>z</a:t>
            </a:r>
            <a:r>
              <a:rPr lang="en-US" sz="1800" dirty="0" err="1"/>
              <a:t>.I</a:t>
            </a:r>
            <a:r>
              <a:rPr lang="en-US" sz="1800" baseline="-25000" dirty="0" err="1"/>
              <a:t>z</a:t>
            </a:r>
            <a:r>
              <a:rPr lang="en-US" sz="1800" i="0" dirty="0"/>
              <a:t>.</a:t>
            </a:r>
            <a:r>
              <a:rPr lang="en-US" sz="1800" dirty="0"/>
              <a:t> </a:t>
            </a:r>
            <a:endParaRPr lang="bg-BG" sz="1800" dirty="0"/>
          </a:p>
          <a:p>
            <a:pPr lvl="0">
              <a:spcBef>
                <a:spcPct val="50000"/>
              </a:spcBef>
            </a:pPr>
            <a:r>
              <a:rPr lang="bg-BG" sz="1800" b="1" i="0" dirty="0"/>
              <a:t>Максимално допустимата мощност</a:t>
            </a:r>
            <a:r>
              <a:rPr lang="bg-BG" sz="1800" i="0" dirty="0"/>
              <a:t> </a:t>
            </a:r>
            <a:r>
              <a:rPr lang="en-US" sz="1800" dirty="0" err="1"/>
              <a:t>P</a:t>
            </a:r>
            <a:r>
              <a:rPr lang="en-US" sz="1800" baseline="-25000" dirty="0" err="1"/>
              <a:t>Zmax</a:t>
            </a:r>
            <a:r>
              <a:rPr lang="en-US" sz="1800" i="0" baseline="-25000" dirty="0"/>
              <a:t> </a:t>
            </a:r>
            <a:r>
              <a:rPr lang="bg-BG" sz="1800" i="0" dirty="0"/>
              <a:t>е най-голямата мощност, разсейвана от </a:t>
            </a:r>
            <a:r>
              <a:rPr lang="en-US" sz="1800" i="0" dirty="0"/>
              <a:t>p-n </a:t>
            </a:r>
            <a:r>
              <a:rPr lang="bg-BG" sz="1800" i="0" dirty="0"/>
              <a:t>прехода, при която не възниква топлинен пробив. </a:t>
            </a:r>
          </a:p>
          <a:p>
            <a:pPr lvl="0">
              <a:spcBef>
                <a:spcPct val="50000"/>
              </a:spcBef>
            </a:pPr>
            <a:r>
              <a:rPr lang="bg-BG" sz="1800" i="0" dirty="0"/>
              <a:t>Докато</a:t>
            </a:r>
            <a:r>
              <a:rPr lang="bg-BG" sz="1800" dirty="0"/>
              <a:t> </a:t>
            </a:r>
            <a:r>
              <a:rPr lang="bg-BG" sz="1800" i="0" dirty="0"/>
              <a:t>отделената мощност</a:t>
            </a:r>
            <a:r>
              <a:rPr lang="bg-BG" sz="1800" dirty="0"/>
              <a:t> </a:t>
            </a:r>
            <a:r>
              <a:rPr lang="en-US" sz="1800" dirty="0"/>
              <a:t>P</a:t>
            </a:r>
            <a:r>
              <a:rPr lang="en-US" sz="1800" baseline="-25000" dirty="0"/>
              <a:t>Z</a:t>
            </a:r>
            <a:r>
              <a:rPr lang="en-US" sz="1800" i="0" dirty="0"/>
              <a:t> </a:t>
            </a:r>
            <a:r>
              <a:rPr lang="bg-BG" sz="1800" i="0" dirty="0"/>
              <a:t>не надвиши максимално допустимата мощност</a:t>
            </a:r>
            <a:r>
              <a:rPr lang="en-US" dirty="0"/>
              <a:t> </a:t>
            </a:r>
            <a:r>
              <a:rPr lang="en-US" sz="1800" dirty="0" err="1"/>
              <a:t>P</a:t>
            </a:r>
            <a:r>
              <a:rPr lang="en-US" sz="1800" baseline="-25000" dirty="0" err="1"/>
              <a:t>Z</a:t>
            </a:r>
            <a:r>
              <a:rPr lang="en-US" sz="1800" i="0" baseline="-25000" dirty="0" err="1"/>
              <a:t>max</a:t>
            </a:r>
            <a:r>
              <a:rPr lang="en-US" sz="1800" i="0" dirty="0"/>
              <a:t> </a:t>
            </a:r>
            <a:r>
              <a:rPr lang="bg-BG" sz="1800" i="0" dirty="0"/>
              <a:t>ценеровият диод работи в областта на електрически</a:t>
            </a:r>
            <a:r>
              <a:rPr lang="en-US" sz="1800" i="0" dirty="0"/>
              <a:t> </a:t>
            </a:r>
            <a:r>
              <a:rPr lang="bg-BG" sz="1800" i="0" dirty="0"/>
              <a:t>пробив без да се разруши. </a:t>
            </a:r>
            <a:endParaRPr lang="en-US" dirty="0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E103D2E2-5E87-D9F3-227F-4F66F85B9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695128"/>
            <a:ext cx="2846521" cy="15697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D40A0C-B6B8-8C83-EEC3-8EBCEEF15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492" y="1978846"/>
            <a:ext cx="7640116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56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07B086-54BF-4DA5-B4A2-8378FE47D9CF}"/>
              </a:ext>
            </a:extLst>
          </p:cNvPr>
          <p:cNvSpPr txBox="1"/>
          <p:nvPr/>
        </p:nvSpPr>
        <p:spPr>
          <a:xfrm>
            <a:off x="11136560" y="6581001"/>
            <a:ext cx="1368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EDZV10B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C5213C-46D8-4343-B6C9-066970F74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1124744"/>
            <a:ext cx="4672677" cy="4160495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52D65C22-CB6C-016B-2B1A-3E4525E5A25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1" y="0"/>
            <a:ext cx="9143999" cy="69269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Максимална мощност</a:t>
            </a:r>
          </a:p>
        </p:txBody>
      </p:sp>
    </p:spTree>
    <p:extLst>
      <p:ext uri="{BB962C8B-B14F-4D97-AF65-F5344CB8AC3E}">
        <p14:creationId xmlns:p14="http://schemas.microsoft.com/office/powerpoint/2010/main" val="214465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95513" y="0"/>
            <a:ext cx="7772400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Приложения</a:t>
            </a:r>
            <a:r>
              <a:rPr lang="en-US" sz="2400" dirty="0">
                <a:solidFill>
                  <a:schemeClr val="tx1"/>
                </a:solidFill>
                <a:latin typeface="Arial Narrow" pitchFamily="34" charset="0"/>
              </a:rPr>
              <a:t> –</a:t>
            </a: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 стабилизатор на напрежение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F3E4EB-1C61-C059-E8A0-58FC8CFA3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537772"/>
            <a:ext cx="3672408" cy="2705413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B364919F-FE9E-C6FC-57BE-EE27B6B10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4941168"/>
            <a:ext cx="10873207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bg-BG" dirty="0"/>
              <a:t>Товарът </a:t>
            </a:r>
            <a:r>
              <a:rPr lang="en-US" i="1" dirty="0"/>
              <a:t>R</a:t>
            </a:r>
            <a:r>
              <a:rPr lang="en-US" i="1" baseline="-25000" dirty="0"/>
              <a:t>LOAD</a:t>
            </a:r>
            <a:r>
              <a:rPr lang="en-US" i="1" dirty="0"/>
              <a:t> </a:t>
            </a:r>
            <a:r>
              <a:rPr lang="bg-BG" dirty="0"/>
              <a:t>се свързва паралелно на ценеровия диод. Ценеровият диод</a:t>
            </a:r>
            <a:r>
              <a:rPr lang="en-US" dirty="0"/>
              <a:t> </a:t>
            </a:r>
            <a:r>
              <a:rPr lang="bg-BG" dirty="0"/>
              <a:t>поддържа</a:t>
            </a:r>
            <a:r>
              <a:rPr lang="bg-BG" b="1" dirty="0"/>
              <a:t> постоянно напрежение </a:t>
            </a:r>
            <a:r>
              <a:rPr lang="bg-BG" dirty="0"/>
              <a:t>върху товара </a:t>
            </a:r>
            <a:r>
              <a:rPr lang="en-US" i="1" dirty="0"/>
              <a:t>U</a:t>
            </a:r>
            <a:r>
              <a:rPr lang="en-US" i="1" baseline="-25000" dirty="0"/>
              <a:t>LOAD</a:t>
            </a:r>
            <a:r>
              <a:rPr lang="en-US" dirty="0"/>
              <a:t> = </a:t>
            </a:r>
            <a:r>
              <a:rPr lang="en-US" i="1" dirty="0"/>
              <a:t>U</a:t>
            </a:r>
            <a:r>
              <a:rPr lang="en-US" i="1" baseline="-25000" dirty="0"/>
              <a:t>Z</a:t>
            </a:r>
            <a:r>
              <a:rPr lang="en-US" dirty="0"/>
              <a:t> </a:t>
            </a:r>
            <a:r>
              <a:rPr lang="bg-BG" dirty="0"/>
              <a:t>независимо от </a:t>
            </a:r>
            <a:r>
              <a:rPr lang="bg-BG" dirty="0" err="1"/>
              <a:t>променит</a:t>
            </a:r>
            <a:r>
              <a:rPr lang="en-US" dirty="0"/>
              <a:t>e</a:t>
            </a:r>
            <a:r>
              <a:rPr lang="bg-BG" dirty="0"/>
              <a:t> в захранващия токоизточник или в товарното съпротивление. </a:t>
            </a:r>
          </a:p>
          <a:p>
            <a:endParaRPr lang="bg-BG" sz="800" dirty="0"/>
          </a:p>
          <a:p>
            <a:r>
              <a:rPr lang="bg-BG" dirty="0"/>
              <a:t>Съпротивлението </a:t>
            </a:r>
            <a:r>
              <a:rPr lang="en-US" i="1" dirty="0"/>
              <a:t>R1</a:t>
            </a:r>
            <a:r>
              <a:rPr lang="en-US" dirty="0"/>
              <a:t> </a:t>
            </a:r>
            <a:r>
              <a:rPr lang="bg-BG" dirty="0"/>
              <a:t>е токоограничаващо съпротивление. </a:t>
            </a:r>
          </a:p>
          <a:p>
            <a:endParaRPr lang="bg-BG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0E288F-0B4D-456D-7AC9-738D0BFEB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168" y="1628800"/>
            <a:ext cx="3215173" cy="26173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3A7718-6764-B100-238C-99FBF4F31312}"/>
              </a:ext>
            </a:extLst>
          </p:cNvPr>
          <p:cNvSpPr/>
          <p:nvPr/>
        </p:nvSpPr>
        <p:spPr>
          <a:xfrm>
            <a:off x="10056440" y="3933056"/>
            <a:ext cx="1224135" cy="432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8594E7-D9C6-60C6-338B-56ACF783B50E}"/>
              </a:ext>
            </a:extLst>
          </p:cNvPr>
          <p:cNvSpPr/>
          <p:nvPr/>
        </p:nvSpPr>
        <p:spPr>
          <a:xfrm>
            <a:off x="4223792" y="4124551"/>
            <a:ext cx="1224135" cy="432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8728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95513" y="0"/>
            <a:ext cx="7772400" cy="47667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Ограничител на напрежение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144" name="Rectangle 1"/>
          <p:cNvSpPr>
            <a:spLocks noChangeArrowheads="1"/>
          </p:cNvSpPr>
          <p:nvPr/>
        </p:nvSpPr>
        <p:spPr bwMode="auto">
          <a:xfrm>
            <a:off x="623392" y="3717032"/>
            <a:ext cx="10945215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bg-BG" sz="1600" b="1" dirty="0"/>
              <a:t>Ограничителят на напрежение</a:t>
            </a:r>
            <a:r>
              <a:rPr lang="en-US" sz="1600" dirty="0"/>
              <a:t> </a:t>
            </a:r>
            <a:r>
              <a:rPr lang="bg-BG" sz="1600" dirty="0"/>
              <a:t>отрязва напреженията на сигнала над и под специфицирано ниво. </a:t>
            </a:r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По време на положителния полупериод, когато входното напрежение надвиши напрежението на пробив </a:t>
            </a:r>
            <a:r>
              <a:rPr lang="ru-RU" sz="1600" i="1" dirty="0"/>
              <a:t>U</a:t>
            </a:r>
            <a:r>
              <a:rPr lang="en-US" sz="1600" i="1" baseline="-25000" dirty="0"/>
              <a:t>Z </a:t>
            </a:r>
            <a:r>
              <a:rPr lang="bg-BG" sz="1600" i="1" baseline="-25000" dirty="0"/>
              <a:t> </a:t>
            </a:r>
            <a:r>
              <a:rPr lang="ru-RU" sz="1600" dirty="0"/>
              <a:t>на ценеровия диод, диодът D1 работи в режим на пробив  и ограничава изходния сигнал на нивото на ценерово напрежение </a:t>
            </a:r>
            <a:r>
              <a:rPr lang="ru-RU" sz="1600" i="1" dirty="0"/>
              <a:t>U</a:t>
            </a:r>
            <a:r>
              <a:rPr lang="en-US" sz="1600" i="1" baseline="-25000" dirty="0"/>
              <a:t>Z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/>
              <a:t>За напрежения по-малки от </a:t>
            </a:r>
            <a:r>
              <a:rPr lang="ru-RU" sz="1600" i="1" dirty="0"/>
              <a:t>U</a:t>
            </a:r>
            <a:r>
              <a:rPr lang="en-US" sz="1600" i="1" baseline="-25000" dirty="0"/>
              <a:t>Z</a:t>
            </a:r>
            <a:r>
              <a:rPr lang="en-US" sz="1600" baseline="-25000" dirty="0"/>
              <a:t> </a:t>
            </a:r>
            <a:r>
              <a:rPr lang="bg-BG" sz="1600" baseline="-25000" dirty="0"/>
              <a:t> </a:t>
            </a:r>
            <a:r>
              <a:rPr lang="en-US" sz="1600" dirty="0"/>
              <a:t> </a:t>
            </a:r>
            <a:r>
              <a:rPr lang="bg-BG" sz="1600" dirty="0"/>
              <a:t>диодът е в обратно включване, действа като отворен ключ и изходното напрежение следва входното.</a:t>
            </a:r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По време на отрицателния полупериод, ценеровият диод е в право включване, действа като нормален диод и ограничава изходното напрежение до обичайната стойност -0,7 V.</a:t>
            </a:r>
            <a:endParaRPr lang="en-US" sz="1600" dirty="0"/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6B221C0A-C4A9-2F56-A9E8-96DB43D56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1151459"/>
            <a:ext cx="2648320" cy="1495634"/>
          </a:xfrm>
          <a:prstGeom prst="rect">
            <a:avLst/>
          </a:prstGeom>
        </p:spPr>
      </p:pic>
      <p:pic>
        <p:nvPicPr>
          <p:cNvPr id="6" name="Picture 5" descr="A diagram of a function&#10;&#10;AI-generated content may be incorrect.">
            <a:extLst>
              <a:ext uri="{FF2B5EF4-FFF2-40B4-BE49-F238E27FC236}">
                <a16:creationId xmlns:a16="http://schemas.microsoft.com/office/drawing/2014/main" id="{C5D512AA-CF0A-52DF-2B41-C3A083093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908720"/>
            <a:ext cx="4192716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11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>
            <a:spLocks noChangeArrowheads="1"/>
          </p:cNvSpPr>
          <p:nvPr/>
        </p:nvSpPr>
        <p:spPr bwMode="auto">
          <a:xfrm>
            <a:off x="299356" y="4273194"/>
            <a:ext cx="11593287" cy="1980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bg-BG" dirty="0"/>
              <a:t>През</a:t>
            </a:r>
            <a:r>
              <a:rPr lang="en-US" dirty="0"/>
              <a:t> </a:t>
            </a:r>
            <a:r>
              <a:rPr lang="ru-RU" dirty="0"/>
              <a:t>положителния полупериод D2 е в пробив, а диодът D1 е в право включване. Изходното напрежение се ограничава до </a:t>
            </a:r>
            <a:r>
              <a:rPr lang="ru-RU" i="1" dirty="0"/>
              <a:t>U</a:t>
            </a:r>
            <a:r>
              <a:rPr lang="en-US" i="1" baseline="-25000" dirty="0"/>
              <a:t>Z</a:t>
            </a:r>
            <a:r>
              <a:rPr lang="bg-BG" i="1" baseline="-25000" dirty="0"/>
              <a:t>1</a:t>
            </a:r>
            <a:r>
              <a:rPr lang="ru-RU" dirty="0"/>
              <a:t> + </a:t>
            </a:r>
            <a:r>
              <a:rPr lang="ru-RU" i="1" dirty="0"/>
              <a:t>U</a:t>
            </a:r>
            <a:r>
              <a:rPr lang="ru-RU" i="1" baseline="-25000" dirty="0"/>
              <a:t>о</a:t>
            </a:r>
            <a:r>
              <a:rPr lang="ru-RU" dirty="0"/>
              <a:t> =10+0.7=+10.7V. </a:t>
            </a:r>
          </a:p>
          <a:p>
            <a:endParaRPr lang="ru-RU" sz="800" dirty="0"/>
          </a:p>
          <a:p>
            <a:r>
              <a:rPr lang="ru-RU" dirty="0"/>
              <a:t>По време на отрицателния полупериод D1 е в пробив, D2 – в право включване и изходното напрежението се ограничава до -10.7V</a:t>
            </a:r>
          </a:p>
          <a:p>
            <a:pPr>
              <a:spcBef>
                <a:spcPts val="800"/>
              </a:spcBef>
            </a:pPr>
            <a:r>
              <a:rPr lang="ru-RU" dirty="0"/>
              <a:t>Когато входното напрежение е по-малко от напрежението на пробив, съответният ценеров диод е в обратно включване, действа като отворен ключ и и изходното напрежение следва входното.</a:t>
            </a:r>
            <a:endParaRPr lang="en-US" dirty="0"/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496704B1-1BC9-E790-C692-92ADFA5B5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340768"/>
            <a:ext cx="2648320" cy="140037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5DF50DA7-681E-1EE1-D6CE-F2C55EFEE4E1}"/>
              </a:ext>
            </a:extLst>
          </p:cNvPr>
          <p:cNvSpPr txBox="1">
            <a:spLocks noChangeArrowheads="1"/>
          </p:cNvSpPr>
          <p:nvPr/>
        </p:nvSpPr>
        <p:spPr>
          <a:xfrm>
            <a:off x="2195513" y="0"/>
            <a:ext cx="7772400" cy="47667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Ограничител на напрежение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pic>
        <p:nvPicPr>
          <p:cNvPr id="12" name="Picture 11" descr="A diagram of a function&#10;&#10;AI-generated content may be incorrect.">
            <a:extLst>
              <a:ext uri="{FF2B5EF4-FFF2-40B4-BE49-F238E27FC236}">
                <a16:creationId xmlns:a16="http://schemas.microsoft.com/office/drawing/2014/main" id="{C38930F5-832D-45F8-C731-4D0796896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79" y="729274"/>
            <a:ext cx="4815055" cy="305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70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0B8628B-0924-4E3F-AB42-5689EA836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2996952"/>
            <a:ext cx="9048328" cy="35281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F4C9A9-F160-401D-8496-A789B454D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664" y="188640"/>
            <a:ext cx="6439799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4868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2287</TotalTime>
  <Words>959</Words>
  <Application>Microsoft Office PowerPoint</Application>
  <PresentationFormat>Widescreen</PresentationFormat>
  <Paragraphs>80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Narrow</vt:lpstr>
      <vt:lpstr>Cambria Math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Прагов модел</vt:lpstr>
      <vt:lpstr>PowerPoint Presentation</vt:lpstr>
      <vt:lpstr>PowerPoint Presentation</vt:lpstr>
      <vt:lpstr>PowerPoint Presentation</vt:lpstr>
      <vt:lpstr>PowerPoint Presentation</vt:lpstr>
      <vt:lpstr>Параметри – напрежение на пробив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ТУ-София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</dc:title>
  <dc:creator>ПРОЕКТ BG051PO001--4.3.04-0042</dc:creator>
  <cp:lastModifiedBy>Vassiliy Tchoumatchenko</cp:lastModifiedBy>
  <cp:revision>222</cp:revision>
  <dcterms:created xsi:type="dcterms:W3CDTF">2013-03-19T07:28:34Z</dcterms:created>
  <dcterms:modified xsi:type="dcterms:W3CDTF">2025-10-27T09:47:15Z</dcterms:modified>
</cp:coreProperties>
</file>