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8" r:id="rId2"/>
    <p:sldId id="257" r:id="rId3"/>
    <p:sldId id="265" r:id="rId4"/>
    <p:sldId id="349" r:id="rId5"/>
    <p:sldId id="350" r:id="rId6"/>
    <p:sldId id="351" r:id="rId7"/>
    <p:sldId id="352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8A8"/>
    <a:srgbClr val="D7F0F3"/>
    <a:srgbClr val="E1F8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8020" autoAdjust="0"/>
  </p:normalViewPr>
  <p:slideViewPr>
    <p:cSldViewPr>
      <p:cViewPr varScale="1">
        <p:scale>
          <a:sx n="72" d="100"/>
          <a:sy n="72" d="100"/>
        </p:scale>
        <p:origin x="1104" y="7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03" d="100"/>
          <a:sy n="103" d="100"/>
        </p:scale>
        <p:origin x="326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501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7C656D6-A842-4425-A532-3D5FCD608661}" type="datetime1">
              <a:rPr lang="en-US"/>
              <a:pPr>
                <a:defRPr/>
              </a:pPr>
              <a:t>11/18/2025</a:t>
            </a:fld>
            <a:endParaRPr lang="en-US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4684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5010" y="8684684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B2F23AD-DD44-49C7-AB14-59A495CA52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95918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501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B9EB583F-6715-4920-B56D-72B9914B75E2}" type="datetime1">
              <a:rPr lang="en-US"/>
              <a:pPr>
                <a:defRPr/>
              </a:pPr>
              <a:t>11/18/2025</a:t>
            </a:fld>
            <a:endParaRPr lang="en-US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4684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5010" y="8684684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70702B6B-561A-4A8F-9B90-C1F5C818ED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5913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Objective: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 Students will be able to identify the three primary operating regions of a BJT on its characteristic curves, explain the biasing conditions for each, and use a load line to visualize how a circuit moves between these regions.</a:t>
            </a:r>
            <a:endParaRPr lang="bg-BG" sz="1200" b="0" i="0" u="none" strike="noStrike" kern="1200" dirty="0">
              <a:solidFill>
                <a:schemeClr val="tx1"/>
              </a:solidFill>
              <a:effectLst/>
              <a:latin typeface="Arial" charset="0"/>
              <a:ea typeface="+mn-ea"/>
              <a:cs typeface="Arial" charset="0"/>
            </a:endParaRPr>
          </a:p>
          <a:p>
            <a:pPr rtl="0"/>
            <a:r>
              <a:rPr lang="ru-RU" b="0" dirty="0">
                <a:effectLst/>
              </a:rPr>
              <a:t>Цел: Студентите ще могат да идентифицират трите основни работни области на биполярния транзистор върху неговите характеристики, да обяснят установяването на работна точка за всяка от тях и да използват линия на натоварване, за да визуализират как една схема се движи между тези области.</a:t>
            </a:r>
            <a:endParaRPr lang="en-US" b="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702B6B-561A-4A8F-9B90-C1F5C818EDE3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9611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702B6B-561A-4A8F-9B90-C1F5C818EDE3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9702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702B6B-561A-4A8F-9B90-C1F5C818EDE3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9915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40A29-C53A-005A-60B1-02C50F4EE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648D44-99BA-6D16-EA9A-B5C1A938C8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DB5969-13DD-E0C6-BA09-52608330C9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87F22-DFC9-D5A5-138D-71DDB95D72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702B6B-561A-4A8F-9B90-C1F5C818EDE3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7295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7AC41-8160-9EBE-0833-2FC9B8413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DB1379-42B5-1CC1-DAD6-A7E3512BF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B1531F-D2BD-A5C4-1A49-72663BAE71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8A7F5-2F22-3B48-2B92-5DAF7D4D56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702B6B-561A-4A8F-9B90-C1F5C818EDE3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4447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6ADD3-6515-C828-F7AE-395021946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24135F-9155-6A6E-2085-6579BE7DA8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9B3AEA-1BE4-6014-CD9B-D163430928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147E57-2BEC-82F9-7923-810902F8F6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702B6B-561A-4A8F-9B90-C1F5C818EDE3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3731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EBE01-52AC-6347-F137-78396FEC0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25FC57-6399-F11A-FE8C-04F9DD6CDE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85F4CE-CFBE-0A9D-154F-FFCAA77644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116160-8686-BC02-1C99-23450DEDC3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702B6B-561A-4A8F-9B90-C1F5C818EDE3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064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4390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0300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3039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9" r:id="rId3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60" y="188640"/>
            <a:ext cx="90487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79376" y="4509120"/>
            <a:ext cx="936104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9pPr>
          </a:lstStyle>
          <a:p>
            <a:pPr>
              <a:defRPr/>
            </a:pPr>
            <a:r>
              <a:rPr lang="bg-BG" sz="3200" b="0" i="0" kern="0" dirty="0">
                <a:solidFill>
                  <a:schemeClr val="tx1"/>
                </a:solidFill>
                <a:effectLst/>
                <a:latin typeface="Arial Narrow" pitchFamily="34" charset="0"/>
              </a:rPr>
              <a:t>Режими на работа на биполярният транзистор</a:t>
            </a:r>
            <a:endParaRPr lang="en-US" sz="3200" b="0" i="0" kern="0" dirty="0"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919" y="0"/>
            <a:ext cx="12192000" cy="764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bg-BG" sz="3200" dirty="0">
                <a:solidFill>
                  <a:schemeClr val="accent2"/>
                </a:solidFill>
                <a:latin typeface="Arial Narrow" pitchFamily="34" charset="0"/>
              </a:rPr>
              <a:t>Волт-Амперни характеристики на биполярен транзистор</a:t>
            </a:r>
            <a:endParaRPr lang="en-US" sz="3200" dirty="0">
              <a:solidFill>
                <a:schemeClr val="accent2"/>
              </a:solidFill>
              <a:latin typeface="Arial Narrow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995405-0F2D-5171-B16E-5A0C257354A0}"/>
              </a:ext>
            </a:extLst>
          </p:cNvPr>
          <p:cNvSpPr txBox="1"/>
          <p:nvPr/>
        </p:nvSpPr>
        <p:spPr>
          <a:xfrm>
            <a:off x="140824" y="908720"/>
            <a:ext cx="710730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На предишната лекция установихме основния принцип на биполярния транзистор: малък базов ток Ib позволява протичането на голям колекторен ток Ic, което ни дава коефициент на усилване по ток, β. </a:t>
            </a:r>
          </a:p>
          <a:p>
            <a:endParaRPr lang="ru-RU" sz="1600" dirty="0"/>
          </a:p>
          <a:p>
            <a:r>
              <a:rPr lang="ru-RU" sz="1600" dirty="0"/>
              <a:t>Ic = β * Ib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814734-C286-B1BC-8AD4-432DD5A1469C}"/>
              </a:ext>
            </a:extLst>
          </p:cNvPr>
          <p:cNvSpPr txBox="1"/>
          <p:nvPr/>
        </p:nvSpPr>
        <p:spPr>
          <a:xfrm>
            <a:off x="155471" y="2243015"/>
            <a:ext cx="60972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Това беше „активният“ режим, при който транзисторът действа като усилвател. Но това е само част от историята.</a:t>
            </a:r>
          </a:p>
          <a:p>
            <a:endParaRPr lang="ru-RU" sz="1600" dirty="0"/>
          </a:p>
          <a:p>
            <a:r>
              <a:rPr lang="ru-RU" sz="1600" dirty="0"/>
              <a:t>Транзисторът не винаги е усилвател. Той може да бъде и напълно „изключен“ или напълно „включен“ ключ. </a:t>
            </a:r>
          </a:p>
          <a:p>
            <a:r>
              <a:rPr lang="ru-RU" sz="1600" dirty="0"/>
              <a:t>Днес ще създадем „карта“, която показва всички тези различни поведения. </a:t>
            </a:r>
            <a:endParaRPr lang="en-US" sz="1600" dirty="0"/>
          </a:p>
          <a:p>
            <a:r>
              <a:rPr lang="ru-RU" sz="1600" dirty="0"/>
              <a:t>Тази карта е характеристиката </a:t>
            </a:r>
            <a:r>
              <a:rPr lang="en-US" sz="1600" dirty="0" err="1"/>
              <a:t>Ic</a:t>
            </a:r>
            <a:r>
              <a:rPr lang="en-US" sz="1600" dirty="0"/>
              <a:t> = f(Uce). </a:t>
            </a:r>
            <a:r>
              <a:rPr lang="bg-BG" sz="1600" dirty="0"/>
              <a:t>Нарича се още „изходна характеристика“. Р</a:t>
            </a:r>
            <a:r>
              <a:rPr lang="ru-RU" sz="1600" dirty="0"/>
              <a:t>азбирането ѝ е ключът към анализа на всяка транзисторна схема.</a:t>
            </a:r>
          </a:p>
          <a:p>
            <a:endParaRPr lang="ru-RU" sz="1600" dirty="0"/>
          </a:p>
          <a:p>
            <a:r>
              <a:rPr lang="ru-RU" sz="1600" dirty="0"/>
              <a:t>Картата изобразява изходния ток (Ic) по оста y спрямо изходното напрежение (</a:t>
            </a:r>
            <a:r>
              <a:rPr lang="en-US" sz="1600" dirty="0"/>
              <a:t>U</a:t>
            </a:r>
            <a:r>
              <a:rPr lang="ru-RU" sz="1600" dirty="0"/>
              <a:t>ce) по оста x. </a:t>
            </a:r>
          </a:p>
          <a:p>
            <a:r>
              <a:rPr lang="ru-RU" sz="1600" dirty="0"/>
              <a:t>Различните „пътища“ на тази карта се определят от входния ток, Ib.</a:t>
            </a:r>
            <a:endParaRPr lang="bg-BG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FCCF1F-0D5E-E5C7-66E5-A358001073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6080" y="1340768"/>
            <a:ext cx="4933416" cy="40658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3E6DB69-8E5C-EF03-C8F3-E0996BE0EB64}"/>
              </a:ext>
            </a:extLst>
          </p:cNvPr>
          <p:cNvSpPr txBox="1"/>
          <p:nvPr/>
        </p:nvSpPr>
        <p:spPr>
          <a:xfrm>
            <a:off x="11352584" y="6525344"/>
            <a:ext cx="6527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BC547</a:t>
            </a:r>
            <a:endParaRPr lang="bg-BG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-24680" y="-1"/>
            <a:ext cx="12216680" cy="63076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bg-BG" sz="3200" dirty="0">
                <a:solidFill>
                  <a:schemeClr val="accent2"/>
                </a:solidFill>
                <a:latin typeface="Arial Narrow" pitchFamily="34" charset="0"/>
              </a:rPr>
              <a:t>Област на отсечка</a:t>
            </a:r>
            <a:endParaRPr lang="en-US" sz="3200" dirty="0">
              <a:solidFill>
                <a:schemeClr val="accent2"/>
              </a:solidFill>
              <a:latin typeface="Arial Narrow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C758C-5648-F00C-92E8-D561018171B2}"/>
              </a:ext>
            </a:extLst>
          </p:cNvPr>
          <p:cNvSpPr txBox="1"/>
          <p:nvPr/>
        </p:nvSpPr>
        <p:spPr>
          <a:xfrm>
            <a:off x="244920" y="1124744"/>
            <a:ext cx="609728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sz="1600" dirty="0"/>
              <a:t>Условие: Нека базовият ток </a:t>
            </a:r>
            <a:r>
              <a:rPr lang="ru-RU" sz="1600" dirty="0"/>
              <a:t>Ib = 0. Ако в базата не тече ток, то от емитерът не се инжектират електрони.</a:t>
            </a:r>
          </a:p>
          <a:p>
            <a:endParaRPr lang="ru-RU" sz="1600" dirty="0"/>
          </a:p>
          <a:p>
            <a:r>
              <a:rPr lang="ru-RU" sz="1600" dirty="0"/>
              <a:t>Резултат: </a:t>
            </a:r>
            <a:r>
              <a:rPr lang="en-US" sz="1600" dirty="0" err="1"/>
              <a:t>Ic</a:t>
            </a:r>
            <a:r>
              <a:rPr lang="en-US" sz="1600" dirty="0"/>
              <a:t> = 0</a:t>
            </a:r>
          </a:p>
          <a:p>
            <a:endParaRPr lang="en-US" sz="1600" dirty="0"/>
          </a:p>
          <a:p>
            <a:r>
              <a:rPr lang="bg-BG" sz="1600" dirty="0"/>
              <a:t>Наричаме тази част от характеристиката </a:t>
            </a:r>
            <a:r>
              <a:rPr lang="bg-BG" sz="1600" b="1" dirty="0"/>
              <a:t>област на отсечка </a:t>
            </a:r>
            <a:r>
              <a:rPr lang="bg-BG" sz="1600" dirty="0"/>
              <a:t>(</a:t>
            </a:r>
            <a:r>
              <a:rPr lang="en-US" sz="1600" dirty="0"/>
              <a:t>cutoff</a:t>
            </a:r>
            <a:r>
              <a:rPr lang="bg-BG" sz="1600" dirty="0"/>
              <a:t>)</a:t>
            </a:r>
            <a:r>
              <a:rPr lang="en-US" sz="1600" dirty="0"/>
              <a:t>.</a:t>
            </a:r>
          </a:p>
          <a:p>
            <a:endParaRPr lang="bg-BG" sz="1600" dirty="0"/>
          </a:p>
          <a:p>
            <a:r>
              <a:rPr lang="bg-BG" sz="1600" dirty="0"/>
              <a:t>В областта на отсечка таразисторът е в изключено състояние. Независимо от стойността на </a:t>
            </a:r>
            <a:r>
              <a:rPr lang="en-US" sz="1600" dirty="0"/>
              <a:t>Uce, </a:t>
            </a:r>
            <a:r>
              <a:rPr lang="bg-BG" sz="1600" dirty="0"/>
              <a:t>ток не тече.</a:t>
            </a:r>
          </a:p>
          <a:p>
            <a:endParaRPr lang="bg-BG" sz="1600" dirty="0"/>
          </a:p>
          <a:p>
            <a:r>
              <a:rPr lang="bg-BG" sz="1600" dirty="0"/>
              <a:t>Аналогия: </a:t>
            </a:r>
            <a:endParaRPr lang="en-US" sz="1600" dirty="0"/>
          </a:p>
          <a:p>
            <a:r>
              <a:rPr lang="bg-BG" sz="1600" dirty="0"/>
              <a:t>Електрически ключ в отворено състояние (</a:t>
            </a:r>
            <a:r>
              <a:rPr lang="en-US" sz="1600" dirty="0"/>
              <a:t>off switch)</a:t>
            </a:r>
            <a:r>
              <a:rPr lang="bg-BG" sz="1600" dirty="0"/>
              <a:t> – веригата е прекъсната, ток не тече.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F6144CE-0543-FE45-D291-0C38C8598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072" y="1052736"/>
            <a:ext cx="4933416" cy="406583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B49EC5C-F0A9-A7A8-ED47-2762474D2CDD}"/>
              </a:ext>
            </a:extLst>
          </p:cNvPr>
          <p:cNvCxnSpPr>
            <a:cxnSpLocks/>
          </p:cNvCxnSpPr>
          <p:nvPr/>
        </p:nvCxnSpPr>
        <p:spPr>
          <a:xfrm>
            <a:off x="7464152" y="4509120"/>
            <a:ext cx="4176464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096A161-8295-4A35-8C77-67F0ED29D725}"/>
              </a:ext>
            </a:extLst>
          </p:cNvPr>
          <p:cNvSpPr txBox="1"/>
          <p:nvPr/>
        </p:nvSpPr>
        <p:spPr>
          <a:xfrm>
            <a:off x="6528048" y="4365104"/>
            <a:ext cx="792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FF0000"/>
                </a:solidFill>
              </a:rPr>
              <a:t>Ic</a:t>
            </a:r>
            <a:r>
              <a:rPr lang="en-US" sz="1800" dirty="0">
                <a:solidFill>
                  <a:srgbClr val="FF0000"/>
                </a:solidFill>
              </a:rPr>
              <a:t> = 0</a:t>
            </a:r>
            <a:endParaRPr lang="bg-BG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FAA23C-6C51-6CBE-630B-71646044BF79}"/>
              </a:ext>
            </a:extLst>
          </p:cNvPr>
          <p:cNvSpPr txBox="1"/>
          <p:nvPr/>
        </p:nvSpPr>
        <p:spPr>
          <a:xfrm>
            <a:off x="8616280" y="4232121"/>
            <a:ext cx="20079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1200" dirty="0">
                <a:solidFill>
                  <a:srgbClr val="FF0000"/>
                </a:solidFill>
              </a:rPr>
              <a:t>област на отсечка </a:t>
            </a:r>
            <a:r>
              <a:rPr lang="en-US" sz="1200" dirty="0">
                <a:solidFill>
                  <a:srgbClr val="FF0000"/>
                </a:solidFill>
              </a:rPr>
              <a:t>(</a:t>
            </a:r>
            <a:r>
              <a:rPr lang="en-US" sz="1200" dirty="0" err="1">
                <a:solidFill>
                  <a:srgbClr val="FF0000"/>
                </a:solidFill>
              </a:rPr>
              <a:t>Ib</a:t>
            </a:r>
            <a:r>
              <a:rPr lang="en-US" sz="1200" dirty="0">
                <a:solidFill>
                  <a:srgbClr val="FF0000"/>
                </a:solidFill>
              </a:rPr>
              <a:t> = 0)</a:t>
            </a:r>
            <a:endParaRPr lang="bg-BG" sz="1200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BB45A5-C8E7-A03E-7008-99ED4F8A5867}"/>
              </a:ext>
            </a:extLst>
          </p:cNvPr>
          <p:cNvSpPr txBox="1"/>
          <p:nvPr/>
        </p:nvSpPr>
        <p:spPr>
          <a:xfrm>
            <a:off x="11352584" y="6525344"/>
            <a:ext cx="6527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BC547</a:t>
            </a:r>
            <a:endParaRPr lang="bg-BG" sz="1200" dirty="0"/>
          </a:p>
        </p:txBody>
      </p:sp>
    </p:spTree>
    <p:extLst>
      <p:ext uri="{BB962C8B-B14F-4D97-AF65-F5344CB8AC3E}">
        <p14:creationId xmlns:p14="http://schemas.microsoft.com/office/powerpoint/2010/main" val="165610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B014E-679C-8929-91A7-5B0BD8203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526688-E437-C759-9CD4-40FECDB5A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072" y="1052736"/>
            <a:ext cx="4933416" cy="4065833"/>
          </a:xfrm>
          <a:prstGeom prst="rect">
            <a:avLst/>
          </a:prstGeom>
        </p:spPr>
      </p:pic>
      <p:sp>
        <p:nvSpPr>
          <p:cNvPr id="358402" name="Rectangle 2">
            <a:extLst>
              <a:ext uri="{FF2B5EF4-FFF2-40B4-BE49-F238E27FC236}">
                <a16:creationId xmlns:a16="http://schemas.microsoft.com/office/drawing/2014/main" id="{76CE3F63-EB3C-7E50-6D31-637F594A271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-24680" y="-1"/>
            <a:ext cx="12216680" cy="63076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bg-BG" sz="3200" dirty="0">
                <a:solidFill>
                  <a:schemeClr val="accent2"/>
                </a:solidFill>
                <a:latin typeface="Arial Narrow" pitchFamily="34" charset="0"/>
              </a:rPr>
              <a:t>Активна област</a:t>
            </a:r>
            <a:endParaRPr lang="en-US" sz="3200" dirty="0">
              <a:solidFill>
                <a:schemeClr val="accent2"/>
              </a:solidFill>
              <a:latin typeface="Arial Narrow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48CABE-9CDF-059C-D35D-8C652014DD15}"/>
              </a:ext>
            </a:extLst>
          </p:cNvPr>
          <p:cNvSpPr txBox="1"/>
          <p:nvPr/>
        </p:nvSpPr>
        <p:spPr>
          <a:xfrm>
            <a:off x="191344" y="1124744"/>
            <a:ext cx="6336704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sz="1600" dirty="0"/>
              <a:t>Условие: Нека инжектираме малък постоянен базов, например </a:t>
            </a:r>
            <a:r>
              <a:rPr lang="ru-RU" sz="1600" dirty="0"/>
              <a:t>Ib = 50 μ</a:t>
            </a:r>
            <a:r>
              <a:rPr lang="en-US" sz="1600" dirty="0"/>
              <a:t>A</a:t>
            </a:r>
            <a:r>
              <a:rPr lang="ru-RU" sz="1600" dirty="0"/>
              <a:t>. Да приемем, че транзисторът има β = </a:t>
            </a:r>
            <a:r>
              <a:rPr lang="en-US" sz="1600" dirty="0"/>
              <a:t>250</a:t>
            </a:r>
            <a:r>
              <a:rPr lang="ru-RU" sz="1600" dirty="0"/>
              <a:t>.</a:t>
            </a:r>
          </a:p>
          <a:p>
            <a:endParaRPr lang="ru-RU" sz="1600" dirty="0"/>
          </a:p>
          <a:p>
            <a:r>
              <a:rPr lang="ru-RU" sz="1600" dirty="0"/>
              <a:t>Резултат: </a:t>
            </a:r>
            <a:r>
              <a:rPr lang="de-DE" sz="1600" dirty="0" err="1"/>
              <a:t>Ic</a:t>
            </a:r>
            <a:r>
              <a:rPr lang="de-DE" sz="1600" dirty="0"/>
              <a:t> = </a:t>
            </a:r>
            <a:r>
              <a:rPr lang="el-GR" sz="1600" dirty="0"/>
              <a:t>β * </a:t>
            </a:r>
            <a:r>
              <a:rPr lang="de-DE" sz="1600" dirty="0"/>
              <a:t>Ib = 250 * 50</a:t>
            </a:r>
            <a:r>
              <a:rPr lang="el-GR" sz="1600" dirty="0"/>
              <a:t>μ</a:t>
            </a:r>
            <a:r>
              <a:rPr lang="de-DE" sz="1600" dirty="0"/>
              <a:t>A = 12,5 mA</a:t>
            </a:r>
          </a:p>
          <a:p>
            <a:endParaRPr lang="en-US" sz="1600" dirty="0"/>
          </a:p>
          <a:p>
            <a:r>
              <a:rPr lang="ru-RU" sz="1600" dirty="0"/>
              <a:t>Обърнете внимание, че с увеличаване на </a:t>
            </a:r>
            <a:r>
              <a:rPr lang="en-US" sz="1600" dirty="0"/>
              <a:t>U</a:t>
            </a:r>
            <a:r>
              <a:rPr lang="ru-RU" sz="1600" dirty="0"/>
              <a:t>ce, колекторният ток Ic остава почти </a:t>
            </a:r>
            <a:r>
              <a:rPr lang="en-US" sz="1600" dirty="0"/>
              <a:t> </a:t>
            </a:r>
            <a:r>
              <a:rPr lang="bg-BG" sz="1600" dirty="0"/>
              <a:t>п</a:t>
            </a:r>
            <a:r>
              <a:rPr lang="ru-RU" sz="1600" dirty="0"/>
              <a:t>остоянен на </a:t>
            </a:r>
            <a:r>
              <a:rPr lang="de-DE" sz="1600" dirty="0"/>
              <a:t>12,5 mA</a:t>
            </a:r>
            <a:r>
              <a:rPr lang="ru-RU" sz="1600" dirty="0"/>
              <a:t>. В тази област колекторният ток се контролира само от базовия ток, а не от колекторното напрежение. Това е </a:t>
            </a:r>
            <a:r>
              <a:rPr lang="ru-RU" sz="1600" b="1" dirty="0"/>
              <a:t>активната област</a:t>
            </a:r>
            <a:r>
              <a:rPr lang="ru-RU" sz="1600" dirty="0"/>
              <a:t>.</a:t>
            </a:r>
            <a:endParaRPr lang="en-US" sz="1600" dirty="0"/>
          </a:p>
          <a:p>
            <a:endParaRPr lang="en-US" sz="1600" dirty="0"/>
          </a:p>
          <a:p>
            <a:r>
              <a:rPr lang="bg-BG" sz="1600" dirty="0"/>
              <a:t>Какво ще стане ако зададем </a:t>
            </a:r>
            <a:r>
              <a:rPr lang="ru-RU" sz="1600" dirty="0"/>
              <a:t>Ib = 150 μ</a:t>
            </a:r>
            <a:r>
              <a:rPr lang="en-US" sz="1600" dirty="0"/>
              <a:t>A</a:t>
            </a:r>
            <a:r>
              <a:rPr lang="bg-BG" sz="1600" dirty="0"/>
              <a:t>?</a:t>
            </a:r>
          </a:p>
          <a:p>
            <a:r>
              <a:rPr lang="bg-BG" sz="1600" dirty="0"/>
              <a:t>Транзисторът ще установи колекторен ток</a:t>
            </a:r>
          </a:p>
          <a:p>
            <a:endParaRPr lang="bg-BG" sz="1600" dirty="0"/>
          </a:p>
          <a:p>
            <a:r>
              <a:rPr lang="de-DE" sz="1600" dirty="0" err="1"/>
              <a:t>Ic</a:t>
            </a:r>
            <a:r>
              <a:rPr lang="de-DE" sz="1600" dirty="0"/>
              <a:t> = </a:t>
            </a:r>
            <a:r>
              <a:rPr lang="el-GR" sz="1600" dirty="0"/>
              <a:t>β * </a:t>
            </a:r>
            <a:r>
              <a:rPr lang="de-DE" sz="1600" dirty="0"/>
              <a:t>Ib = 250 * </a:t>
            </a:r>
            <a:r>
              <a:rPr lang="bg-BG" sz="1600" dirty="0"/>
              <a:t>1</a:t>
            </a:r>
            <a:r>
              <a:rPr lang="de-DE" sz="1600" dirty="0"/>
              <a:t>50</a:t>
            </a:r>
            <a:r>
              <a:rPr lang="el-GR" sz="1600" dirty="0"/>
              <a:t>μ</a:t>
            </a:r>
            <a:r>
              <a:rPr lang="de-DE" sz="1600" dirty="0"/>
              <a:t>A = </a:t>
            </a:r>
            <a:r>
              <a:rPr lang="bg-BG" sz="1600" dirty="0"/>
              <a:t>37</a:t>
            </a:r>
            <a:r>
              <a:rPr lang="de-DE" sz="1600" dirty="0"/>
              <a:t>,5 mA</a:t>
            </a:r>
            <a:endParaRPr lang="bg-BG" sz="1600" dirty="0"/>
          </a:p>
          <a:p>
            <a:endParaRPr lang="bg-BG" sz="1600" dirty="0"/>
          </a:p>
          <a:p>
            <a:r>
              <a:rPr lang="bg-BG" sz="1600" dirty="0"/>
              <a:t>Лекият наклон на графиките се дължи на т.нар. ефект на </a:t>
            </a:r>
            <a:r>
              <a:rPr lang="en-US" sz="1600" dirty="0"/>
              <a:t>Early</a:t>
            </a:r>
            <a:r>
              <a:rPr lang="bg-BG" sz="1600" dirty="0"/>
              <a:t>.</a:t>
            </a:r>
          </a:p>
          <a:p>
            <a:r>
              <a:rPr lang="bg-BG" sz="1600" dirty="0"/>
              <a:t>С увеличаване на </a:t>
            </a:r>
            <a:r>
              <a:rPr lang="en-US" sz="1600" dirty="0"/>
              <a:t>Uce </a:t>
            </a:r>
            <a:r>
              <a:rPr lang="bg-BG" sz="1600" dirty="0"/>
              <a:t>се разширява забранената зона на прехода база-колектор. Тя навлиза в базата и намалява ефективната широчина на базата. По-тънка база води до по-голям коефициент на усилване по ток </a:t>
            </a:r>
            <a:r>
              <a:rPr lang="el-GR" sz="1600" dirty="0"/>
              <a:t>β</a:t>
            </a:r>
            <a:r>
              <a:rPr lang="bg-BG" sz="1600" dirty="0"/>
              <a:t>.</a:t>
            </a:r>
          </a:p>
          <a:p>
            <a:endParaRPr lang="bg-BG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6F17F7-E8A7-6EF5-2BFA-E1409B6C60CF}"/>
              </a:ext>
            </a:extLst>
          </p:cNvPr>
          <p:cNvSpPr txBox="1"/>
          <p:nvPr/>
        </p:nvSpPr>
        <p:spPr>
          <a:xfrm>
            <a:off x="11352584" y="6525344"/>
            <a:ext cx="6527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BC547</a:t>
            </a:r>
            <a:endParaRPr lang="bg-BG" sz="12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862FF5-452F-EAAB-9FE7-0C598798A50D}"/>
              </a:ext>
            </a:extLst>
          </p:cNvPr>
          <p:cNvCxnSpPr>
            <a:cxnSpLocks/>
          </p:cNvCxnSpPr>
          <p:nvPr/>
        </p:nvCxnSpPr>
        <p:spPr>
          <a:xfrm>
            <a:off x="7320136" y="4087144"/>
            <a:ext cx="4392488" cy="9034"/>
          </a:xfrm>
          <a:prstGeom prst="line">
            <a:avLst/>
          </a:prstGeom>
          <a:ln w="28575">
            <a:solidFill>
              <a:srgbClr val="0038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F3CED00-F8C0-4BFD-520D-D16FBBC76E02}"/>
              </a:ext>
            </a:extLst>
          </p:cNvPr>
          <p:cNvCxnSpPr>
            <a:cxnSpLocks/>
          </p:cNvCxnSpPr>
          <p:nvPr/>
        </p:nvCxnSpPr>
        <p:spPr>
          <a:xfrm flipV="1">
            <a:off x="7320136" y="3223305"/>
            <a:ext cx="4357352" cy="20658"/>
          </a:xfrm>
          <a:prstGeom prst="line">
            <a:avLst/>
          </a:prstGeom>
          <a:ln w="28575">
            <a:solidFill>
              <a:srgbClr val="0038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4F2E5D36-F987-9A21-B99E-DBAD589468DC}"/>
              </a:ext>
            </a:extLst>
          </p:cNvPr>
          <p:cNvSpPr/>
          <p:nvPr/>
        </p:nvSpPr>
        <p:spPr>
          <a:xfrm>
            <a:off x="7896200" y="1340769"/>
            <a:ext cx="3600400" cy="2880317"/>
          </a:xfrm>
          <a:prstGeom prst="rect">
            <a:avLst/>
          </a:prstGeom>
          <a:noFill/>
          <a:ln w="381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BCA960-904E-1885-923B-9B4035DA5CE8}"/>
              </a:ext>
            </a:extLst>
          </p:cNvPr>
          <p:cNvSpPr txBox="1"/>
          <p:nvPr/>
        </p:nvSpPr>
        <p:spPr>
          <a:xfrm>
            <a:off x="10128448" y="1404096"/>
            <a:ext cx="792088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bg-BG" sz="1200" dirty="0">
                <a:solidFill>
                  <a:srgbClr val="0038A8"/>
                </a:solidFill>
              </a:rPr>
              <a:t>активна област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1A61BA-4B3D-AAFF-A0E7-2134808D51C8}"/>
              </a:ext>
            </a:extLst>
          </p:cNvPr>
          <p:cNvSpPr/>
          <p:nvPr/>
        </p:nvSpPr>
        <p:spPr>
          <a:xfrm>
            <a:off x="6600056" y="1124744"/>
            <a:ext cx="564747" cy="36724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E01D44-A094-5E6A-1824-E7EA3ED904DE}"/>
              </a:ext>
            </a:extLst>
          </p:cNvPr>
          <p:cNvSpPr txBox="1"/>
          <p:nvPr/>
        </p:nvSpPr>
        <p:spPr>
          <a:xfrm>
            <a:off x="6215329" y="3105463"/>
            <a:ext cx="1044116" cy="27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0038A8"/>
                </a:solidFill>
              </a:rPr>
              <a:t>Ic</a:t>
            </a:r>
            <a:r>
              <a:rPr lang="en-US" sz="1200" dirty="0">
                <a:solidFill>
                  <a:srgbClr val="0038A8"/>
                </a:solidFill>
              </a:rPr>
              <a:t> = </a:t>
            </a:r>
            <a:r>
              <a:rPr lang="bg-BG" sz="1200" dirty="0">
                <a:solidFill>
                  <a:srgbClr val="0038A8"/>
                </a:solidFill>
              </a:rPr>
              <a:t>37</a:t>
            </a:r>
            <a:r>
              <a:rPr lang="en-US" sz="1200" dirty="0">
                <a:solidFill>
                  <a:srgbClr val="0038A8"/>
                </a:solidFill>
              </a:rPr>
              <a:t>,5 mA</a:t>
            </a:r>
            <a:endParaRPr lang="bg-BG" sz="1200" dirty="0">
              <a:solidFill>
                <a:srgbClr val="0038A8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BEF0EA-A97A-8A7D-24E8-B53A705D5ACB}"/>
              </a:ext>
            </a:extLst>
          </p:cNvPr>
          <p:cNvSpPr txBox="1"/>
          <p:nvPr/>
        </p:nvSpPr>
        <p:spPr>
          <a:xfrm>
            <a:off x="6276020" y="3956400"/>
            <a:ext cx="15121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0038A8"/>
                </a:solidFill>
              </a:rPr>
              <a:t>Ic</a:t>
            </a:r>
            <a:r>
              <a:rPr lang="en-US" sz="1200" dirty="0">
                <a:solidFill>
                  <a:srgbClr val="0038A8"/>
                </a:solidFill>
              </a:rPr>
              <a:t> = 12,5 mA</a:t>
            </a:r>
            <a:endParaRPr lang="bg-BG" sz="1200" dirty="0">
              <a:solidFill>
                <a:srgbClr val="0038A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3044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AA522-3287-8749-6083-4E0F17767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A0FD6C-0166-B1E9-C883-D17BDA938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072" y="1052736"/>
            <a:ext cx="4933416" cy="4065833"/>
          </a:xfrm>
          <a:prstGeom prst="rect">
            <a:avLst/>
          </a:prstGeom>
        </p:spPr>
      </p:pic>
      <p:sp>
        <p:nvSpPr>
          <p:cNvPr id="358402" name="Rectangle 2">
            <a:extLst>
              <a:ext uri="{FF2B5EF4-FFF2-40B4-BE49-F238E27FC236}">
                <a16:creationId xmlns:a16="http://schemas.microsoft.com/office/drawing/2014/main" id="{57BCBC75-E8C8-CB18-62E9-D0431047654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-24680" y="-1"/>
            <a:ext cx="12216680" cy="63076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bg-BG" sz="3200" dirty="0">
                <a:solidFill>
                  <a:schemeClr val="accent2"/>
                </a:solidFill>
                <a:latin typeface="Arial Narrow" pitchFamily="34" charset="0"/>
              </a:rPr>
              <a:t>Област на насищане</a:t>
            </a:r>
            <a:endParaRPr lang="en-US" sz="3200" dirty="0">
              <a:solidFill>
                <a:schemeClr val="accent2"/>
              </a:solidFill>
              <a:latin typeface="Arial Narrow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DE727C-632B-E88C-BF73-2489C46FBA96}"/>
              </a:ext>
            </a:extLst>
          </p:cNvPr>
          <p:cNvSpPr txBox="1"/>
          <p:nvPr/>
        </p:nvSpPr>
        <p:spPr>
          <a:xfrm>
            <a:off x="191344" y="1124744"/>
            <a:ext cx="633670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Всички криви в активната област изглеждат хоризонтални, но вляво всички се сблъскват в „стена“ и се спускат към началото на координатната система. </a:t>
            </a:r>
          </a:p>
          <a:p>
            <a:r>
              <a:rPr lang="ru-RU" sz="1600" dirty="0"/>
              <a:t>Каква е тази стена?</a:t>
            </a:r>
          </a:p>
          <a:p>
            <a:endParaRPr lang="en-US" sz="1600" dirty="0"/>
          </a:p>
          <a:p>
            <a:r>
              <a:rPr lang="ru-RU" sz="1600" dirty="0"/>
              <a:t>Условие: Нека се върнем към нашата крива Ib = 150μA, където Ic е 37,5mA. Намаляваме напрежението колектор-емитер, </a:t>
            </a:r>
            <a:r>
              <a:rPr lang="en-US" sz="1600" dirty="0"/>
              <a:t>U</a:t>
            </a:r>
            <a:r>
              <a:rPr lang="ru-RU" sz="1600" dirty="0"/>
              <a:t>ce. Тъй като </a:t>
            </a:r>
            <a:r>
              <a:rPr lang="en-US" sz="1600" dirty="0"/>
              <a:t>U</a:t>
            </a:r>
            <a:r>
              <a:rPr lang="ru-RU" sz="1600" dirty="0"/>
              <a:t>ce става много малко (около 0,2V), преходът колектор-база вече не е обратно </a:t>
            </a:r>
            <a:r>
              <a:rPr lang="bg-BG" sz="1600" dirty="0"/>
              <a:t>свързан</a:t>
            </a:r>
            <a:r>
              <a:rPr lang="ru-RU" sz="1600" dirty="0"/>
              <a:t>. Той става право </a:t>
            </a:r>
            <a:r>
              <a:rPr lang="bg-BG" sz="1600" dirty="0"/>
              <a:t>свързан</a:t>
            </a:r>
            <a:r>
              <a:rPr lang="ru-RU" sz="1600" dirty="0"/>
              <a:t>.</a:t>
            </a:r>
          </a:p>
          <a:p>
            <a:endParaRPr lang="ru-RU" sz="1600" dirty="0"/>
          </a:p>
          <a:p>
            <a:r>
              <a:rPr lang="ru-RU" sz="1600" dirty="0"/>
              <a:t>Физическото следствие: Когато преходът колектор-база стане право </a:t>
            </a:r>
            <a:r>
              <a:rPr lang="bg-BG" sz="1600" dirty="0"/>
              <a:t>свързан</a:t>
            </a:r>
            <a:r>
              <a:rPr lang="ru-RU" sz="1600" dirty="0"/>
              <a:t>, колекторът губи способността си ефективно да „събира“ всички електрони, преминаващи през базата. Той се насища с носители на заряд. Връзката Ic = β * Ib се разпада. Колекторният ток вече не може да се справи с изискванията на формулата </a:t>
            </a:r>
            <a:r>
              <a:rPr lang="de-DE" sz="1600" dirty="0" err="1"/>
              <a:t>Ic</a:t>
            </a:r>
            <a:r>
              <a:rPr lang="de-DE" sz="1600" dirty="0"/>
              <a:t> = </a:t>
            </a:r>
            <a:r>
              <a:rPr lang="el-GR" sz="1600" dirty="0"/>
              <a:t>β * </a:t>
            </a:r>
            <a:r>
              <a:rPr lang="de-DE" sz="1600" dirty="0"/>
              <a:t>Ib</a:t>
            </a:r>
            <a:r>
              <a:rPr lang="ru-RU" sz="1600" dirty="0"/>
              <a:t>. </a:t>
            </a:r>
          </a:p>
          <a:p>
            <a:endParaRPr lang="ru-RU" sz="1600" dirty="0"/>
          </a:p>
          <a:p>
            <a:r>
              <a:rPr lang="ru-RU" sz="1600" dirty="0"/>
              <a:t>Външни ограничения: В това състояние колекторният ток вече не се определя от бета, а е ограничен от външните компоненти във веригата (захранващото напрежение и товарния резистор).</a:t>
            </a:r>
            <a:endParaRPr lang="bg-BG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F2452-7E67-FE4C-E81E-1C706A267BE9}"/>
              </a:ext>
            </a:extLst>
          </p:cNvPr>
          <p:cNvSpPr txBox="1"/>
          <p:nvPr/>
        </p:nvSpPr>
        <p:spPr>
          <a:xfrm>
            <a:off x="11352584" y="6525344"/>
            <a:ext cx="6527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BC547</a:t>
            </a:r>
            <a:endParaRPr lang="bg-BG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65E762-6729-AAC7-968F-1D537ED3C73F}"/>
              </a:ext>
            </a:extLst>
          </p:cNvPr>
          <p:cNvSpPr txBox="1"/>
          <p:nvPr/>
        </p:nvSpPr>
        <p:spPr>
          <a:xfrm>
            <a:off x="6888088" y="5464393"/>
            <a:ext cx="52427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sz="1600" dirty="0"/>
              <a:t>Аналогия: Електрически ключ затворен (</a:t>
            </a:r>
            <a:r>
              <a:rPr lang="en-US" sz="1600" dirty="0"/>
              <a:t>on switch)</a:t>
            </a:r>
            <a:r>
              <a:rPr lang="bg-BG" sz="1600" dirty="0"/>
              <a:t> – веригата е непрекъсната, протича ток.</a:t>
            </a:r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EA9205AA-4AEC-111C-D540-3ECFD96A3B43}"/>
              </a:ext>
            </a:extLst>
          </p:cNvPr>
          <p:cNvSpPr/>
          <p:nvPr/>
        </p:nvSpPr>
        <p:spPr>
          <a:xfrm flipV="1">
            <a:off x="7464152" y="1196752"/>
            <a:ext cx="720080" cy="3240360"/>
          </a:xfrm>
          <a:prstGeom prst="rtTriangl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0F1C5F-4879-6204-7BE6-0F5C813DB8C6}"/>
              </a:ext>
            </a:extLst>
          </p:cNvPr>
          <p:cNvSpPr txBox="1"/>
          <p:nvPr/>
        </p:nvSpPr>
        <p:spPr>
          <a:xfrm>
            <a:off x="7320136" y="885341"/>
            <a:ext cx="15238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1200" dirty="0">
                <a:solidFill>
                  <a:srgbClr val="FF0000"/>
                </a:solidFill>
              </a:rPr>
              <a:t>област на отсечка</a:t>
            </a:r>
          </a:p>
        </p:txBody>
      </p:sp>
    </p:spTree>
    <p:extLst>
      <p:ext uri="{BB962C8B-B14F-4D97-AF65-F5344CB8AC3E}">
        <p14:creationId xmlns:p14="http://schemas.microsoft.com/office/powerpoint/2010/main" val="1058570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13B22-1B51-3091-FB62-4EA638AD7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6D3BF5-3D9B-BC6B-5030-DB2ECED5BF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757" b="9676"/>
          <a:stretch>
            <a:fillRect/>
          </a:stretch>
        </p:blipFill>
        <p:spPr>
          <a:xfrm>
            <a:off x="7176120" y="1052737"/>
            <a:ext cx="4501368" cy="3672408"/>
          </a:xfrm>
          <a:prstGeom prst="rect">
            <a:avLst/>
          </a:prstGeom>
        </p:spPr>
      </p:pic>
      <p:sp>
        <p:nvSpPr>
          <p:cNvPr id="358402" name="Rectangle 2">
            <a:extLst>
              <a:ext uri="{FF2B5EF4-FFF2-40B4-BE49-F238E27FC236}">
                <a16:creationId xmlns:a16="http://schemas.microsoft.com/office/drawing/2014/main" id="{B7358EA7-C1A7-FD34-13E0-569C2293600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-24680" y="-1"/>
            <a:ext cx="12216680" cy="63076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bg-BG" sz="3200" dirty="0">
                <a:solidFill>
                  <a:schemeClr val="accent2"/>
                </a:solidFill>
                <a:latin typeface="Arial Narrow" pitchFamily="34" charset="0"/>
              </a:rPr>
              <a:t>Товарна права</a:t>
            </a:r>
            <a:endParaRPr lang="en-US" sz="3200" dirty="0">
              <a:solidFill>
                <a:schemeClr val="accent2"/>
              </a:solidFill>
              <a:latin typeface="Arial Narrow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F07117-8835-569E-5431-B92CD41289EC}"/>
              </a:ext>
            </a:extLst>
          </p:cNvPr>
          <p:cNvSpPr txBox="1"/>
          <p:nvPr/>
        </p:nvSpPr>
        <p:spPr>
          <a:xfrm>
            <a:off x="11352584" y="6525344"/>
            <a:ext cx="6527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BC547</a:t>
            </a:r>
            <a:endParaRPr lang="bg-BG" sz="1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9EA879-A72E-2B55-B371-72AA948075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366" y="1848016"/>
            <a:ext cx="3384376" cy="26604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EA6256-3B2B-9D2D-8C65-201F3E770A4A}"/>
              </a:ext>
            </a:extLst>
          </p:cNvPr>
          <p:cNvSpPr txBox="1"/>
          <p:nvPr/>
        </p:nvSpPr>
        <p:spPr>
          <a:xfrm>
            <a:off x="378262" y="908720"/>
            <a:ext cx="65098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sz="1600" dirty="0"/>
              <a:t>Ако построим схема, къде на тази характеристика  всъщност ще работи транзисторът? Не можем просто да изберем точка. Работната точка е ограничена от външните елементи на схемата.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EBA5BCE-4D60-948B-75AA-50961E25288C}"/>
                  </a:ext>
                </a:extLst>
              </p:cNvPr>
              <p:cNvSpPr txBox="1"/>
              <p:nvPr/>
            </p:nvSpPr>
            <p:spPr>
              <a:xfrm>
                <a:off x="4079776" y="2276872"/>
                <a:ext cx="169860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g-BG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𝐶𝐶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𝐶𝐸</m:t>
                          </m:r>
                        </m:sub>
                      </m:sSub>
                    </m:oMath>
                  </m:oMathPara>
                </a14:m>
                <a:endParaRPr lang="bg-BG" sz="1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EBA5BCE-4D60-948B-75AA-50961E2528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9776" y="2276872"/>
                <a:ext cx="1698606" cy="246221"/>
              </a:xfrm>
              <a:prstGeom prst="rect">
                <a:avLst/>
              </a:prstGeom>
              <a:blipFill>
                <a:blip r:embed="rId5"/>
                <a:stretch>
                  <a:fillRect b="-17500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817B11E-48BF-5F60-A2F7-9EB16D627541}"/>
                  </a:ext>
                </a:extLst>
              </p:cNvPr>
              <p:cNvSpPr txBox="1"/>
              <p:nvPr/>
            </p:nvSpPr>
            <p:spPr>
              <a:xfrm>
                <a:off x="4044814" y="2807999"/>
                <a:ext cx="1942134" cy="5044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=−</m:t>
                          </m:r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𝐶𝐸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DE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𝐶𝐶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DE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bg-BG" sz="1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817B11E-48BF-5F60-A2F7-9EB16D6275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4814" y="2807999"/>
                <a:ext cx="1942134" cy="5044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42599F91-00D6-18BD-BFC6-6DF9AB178A09}"/>
              </a:ext>
            </a:extLst>
          </p:cNvPr>
          <p:cNvSpPr txBox="1"/>
          <p:nvPr/>
        </p:nvSpPr>
        <p:spPr>
          <a:xfrm>
            <a:off x="335360" y="4620974"/>
            <a:ext cx="1134212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600" dirty="0"/>
              <a:t>Това е уравнение на права линия, която наричаме „товарна права“.</a:t>
            </a:r>
            <a:endParaRPr lang="en-US" sz="1600" dirty="0"/>
          </a:p>
          <a:p>
            <a:r>
              <a:rPr lang="bg-BG" sz="1600" dirty="0"/>
              <a:t>Тя пресича оста </a:t>
            </a:r>
            <a:r>
              <a:rPr lang="en-US" sz="1600" dirty="0"/>
              <a:t>Y (</a:t>
            </a:r>
            <a:r>
              <a:rPr lang="bg-BG" sz="1600" dirty="0"/>
              <a:t>където </a:t>
            </a:r>
            <a:r>
              <a:rPr lang="en-US" sz="1600" dirty="0"/>
              <a:t>Uce=0) </a:t>
            </a:r>
            <a:r>
              <a:rPr lang="bg-BG" sz="1600" dirty="0"/>
              <a:t>в точка </a:t>
            </a:r>
            <a:r>
              <a:rPr lang="en-US" sz="1600" dirty="0" err="1"/>
              <a:t>Ic</a:t>
            </a:r>
            <a:r>
              <a:rPr lang="en-US" sz="1600" dirty="0"/>
              <a:t> = </a:t>
            </a:r>
            <a:r>
              <a:rPr lang="en-US" sz="1600" dirty="0" err="1"/>
              <a:t>Ucc</a:t>
            </a:r>
            <a:r>
              <a:rPr lang="en-US" sz="1600" dirty="0"/>
              <a:t>/</a:t>
            </a:r>
            <a:r>
              <a:rPr lang="en-US" sz="1600" dirty="0" err="1"/>
              <a:t>Rc</a:t>
            </a:r>
            <a:r>
              <a:rPr lang="en-US" sz="1600" dirty="0"/>
              <a:t> = 10 V / 125 </a:t>
            </a:r>
            <a:r>
              <a:rPr lang="el-GR" sz="1600" dirty="0"/>
              <a:t>Ω</a:t>
            </a:r>
            <a:r>
              <a:rPr lang="en-US" sz="1600" dirty="0"/>
              <a:t> = </a:t>
            </a:r>
            <a:r>
              <a:rPr lang="en-US" sz="1600" b="1" dirty="0"/>
              <a:t>80mA</a:t>
            </a:r>
            <a:r>
              <a:rPr lang="en-US" sz="1600" dirty="0"/>
              <a:t> </a:t>
            </a:r>
            <a:r>
              <a:rPr lang="bg-BG" sz="1600" dirty="0"/>
              <a:t>и </a:t>
            </a:r>
          </a:p>
          <a:p>
            <a:r>
              <a:rPr lang="bg-BG" sz="1600" dirty="0"/>
              <a:t>Оста </a:t>
            </a:r>
            <a:r>
              <a:rPr lang="en-US" sz="1600" dirty="0"/>
              <a:t>X (</a:t>
            </a:r>
            <a:r>
              <a:rPr lang="bg-BG" sz="1600" dirty="0"/>
              <a:t>където </a:t>
            </a:r>
            <a:r>
              <a:rPr lang="en-US" sz="1600" dirty="0" err="1"/>
              <a:t>Ic</a:t>
            </a:r>
            <a:r>
              <a:rPr lang="en-US" sz="1600" dirty="0"/>
              <a:t>=0) </a:t>
            </a:r>
            <a:r>
              <a:rPr lang="bg-BG" sz="1600" dirty="0"/>
              <a:t>в точка </a:t>
            </a:r>
            <a:r>
              <a:rPr lang="en-US" sz="1600" dirty="0"/>
              <a:t>Uce = </a:t>
            </a:r>
            <a:r>
              <a:rPr lang="en-US" sz="1600" dirty="0" err="1"/>
              <a:t>Ucc</a:t>
            </a:r>
            <a:r>
              <a:rPr lang="bg-BG" sz="1600" dirty="0"/>
              <a:t> = </a:t>
            </a:r>
            <a:r>
              <a:rPr lang="bg-BG" sz="1600" b="1" dirty="0"/>
              <a:t>10</a:t>
            </a:r>
            <a:r>
              <a:rPr lang="en-US" sz="1600" b="1" dirty="0"/>
              <a:t>V</a:t>
            </a:r>
            <a:r>
              <a:rPr lang="bg-BG" sz="1600" dirty="0"/>
              <a:t>.</a:t>
            </a:r>
            <a:endParaRPr lang="en-US" sz="1600" dirty="0"/>
          </a:p>
          <a:p>
            <a:endParaRPr lang="bg-BG" sz="1600" dirty="0"/>
          </a:p>
          <a:p>
            <a:r>
              <a:rPr lang="bg-BG" sz="1600" dirty="0"/>
              <a:t>Работната точка на транзистора, трябва да лежи някъде на тази линия. Тя е пресечната точка на товарната права с характеристиката, съответстваща на Ib, което сме задали с нашия базов резистор.</a:t>
            </a:r>
          </a:p>
          <a:p>
            <a:r>
              <a:rPr lang="bg-BG" sz="1600" dirty="0"/>
              <a:t>На графиката е означена работната точка при </a:t>
            </a:r>
            <a:r>
              <a:rPr lang="ru-RU" sz="1600" dirty="0"/>
              <a:t>Ib = 150μA</a:t>
            </a:r>
            <a:endParaRPr lang="bg-BG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32BC522-FC1A-B31E-0DCC-173AF8469044}"/>
                  </a:ext>
                </a:extLst>
              </p:cNvPr>
              <p:cNvSpPr txBox="1"/>
              <p:nvPr/>
            </p:nvSpPr>
            <p:spPr>
              <a:xfrm>
                <a:off x="767408" y="2136493"/>
                <a:ext cx="94827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=125 </m:t>
                      </m:r>
                      <m:r>
                        <m:rPr>
                          <m:sty m:val="p"/>
                        </m:rPr>
                        <a:rPr lang="el-G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14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32BC522-FC1A-B31E-0DCC-173AF84690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08" y="2136493"/>
                <a:ext cx="948272" cy="215444"/>
              </a:xfrm>
              <a:prstGeom prst="rect">
                <a:avLst/>
              </a:prstGeom>
              <a:blipFill>
                <a:blip r:embed="rId7"/>
                <a:stretch>
                  <a:fillRect l="-3226" r="-3871" b="-16667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6859B9F-A4C3-BD44-06EE-AFAFE89BD113}"/>
                  </a:ext>
                </a:extLst>
              </p:cNvPr>
              <p:cNvSpPr txBox="1"/>
              <p:nvPr/>
            </p:nvSpPr>
            <p:spPr>
              <a:xfrm>
                <a:off x="767408" y="2405699"/>
                <a:ext cx="926857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𝐶𝐶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=10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14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6859B9F-A4C3-BD44-06EE-AFAFE89BD1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08" y="2405699"/>
                <a:ext cx="926857" cy="215444"/>
              </a:xfrm>
              <a:prstGeom prst="rect">
                <a:avLst/>
              </a:prstGeom>
              <a:blipFill>
                <a:blip r:embed="rId8"/>
                <a:stretch>
                  <a:fillRect l="-3289" r="-2632" b="-17143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5308833-BD22-5864-9D78-88C91F21FDF4}"/>
              </a:ext>
            </a:extLst>
          </p:cNvPr>
          <p:cNvCxnSpPr>
            <a:cxnSpLocks/>
          </p:cNvCxnSpPr>
          <p:nvPr/>
        </p:nvCxnSpPr>
        <p:spPr>
          <a:xfrm>
            <a:off x="7464152" y="1848016"/>
            <a:ext cx="2044840" cy="2627934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A84CA588-C58B-1C5C-E150-116F0C431ECE}"/>
              </a:ext>
            </a:extLst>
          </p:cNvPr>
          <p:cNvSpPr/>
          <p:nvPr/>
        </p:nvSpPr>
        <p:spPr>
          <a:xfrm>
            <a:off x="8472264" y="3174910"/>
            <a:ext cx="144016" cy="144016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7EBB62C-3758-9CDF-BADA-A4FC9259F80B}"/>
              </a:ext>
            </a:extLst>
          </p:cNvPr>
          <p:cNvCxnSpPr>
            <a:stCxn id="21" idx="4"/>
          </p:cNvCxnSpPr>
          <p:nvPr/>
        </p:nvCxnSpPr>
        <p:spPr>
          <a:xfrm>
            <a:off x="8544272" y="3318926"/>
            <a:ext cx="0" cy="1157024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364EB11-D94E-2FE4-210B-FE71135AED6B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7468881" y="3246918"/>
            <a:ext cx="1003383" cy="3428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8AA4C59-76B3-E150-6933-4C64ABF74D65}"/>
              </a:ext>
            </a:extLst>
          </p:cNvPr>
          <p:cNvSpPr txBox="1"/>
          <p:nvPr/>
        </p:nvSpPr>
        <p:spPr>
          <a:xfrm>
            <a:off x="7176120" y="3165037"/>
            <a:ext cx="6183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00B050"/>
                </a:solidFill>
              </a:rPr>
              <a:t>Ic</a:t>
            </a:r>
            <a:endParaRPr lang="bg-BG" sz="1400" dirty="0">
              <a:solidFill>
                <a:srgbClr val="00B05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264FEBA-CF57-F2AC-5EC7-9516D6531FDD}"/>
              </a:ext>
            </a:extLst>
          </p:cNvPr>
          <p:cNvSpPr txBox="1"/>
          <p:nvPr/>
        </p:nvSpPr>
        <p:spPr>
          <a:xfrm>
            <a:off x="8256240" y="4406894"/>
            <a:ext cx="6183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</a:rPr>
              <a:t>Uce</a:t>
            </a:r>
            <a:endParaRPr lang="bg-BG" sz="1400" dirty="0">
              <a:solidFill>
                <a:srgbClr val="00B05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87E45A6-554B-D7F2-6B69-F85EB66084F7}"/>
              </a:ext>
            </a:extLst>
          </p:cNvPr>
          <p:cNvSpPr txBox="1"/>
          <p:nvPr/>
        </p:nvSpPr>
        <p:spPr>
          <a:xfrm>
            <a:off x="8457000" y="2868813"/>
            <a:ext cx="6183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</a:rPr>
              <a:t>Q</a:t>
            </a:r>
            <a:endParaRPr lang="bg-BG" sz="1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4702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C7576-C2CC-5A85-5AB3-78FB2437F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721F1B-5F2F-15E1-BF83-34E657DA44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757" b="9676"/>
          <a:stretch>
            <a:fillRect/>
          </a:stretch>
        </p:blipFill>
        <p:spPr>
          <a:xfrm>
            <a:off x="7176120" y="1052737"/>
            <a:ext cx="4501368" cy="3672408"/>
          </a:xfrm>
          <a:prstGeom prst="rect">
            <a:avLst/>
          </a:prstGeom>
        </p:spPr>
      </p:pic>
      <p:sp>
        <p:nvSpPr>
          <p:cNvPr id="358402" name="Rectangle 2">
            <a:extLst>
              <a:ext uri="{FF2B5EF4-FFF2-40B4-BE49-F238E27FC236}">
                <a16:creationId xmlns:a16="http://schemas.microsoft.com/office/drawing/2014/main" id="{E34406D5-61B8-44B2-7A17-3F23CB312B9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-24680" y="-1"/>
            <a:ext cx="12216680" cy="63076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bg-BG" sz="3200" dirty="0">
                <a:solidFill>
                  <a:schemeClr val="accent2"/>
                </a:solidFill>
                <a:latin typeface="Arial Narrow" pitchFamily="34" charset="0"/>
              </a:rPr>
              <a:t>Товарна права</a:t>
            </a:r>
            <a:endParaRPr lang="en-US" sz="3200" dirty="0">
              <a:solidFill>
                <a:schemeClr val="accent2"/>
              </a:solidFill>
              <a:latin typeface="Arial Narrow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C2A8DD-8877-72B5-159B-4631D967976C}"/>
              </a:ext>
            </a:extLst>
          </p:cNvPr>
          <p:cNvSpPr txBox="1"/>
          <p:nvPr/>
        </p:nvSpPr>
        <p:spPr>
          <a:xfrm>
            <a:off x="11352584" y="6525344"/>
            <a:ext cx="6527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BC547</a:t>
            </a:r>
            <a:endParaRPr lang="bg-BG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639A4C-B4F0-2F64-1035-5F1A5FC7FF1D}"/>
              </a:ext>
            </a:extLst>
          </p:cNvPr>
          <p:cNvSpPr txBox="1"/>
          <p:nvPr/>
        </p:nvSpPr>
        <p:spPr>
          <a:xfrm>
            <a:off x="378262" y="908720"/>
            <a:ext cx="650982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Ако направим Ib = 0, </a:t>
            </a:r>
            <a:r>
              <a:rPr lang="bg-BG" sz="1600" dirty="0"/>
              <a:t>работната </a:t>
            </a:r>
            <a:r>
              <a:rPr lang="ru-RU" sz="1600" dirty="0"/>
              <a:t>точка е в долната част на линията на </a:t>
            </a:r>
            <a:r>
              <a:rPr lang="bg-BG" sz="1600" dirty="0"/>
              <a:t>товарната права</a:t>
            </a:r>
            <a:r>
              <a:rPr lang="ru-RU" sz="1600" dirty="0"/>
              <a:t> (отсечка). </a:t>
            </a:r>
          </a:p>
          <a:p>
            <a:endParaRPr lang="en-US" sz="1600" dirty="0"/>
          </a:p>
          <a:p>
            <a:r>
              <a:rPr lang="ru-RU" sz="1600" dirty="0"/>
              <a:t>Ако осигурим умерено Ib, </a:t>
            </a:r>
            <a:r>
              <a:rPr lang="bg-BG" sz="1600" dirty="0"/>
              <a:t>работната </a:t>
            </a:r>
            <a:r>
              <a:rPr lang="ru-RU" sz="1600" dirty="0"/>
              <a:t>точка е в средата (активна област). </a:t>
            </a:r>
          </a:p>
          <a:p>
            <a:endParaRPr lang="ru-RU" sz="1600" dirty="0"/>
          </a:p>
          <a:p>
            <a:r>
              <a:rPr lang="ru-RU" sz="1600" dirty="0"/>
              <a:t>Ако осигурим много голямо Ib, </a:t>
            </a:r>
            <a:r>
              <a:rPr lang="bg-BG" sz="1600" dirty="0"/>
              <a:t>работната </a:t>
            </a:r>
            <a:r>
              <a:rPr lang="ru-RU" sz="1600" dirty="0"/>
              <a:t>точка се отмества нагоре по </a:t>
            </a:r>
            <a:r>
              <a:rPr lang="bg-BG" sz="1600" dirty="0"/>
              <a:t>товарната права</a:t>
            </a:r>
            <a:r>
              <a:rPr lang="ru-RU" sz="1600" dirty="0"/>
              <a:t>, докато стигне до областта на насищане и не може да продължи по-нататък.</a:t>
            </a:r>
          </a:p>
          <a:p>
            <a:endParaRPr lang="ru-RU" sz="1600" dirty="0"/>
          </a:p>
          <a:p>
            <a:r>
              <a:rPr lang="bg-BG" sz="1600" dirty="0"/>
              <a:t>Товарната права</a:t>
            </a:r>
            <a:r>
              <a:rPr lang="ru-RU" sz="1600" dirty="0"/>
              <a:t> е нашият графичен инструмент за анализ на схеми с транзистори. Тя ни показва как промяната на входа (Ib) премества изхода (Ic, </a:t>
            </a:r>
            <a:r>
              <a:rPr lang="en-US" sz="1600" dirty="0"/>
              <a:t>U</a:t>
            </a:r>
            <a:r>
              <a:rPr lang="ru-RU" sz="1600" dirty="0"/>
              <a:t>ce) между трите различни области на работа.</a:t>
            </a:r>
            <a:endParaRPr lang="bg-BG" sz="16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72AB7C9-81FD-8A81-D381-DEBCE73CC250}"/>
              </a:ext>
            </a:extLst>
          </p:cNvPr>
          <p:cNvCxnSpPr>
            <a:cxnSpLocks/>
          </p:cNvCxnSpPr>
          <p:nvPr/>
        </p:nvCxnSpPr>
        <p:spPr>
          <a:xfrm>
            <a:off x="7464152" y="1848016"/>
            <a:ext cx="2044840" cy="2627934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AFBCA00A-3772-B655-64F3-A8BC905B3B3E}"/>
              </a:ext>
            </a:extLst>
          </p:cNvPr>
          <p:cNvSpPr/>
          <p:nvPr/>
        </p:nvSpPr>
        <p:spPr>
          <a:xfrm>
            <a:off x="8472264" y="3174910"/>
            <a:ext cx="144016" cy="144016"/>
          </a:xfrm>
          <a:prstGeom prst="ellipse">
            <a:avLst/>
          </a:prstGeom>
          <a:solidFill>
            <a:srgbClr val="003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7C1CB56-9022-E960-A4B1-7D97A0F63743}"/>
              </a:ext>
            </a:extLst>
          </p:cNvPr>
          <p:cNvSpPr/>
          <p:nvPr/>
        </p:nvSpPr>
        <p:spPr>
          <a:xfrm>
            <a:off x="9426804" y="4384523"/>
            <a:ext cx="144016" cy="14401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C945371-879C-101F-B908-B31AE0A2DC39}"/>
              </a:ext>
            </a:extLst>
          </p:cNvPr>
          <p:cNvSpPr/>
          <p:nvPr/>
        </p:nvSpPr>
        <p:spPr>
          <a:xfrm>
            <a:off x="7721874" y="2204864"/>
            <a:ext cx="144016" cy="14401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360709250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10372</TotalTime>
  <Words>998</Words>
  <Application>Microsoft Office PowerPoint</Application>
  <PresentationFormat>Widescreen</PresentationFormat>
  <Paragraphs>92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Narrow</vt:lpstr>
      <vt:lpstr>Cambria Math</vt:lpstr>
      <vt:lpstr>Default Design</vt:lpstr>
      <vt:lpstr>PowerPoint Presentation</vt:lpstr>
      <vt:lpstr>Волт-Амперни характеристики на биполярен транзистор</vt:lpstr>
      <vt:lpstr>Област на отсечка</vt:lpstr>
      <vt:lpstr>Активна област</vt:lpstr>
      <vt:lpstr>Област на насищане</vt:lpstr>
      <vt:lpstr>Товарна права</vt:lpstr>
      <vt:lpstr>Товарна права</vt:lpstr>
    </vt:vector>
  </TitlesOfParts>
  <Company>ТУ-София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Vassiliy Tchoumatchenko</cp:lastModifiedBy>
  <cp:revision>332</cp:revision>
  <dcterms:created xsi:type="dcterms:W3CDTF">2013-03-19T07:28:34Z</dcterms:created>
  <dcterms:modified xsi:type="dcterms:W3CDTF">2025-11-18T10:42:20Z</dcterms:modified>
</cp:coreProperties>
</file>