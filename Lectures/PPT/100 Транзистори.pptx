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341" r:id="rId3"/>
    <p:sldId id="344" r:id="rId4"/>
    <p:sldId id="345" r:id="rId5"/>
    <p:sldId id="346" r:id="rId6"/>
    <p:sldId id="342" r:id="rId7"/>
    <p:sldId id="343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D7F0F3"/>
    <a:srgbClr val="E1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020" autoAdjust="0"/>
  </p:normalViewPr>
  <p:slideViewPr>
    <p:cSldViewPr>
      <p:cViewPr varScale="1">
        <p:scale>
          <a:sx n="142" d="100"/>
          <a:sy n="142" d="100"/>
        </p:scale>
        <p:origin x="96" y="14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3" d="100"/>
          <a:sy n="103" d="100"/>
        </p:scale>
        <p:origin x="32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7C656D6-A842-4425-A532-3D5FCD608661}" type="datetime1">
              <a:rPr lang="en-US"/>
              <a:pPr>
                <a:defRPr/>
              </a:pPr>
              <a:t>11/18/2025</a:t>
            </a:fld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2F23AD-DD44-49C7-AB14-59A495CA5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591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9EB583F-6715-4920-B56D-72B9914B75E2}" type="datetime1">
              <a:rPr lang="en-US"/>
              <a:pPr>
                <a:defRPr/>
              </a:pPr>
              <a:t>11/18/2025</a:t>
            </a:fld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0702B6B-561A-4A8F-9B90-C1F5C818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913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ohn_Bardeen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Bell_Labs" TargetMode="External"/><Relationship Id="rId5" Type="http://schemas.openxmlformats.org/officeDocument/2006/relationships/hyperlink" Target="https://en.wikipedia.org/wiki/Walter_Brattain" TargetMode="External"/><Relationship Id="rId4" Type="http://schemas.openxmlformats.org/officeDocument/2006/relationships/hyperlink" Target="https://en.wikipedia.org/wiki/William_Shockley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80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55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Switching action is accomplished by supplying an input signal that transitions between two states; one of these input states results in full current flow, and the other results in zero current flow. Amplification is accomplished by biasing the transistor such that small input-signal variations create corresponding larger-amplitude variations in current flow.</a:t>
            </a: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06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 tooltip="John Bardeen"/>
              </a:rPr>
              <a:t>John Bardeen</a:t>
            </a:r>
            <a:r>
              <a:rPr lang="en-US" dirty="0"/>
              <a:t>, </a:t>
            </a:r>
            <a:r>
              <a:rPr lang="en-US" dirty="0">
                <a:hlinkClick r:id="rId4" tooltip="William Shockley"/>
              </a:rPr>
              <a:t>William Shockley</a:t>
            </a:r>
            <a:r>
              <a:rPr lang="en-US" dirty="0"/>
              <a:t> and </a:t>
            </a:r>
            <a:r>
              <a:rPr lang="en-US" dirty="0">
                <a:hlinkClick r:id="rId5" tooltip="Walter Brattain"/>
              </a:rPr>
              <a:t>Walter Brattain</a:t>
            </a:r>
            <a:r>
              <a:rPr lang="en-US" dirty="0"/>
              <a:t> at </a:t>
            </a:r>
            <a:r>
              <a:rPr lang="en-US" dirty="0">
                <a:hlinkClick r:id="rId6" tooltip="Bell Labs"/>
              </a:rPr>
              <a:t>Bell Labs</a:t>
            </a:r>
            <a:r>
              <a:rPr lang="en-US" dirty="0"/>
              <a:t>, 1948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16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39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30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03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88640"/>
            <a:ext cx="904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79376" y="4509120"/>
            <a:ext cx="655272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bg-BG" b="0" i="0" kern="0" dirty="0">
                <a:solidFill>
                  <a:srgbClr val="0038A8"/>
                </a:solidFill>
                <a:effectLst/>
                <a:latin typeface="Arial Narrow" pitchFamily="34" charset="0"/>
              </a:rPr>
              <a:t>Транзистори</a:t>
            </a:r>
            <a:endParaRPr lang="en-US" b="0" i="0" kern="0" dirty="0">
              <a:solidFill>
                <a:srgbClr val="0038A8"/>
              </a:solidFill>
              <a:effectLst/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5A60B6C-421F-54F7-4DFD-DA12BA845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44672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Транзистор</a:t>
            </a:r>
            <a:endParaRPr lang="en-US" sz="3200" kern="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7839E-01C7-FF4E-A5A3-A2C89C8A32D3}"/>
              </a:ext>
            </a:extLst>
          </p:cNvPr>
          <p:cNvSpPr txBox="1"/>
          <p:nvPr/>
        </p:nvSpPr>
        <p:spPr>
          <a:xfrm>
            <a:off x="767408" y="1682021"/>
            <a:ext cx="102251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Транзисторът е полупроводниково устройство, използвано за </a:t>
            </a:r>
            <a:r>
              <a:rPr lang="bg-BG" b="1" dirty="0"/>
              <a:t>усилване</a:t>
            </a:r>
            <a:r>
              <a:rPr lang="bg-BG" dirty="0"/>
              <a:t> или </a:t>
            </a:r>
            <a:r>
              <a:rPr lang="bg-BG" b="1" dirty="0"/>
              <a:t>превключване</a:t>
            </a:r>
            <a:r>
              <a:rPr lang="bg-BG" dirty="0"/>
              <a:t> на електрически сигнали и мощност. Това е един от основните градивни елементи на съвременната електроника. </a:t>
            </a:r>
          </a:p>
          <a:p>
            <a:endParaRPr lang="bg-BG" dirty="0"/>
          </a:p>
          <a:p>
            <a:r>
              <a:rPr lang="bg-BG" dirty="0"/>
              <a:t>Състои се от полупроводников материал, обикновено с най-малко три терминала за свързване към електронна верига. </a:t>
            </a:r>
          </a:p>
          <a:p>
            <a:endParaRPr lang="bg-BG" dirty="0"/>
          </a:p>
          <a:p>
            <a:r>
              <a:rPr lang="bg-BG" dirty="0"/>
              <a:t>Напрежение или ток, приложен към една двойка изводи на транзистора, контролира тока през друга двойка изводи. Тъй като контролираната (изходна) мощност може да бъде по-висока от управляващата (входяща) мощност, транзисторът може да усили сигнала.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EFAC2-3A7E-BF70-A105-A89C2A8A0392}"/>
              </a:ext>
            </a:extLst>
          </p:cNvPr>
          <p:cNvSpPr txBox="1"/>
          <p:nvPr/>
        </p:nvSpPr>
        <p:spPr>
          <a:xfrm>
            <a:off x="9980240" y="6525344"/>
            <a:ext cx="221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900" dirty="0"/>
              <a:t>https://en.wikipedia.org/wiki/Transistor</a:t>
            </a:r>
          </a:p>
        </p:txBody>
      </p:sp>
    </p:spTree>
    <p:extLst>
      <p:ext uri="{BB962C8B-B14F-4D97-AF65-F5344CB8AC3E}">
        <p14:creationId xmlns:p14="http://schemas.microsoft.com/office/powerpoint/2010/main" val="262343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5A60B6C-421F-54F7-4DFD-DA12BA845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44672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Усилване</a:t>
            </a:r>
            <a:endParaRPr lang="en-US" sz="3200" kern="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pic>
        <p:nvPicPr>
          <p:cNvPr id="5" name="Picture 4" descr="A red and blue lines on a black background&#10;&#10;Description automatically generated">
            <a:extLst>
              <a:ext uri="{FF2B5EF4-FFF2-40B4-BE49-F238E27FC236}">
                <a16:creationId xmlns:a16="http://schemas.microsoft.com/office/drawing/2014/main" id="{C191A7AF-7FD4-A259-3B3D-4FFEB70384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2226690"/>
            <a:ext cx="3548709" cy="2404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FFCEE6-9C95-4EAD-742C-10B6123FC5AB}"/>
              </a:ext>
            </a:extLst>
          </p:cNvPr>
          <p:cNvSpPr txBox="1"/>
          <p:nvPr/>
        </p:nvSpPr>
        <p:spPr>
          <a:xfrm>
            <a:off x="119336" y="6517307"/>
            <a:ext cx="6172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900" dirty="0" err="1"/>
              <a:t>By</a:t>
            </a:r>
            <a:r>
              <a:rPr lang="bg-BG" sz="900" dirty="0"/>
              <a:t> </a:t>
            </a:r>
            <a:r>
              <a:rPr lang="bg-BG" sz="900" dirty="0" err="1"/>
              <a:t>Chetvorno</a:t>
            </a:r>
            <a:r>
              <a:rPr lang="bg-BG" sz="900" dirty="0"/>
              <a:t> - </a:t>
            </a:r>
            <a:r>
              <a:rPr lang="bg-BG" sz="900" dirty="0" err="1"/>
              <a:t>Own</a:t>
            </a:r>
            <a:r>
              <a:rPr lang="bg-BG" sz="900" dirty="0"/>
              <a:t> </a:t>
            </a:r>
            <a:r>
              <a:rPr lang="bg-BG" sz="900" dirty="0" err="1"/>
              <a:t>work</a:t>
            </a:r>
            <a:r>
              <a:rPr lang="bg-BG" sz="900" dirty="0"/>
              <a:t>, CC0, https://commons.wikimedia.org/w/index.php?curid=54376088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67590-8537-882B-8142-6E0FBCDBD503}"/>
              </a:ext>
            </a:extLst>
          </p:cNvPr>
          <p:cNvSpPr txBox="1"/>
          <p:nvPr/>
        </p:nvSpPr>
        <p:spPr>
          <a:xfrm>
            <a:off x="6061528" y="3289003"/>
            <a:ext cx="617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Усилване означава увеличаване на амплитудата (напрежение или ток) на променлив във времето сигнал.</a:t>
            </a:r>
          </a:p>
        </p:txBody>
      </p:sp>
      <p:sp>
        <p:nvSpPr>
          <p:cNvPr id="12" name="AutoShape 2" descr="{\displaystyle v_{o}(t)=3v_{i}(t)\,}">
            <a:extLst>
              <a:ext uri="{FF2B5EF4-FFF2-40B4-BE49-F238E27FC236}">
                <a16:creationId xmlns:a16="http://schemas.microsoft.com/office/drawing/2014/main" id="{50A3FEB6-5AAE-4E23-1761-B07A3949FA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4A277B-6A23-4B07-37AC-9950DE9C0254}"/>
              </a:ext>
            </a:extLst>
          </p:cNvPr>
          <p:cNvSpPr/>
          <p:nvPr/>
        </p:nvSpPr>
        <p:spPr>
          <a:xfrm>
            <a:off x="7536160" y="908720"/>
            <a:ext cx="1368152" cy="9233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Усилвател</a:t>
            </a:r>
            <a:endParaRPr lang="bg-BG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0C560A-50BC-4265-DE43-7F59FE46EF8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456040" y="1370385"/>
            <a:ext cx="10801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6BEB30-CF6E-491C-AB55-8053E2D98116}"/>
              </a:ext>
            </a:extLst>
          </p:cNvPr>
          <p:cNvCxnSpPr>
            <a:cxnSpLocks/>
          </p:cNvCxnSpPr>
          <p:nvPr/>
        </p:nvCxnSpPr>
        <p:spPr>
          <a:xfrm>
            <a:off x="8904312" y="1370385"/>
            <a:ext cx="10801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EA7B6C-F127-350F-B12D-845229A8692D}"/>
                  </a:ext>
                </a:extLst>
              </p:cNvPr>
              <p:cNvSpPr txBox="1"/>
              <p:nvPr/>
            </p:nvSpPr>
            <p:spPr>
              <a:xfrm>
                <a:off x="9150596" y="1001053"/>
                <a:ext cx="5776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EA7B6C-F127-350F-B12D-845229A86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596" y="1001053"/>
                <a:ext cx="577659" cy="276999"/>
              </a:xfrm>
              <a:prstGeom prst="rect">
                <a:avLst/>
              </a:prstGeom>
              <a:blipFill>
                <a:blip r:embed="rId4"/>
                <a:stretch>
                  <a:fillRect l="-4211" r="-12632" b="-3478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BF7DC5-42B2-13C5-75FE-AF53623452E5}"/>
                  </a:ext>
                </a:extLst>
              </p:cNvPr>
              <p:cNvSpPr txBox="1"/>
              <p:nvPr/>
            </p:nvSpPr>
            <p:spPr>
              <a:xfrm>
                <a:off x="6463496" y="1022979"/>
                <a:ext cx="5509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BF7DC5-42B2-13C5-75FE-AF5362345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496" y="1022979"/>
                <a:ext cx="550920" cy="276999"/>
              </a:xfrm>
              <a:prstGeom prst="rect">
                <a:avLst/>
              </a:prstGeom>
              <a:blipFill>
                <a:blip r:embed="rId5"/>
                <a:stretch>
                  <a:fillRect l="-4396" r="-13187" b="-377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54B51D-8C1A-BB75-19AA-DA9DCE3F65F9}"/>
                  </a:ext>
                </a:extLst>
              </p:cNvPr>
              <p:cNvSpPr txBox="1"/>
              <p:nvPr/>
            </p:nvSpPr>
            <p:spPr>
              <a:xfrm>
                <a:off x="6600056" y="2406322"/>
                <a:ext cx="33843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54B51D-8C1A-BB75-19AA-DA9DCE3F6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2406322"/>
                <a:ext cx="3384376" cy="276999"/>
              </a:xfrm>
              <a:prstGeom prst="rect">
                <a:avLst/>
              </a:prstGeom>
              <a:blipFill>
                <a:blip r:embed="rId6"/>
                <a:stretch>
                  <a:fillRect t="-2222" b="-377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53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5A60B6C-421F-54F7-4DFD-DA12BA845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Превключване</a:t>
            </a:r>
            <a:endParaRPr lang="en-US" sz="3200" kern="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12" name="AutoShape 2" descr="{\displaystyle v_{o}(t)=3v_{i}(t)\,}">
            <a:extLst>
              <a:ext uri="{FF2B5EF4-FFF2-40B4-BE49-F238E27FC236}">
                <a16:creationId xmlns:a16="http://schemas.microsoft.com/office/drawing/2014/main" id="{50A3FEB6-5AAE-4E23-1761-B07A3949FA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53A9D-A6B7-773D-EE17-38AC6358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133" y="739848"/>
            <a:ext cx="4772124" cy="2210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924B51-3A8D-267F-4D34-18149E279E2A}"/>
              </a:ext>
            </a:extLst>
          </p:cNvPr>
          <p:cNvSpPr txBox="1"/>
          <p:nvPr/>
        </p:nvSpPr>
        <p:spPr>
          <a:xfrm>
            <a:off x="27455" y="6592743"/>
            <a:ext cx="6172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https://www.electricaltechnology.org/2014/11/types-of-switches-electrical.html</a:t>
            </a:r>
            <a:endParaRPr lang="bg-BG" sz="800" dirty="0"/>
          </a:p>
        </p:txBody>
      </p:sp>
      <p:pic>
        <p:nvPicPr>
          <p:cNvPr id="17" name="Picture 16" descr="A diagram of a circuit&#10;&#10;Description automatically generated">
            <a:extLst>
              <a:ext uri="{FF2B5EF4-FFF2-40B4-BE49-F238E27FC236}">
                <a16:creationId xmlns:a16="http://schemas.microsoft.com/office/drawing/2014/main" id="{11C13EC1-7F50-A264-4246-34CB10883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204" y="2950096"/>
            <a:ext cx="4201659" cy="3750369"/>
          </a:xfrm>
          <a:prstGeom prst="rect">
            <a:avLst/>
          </a:prstGeom>
        </p:spPr>
      </p:pic>
      <p:pic>
        <p:nvPicPr>
          <p:cNvPr id="19" name="Picture 18" descr="A diagram of a circuit&#10;&#10;Description automatically generated">
            <a:extLst>
              <a:ext uri="{FF2B5EF4-FFF2-40B4-BE49-F238E27FC236}">
                <a16:creationId xmlns:a16="http://schemas.microsoft.com/office/drawing/2014/main" id="{4FCCB68D-4B20-A0E1-0FC9-5C86221F14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392" y="3174383"/>
            <a:ext cx="3955734" cy="330179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04B984A-40FE-C6B7-E276-B742C30AE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64" y="1269558"/>
            <a:ext cx="401002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68D000-45CA-96AD-91CE-A204E5F77794}"/>
              </a:ext>
            </a:extLst>
          </p:cNvPr>
          <p:cNvSpPr txBox="1"/>
          <p:nvPr/>
        </p:nvSpPr>
        <p:spPr>
          <a:xfrm>
            <a:off x="684964" y="863227"/>
            <a:ext cx="403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Системата има само две състояния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06E90-5B30-824A-E12A-78D113306598}"/>
              </a:ext>
            </a:extLst>
          </p:cNvPr>
          <p:cNvSpPr txBox="1"/>
          <p:nvPr/>
        </p:nvSpPr>
        <p:spPr>
          <a:xfrm>
            <a:off x="236318" y="3429000"/>
            <a:ext cx="42275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/>
              <a:t>Изходите на болшинството ИС (напр. микроконтролери) не могат директно да управляват товари, които изискват голям ток или напрежение.</a:t>
            </a:r>
          </a:p>
          <a:p>
            <a:r>
              <a:rPr lang="bg-BG" sz="1600" dirty="0"/>
              <a:t>Затова се използват транзисторни ключове.</a:t>
            </a:r>
          </a:p>
        </p:txBody>
      </p:sp>
    </p:spTree>
    <p:extLst>
      <p:ext uri="{BB962C8B-B14F-4D97-AF65-F5344CB8AC3E}">
        <p14:creationId xmlns:p14="http://schemas.microsoft.com/office/powerpoint/2010/main" val="436127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88D86F-4569-156C-203D-8B8B00159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Типове транзистори</a:t>
            </a:r>
            <a:endParaRPr lang="en-US" sz="3200" kern="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9DFBB-7582-9B98-8D8F-BF077D9F366C}"/>
              </a:ext>
            </a:extLst>
          </p:cNvPr>
          <p:cNvSpPr txBox="1"/>
          <p:nvPr/>
        </p:nvSpPr>
        <p:spPr>
          <a:xfrm>
            <a:off x="2567608" y="866464"/>
            <a:ext cx="1512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dirty="0"/>
              <a:t>биполярни</a:t>
            </a:r>
          </a:p>
          <a:p>
            <a:pPr algn="ctr"/>
            <a:r>
              <a:rPr lang="bg-BG" dirty="0"/>
              <a:t>транзистори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37E11-B410-2959-F13B-79BDABBC5764}"/>
              </a:ext>
            </a:extLst>
          </p:cNvPr>
          <p:cNvSpPr txBox="1"/>
          <p:nvPr/>
        </p:nvSpPr>
        <p:spPr>
          <a:xfrm>
            <a:off x="6980473" y="680297"/>
            <a:ext cx="1512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dirty="0"/>
              <a:t>полеви</a:t>
            </a:r>
          </a:p>
          <a:p>
            <a:pPr algn="ctr"/>
            <a:r>
              <a:rPr lang="bg-BG" dirty="0"/>
              <a:t>транзистори</a:t>
            </a:r>
          </a:p>
        </p:txBody>
      </p:sp>
      <p:pic>
        <p:nvPicPr>
          <p:cNvPr id="7" name="Picture 6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472163D6-81F0-CF15-6BE0-5B00FE3256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12" y="1723543"/>
            <a:ext cx="4943872" cy="2340614"/>
          </a:xfrm>
          <a:prstGeom prst="rect">
            <a:avLst/>
          </a:prstGeom>
        </p:spPr>
      </p:pic>
      <p:pic>
        <p:nvPicPr>
          <p:cNvPr id="9" name="Picture 8" descr="A diagram of a structure&#10;&#10;Description automatically generated">
            <a:extLst>
              <a:ext uri="{FF2B5EF4-FFF2-40B4-BE49-F238E27FC236}">
                <a16:creationId xmlns:a16="http://schemas.microsoft.com/office/drawing/2014/main" id="{60043787-13BF-45FE-D158-CE5A6A8745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988"/>
            <a:ext cx="4679954" cy="2530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B3F96F-9E4E-7896-0098-B126925D0E0A}"/>
              </a:ext>
            </a:extLst>
          </p:cNvPr>
          <p:cNvSpPr txBox="1"/>
          <p:nvPr/>
        </p:nvSpPr>
        <p:spPr>
          <a:xfrm>
            <a:off x="2495600" y="4064157"/>
            <a:ext cx="751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Могат да бъдат използвани както за усилване така и превключване.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42B5EC-616D-D812-205A-BD6E169190B0}"/>
              </a:ext>
            </a:extLst>
          </p:cNvPr>
          <p:cNvSpPr txBox="1"/>
          <p:nvPr/>
        </p:nvSpPr>
        <p:spPr>
          <a:xfrm>
            <a:off x="7608168" y="4598070"/>
            <a:ext cx="215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Интегрални схеми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09912-5D51-AC02-8858-D3AFB50DCB66}"/>
              </a:ext>
            </a:extLst>
          </p:cNvPr>
          <p:cNvSpPr txBox="1"/>
          <p:nvPr/>
        </p:nvSpPr>
        <p:spPr>
          <a:xfrm>
            <a:off x="7608168" y="5131983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Консумират енергия само в процеса на превключване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0CE988-C717-72A2-5E70-67AB090122D2}"/>
              </a:ext>
            </a:extLst>
          </p:cNvPr>
          <p:cNvSpPr txBox="1"/>
          <p:nvPr/>
        </p:nvSpPr>
        <p:spPr>
          <a:xfrm>
            <a:off x="1834346" y="4598070"/>
            <a:ext cx="403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По-висок коефициент на усилване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AC39C5-D4D9-652B-BB0D-E84A5884A140}"/>
              </a:ext>
            </a:extLst>
          </p:cNvPr>
          <p:cNvSpPr txBox="1"/>
          <p:nvPr/>
        </p:nvSpPr>
        <p:spPr>
          <a:xfrm>
            <a:off x="7640438" y="5993037"/>
            <a:ext cx="375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Висока скорост на превключване</a:t>
            </a:r>
          </a:p>
        </p:txBody>
      </p:sp>
    </p:spTree>
    <p:extLst>
      <p:ext uri="{BB962C8B-B14F-4D97-AF65-F5344CB8AC3E}">
        <p14:creationId xmlns:p14="http://schemas.microsoft.com/office/powerpoint/2010/main" val="119890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11959"/>
            <a:ext cx="12192000" cy="60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bg-BG" sz="3200" dirty="0">
                <a:solidFill>
                  <a:srgbClr val="0038A8"/>
                </a:solidFill>
                <a:latin typeface="Arial Narrow" pitchFamily="34" charset="0"/>
              </a:rPr>
              <a:t>Биполярен транзистор</a:t>
            </a:r>
            <a:endParaRPr lang="en-US" sz="3200" dirty="0">
              <a:solidFill>
                <a:srgbClr val="0038A8"/>
              </a:solidFill>
              <a:latin typeface="Arial Narrow" pitchFamily="34" charset="0"/>
            </a:endParaRPr>
          </a:p>
        </p:txBody>
      </p:sp>
      <p:pic>
        <p:nvPicPr>
          <p:cNvPr id="16" name="Picture 10" descr="first_transistor_for_ww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124005"/>
            <a:ext cx="3124192" cy="38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479375" y="5177517"/>
            <a:ext cx="532859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400" i="0" dirty="0"/>
              <a:t>Първият транзистор е открит в </a:t>
            </a:r>
            <a:r>
              <a:rPr lang="en-US" sz="1400" i="0" dirty="0"/>
              <a:t>AT&amp;T Bell Laboratories, 1947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807968" y="5085184"/>
            <a:ext cx="576064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/>
              <a:t>The Nobel Prize in Physics 1956 was awarded jointly to </a:t>
            </a:r>
            <a:r>
              <a:rPr lang="en-US" sz="1400" b="1" dirty="0"/>
              <a:t>John Bardeen</a:t>
            </a:r>
            <a:r>
              <a:rPr lang="bg-BG" sz="1400" b="1" dirty="0"/>
              <a:t>,</a:t>
            </a:r>
            <a:r>
              <a:rPr lang="en-US" sz="1400" b="1" dirty="0"/>
              <a:t> William Shockley and Walter Brattain</a:t>
            </a:r>
            <a:r>
              <a:rPr lang="en-US" sz="1400" dirty="0"/>
              <a:t> "for their researches on semiconductors and their discovery of the transistor effect."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808BB-159C-ED9F-A98C-EFC125921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984" y="1253564"/>
            <a:ext cx="4536504" cy="361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2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11959"/>
            <a:ext cx="12192000" cy="60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bg-BG" sz="3200" dirty="0">
                <a:solidFill>
                  <a:srgbClr val="0038A8"/>
                </a:solidFill>
                <a:latin typeface="Arial Narrow" pitchFamily="34" charset="0"/>
              </a:rPr>
              <a:t>Полеви транзистор</a:t>
            </a:r>
            <a:endParaRPr lang="en-US" sz="3200" dirty="0">
              <a:solidFill>
                <a:srgbClr val="0038A8"/>
              </a:solidFill>
              <a:latin typeface="Arial Narrow" pitchFamily="34" charset="0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554926" y="5189366"/>
            <a:ext cx="55038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0" dirty="0"/>
              <a:t>In 1959 Martin</a:t>
            </a:r>
            <a:r>
              <a:rPr lang="bg-BG" sz="1400" i="0" dirty="0"/>
              <a:t> </a:t>
            </a:r>
            <a:r>
              <a:rPr lang="en-US" sz="1400" i="0" dirty="0"/>
              <a:t>Atalla and </a:t>
            </a:r>
            <a:r>
              <a:rPr lang="en-US" sz="1400" i="0" dirty="0" err="1"/>
              <a:t>Dawon</a:t>
            </a:r>
            <a:r>
              <a:rPr lang="en-US" sz="1400" i="0" dirty="0"/>
              <a:t> </a:t>
            </a:r>
            <a:r>
              <a:rPr lang="en-US" sz="1400" i="0" dirty="0" err="1"/>
              <a:t>Kahng</a:t>
            </a:r>
            <a:r>
              <a:rPr lang="en-US" sz="1400" i="0" dirty="0"/>
              <a:t> at Bell Labs achieved the first successful insulated-gate field-effect transistor (FET)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4DB47-364B-DDCC-BC10-DFEF775F6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936" y="972094"/>
            <a:ext cx="5690306" cy="4107053"/>
          </a:xfrm>
          <a:prstGeom prst="rect">
            <a:avLst/>
          </a:prstGeom>
        </p:spPr>
      </p:pic>
      <p:pic>
        <p:nvPicPr>
          <p:cNvPr id="7" name="Picture 6" descr="A person wearing glasses and a suit&#10;&#10;Description automatically generated">
            <a:extLst>
              <a:ext uri="{FF2B5EF4-FFF2-40B4-BE49-F238E27FC236}">
                <a16:creationId xmlns:a16="http://schemas.microsoft.com/office/drawing/2014/main" id="{6DFF8B3C-7653-C314-4E92-887148422F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484784"/>
            <a:ext cx="2852936" cy="28529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F14611-EB8A-5C19-8189-9AE6D7361D3D}"/>
              </a:ext>
            </a:extLst>
          </p:cNvPr>
          <p:cNvSpPr txBox="1"/>
          <p:nvPr/>
        </p:nvSpPr>
        <p:spPr>
          <a:xfrm>
            <a:off x="485214" y="4447939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Julius E. Lilienfeld</a:t>
            </a:r>
            <a:r>
              <a:rPr lang="bg-BG" sz="1400" dirty="0"/>
              <a:t>, </a:t>
            </a:r>
            <a:r>
              <a:rPr lang="en-US" sz="1400" dirty="0"/>
              <a:t>patent in 1926, </a:t>
            </a:r>
            <a:endParaRPr lang="bg-BG" sz="1400" dirty="0"/>
          </a:p>
          <a:p>
            <a:r>
              <a:rPr lang="en-US" sz="1400" dirty="0"/>
              <a:t>"Method and Apparatus for Controlling Electric Currents</a:t>
            </a:r>
            <a:r>
              <a:rPr lang="bg-BG" sz="1400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13986159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10087</TotalTime>
  <Words>402</Words>
  <Application>Microsoft Office PowerPoint</Application>
  <PresentationFormat>Widescreen</PresentationFormat>
  <Paragraphs>44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Cambria Math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Биполярен транзистор</vt:lpstr>
      <vt:lpstr>Полеви транзистор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Vassiliy Tchoumatchenko</cp:lastModifiedBy>
  <cp:revision>314</cp:revision>
  <dcterms:created xsi:type="dcterms:W3CDTF">2013-03-19T07:28:34Z</dcterms:created>
  <dcterms:modified xsi:type="dcterms:W3CDTF">2025-11-18T05:51:13Z</dcterms:modified>
</cp:coreProperties>
</file>