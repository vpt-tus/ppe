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5" r:id="rId3"/>
    <p:sldId id="317" r:id="rId4"/>
    <p:sldId id="319" r:id="rId5"/>
    <p:sldId id="303" r:id="rId6"/>
    <p:sldId id="320" r:id="rId7"/>
    <p:sldId id="304" r:id="rId8"/>
    <p:sldId id="312" r:id="rId9"/>
    <p:sldId id="321" r:id="rId10"/>
    <p:sldId id="316" r:id="rId11"/>
    <p:sldId id="322" r:id="rId12"/>
    <p:sldId id="308" r:id="rId13"/>
    <p:sldId id="294" r:id="rId14"/>
    <p:sldId id="278" r:id="rId15"/>
    <p:sldId id="310" r:id="rId16"/>
    <p:sldId id="281" r:id="rId17"/>
    <p:sldId id="309" r:id="rId18"/>
    <p:sldId id="323" r:id="rId19"/>
    <p:sldId id="311" r:id="rId20"/>
    <p:sldId id="324" r:id="rId21"/>
    <p:sldId id="268" r:id="rId22"/>
    <p:sldId id="272" r:id="rId23"/>
    <p:sldId id="314" r:id="rId24"/>
    <p:sldId id="313" r:id="rId25"/>
    <p:sldId id="315" r:id="rId26"/>
    <p:sldId id="325" r:id="rId27"/>
    <p:sldId id="326" r:id="rId28"/>
    <p:sldId id="32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4461" autoAdjust="0"/>
  </p:normalViewPr>
  <p:slideViewPr>
    <p:cSldViewPr snapToGrid="0">
      <p:cViewPr varScale="1">
        <p:scale>
          <a:sx n="139" d="100"/>
          <a:sy n="139" d="100"/>
        </p:scale>
        <p:origin x="79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BFF97-4A00-427E-A7DB-7889E4AD2E7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AC773-ACBB-40B6-BF6B-2AFB6D9C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Lecturer: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"Today, we ask the big question: What happens if we take these two engineered materials and bring them into perfect, atomic contact? This is not a hypothetical. This is what we do on a chip. We create a region of P-type right next to a region of N-type. This interface is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 Junction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Lecturer: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system starts out of balance. The N-side has a huge concentration of electrons, the P-side has almost none. The 'sea levels' are different. Physics tells us that systems always seek equilibrium, a single, constant sea level. The process of reaching that equilibrium is what creates the magic of the diode."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9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2A42-27EA-F255-BA42-2020E33B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2D305-7A80-C198-3BB9-BBD4AA1BB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1D8A2-B49D-9AD9-6C3D-65EA7B801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Lecturer: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"Today, we ask the big question: What happens if we take these two engineered materials and bring them into perfect, atomic contact? This is not a hypothetical. This is what we do on a chip. We create a region of P-type right next to a region of N-type. This interface is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 Junction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Lecturer: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system starts out of balance. The N-side has a huge concentration of electrons, the P-side has almost none. The 'sea levels' are different. Physics tells us that systems always seek equilibrium, a single, constant sea level. The process of reaching that equilibrium is what creates the magic of the diode."</a:t>
            </a:r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02E98-2BA9-54A1-ABE0-12B05107D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6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region, which has been 'depleted' of its mobile carriers, leaving only the fixed charged ions, is called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Depletion Region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Charge Region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It's like building a wall of charged atoms right at the junction."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19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2AC1-6B65-7BD0-20A4-D397F25D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A1FED-14AD-2B70-138A-CC48D41A4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AC2C2-468F-A6F7-1D5C-1684C8C7B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region, which has been 'depleted' of its mobile carriers, leaving only the fixed charged ions, is called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Depletion Region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Charge Region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It's like building a wall of charged atoms right at the junction."</a:t>
            </a:r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A4022-7729-E937-FC44-359AEED26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37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D386-D5C9-0D07-FB07-4F0AF00D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17B82-06EE-1DF8-7254-BEE51C562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58D46-26E0-E8BB-90CD-B9BB6B878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49A6B-4F19-71DA-F55D-B0D7244B7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28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5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A944-E59B-1C7D-FA80-A8B6528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E3787-508C-B4B9-0D5E-CFC4ED895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B6CA7-8751-35D3-DD92-798275DC7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ACEE6-2F0C-91F5-55DC-845A2694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9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Нивото на Ферми в областта p сега е по-ниско от това в областта n. Общата потенциална бариера вече е намалена. По-малката потенциална бариера означава, че електрическото поле в обеднената област също е намалено. По-слабото електрическо поле означава, че електроните и дупките вече не се задържат съответно в n и p областите. Ще има дифузия на дупки отобластта p през областта на пространствения заряд, където те ще се влеят в областта n. По подобен начин ще има дифузия на електрони от областта n през областта на пространствения заряд, където те ще се влеят в областта p. Потокът от заряд генерира ток през pn прехода.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62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Before contact, the Fermi level in the</a:t>
            </a:r>
            <a:r>
              <a:rPr lang="bg-BG" sz="1800" b="0" i="0" u="none" strike="noStrike" baseline="0" dirty="0">
                <a:latin typeface="Times-Roman"/>
              </a:rPr>
              <a:t> </a:t>
            </a:r>
            <a:r>
              <a:rPr lang="en-US" sz="1800" b="0" i="0" u="none" strike="noStrike" baseline="0" dirty="0">
                <a:latin typeface="Times-Roman"/>
              </a:rPr>
              <a:t>semiconductor was above that in the metal. In order for the Fermi level to become a</a:t>
            </a:r>
            <a:r>
              <a:rPr lang="bg-BG" sz="1800" b="0" i="0" u="none" strike="noStrike" baseline="0" dirty="0">
                <a:latin typeface="Times-Roman"/>
              </a:rPr>
              <a:t> </a:t>
            </a:r>
            <a:r>
              <a:rPr lang="en-US" sz="1800" b="0" i="0" u="none" strike="noStrike" baseline="0" dirty="0">
                <a:latin typeface="Times-Roman"/>
              </a:rPr>
              <a:t>constant through the system in thermal equilibrium, electrons from the semiconductor</a:t>
            </a:r>
            <a:r>
              <a:rPr lang="bg-BG" sz="1800" b="0" i="0" u="none" strike="noStrike" baseline="0" dirty="0">
                <a:latin typeface="Times-Roman"/>
              </a:rPr>
              <a:t> </a:t>
            </a:r>
            <a:r>
              <a:rPr lang="en-US" sz="1800" b="0" i="0" u="none" strike="noStrike" baseline="0" dirty="0">
                <a:latin typeface="Times-Roman"/>
              </a:rPr>
              <a:t>flow into the lower energy states in the metal. Positively charged donor atoms</a:t>
            </a:r>
            <a:r>
              <a:rPr lang="bg-BG" sz="1800" b="0" i="0" u="none" strike="noStrike" baseline="0" dirty="0">
                <a:latin typeface="Times-Roman"/>
              </a:rPr>
              <a:t> </a:t>
            </a:r>
            <a:r>
              <a:rPr lang="en-US" sz="1800" b="0" i="0" u="none" strike="noStrike" baseline="0" dirty="0">
                <a:latin typeface="Times-Roman"/>
              </a:rPr>
              <a:t>remain in the semiconductor, creating a space charge region.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0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28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5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4607-4FE8-A57D-A10D-78963C026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E05AD-7C7C-541B-1C11-1D556BCDC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D884-1E37-F38B-68BC-868C1F9D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9FD3D-7313-85C8-B84C-B98E70A6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5D02-A586-A554-49AE-6AFD3C3C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0C1D-27C4-EA71-070D-BB7FFCA3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D5BF9-C6C1-AC30-7FF1-3B9F28550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AF2B-1F5A-3E0C-6F92-4D6C9BDA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32E07-0218-A507-BA1F-D50E0310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9241C-B5CC-126F-45F1-24BCB038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8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B6DD-6A0A-4678-613A-1B1A0BB9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065E7-3D87-1199-DF21-3414E7314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6996-F7AE-752F-B42E-608E0FB1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85B7-C629-2695-8CD4-C8AC2EB2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7327-7D14-8421-6CE0-434809F4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7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9971-2364-3AC7-87CA-5F4A0B43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D5D6-7699-5449-9DFF-B9A6089ED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F674D-422C-2193-38A3-1D137D25C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5BD4A-E962-B192-8D31-529B4F9F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4C270-99BD-6F02-6077-0F8CC875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242FF-910A-15EC-76A9-BAF9E0CA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5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FBDF-DFE8-9FE7-73B8-E0DD3E7D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7698F-685A-BB48-F266-E172159C1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969F-7DCE-3C00-8133-DE2749136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4102C-6314-0940-1DA5-23931E407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69F2F-57A1-0946-1BF6-9621F6238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01CDE-C71D-973A-C42A-19850C97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D5372-91A4-3906-E39C-C16DB981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C9B8E-AA0D-D122-71AA-FFF780D1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3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72E3-C852-3145-17AC-E44C4F91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32AD2-2CED-9EDA-4D65-A10E9300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BC27D-ACF5-BAA8-FBF7-D98A48A2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CC740-DB12-9E09-D4FC-86C32DED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2DC55-5ECD-90C5-66E2-4D1022C8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EB548-3804-1579-1923-DC4A14B2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10E06-C568-7A86-9CBF-0A2239DC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8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F4E1-7540-A823-E770-4D5589AF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E21C-A16A-C79A-58EF-6DEE1BF9F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6E1DE-B297-CA26-9A76-7DF9813DA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52270-F98E-5698-C77C-7BBA4B25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A3B6A-D7E7-F05F-F102-79A08E26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17717-C93B-C4E8-F963-3AFFB981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6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F575-B365-436C-4ECE-5510ACF2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C3976-138D-BCC6-C85D-0B5DE5164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82B5A-73ED-A914-9243-FE69E616A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8BACD-1A92-248F-69ED-1CD16F7A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A698A-1276-2168-4260-816A27E4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FAFAD-BD67-2D68-5CA4-1692E496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4773-0624-D649-4B95-52137B2F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93B07-4523-0A3B-D50F-0472FF401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B0F0-86E2-711C-2FD4-93A941A9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7BB1-EE94-25F8-D924-BAD78A45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F2BCB-BA4D-EF8D-294B-00C70808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8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1F3C4-D548-F050-4290-60DE04646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09DC5-EA9D-9822-D1FF-5B591638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269A6-155A-2816-DAF4-34DFA64D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1FA2E-7E72-310B-4D3A-E1A945A3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7A188-F8BB-1A96-8EC2-495DEF4D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97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063552" y="1124744"/>
            <a:ext cx="8064896" cy="3384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679509" y="5589240"/>
            <a:ext cx="14401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8712000" y="5517232"/>
            <a:ext cx="1896501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32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679509" y="5589240"/>
            <a:ext cx="14401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784299" y="5545732"/>
            <a:ext cx="1728192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2063552" y="1052736"/>
            <a:ext cx="7392821" cy="3456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0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EF2DC-4370-7599-2731-283534E6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2739C-9C49-0353-0EB4-20386EF4B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64063-4908-6810-87C9-592AB4FC7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28278-CFF3-4EB6-B420-1D0A2FE8A31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2999-07E2-C633-96DF-D2329C4FC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27670-65CE-14AC-7ED2-8470B2FFA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1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3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6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0916CC-CEBC-7BDF-7675-D32E18D9E4B8}"/>
              </a:ext>
            </a:extLst>
          </p:cNvPr>
          <p:cNvSpPr txBox="1">
            <a:spLocks/>
          </p:cNvSpPr>
          <p:nvPr/>
        </p:nvSpPr>
        <p:spPr>
          <a:xfrm>
            <a:off x="859805" y="2519349"/>
            <a:ext cx="10972800" cy="273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0038A8"/>
                </a:solidFill>
              </a:rPr>
              <a:t>PN </a:t>
            </a:r>
            <a:r>
              <a:rPr lang="bg-BG" dirty="0">
                <a:solidFill>
                  <a:srgbClr val="0038A8"/>
                </a:solidFill>
              </a:rPr>
              <a:t>Преход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8C3C0-0566-3FF6-528B-19FF5D3AB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260648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60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2FA54F3-F9B2-472B-ABA6-8613E2629CBE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kern="0" dirty="0">
                <a:solidFill>
                  <a:srgbClr val="0038A8"/>
                </a:solidFill>
              </a:rPr>
              <a:t>Преговор – ниво на Ферми в примесни полупроводници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E13BF-BD49-E72F-8260-848FC8C2C264}"/>
              </a:ext>
            </a:extLst>
          </p:cNvPr>
          <p:cNvSpPr txBox="1"/>
          <p:nvPr/>
        </p:nvSpPr>
        <p:spPr>
          <a:xfrm>
            <a:off x="7436312" y="6115824"/>
            <a:ext cx="2707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</a:t>
            </a:r>
            <a:r>
              <a:rPr lang="bg-BG" dirty="0"/>
              <a:t>-тип</a:t>
            </a:r>
            <a:r>
              <a:rPr lang="en-US" dirty="0"/>
              <a:t> </a:t>
            </a:r>
            <a:r>
              <a:rPr lang="bg-BG" dirty="0"/>
              <a:t>полупроводник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37B46-85D8-E2FB-EF0F-BCD21437D5AB}"/>
              </a:ext>
            </a:extLst>
          </p:cNvPr>
          <p:cNvSpPr txBox="1"/>
          <p:nvPr/>
        </p:nvSpPr>
        <p:spPr>
          <a:xfrm>
            <a:off x="1235140" y="6066129"/>
            <a:ext cx="2707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bg-BG" dirty="0"/>
              <a:t>-тип полупроводник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DA52DF-E2EF-36CC-F305-18BC1A4FD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90582"/>
            <a:ext cx="3507307" cy="535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634BB1-F43F-D3B9-0E54-F9009AA0E180}"/>
              </a:ext>
            </a:extLst>
          </p:cNvPr>
          <p:cNvSpPr txBox="1"/>
          <p:nvPr/>
        </p:nvSpPr>
        <p:spPr>
          <a:xfrm>
            <a:off x="9504438" y="1941261"/>
            <a:ext cx="205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Основни токоносители </a:t>
            </a:r>
          </a:p>
          <a:p>
            <a:r>
              <a:rPr lang="bg-BG" sz="1400" dirty="0"/>
              <a:t>(електрони)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ECC59-D0E7-2FB2-3E14-131240EE9A17}"/>
              </a:ext>
            </a:extLst>
          </p:cNvPr>
          <p:cNvSpPr txBox="1"/>
          <p:nvPr/>
        </p:nvSpPr>
        <p:spPr>
          <a:xfrm>
            <a:off x="9504438" y="3548184"/>
            <a:ext cx="2176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i="0" dirty="0">
                <a:latin typeface="+mn-lt"/>
              </a:rPr>
              <a:t>Неосновни токоносители</a:t>
            </a:r>
          </a:p>
          <a:p>
            <a:r>
              <a:rPr lang="bg-BG" sz="1400" i="0" dirty="0">
                <a:latin typeface="+mn-lt"/>
              </a:rPr>
              <a:t>(дупки)</a:t>
            </a:r>
            <a:endParaRPr lang="en-US" sz="1400" i="0" dirty="0">
              <a:latin typeface="+mn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C8E7FD-082A-DF00-6D64-67CAC1314429}"/>
              </a:ext>
            </a:extLst>
          </p:cNvPr>
          <p:cNvCxnSpPr/>
          <p:nvPr/>
        </p:nvCxnSpPr>
        <p:spPr>
          <a:xfrm flipH="1">
            <a:off x="7849653" y="3809794"/>
            <a:ext cx="1654785" cy="454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6691872-8269-00A7-56BC-AFF3E404292C}"/>
              </a:ext>
            </a:extLst>
          </p:cNvPr>
          <p:cNvSpPr txBox="1"/>
          <p:nvPr/>
        </p:nvSpPr>
        <p:spPr>
          <a:xfrm>
            <a:off x="3795412" y="4186728"/>
            <a:ext cx="205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Основни токоносители </a:t>
            </a:r>
          </a:p>
          <a:p>
            <a:r>
              <a:rPr lang="bg-BG" sz="1400" dirty="0"/>
              <a:t>(дупки)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63D66-64E5-7A8A-5761-1EB888E58060}"/>
              </a:ext>
            </a:extLst>
          </p:cNvPr>
          <p:cNvSpPr txBox="1"/>
          <p:nvPr/>
        </p:nvSpPr>
        <p:spPr>
          <a:xfrm>
            <a:off x="3853210" y="1364294"/>
            <a:ext cx="2176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i="0" dirty="0">
                <a:latin typeface="+mn-lt"/>
              </a:rPr>
              <a:t>Неосновни токоносители</a:t>
            </a:r>
          </a:p>
          <a:p>
            <a:r>
              <a:rPr lang="bg-BG" sz="1400" i="0" dirty="0">
                <a:latin typeface="+mn-lt"/>
              </a:rPr>
              <a:t>(електрони)</a:t>
            </a:r>
            <a:endParaRPr lang="en-US" sz="1400" i="0" dirty="0">
              <a:latin typeface="+mn-lt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53E6499-7D6C-6620-B499-D784D167B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91" y="548680"/>
            <a:ext cx="3559021" cy="543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653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B9D152-F405-B31A-5B7D-FE504CD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65E7BEA-615F-CBD2-D74F-A48CD8E93F8A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kern="0" dirty="0">
                <a:solidFill>
                  <a:srgbClr val="0038A8"/>
                </a:solidFill>
              </a:rPr>
              <a:t>PN </a:t>
            </a:r>
            <a:r>
              <a:rPr lang="bg-BG" sz="2400" kern="0" dirty="0">
                <a:solidFill>
                  <a:srgbClr val="0038A8"/>
                </a:solidFill>
              </a:rPr>
              <a:t>Преход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0E9D7-E193-FDBA-0C5D-F96C81764574}"/>
              </a:ext>
            </a:extLst>
          </p:cNvPr>
          <p:cNvSpPr txBox="1"/>
          <p:nvPr/>
        </p:nvSpPr>
        <p:spPr>
          <a:xfrm>
            <a:off x="3621033" y="3613754"/>
            <a:ext cx="81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</a:t>
            </a:r>
            <a:r>
              <a:rPr lang="bg-BG" dirty="0"/>
              <a:t>-тип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F72B1-2846-DBF5-F4FB-9FDA15329975}"/>
              </a:ext>
            </a:extLst>
          </p:cNvPr>
          <p:cNvSpPr txBox="1"/>
          <p:nvPr/>
        </p:nvSpPr>
        <p:spPr>
          <a:xfrm>
            <a:off x="1247685" y="3613754"/>
            <a:ext cx="711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bg-BG" dirty="0"/>
              <a:t>-тип</a:t>
            </a:r>
          </a:p>
        </p:txBody>
      </p:sp>
      <p:pic>
        <p:nvPicPr>
          <p:cNvPr id="5" name="Picture 4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63AF17BA-D411-B7AE-ED1A-50517C4B5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77" y="1669353"/>
            <a:ext cx="5166423" cy="1574894"/>
          </a:xfrm>
          <a:prstGeom prst="rect">
            <a:avLst/>
          </a:prstGeom>
        </p:spPr>
      </p:pic>
      <p:pic>
        <p:nvPicPr>
          <p:cNvPr id="6" name="Picture 5" descr="A black screen with red lines&#10;&#10;AI-generated content may be incorrect.">
            <a:extLst>
              <a:ext uri="{FF2B5EF4-FFF2-40B4-BE49-F238E27FC236}">
                <a16:creationId xmlns:a16="http://schemas.microsoft.com/office/drawing/2014/main" id="{99415292-E817-940B-A009-3DBC0C31B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39" y="1559518"/>
            <a:ext cx="4530767" cy="19184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97D466-6978-F89C-38C1-3C0B2F8EAAD7}"/>
              </a:ext>
            </a:extLst>
          </p:cNvPr>
          <p:cNvSpPr txBox="1"/>
          <p:nvPr/>
        </p:nvSpPr>
        <p:spPr>
          <a:xfrm>
            <a:off x="602507" y="5542433"/>
            <a:ext cx="1098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Какво ще стане ако вземем два различни типа полупроводникови кристали и ги доближим на растояние,</a:t>
            </a:r>
          </a:p>
          <a:p>
            <a:r>
              <a:rPr lang="bg-BG" dirty="0"/>
              <a:t>съизмеримо със  стъпката на кристалната решетка?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72B57-84AA-AAED-1D7D-6372160D8D1D}"/>
              </a:ext>
            </a:extLst>
          </p:cNvPr>
          <p:cNvSpPr txBox="1"/>
          <p:nvPr/>
        </p:nvSpPr>
        <p:spPr>
          <a:xfrm>
            <a:off x="9559191" y="3477986"/>
            <a:ext cx="81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</a:t>
            </a:r>
            <a:r>
              <a:rPr lang="bg-BG" dirty="0"/>
              <a:t>-тип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15692-8385-2495-98DE-0A3602031CF5}"/>
              </a:ext>
            </a:extLst>
          </p:cNvPr>
          <p:cNvSpPr txBox="1"/>
          <p:nvPr/>
        </p:nvSpPr>
        <p:spPr>
          <a:xfrm>
            <a:off x="7185843" y="3477986"/>
            <a:ext cx="711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bg-BG" dirty="0"/>
              <a:t>-тип</a:t>
            </a:r>
          </a:p>
        </p:txBody>
      </p:sp>
    </p:spTree>
    <p:extLst>
      <p:ext uri="{BB962C8B-B14F-4D97-AF65-F5344CB8AC3E}">
        <p14:creationId xmlns:p14="http://schemas.microsoft.com/office/powerpoint/2010/main" val="417977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5A4FFF-9D84-0404-B770-26801898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117FBB45-2AE1-1C62-85F0-06B8B61A88B6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kern="0" dirty="0">
                <a:solidFill>
                  <a:srgbClr val="0038A8"/>
                </a:solidFill>
              </a:rPr>
              <a:t>PN </a:t>
            </a:r>
            <a:r>
              <a:rPr lang="bg-BG" sz="2400" kern="0" dirty="0">
                <a:solidFill>
                  <a:srgbClr val="0038A8"/>
                </a:solidFill>
              </a:rPr>
              <a:t>Преход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D4B55-AC7E-1205-647D-8C700FC9C095}"/>
              </a:ext>
            </a:extLst>
          </p:cNvPr>
          <p:cNvSpPr txBox="1"/>
          <p:nvPr/>
        </p:nvSpPr>
        <p:spPr>
          <a:xfrm>
            <a:off x="2623457" y="1034261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</a:t>
            </a:r>
            <a:endParaRPr lang="bg-BG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27E12A-DD1A-1CDA-259D-52AAD6F599E6}"/>
              </a:ext>
            </a:extLst>
          </p:cNvPr>
          <p:cNvSpPr txBox="1"/>
          <p:nvPr/>
        </p:nvSpPr>
        <p:spPr>
          <a:xfrm>
            <a:off x="5050972" y="1034261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</a:t>
            </a:r>
            <a:endParaRPr lang="bg-BG" sz="2400" dirty="0"/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9118B80D-D4E2-BE07-2D4E-6C1EE7467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881" y="4411176"/>
            <a:ext cx="10944599" cy="16158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sz="1800" i="0" dirty="0">
                <a:latin typeface="+mn-lt"/>
              </a:rPr>
              <a:t>Първоначално в металургичната граница има много голям градиент на концентрацията както на електрони така и на дупки. Основните токоносители в </a:t>
            </a:r>
            <a:r>
              <a:rPr lang="en-US" sz="1800" i="0" dirty="0">
                <a:latin typeface="+mn-lt"/>
              </a:rPr>
              <a:t>N</a:t>
            </a:r>
            <a:r>
              <a:rPr lang="bg-BG" sz="1800" i="0" dirty="0">
                <a:latin typeface="+mn-lt"/>
              </a:rPr>
              <a:t> областта (</a:t>
            </a:r>
            <a:r>
              <a:rPr lang="ru-RU" sz="1800" i="0" dirty="0">
                <a:latin typeface="+mn-lt"/>
              </a:rPr>
              <a:t>електрони) ще започнат да дифундират в </a:t>
            </a:r>
            <a:r>
              <a:rPr lang="en-US" sz="1800" i="0" dirty="0">
                <a:latin typeface="+mn-lt"/>
              </a:rPr>
              <a:t>P</a:t>
            </a:r>
            <a:r>
              <a:rPr lang="ru-RU" sz="1800" i="0" dirty="0">
                <a:latin typeface="+mn-lt"/>
              </a:rPr>
              <a:t> областта.  Ре</a:t>
            </a:r>
            <a:r>
              <a:rPr lang="bg-BG" sz="1800" i="0" dirty="0">
                <a:latin typeface="+mn-lt"/>
              </a:rPr>
              <a:t>с</a:t>
            </a:r>
            <a:r>
              <a:rPr lang="ru-RU" sz="1800" i="0" dirty="0">
                <a:latin typeface="+mn-lt"/>
              </a:rPr>
              <a:t>пективно, основните токоносители в </a:t>
            </a:r>
            <a:r>
              <a:rPr lang="en-US" sz="1800" i="0" dirty="0">
                <a:latin typeface="+mn-lt"/>
              </a:rPr>
              <a:t>P</a:t>
            </a:r>
            <a:r>
              <a:rPr lang="bg-BG" sz="1800" i="0" dirty="0">
                <a:latin typeface="+mn-lt"/>
              </a:rPr>
              <a:t> областта (</a:t>
            </a:r>
            <a:r>
              <a:rPr lang="ru-RU" sz="1800" i="0" dirty="0">
                <a:latin typeface="+mn-lt"/>
              </a:rPr>
              <a:t>дупки) ще започнат да дифундират в </a:t>
            </a:r>
            <a:r>
              <a:rPr lang="en-US" sz="1800" i="0" dirty="0">
                <a:latin typeface="+mn-lt"/>
              </a:rPr>
              <a:t>N</a:t>
            </a:r>
            <a:r>
              <a:rPr lang="ru-RU" sz="1800" i="0" dirty="0">
                <a:latin typeface="+mn-lt"/>
              </a:rPr>
              <a:t> областта.</a:t>
            </a:r>
            <a:endParaRPr lang="bg-BG" sz="1800" i="0" dirty="0"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Обратно на свободните токоносители</a:t>
            </a:r>
            <a:r>
              <a:rPr lang="en-US" sz="1800" i="0" dirty="0">
                <a:latin typeface="+mn-lt"/>
              </a:rPr>
              <a:t>, </a:t>
            </a:r>
            <a:r>
              <a:rPr lang="bg-BG" sz="1800" i="0" dirty="0">
                <a:latin typeface="+mn-lt"/>
              </a:rPr>
              <a:t>йоните никога не се движат</a:t>
            </a:r>
            <a:r>
              <a:rPr lang="en-US" sz="1800" i="0" dirty="0">
                <a:latin typeface="+mn-lt"/>
              </a:rPr>
              <a:t>. </a:t>
            </a:r>
            <a:r>
              <a:rPr lang="bg-BG" sz="1800" i="0" dirty="0">
                <a:latin typeface="+mn-lt"/>
              </a:rPr>
              <a:t>Те остават фиксирани във възлите на кристалната решетка поради ковалентни връзки в полупроводниковата структура.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48E9BD1-CC7E-6F8C-E2B4-9AE6B9BB6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1177" y="1646603"/>
          <a:ext cx="1807597" cy="81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5920" imgH="393529" progId="Equation.3">
                  <p:embed/>
                </p:oleObj>
              </mc:Choice>
              <mc:Fallback>
                <p:oleObj name="Equation" r:id="rId3" imgW="875920" imgH="393529" progId="Equation.3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95B91BDE-8B0D-D053-5B1A-80A8E4EA6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1177" y="1646603"/>
                        <a:ext cx="1807597" cy="819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 descr="A diagram of a graph&#10;&#10;AI-generated content may be incorrect.">
            <a:extLst>
              <a:ext uri="{FF2B5EF4-FFF2-40B4-BE49-F238E27FC236}">
                <a16:creationId xmlns:a16="http://schemas.microsoft.com/office/drawing/2014/main" id="{CC8C9581-5AE5-A40D-327C-D6209591D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671" y="1574689"/>
            <a:ext cx="4597222" cy="2400557"/>
          </a:xfrm>
          <a:prstGeom prst="rect">
            <a:avLst/>
          </a:prstGeom>
        </p:spPr>
      </p:pic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FEB18006-E27C-B0B0-E643-5631CEA7CE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6684" y="2708920"/>
          <a:ext cx="1887537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170" imgH="393529" progId="Equation.3">
                  <p:embed/>
                </p:oleObj>
              </mc:Choice>
              <mc:Fallback>
                <p:oleObj name="Equation" r:id="rId6" imgW="990170" imgH="393529" progId="Equation.3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5999692-1060-2EE4-6AC5-0C97E8CB0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6684" y="2708920"/>
                        <a:ext cx="1887537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C2DDABC-D22D-0B28-8BD3-A8D880929C68}"/>
              </a:ext>
            </a:extLst>
          </p:cNvPr>
          <p:cNvSpPr txBox="1"/>
          <p:nvPr/>
        </p:nvSpPr>
        <p:spPr>
          <a:xfrm>
            <a:off x="7756071" y="3541764"/>
            <a:ext cx="349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Законът за дифузията е открит от </a:t>
            </a:r>
            <a:br>
              <a:rPr lang="bg-BG" dirty="0"/>
            </a:br>
            <a:r>
              <a:rPr lang="de-DE" dirty="0"/>
              <a:t>Adolf Fick </a:t>
            </a:r>
            <a:r>
              <a:rPr lang="bg-BG" dirty="0"/>
              <a:t>през </a:t>
            </a:r>
            <a:r>
              <a:rPr lang="de-DE" dirty="0"/>
              <a:t>1855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5439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FECE67-5B4E-5559-82D7-907FA6FD55E1}"/>
              </a:ext>
            </a:extLst>
          </p:cNvPr>
          <p:cNvSpPr txBox="1"/>
          <p:nvPr/>
        </p:nvSpPr>
        <p:spPr>
          <a:xfrm>
            <a:off x="182881" y="885525"/>
            <a:ext cx="44933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Когато електроните дифундират от  </a:t>
            </a:r>
            <a:r>
              <a:rPr lang="en-US" dirty="0"/>
              <a:t>N</a:t>
            </a:r>
            <a:r>
              <a:rPr lang="ru-RU" dirty="0"/>
              <a:t>-областта, в нея остават положително заредените донорни атоми. </a:t>
            </a:r>
          </a:p>
          <a:p>
            <a:r>
              <a:rPr lang="ru-RU" dirty="0"/>
              <a:t>По същия начин тъй като дупките дифундират от </a:t>
            </a:r>
            <a:r>
              <a:rPr lang="en-US" dirty="0"/>
              <a:t>P-</a:t>
            </a:r>
            <a:r>
              <a:rPr lang="ru-RU" dirty="0"/>
              <a:t>областта, т</a:t>
            </a:r>
            <a:r>
              <a:rPr lang="en-US" dirty="0"/>
              <a:t>a</a:t>
            </a:r>
            <a:r>
              <a:rPr lang="bg-BG" dirty="0"/>
              <a:t>м</a:t>
            </a:r>
            <a:r>
              <a:rPr lang="ru-RU" dirty="0"/>
              <a:t> остав</a:t>
            </a:r>
            <a:r>
              <a:rPr lang="en-US" dirty="0"/>
              <a:t>a</a:t>
            </a:r>
            <a:r>
              <a:rPr lang="ru-RU" dirty="0"/>
              <a:t>т отрицателно заредени акцепторни атоми.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Образува се </a:t>
            </a:r>
            <a:r>
              <a:rPr lang="ru-RU" b="1" dirty="0"/>
              <a:t>обемен заряд</a:t>
            </a:r>
            <a:r>
              <a:rPr lang="ru-RU" dirty="0"/>
              <a:t>, който индуцира електрическо поле в района близо до металургичния преход.</a:t>
            </a:r>
          </a:p>
          <a:p>
            <a:endParaRPr lang="ru-RU" dirty="0"/>
          </a:p>
          <a:p>
            <a:r>
              <a:rPr lang="ru-RU" dirty="0"/>
              <a:t>Това поле изтласква електроните и дупките от областта на обемния заряд, т.е. имаме дрейфово движение на токоносители. В областта непосредсвено до металургичната граница се образува </a:t>
            </a:r>
            <a:r>
              <a:rPr lang="ru-RU" b="1" dirty="0"/>
              <a:t>обеднена</a:t>
            </a:r>
            <a:r>
              <a:rPr lang="ru-RU" dirty="0"/>
              <a:t> </a:t>
            </a:r>
            <a:r>
              <a:rPr lang="ru-RU" b="1" dirty="0"/>
              <a:t>област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DFF9388-E670-3408-1281-7404C938A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254" y="697095"/>
            <a:ext cx="7515746" cy="467524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E5D8162-3794-EA4D-36FE-71A89F4509A8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kern="0" dirty="0">
                <a:solidFill>
                  <a:srgbClr val="0038A8"/>
                </a:solidFill>
              </a:rPr>
              <a:t>PN </a:t>
            </a:r>
            <a:r>
              <a:rPr lang="bg-BG" sz="2400" kern="0" dirty="0">
                <a:solidFill>
                  <a:srgbClr val="0038A8"/>
                </a:solidFill>
              </a:rPr>
              <a:t>Преход</a:t>
            </a:r>
            <a:r>
              <a:rPr lang="en-US" sz="2400" kern="0" dirty="0">
                <a:solidFill>
                  <a:srgbClr val="0038A8"/>
                </a:solidFill>
              </a:rPr>
              <a:t> – </a:t>
            </a:r>
            <a:r>
              <a:rPr lang="bg-BG" sz="2400" kern="0" dirty="0">
                <a:solidFill>
                  <a:srgbClr val="0038A8"/>
                </a:solidFill>
              </a:rPr>
              <a:t>Обемен Заряд</a:t>
            </a:r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EB52CCB5-624D-9A01-69BF-8502F908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038" y="5792851"/>
            <a:ext cx="18303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it-IT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bg-BG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pµ</a:t>
            </a:r>
            <a:r>
              <a:rPr lang="it-IT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bg-BG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8C579A41-A226-B8CF-F5E7-F708C2CE9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817" y="5792851"/>
            <a:ext cx="41044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it-IT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bg-BG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qn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µ</a:t>
            </a:r>
            <a:r>
              <a:rPr lang="it-IT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bg-BG" sz="2400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89986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B052-DF96-C863-D42A-C818AE4C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10907-97EC-2A77-51C2-612F4B9ECF50}"/>
              </a:ext>
            </a:extLst>
          </p:cNvPr>
          <p:cNvSpPr txBox="1"/>
          <p:nvPr/>
        </p:nvSpPr>
        <p:spPr>
          <a:xfrm>
            <a:off x="182881" y="885525"/>
            <a:ext cx="44933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Върху електроните и дупките действа две противодействащи си сили:</a:t>
            </a:r>
          </a:p>
          <a:p>
            <a:pPr marL="285750" indent="-285750">
              <a:buFontTx/>
              <a:buChar char="-"/>
            </a:pPr>
            <a:r>
              <a:rPr lang="bg-BG" dirty="0"/>
              <a:t>Дифузия, причинена от градиента на концентрацията, се стреми да ги придвижи през прехода</a:t>
            </a:r>
          </a:p>
          <a:p>
            <a:pPr marL="285750" indent="-285750">
              <a:buFontTx/>
              <a:buChar char="-"/>
            </a:pPr>
            <a:r>
              <a:rPr lang="bg-BG" dirty="0"/>
              <a:t>Дрейфът, причинен от електрическото поле създадено в обеднената област, се стреми да ги отблъсне от прехода.</a:t>
            </a:r>
          </a:p>
          <a:p>
            <a:pPr marL="285750" indent="-285750">
              <a:buFontTx/>
              <a:buChar char="-"/>
            </a:pPr>
            <a:endParaRPr lang="bg-BG" dirty="0"/>
          </a:p>
          <a:p>
            <a:r>
              <a:rPr lang="bg-BG" dirty="0"/>
              <a:t>Когато дифзният и дрейфовият потоци на токоносители се изравнят, настъпва равновесие и ток не тече.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B45F8FD-0D56-CDB0-EC90-650708B48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254" y="697095"/>
            <a:ext cx="7515746" cy="467524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286FF894-6633-DAE2-C591-C3DF12D2261D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kern="0" dirty="0">
                <a:solidFill>
                  <a:srgbClr val="0038A8"/>
                </a:solidFill>
              </a:rPr>
              <a:t>PN </a:t>
            </a:r>
            <a:r>
              <a:rPr lang="bg-BG" sz="2400" kern="0" dirty="0">
                <a:solidFill>
                  <a:srgbClr val="0038A8"/>
                </a:solidFill>
              </a:rPr>
              <a:t>Преход</a:t>
            </a:r>
            <a:r>
              <a:rPr lang="en-US" sz="2400" kern="0" dirty="0">
                <a:solidFill>
                  <a:srgbClr val="0038A8"/>
                </a:solidFill>
              </a:rPr>
              <a:t> – </a:t>
            </a:r>
            <a:r>
              <a:rPr lang="bg-BG" sz="2400" kern="0" dirty="0">
                <a:solidFill>
                  <a:srgbClr val="0038A8"/>
                </a:solidFill>
              </a:rPr>
              <a:t>Термично Равновесие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9234E-6C87-629F-DAEE-BCDD2E06A418}"/>
                  </a:ext>
                </a:extLst>
              </p:cNvPr>
              <p:cNvSpPr txBox="1"/>
              <p:nvPr/>
            </p:nvSpPr>
            <p:spPr>
              <a:xfrm>
                <a:off x="963386" y="4638690"/>
                <a:ext cx="23458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𝑛𝐸</m:t>
                          </m:r>
                        </m:sub>
                      </m:sSub>
                      <m:r>
                        <a:rPr lang="bg-BG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𝑛𝐷</m:t>
                          </m:r>
                        </m:sub>
                      </m:sSub>
                      <m:r>
                        <a:rPr lang="bg-BG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9234E-6C87-629F-DAEE-BCDD2E06A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386" y="4638690"/>
                <a:ext cx="2345872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A9595-5DDB-7C67-00E8-1C5CCEE61FED}"/>
                  </a:ext>
                </a:extLst>
              </p:cNvPr>
              <p:cNvSpPr txBox="1"/>
              <p:nvPr/>
            </p:nvSpPr>
            <p:spPr>
              <a:xfrm>
                <a:off x="1322614" y="5176966"/>
                <a:ext cx="1627415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𝑝𝐸</m:t>
                          </m:r>
                        </m:sub>
                      </m:sSub>
                      <m:r>
                        <a:rPr lang="bg-BG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𝑝𝐷</m:t>
                          </m:r>
                        </m:sub>
                      </m:sSub>
                      <m:r>
                        <a:rPr lang="bg-BG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A9595-5DDB-7C67-00E8-1C5CCEE61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614" y="5176966"/>
                <a:ext cx="1627415" cy="390748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56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08457E-526D-31A2-3C9B-97FB404D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45" y="749741"/>
            <a:ext cx="6563641" cy="3972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778C2A-3DC8-B5DA-867F-E88C38B10628}"/>
              </a:ext>
            </a:extLst>
          </p:cNvPr>
          <p:cNvSpPr txBox="1"/>
          <p:nvPr/>
        </p:nvSpPr>
        <p:spPr>
          <a:xfrm>
            <a:off x="452388" y="5232712"/>
            <a:ext cx="11001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Новото на Ферми трябва да бъде едно и също за целият кристал. </a:t>
            </a:r>
          </a:p>
          <a:p>
            <a:endParaRPr lang="en-US" dirty="0"/>
          </a:p>
          <a:p>
            <a:r>
              <a:rPr lang="bg-BG" dirty="0"/>
              <a:t>При преминаване през зоната на обемен заряд, нивата на валентната зона и зоната на проводимост се огъват, защото отстоянието им от нивито на Ферми е различно за </a:t>
            </a:r>
            <a:r>
              <a:rPr lang="en-US" dirty="0"/>
              <a:t>P </a:t>
            </a:r>
            <a:r>
              <a:rPr lang="bg-BG" dirty="0"/>
              <a:t>и </a:t>
            </a:r>
            <a:r>
              <a:rPr lang="en-US" dirty="0"/>
              <a:t>N </a:t>
            </a:r>
            <a:r>
              <a:rPr lang="bg-BG" dirty="0"/>
              <a:t>областите</a:t>
            </a:r>
            <a:r>
              <a:rPr lang="en-US" dirty="0"/>
              <a:t>.</a:t>
            </a:r>
            <a:endParaRPr lang="bg-B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53672-34B1-447B-D323-C3626C472957}"/>
              </a:ext>
            </a:extLst>
          </p:cNvPr>
          <p:cNvSpPr txBox="1"/>
          <p:nvPr/>
        </p:nvSpPr>
        <p:spPr>
          <a:xfrm>
            <a:off x="238225" y="16899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Зонна диаграма на </a:t>
            </a:r>
            <a:r>
              <a:rPr lang="en-US" dirty="0"/>
              <a:t>PN </a:t>
            </a:r>
            <a:r>
              <a:rPr lang="bg-BG" dirty="0"/>
              <a:t>преход в термично равновесие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780132-C5B2-0DDC-B473-FCD25A68A486}"/>
                  </a:ext>
                </a:extLst>
              </p:cNvPr>
              <p:cNvSpPr txBox="1"/>
              <p:nvPr/>
            </p:nvSpPr>
            <p:spPr>
              <a:xfrm>
                <a:off x="7093818" y="1508172"/>
                <a:ext cx="4360245" cy="6231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bg-B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780132-C5B2-0DDC-B473-FCD25A68A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18" y="1508172"/>
                <a:ext cx="4360245" cy="623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038A70-050F-62CF-CBCA-6C704AA83916}"/>
                  </a:ext>
                </a:extLst>
              </p:cNvPr>
              <p:cNvSpPr txBox="1"/>
              <p:nvPr/>
            </p:nvSpPr>
            <p:spPr>
              <a:xfrm>
                <a:off x="7642456" y="2693798"/>
                <a:ext cx="4009729" cy="4040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=0.0259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bg-BG" b="0" dirty="0"/>
                  <a:t>   </a:t>
                </a:r>
                <a:r>
                  <a:rPr lang="bg-BG" dirty="0"/>
                  <a:t>при Т=300К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038A70-050F-62CF-CBCA-6C704AA83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456" y="2693798"/>
                <a:ext cx="4009729" cy="404085"/>
              </a:xfrm>
              <a:prstGeom prst="rect">
                <a:avLst/>
              </a:prstGeom>
              <a:blipFill>
                <a:blip r:embed="rId4"/>
                <a:stretch>
                  <a:fillRect l="-2131" t="-1515" b="-2121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5F8B65-4D8E-E45F-2EAC-12D891BE5EDC}"/>
                  </a:ext>
                </a:extLst>
              </p:cNvPr>
              <p:cNvSpPr txBox="1"/>
              <p:nvPr/>
            </p:nvSpPr>
            <p:spPr>
              <a:xfrm>
                <a:off x="5699960" y="1864734"/>
                <a:ext cx="5065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𝑒𝑈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5F8B65-4D8E-E45F-2EAC-12D891BE5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960" y="1864734"/>
                <a:ext cx="506530" cy="369332"/>
              </a:xfrm>
              <a:prstGeom prst="rect">
                <a:avLst/>
              </a:prstGeom>
              <a:blipFill>
                <a:blip r:embed="rId6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4D860C-48CE-4F92-8164-1BE5CC77F7D7}"/>
                  </a:ext>
                </a:extLst>
              </p:cNvPr>
              <p:cNvSpPr txBox="1"/>
              <p:nvPr/>
            </p:nvSpPr>
            <p:spPr>
              <a:xfrm>
                <a:off x="7974962" y="4001959"/>
                <a:ext cx="2597955" cy="1347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600" dirty="0">
                    <a:cs typeface="Times New Roman" panose="02020603050405020304" pitchFamily="18" charset="0"/>
                  </a:rPr>
                  <a:t>бариерен потенциал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sz="1600" dirty="0"/>
                  <a:t> </a:t>
                </a:r>
                <a:r>
                  <a:rPr lang="bg-BG" sz="1600" dirty="0"/>
                  <a:t>топлинен потенциал</a:t>
                </a:r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600" dirty="0">
                    <a:cs typeface="Times New Roman" panose="02020603050405020304" pitchFamily="18" charset="0"/>
                  </a:rPr>
                  <a:t>константа на Болцман</a:t>
                </a:r>
              </a:p>
              <a:p>
                <a:r>
                  <a:rPr lang="bg-BG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</a:t>
                </a:r>
                <a:r>
                  <a:rPr lang="bg-BG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600" dirty="0">
                    <a:cs typeface="Times New Roman" panose="02020603050405020304" pitchFamily="18" charset="0"/>
                  </a:rPr>
                  <a:t>абсолютна температура</a:t>
                </a:r>
              </a:p>
              <a:p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600" dirty="0">
                    <a:cs typeface="Times New Roman" panose="02020603050405020304" pitchFamily="18" charset="0"/>
                  </a:rPr>
                  <a:t>заряд на електрона</a:t>
                </a:r>
                <a:endParaRPr lang="en-US" sz="16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4D860C-48CE-4F92-8164-1BE5CC77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962" y="4001959"/>
                <a:ext cx="2597955" cy="1347869"/>
              </a:xfrm>
              <a:prstGeom prst="rect">
                <a:avLst/>
              </a:prstGeom>
              <a:blipFill>
                <a:blip r:embed="rId7"/>
                <a:stretch>
                  <a:fillRect l="-1174" t="-1802" b="-450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80CB7F-0924-88AB-74E6-69313738D28D}"/>
              </a:ext>
            </a:extLst>
          </p:cNvPr>
          <p:cNvCxnSpPr/>
          <p:nvPr/>
        </p:nvCxnSpPr>
        <p:spPr>
          <a:xfrm>
            <a:off x="3867751" y="827773"/>
            <a:ext cx="0" cy="426399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10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467CBD4-95B3-8F77-BDAE-B5EADDF9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095" y="827772"/>
            <a:ext cx="6342256" cy="38395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78C2A-3DC8-B5DA-867F-E88C38B10628}"/>
                  </a:ext>
                </a:extLst>
              </p:cNvPr>
              <p:cNvSpPr txBox="1"/>
              <p:nvPr/>
            </p:nvSpPr>
            <p:spPr>
              <a:xfrm>
                <a:off x="452388" y="5232712"/>
                <a:ext cx="1100167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1800" dirty="0"/>
                  <a:t>Защо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sz="1800" dirty="0">
                    <a:cs typeface="Times New Roman" panose="02020603050405020304" pitchFamily="18" charset="0"/>
                  </a:rPr>
                  <a:t>се нарича „бариерен“ потенциал?</a:t>
                </a:r>
              </a:p>
              <a:p>
                <a:r>
                  <a:rPr lang="bg-BG" dirty="0"/>
                  <a:t>Електроните в зоната на проводимост на </a:t>
                </a:r>
                <a:r>
                  <a:rPr lang="en-US" dirty="0"/>
                  <a:t>N </a:t>
                </a:r>
                <a:r>
                  <a:rPr lang="bg-BG" dirty="0"/>
                  <a:t>областта срещата „бариера“ когато се опитат да преминат в зоната на проводимост на </a:t>
                </a:r>
                <a:r>
                  <a:rPr lang="en-US" dirty="0"/>
                  <a:t>P </a:t>
                </a:r>
                <a:r>
                  <a:rPr lang="bg-BG" dirty="0"/>
                  <a:t>областта. Височината на тази бариера 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bg-BG" dirty="0"/>
                  <a:t>При стайна температура</a:t>
                </a:r>
                <a:r>
                  <a:rPr lang="en-US" dirty="0"/>
                  <a:t> (25 </a:t>
                </a:r>
                <a:r>
                  <a:rPr lang="en-US" baseline="30000" dirty="0" err="1"/>
                  <a:t>o</a:t>
                </a:r>
                <a:r>
                  <a:rPr lang="en-US" dirty="0" err="1"/>
                  <a:t>C</a:t>
                </a:r>
                <a:r>
                  <a:rPr lang="en-US" dirty="0"/>
                  <a:t> / 300K) </a:t>
                </a:r>
                <a:r>
                  <a:rPr lang="bg-BG" dirty="0"/>
                  <a:t>бариерният потенциал за </a:t>
                </a:r>
                <a:r>
                  <a:rPr lang="en-US" dirty="0"/>
                  <a:t>Si </a:t>
                </a:r>
                <a:r>
                  <a:rPr lang="bg-BG" dirty="0"/>
                  <a:t>диоди е приблизително </a:t>
                </a:r>
                <a:r>
                  <a:rPr lang="en-US" dirty="0"/>
                  <a:t>0.7V.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78C2A-3DC8-B5DA-867F-E88C38B10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88" y="5232712"/>
                <a:ext cx="11001675" cy="1200329"/>
              </a:xfrm>
              <a:prstGeom prst="rect">
                <a:avLst/>
              </a:prstGeom>
              <a:blipFill>
                <a:blip r:embed="rId3"/>
                <a:stretch>
                  <a:fillRect l="-443" t="-2538" r="-886" b="-710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A353672-34B1-447B-D323-C3626C472957}"/>
              </a:ext>
            </a:extLst>
          </p:cNvPr>
          <p:cNvSpPr txBox="1"/>
          <p:nvPr/>
        </p:nvSpPr>
        <p:spPr>
          <a:xfrm>
            <a:off x="238225" y="16899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Зонна диаграма на </a:t>
            </a:r>
            <a:r>
              <a:rPr lang="en-US" dirty="0"/>
              <a:t>PN </a:t>
            </a:r>
            <a:r>
              <a:rPr lang="bg-BG" dirty="0"/>
              <a:t>преход в термично равновесие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5F8B65-4D8E-E45F-2EAC-12D891BE5EDC}"/>
                  </a:ext>
                </a:extLst>
              </p:cNvPr>
              <p:cNvSpPr txBox="1"/>
              <p:nvPr/>
            </p:nvSpPr>
            <p:spPr>
              <a:xfrm>
                <a:off x="6931994" y="1922485"/>
                <a:ext cx="5065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𝑒𝑈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5F8B65-4D8E-E45F-2EAC-12D891BE5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994" y="1922485"/>
                <a:ext cx="506530" cy="369332"/>
              </a:xfrm>
              <a:prstGeom prst="rect">
                <a:avLst/>
              </a:prstGeom>
              <a:blipFill>
                <a:blip r:embed="rId4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51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9D0D5B2-C7DD-74A8-12C0-0C2FA29EB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23" y="566878"/>
            <a:ext cx="1808605" cy="236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5C2E46-81FD-4488-2B8B-A3384B9B4852}"/>
              </a:ext>
            </a:extLst>
          </p:cNvPr>
          <p:cNvSpPr txBox="1"/>
          <p:nvPr/>
        </p:nvSpPr>
        <p:spPr>
          <a:xfrm>
            <a:off x="1996059" y="3026618"/>
            <a:ext cx="11661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0" i="0" dirty="0">
                <a:solidFill>
                  <a:srgbClr val="000000"/>
                </a:solidFill>
                <a:effectLst/>
              </a:rPr>
              <a:t>Adolf Fick</a:t>
            </a:r>
            <a:endParaRPr lang="bg-BG" sz="16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287E3CD-A8DC-237D-B9AF-387B02E2A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16" y="566878"/>
            <a:ext cx="1889503" cy="236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93756-D4E0-E973-25B8-843940F1EEE0}"/>
              </a:ext>
            </a:extLst>
          </p:cNvPr>
          <p:cNvSpPr txBox="1"/>
          <p:nvPr/>
        </p:nvSpPr>
        <p:spPr>
          <a:xfrm>
            <a:off x="3924300" y="3026618"/>
            <a:ext cx="184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Georg Simon Ohm</a:t>
            </a:r>
            <a:endParaRPr lang="bg-BG" sz="16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9DEB33E-D493-8A4D-0ABC-5C0ABEFD8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372" y="566878"/>
            <a:ext cx="1932727" cy="236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4F97EC-24C4-FF28-47CD-B250809581D8}"/>
              </a:ext>
            </a:extLst>
          </p:cNvPr>
          <p:cNvSpPr txBox="1"/>
          <p:nvPr/>
        </p:nvSpPr>
        <p:spPr>
          <a:xfrm>
            <a:off x="6384470" y="2995840"/>
            <a:ext cx="1520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Albert Einstein</a:t>
            </a:r>
            <a:endParaRPr lang="bg-BG" sz="1600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7B54A31-D09D-10EC-5952-846D7543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017" y="566878"/>
            <a:ext cx="1920175" cy="236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5B19F6-FAD2-7D83-B608-664F213AB02A}"/>
              </a:ext>
            </a:extLst>
          </p:cNvPr>
          <p:cNvSpPr txBox="1"/>
          <p:nvPr/>
        </p:nvSpPr>
        <p:spPr>
          <a:xfrm>
            <a:off x="8721558" y="3008213"/>
            <a:ext cx="1668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William Shockley</a:t>
            </a:r>
            <a:endParaRPr lang="bg-BG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351E9-1308-5515-463A-4F6FFF4E579B}"/>
                  </a:ext>
                </a:extLst>
              </p:cNvPr>
              <p:cNvSpPr txBox="1"/>
              <p:nvPr/>
            </p:nvSpPr>
            <p:spPr>
              <a:xfrm>
                <a:off x="4020694" y="3631447"/>
                <a:ext cx="1387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𝜚𝜇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351E9-1308-5515-463A-4F6FFF4E5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694" y="3631447"/>
                <a:ext cx="138792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EF9FC5-4AA5-A6B7-F3DE-4E2E4FA4BCC6}"/>
                  </a:ext>
                </a:extLst>
              </p:cNvPr>
              <p:cNvSpPr txBox="1"/>
              <p:nvPr/>
            </p:nvSpPr>
            <p:spPr>
              <a:xfrm>
                <a:off x="1630755" y="3506990"/>
                <a:ext cx="1758043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𝑞𝐷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𝜚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bg-BG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EF9FC5-4AA5-A6B7-F3DE-4E2E4FA4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755" y="3506990"/>
                <a:ext cx="1758043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73C6348-67BE-B454-9C20-C7BF8C143695}"/>
              </a:ext>
            </a:extLst>
          </p:cNvPr>
          <p:cNvSpPr txBox="1"/>
          <p:nvPr/>
        </p:nvSpPr>
        <p:spPr>
          <a:xfrm>
            <a:off x="6473192" y="3538995"/>
            <a:ext cx="1181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D</a:t>
            </a:r>
            <a:r>
              <a:rPr lang="bg-BG" dirty="0">
                <a:latin typeface="Times New Roman" pitchFamily="18" charset="0"/>
              </a:rPr>
              <a:t> =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baseline="-25000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.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3237A7-8F7B-D732-E1B2-E072A654D019}"/>
                  </a:ext>
                </a:extLst>
              </p:cNvPr>
              <p:cNvSpPr txBox="1"/>
              <p:nvPr/>
            </p:nvSpPr>
            <p:spPr>
              <a:xfrm>
                <a:off x="8493017" y="3451642"/>
                <a:ext cx="1997529" cy="551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3237A7-8F7B-D732-E1B2-E072A654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017" y="3451642"/>
                <a:ext cx="1997529" cy="5511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E12FD1B-0EE2-AF6B-5B75-8663B01BF615}"/>
              </a:ext>
            </a:extLst>
          </p:cNvPr>
          <p:cNvSpPr txBox="1"/>
          <p:nvPr/>
        </p:nvSpPr>
        <p:spPr>
          <a:xfrm>
            <a:off x="1552387" y="4377000"/>
            <a:ext cx="1931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/>
              <a:t>Закон за дифузията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B3C8D4-A26A-ED31-95B2-C7B807C5AB58}"/>
              </a:ext>
            </a:extLst>
          </p:cNvPr>
          <p:cNvSpPr txBox="1"/>
          <p:nvPr/>
        </p:nvSpPr>
        <p:spPr>
          <a:xfrm>
            <a:off x="3971708" y="4362246"/>
            <a:ext cx="18845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Зако на Ом - Връзка между електрическо поле и ток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D70C32-DCAC-2B10-49A2-C31916E58CFE}"/>
              </a:ext>
            </a:extLst>
          </p:cNvPr>
          <p:cNvSpPr txBox="1"/>
          <p:nvPr/>
        </p:nvSpPr>
        <p:spPr>
          <a:xfrm>
            <a:off x="6384470" y="4439965"/>
            <a:ext cx="1884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Връзка между коефициент на дифузия и подвижност на токоносителите.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13E528-F373-4416-D954-DEE0980F0C56}"/>
              </a:ext>
            </a:extLst>
          </p:cNvPr>
          <p:cNvSpPr txBox="1"/>
          <p:nvPr/>
        </p:nvSpPr>
        <p:spPr>
          <a:xfrm>
            <a:off x="8559505" y="4270688"/>
            <a:ext cx="3128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/>
              <a:t>Уравнение на идеален </a:t>
            </a:r>
            <a:r>
              <a:rPr lang="en-US" sz="1600" dirty="0"/>
              <a:t>PN-</a:t>
            </a:r>
            <a:r>
              <a:rPr lang="bg-BG" sz="1600" dirty="0"/>
              <a:t>преход</a:t>
            </a:r>
          </a:p>
        </p:txBody>
      </p:sp>
    </p:spTree>
    <p:extLst>
      <p:ext uri="{BB962C8B-B14F-4D97-AF65-F5344CB8AC3E}">
        <p14:creationId xmlns:p14="http://schemas.microsoft.com/office/powerpoint/2010/main" val="242137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D917-7D52-E61A-17C3-E9A3A818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4DB2FDFC-6955-9B75-3AB5-7B6C5C31D876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</a:rPr>
              <a:t>Формиране на </a:t>
            </a:r>
            <a:r>
              <a:rPr lang="en-US" sz="3200" kern="0" dirty="0">
                <a:solidFill>
                  <a:srgbClr val="0038A8"/>
                </a:solidFill>
              </a:rPr>
              <a:t>PN </a:t>
            </a:r>
            <a:r>
              <a:rPr lang="bg-BG" sz="3200" kern="0" dirty="0">
                <a:solidFill>
                  <a:srgbClr val="0038A8"/>
                </a:solidFill>
              </a:rPr>
              <a:t>преход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D6E8508C-865B-8BE7-D178-EB9767C59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25" y="4411176"/>
            <a:ext cx="10944599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i="0" dirty="0">
                <a:latin typeface="+mn-lt"/>
              </a:rPr>
              <a:t>PN</a:t>
            </a:r>
            <a:r>
              <a:rPr lang="bg-BG" sz="1800" i="0" dirty="0">
                <a:latin typeface="+mn-lt"/>
              </a:rPr>
              <a:t> прехода се формира в </a:t>
            </a:r>
            <a:r>
              <a:rPr lang="ru-RU" sz="1800" i="0" dirty="0">
                <a:latin typeface="+mn-lt"/>
              </a:rPr>
              <a:t>полупроводников монокристал, в който една област е легирана с акцепторни примесни атоми, за да се образува p област, а съседната област е легирана с донорни атоми за образуване на n регион. </a:t>
            </a:r>
          </a:p>
          <a:p>
            <a:pPr>
              <a:spcBef>
                <a:spcPct val="50000"/>
              </a:spcBef>
            </a:pPr>
            <a:r>
              <a:rPr lang="ru-RU" sz="1800" i="0" dirty="0">
                <a:latin typeface="+mn-lt"/>
              </a:rPr>
              <a:t>Границата, разделяща n и p областите, се нарича металургичен граница.</a:t>
            </a:r>
          </a:p>
          <a:p>
            <a:pPr>
              <a:spcBef>
                <a:spcPct val="50000"/>
              </a:spcBef>
            </a:pPr>
            <a:r>
              <a:rPr lang="ru-RU" sz="1800" i="0" dirty="0">
                <a:latin typeface="+mn-lt"/>
              </a:rPr>
              <a:t>Най-често, легирането се извършва посредством йонна имплантация.</a:t>
            </a:r>
          </a:p>
          <a:p>
            <a:pPr>
              <a:spcBef>
                <a:spcPct val="50000"/>
              </a:spcBef>
            </a:pPr>
            <a:endParaRPr lang="en-US" sz="1800" i="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76126-C3A7-2EE8-3F76-0B65D50EF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465" y="1507443"/>
            <a:ext cx="4343669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08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E23979-9BB2-DEB2-6D75-9E0C0254E9D7}"/>
              </a:ext>
            </a:extLst>
          </p:cNvPr>
          <p:cNvSpPr txBox="1"/>
          <p:nvPr/>
        </p:nvSpPr>
        <p:spPr>
          <a:xfrm>
            <a:off x="238225" y="16899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Резюме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95B56DC2-1A6A-0AA0-EDFD-F5578A2B2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68" y="1199890"/>
            <a:ext cx="10944599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При допирането на  </a:t>
            </a:r>
            <a:r>
              <a:rPr lang="en-US" sz="1800" i="0" dirty="0">
                <a:latin typeface="+mn-lt"/>
              </a:rPr>
              <a:t>P </a:t>
            </a:r>
            <a:r>
              <a:rPr lang="bg-BG" sz="1800" i="0" dirty="0">
                <a:latin typeface="+mn-lt"/>
              </a:rPr>
              <a:t>и </a:t>
            </a:r>
            <a:r>
              <a:rPr lang="en-US" sz="1800" i="0" dirty="0">
                <a:latin typeface="+mn-lt"/>
              </a:rPr>
              <a:t>N </a:t>
            </a:r>
            <a:r>
              <a:rPr lang="bg-BG" sz="1800" i="0" dirty="0">
                <a:latin typeface="+mn-lt"/>
              </a:rPr>
              <a:t>полипроводници:</a:t>
            </a:r>
          </a:p>
          <a:p>
            <a:pPr marL="285750" indent="-285750">
              <a:spcBef>
                <a:spcPct val="50000"/>
              </a:spcBef>
              <a:buFontTx/>
              <a:buChar char="-"/>
            </a:pPr>
            <a:r>
              <a:rPr lang="bg-BG" sz="1800" i="0" dirty="0">
                <a:latin typeface="+mn-lt"/>
              </a:rPr>
              <a:t>Започва да тече дифузен ток: електрони от </a:t>
            </a:r>
            <a:r>
              <a:rPr lang="en-US" sz="1800" i="0" dirty="0">
                <a:latin typeface="+mn-lt"/>
              </a:rPr>
              <a:t>N</a:t>
            </a:r>
            <a:r>
              <a:rPr lang="bg-BG" sz="1800" i="0" dirty="0">
                <a:latin typeface="+mn-lt"/>
              </a:rPr>
              <a:t> към </a:t>
            </a:r>
            <a:r>
              <a:rPr lang="en-US" sz="1800" i="0" dirty="0">
                <a:latin typeface="+mn-lt"/>
              </a:rPr>
              <a:t>P </a:t>
            </a:r>
            <a:r>
              <a:rPr lang="bg-BG" sz="1800" i="0" dirty="0">
                <a:latin typeface="+mn-lt"/>
              </a:rPr>
              <a:t>областта и дупки в обратната посока</a:t>
            </a:r>
          </a:p>
          <a:p>
            <a:pPr marL="285750" indent="-285750">
              <a:spcBef>
                <a:spcPct val="50000"/>
              </a:spcBef>
              <a:buFontTx/>
              <a:buChar char="-"/>
            </a:pPr>
            <a:r>
              <a:rPr lang="bg-BG" sz="1800" i="0" dirty="0">
                <a:latin typeface="+mn-lt"/>
              </a:rPr>
              <a:t>Това създава обеднена област от фиксирани йони около </a:t>
            </a:r>
            <a:r>
              <a:rPr lang="en-US" sz="1800" i="0" dirty="0">
                <a:latin typeface="+mn-lt"/>
              </a:rPr>
              <a:t>PN </a:t>
            </a:r>
            <a:r>
              <a:rPr lang="bg-BG" sz="1800" i="0" dirty="0">
                <a:latin typeface="+mn-lt"/>
              </a:rPr>
              <a:t>прехода</a:t>
            </a:r>
          </a:p>
          <a:p>
            <a:pPr marL="285750" indent="-285750">
              <a:spcBef>
                <a:spcPct val="50000"/>
              </a:spcBef>
              <a:buFontTx/>
              <a:buChar char="-"/>
            </a:pPr>
            <a:r>
              <a:rPr lang="bg-BG" sz="1800" i="0" dirty="0">
                <a:latin typeface="+mn-lt"/>
              </a:rPr>
              <a:t>Тази област създава електрическо поле, което причинява дрейфов ток</a:t>
            </a:r>
          </a:p>
          <a:p>
            <a:pPr marL="285750" indent="-285750">
              <a:spcBef>
                <a:spcPct val="50000"/>
              </a:spcBef>
              <a:buFontTx/>
              <a:buChar char="-"/>
            </a:pPr>
            <a:r>
              <a:rPr lang="bg-BG" sz="1800" i="0" dirty="0">
                <a:latin typeface="+mn-lt"/>
              </a:rPr>
              <a:t>Равновесие се постига когато дрейфовият ток се изравнява с дифузният</a:t>
            </a:r>
          </a:p>
          <a:p>
            <a:pPr marL="285750" indent="-285750">
              <a:spcBef>
                <a:spcPct val="50000"/>
              </a:spcBef>
              <a:buFontTx/>
              <a:buChar char="-"/>
            </a:pPr>
            <a:r>
              <a:rPr lang="bg-BG" sz="1800" i="0" dirty="0">
                <a:latin typeface="+mn-lt"/>
              </a:rPr>
              <a:t>Това състояние се представя чрез изравняване на нивата на Ферми и чрез бариерен потенциал</a:t>
            </a:r>
            <a:endParaRPr lang="en-US" sz="1800" i="0" dirty="0">
              <a:latin typeface="+mn-lt"/>
            </a:endParaRP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7C43D59C-C79E-5C4E-EB7D-AA571A260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15" y="4468586"/>
            <a:ext cx="109445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В следващата лекция ще видим какво се случва когато приложим външно напрежение към </a:t>
            </a:r>
            <a:r>
              <a:rPr lang="en-US" sz="1800" i="0" dirty="0">
                <a:latin typeface="+mn-lt"/>
              </a:rPr>
              <a:t>PN </a:t>
            </a:r>
            <a:r>
              <a:rPr lang="bg-BG" sz="1800" i="0" dirty="0">
                <a:latin typeface="+mn-lt"/>
              </a:rPr>
              <a:t>преход намиращ се равновесие. </a:t>
            </a:r>
          </a:p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Как можем да понижим потенциалната бариера и през </a:t>
            </a:r>
            <a:r>
              <a:rPr lang="en-US" sz="1800" i="0" dirty="0">
                <a:latin typeface="+mn-lt"/>
              </a:rPr>
              <a:t>PN</a:t>
            </a:r>
            <a:r>
              <a:rPr lang="bg-BG" sz="1800" i="0" dirty="0">
                <a:latin typeface="+mn-lt"/>
              </a:rPr>
              <a:t> прехода да протече ток или да я направим по висока. </a:t>
            </a:r>
          </a:p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Ще видим как работи диодът.</a:t>
            </a:r>
            <a:endParaRPr lang="en-US" sz="1800" i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979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Обратно включване на </a:t>
            </a:r>
            <a:r>
              <a:rPr lang="en-US" sz="3200" dirty="0"/>
              <a:t>PN</a:t>
            </a:r>
            <a:r>
              <a:rPr lang="ru-RU" sz="3200" dirty="0"/>
              <a:t> преход</a:t>
            </a:r>
            <a:endParaRPr lang="bg-BG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BE7-3AFF-3382-78B4-64BF1351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4639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AD583-2BCB-8DB2-27B1-D25F4254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128" y="141758"/>
            <a:ext cx="5959936" cy="4482934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2391924"/>
            <a:ext cx="30163" cy="30163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57A909-9357-A9C8-FE91-FEA319121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38" y="574916"/>
            <a:ext cx="5172797" cy="21815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197E87-9762-F040-106D-FCF7BA5FB460}"/>
                  </a:ext>
                </a:extLst>
              </p:cNvPr>
              <p:cNvSpPr txBox="1"/>
              <p:nvPr/>
            </p:nvSpPr>
            <p:spPr>
              <a:xfrm>
                <a:off x="9941392" y="1296349"/>
                <a:ext cx="17036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bg-BG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bg-B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197E87-9762-F040-106D-FCF7BA5FB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392" y="1296349"/>
                <a:ext cx="17036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1B6C26-A201-78B1-4CDA-2D0F80B0A1CC}"/>
                  </a:ext>
                </a:extLst>
              </p:cNvPr>
              <p:cNvSpPr txBox="1"/>
              <p:nvPr/>
            </p:nvSpPr>
            <p:spPr>
              <a:xfrm>
                <a:off x="8964348" y="2383225"/>
                <a:ext cx="60156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1B6C26-A201-78B1-4CDA-2D0F80B0A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348" y="2383225"/>
                <a:ext cx="60156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FBA1-D5C1-18EE-CC5F-D16DF1CF00C0}"/>
                  </a:ext>
                </a:extLst>
              </p:cNvPr>
              <p:cNvSpPr txBox="1"/>
              <p:nvPr/>
            </p:nvSpPr>
            <p:spPr>
              <a:xfrm>
                <a:off x="2703094" y="2387113"/>
                <a:ext cx="7523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FBA1-D5C1-18EE-CC5F-D16DF1CF0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094" y="2387113"/>
                <a:ext cx="7523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BC09553-D3D8-3B58-A8DF-008872A75F92}"/>
              </a:ext>
            </a:extLst>
          </p:cNvPr>
          <p:cNvSpPr/>
          <p:nvPr/>
        </p:nvSpPr>
        <p:spPr>
          <a:xfrm>
            <a:off x="1973179" y="1815398"/>
            <a:ext cx="2136808" cy="470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263283" y="4428695"/>
            <a:ext cx="89949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sz="1800" i="0" dirty="0">
                <a:latin typeface="+mn-lt"/>
              </a:rPr>
              <a:t>Ако приложим потенциал</a:t>
            </a:r>
            <a:r>
              <a:rPr lang="en-US" sz="1800" i="0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U</a:t>
            </a:r>
            <a:r>
              <a:rPr lang="en-US" sz="1800" baseline="-25000" dirty="0">
                <a:latin typeface="+mn-lt"/>
              </a:rPr>
              <a:t>R</a:t>
            </a:r>
            <a:r>
              <a:rPr lang="ru-RU" sz="1800" i="0" dirty="0">
                <a:latin typeface="+mn-lt"/>
              </a:rPr>
              <a:t> между областите </a:t>
            </a:r>
            <a:r>
              <a:rPr lang="en-US" sz="1800" i="0" dirty="0">
                <a:latin typeface="+mn-lt"/>
              </a:rPr>
              <a:t>P</a:t>
            </a:r>
            <a:r>
              <a:rPr lang="ru-RU" sz="1800" i="0" dirty="0">
                <a:latin typeface="+mn-lt"/>
              </a:rPr>
              <a:t> и </a:t>
            </a:r>
            <a:r>
              <a:rPr lang="en-US" sz="1800" i="0" dirty="0">
                <a:latin typeface="+mn-lt"/>
              </a:rPr>
              <a:t>N</a:t>
            </a:r>
            <a:r>
              <a:rPr lang="ru-RU" sz="1800" i="0" dirty="0">
                <a:latin typeface="+mn-lt"/>
              </a:rPr>
              <a:t>, ще се наруши условието за равновесие –</a:t>
            </a:r>
            <a:r>
              <a:rPr lang="en-US" sz="1800" i="0" dirty="0">
                <a:latin typeface="+mn-lt"/>
              </a:rPr>
              <a:t> </a:t>
            </a:r>
            <a:r>
              <a:rPr lang="ru-RU" sz="1800" b="1" i="0" dirty="0">
                <a:latin typeface="+mn-lt"/>
              </a:rPr>
              <a:t>ниво</a:t>
            </a:r>
            <a:r>
              <a:rPr lang="bg-BG" sz="1800" b="1" i="0" dirty="0">
                <a:latin typeface="+mn-lt"/>
              </a:rPr>
              <a:t>то</a:t>
            </a:r>
            <a:r>
              <a:rPr lang="ru-RU" sz="1800" b="1" i="0" dirty="0">
                <a:latin typeface="+mn-lt"/>
              </a:rPr>
              <a:t> на Ферми вече няма да бъде постоянно през кристала</a:t>
            </a:r>
            <a:r>
              <a:rPr lang="ru-RU" sz="1800" i="0" dirty="0">
                <a:latin typeface="+mn-lt"/>
              </a:rPr>
              <a:t>. </a:t>
            </a:r>
            <a:endParaRPr lang="bg-BG" sz="1800" i="0" dirty="0"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Бариерният потенциал се повишава до </a:t>
            </a:r>
            <a:r>
              <a:rPr lang="en-US" sz="1800" dirty="0" err="1">
                <a:latin typeface="+mn-lt"/>
              </a:rPr>
              <a:t>U</a:t>
            </a:r>
            <a:r>
              <a:rPr lang="en-US" sz="1800" baseline="-25000" dirty="0" err="1">
                <a:latin typeface="+mn-lt"/>
              </a:rPr>
              <a:t>o</a:t>
            </a:r>
            <a:r>
              <a:rPr lang="en-US" sz="1800" dirty="0">
                <a:latin typeface="+mn-lt"/>
              </a:rPr>
              <a:t> + U</a:t>
            </a:r>
            <a:r>
              <a:rPr lang="en-US" sz="1800" baseline="-25000" dirty="0">
                <a:latin typeface="+mn-lt"/>
              </a:rPr>
              <a:t>R</a:t>
            </a:r>
            <a:r>
              <a:rPr lang="en-US" sz="1800" dirty="0">
                <a:latin typeface="+mn-lt"/>
              </a:rPr>
              <a:t> </a:t>
            </a:r>
            <a:endParaRPr lang="bg-BG" sz="1800" dirty="0"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ru-RU" sz="1800" i="0" dirty="0">
                <a:latin typeface="+mn-lt"/>
              </a:rPr>
              <a:t>Обеднената област действа като изолатор, предотвратявайки значителен поток на електрически ток (освен ако външен източник на екергия – например светлина – не предизвиква генериране на двойки електрон-дупка). </a:t>
            </a:r>
          </a:p>
        </p:txBody>
      </p:sp>
    </p:spTree>
    <p:extLst>
      <p:ext uri="{BB962C8B-B14F-4D97-AF65-F5344CB8AC3E}">
        <p14:creationId xmlns:p14="http://schemas.microsoft.com/office/powerpoint/2010/main" val="3300890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293938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accent1"/>
                </a:solidFill>
              </a:rPr>
              <a:t>Пробив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F02D1-5B84-FCB2-EB75-E93F379EA00B}"/>
              </a:ext>
            </a:extLst>
          </p:cNvPr>
          <p:cNvSpPr txBox="1"/>
          <p:nvPr/>
        </p:nvSpPr>
        <p:spPr>
          <a:xfrm>
            <a:off x="738738" y="886678"/>
            <a:ext cx="11052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Обратното напрежение не може да бъде увеличавано неограничено –  при определено напрежение обратният ток ще се увеличи бързо. </a:t>
            </a:r>
            <a:endParaRPr lang="en-US" dirty="0"/>
          </a:p>
          <a:p>
            <a:r>
              <a:rPr lang="bg-BG" dirty="0"/>
              <a:t>Приложеното напрежение в тази точка се нарича напрежение на пробив.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1758E-8AFD-8540-7564-12F3113D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807" y="1974735"/>
            <a:ext cx="3667637" cy="3543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E02C70-F2DA-C023-587F-877CDD347B16}"/>
              </a:ext>
            </a:extLst>
          </p:cNvPr>
          <p:cNvSpPr txBox="1"/>
          <p:nvPr/>
        </p:nvSpPr>
        <p:spPr>
          <a:xfrm>
            <a:off x="738738" y="2221681"/>
            <a:ext cx="63454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Съществуват няколко механизма на пробив:</a:t>
            </a:r>
          </a:p>
          <a:p>
            <a:endParaRPr lang="bg-BG" dirty="0"/>
          </a:p>
          <a:p>
            <a:r>
              <a:rPr lang="bg-BG" dirty="0"/>
              <a:t>1. Пробивът на Zener се обяснява с тунелиране на токоносители през </a:t>
            </a:r>
            <a:r>
              <a:rPr lang="en-US" dirty="0"/>
              <a:t>PN </a:t>
            </a:r>
            <a:r>
              <a:rPr lang="bg-BG" dirty="0"/>
              <a:t>прехода. </a:t>
            </a:r>
          </a:p>
          <a:p>
            <a:endParaRPr lang="bg-BG" dirty="0"/>
          </a:p>
          <a:p>
            <a:r>
              <a:rPr lang="bg-BG" dirty="0"/>
              <a:t>В силно легиран преход, енергийните зони от двете страни на прехода са  достатъчно близки една до друга. </a:t>
            </a:r>
          </a:p>
          <a:p>
            <a:endParaRPr lang="bg-BG" dirty="0"/>
          </a:p>
          <a:p>
            <a:r>
              <a:rPr lang="bg-BG" dirty="0"/>
              <a:t>Електроните могат да тунелират директно от валентната зона на </a:t>
            </a:r>
            <a:r>
              <a:rPr lang="en-US" dirty="0"/>
              <a:t>P</a:t>
            </a:r>
            <a:r>
              <a:rPr lang="bg-BG" dirty="0"/>
              <a:t> областта в зоната на проводимост на </a:t>
            </a:r>
            <a:r>
              <a:rPr lang="en-US" dirty="0"/>
              <a:t>N</a:t>
            </a:r>
            <a:r>
              <a:rPr lang="bg-BG" dirty="0"/>
              <a:t> областта.</a:t>
            </a:r>
          </a:p>
        </p:txBody>
      </p:sp>
    </p:spTree>
    <p:extLst>
      <p:ext uri="{BB962C8B-B14F-4D97-AF65-F5344CB8AC3E}">
        <p14:creationId xmlns:p14="http://schemas.microsoft.com/office/powerpoint/2010/main" val="2868932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293938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accent1"/>
                </a:solidFill>
              </a:rPr>
              <a:t>Лавинен пробив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02C70-F2DA-C023-587F-877CDD347B16}"/>
              </a:ext>
            </a:extLst>
          </p:cNvPr>
          <p:cNvSpPr txBox="1"/>
          <p:nvPr/>
        </p:nvSpPr>
        <p:spPr>
          <a:xfrm>
            <a:off x="439435" y="1114776"/>
            <a:ext cx="5740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2. Лавинният пробив възниква, когато електрони или дупки, движейки се в областта на обемния заряд, придобиват достатъчно енергия от електрическото поле, за да създадат двойки електрон-дупка чрез сблъсък с електроните на неутрални атоми.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CDD75-1BAA-90A7-6B73-E45D804C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811" y="855237"/>
            <a:ext cx="525853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72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82825" y="0"/>
            <a:ext cx="7772400" cy="56350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accent1"/>
                </a:solidFill>
              </a:rPr>
              <a:t>Топлинен пробив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25" name="AutoShape 7"/>
          <p:cNvSpPr>
            <a:spLocks noChangeAspect="1" noChangeArrowheads="1"/>
          </p:cNvSpPr>
          <p:nvPr/>
        </p:nvSpPr>
        <p:spPr bwMode="auto">
          <a:xfrm>
            <a:off x="1695411" y="1132879"/>
            <a:ext cx="8705850" cy="229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Rectangle 1"/>
          <p:cNvSpPr>
            <a:spLocks noChangeArrowheads="1"/>
          </p:cNvSpPr>
          <p:nvPr/>
        </p:nvSpPr>
        <p:spPr bwMode="auto">
          <a:xfrm>
            <a:off x="339629" y="1445154"/>
            <a:ext cx="5339276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 dirty="0"/>
              <a:t>3. Ако продължим да увеличаваме обратното напрежение върху </a:t>
            </a:r>
            <a:r>
              <a:rPr lang="en-US" sz="2000" dirty="0"/>
              <a:t>PN </a:t>
            </a:r>
            <a:r>
              <a:rPr lang="bg-BG" sz="2000" dirty="0"/>
              <a:t>прехода ще се увеличава и обратния ток.</a:t>
            </a:r>
          </a:p>
          <a:p>
            <a:pPr>
              <a:spcBef>
                <a:spcPct val="50000"/>
              </a:spcBef>
            </a:pPr>
            <a:r>
              <a:rPr lang="bg-BG" sz="2000" dirty="0"/>
              <a:t>Протичането на ток води до отделяне на </a:t>
            </a:r>
            <a:r>
              <a:rPr lang="bg-BG" sz="2000" b="1" dirty="0"/>
              <a:t>топлина</a:t>
            </a:r>
            <a:r>
              <a:rPr lang="bg-BG" sz="2000" dirty="0"/>
              <a:t> и до повишаване на </a:t>
            </a:r>
            <a:r>
              <a:rPr lang="bg-BG" sz="2000" b="1" dirty="0"/>
              <a:t>температурата</a:t>
            </a:r>
            <a:r>
              <a:rPr lang="bg-BG" sz="2000" dirty="0"/>
              <a:t>.</a:t>
            </a:r>
          </a:p>
          <a:p>
            <a:pPr>
              <a:spcBef>
                <a:spcPct val="50000"/>
              </a:spcBef>
            </a:pPr>
            <a:r>
              <a:rPr lang="bg-BG" sz="2000" dirty="0"/>
              <a:t>Рано или късно, това ще доведе до необратимо разрушаване на  </a:t>
            </a:r>
            <a:r>
              <a:rPr lang="en-US" sz="2000" dirty="0"/>
              <a:t>PN </a:t>
            </a:r>
            <a:r>
              <a:rPr lang="bg-BG" sz="2000" dirty="0"/>
              <a:t>прехода.</a:t>
            </a: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2A53B46D-5450-3304-5D1B-D1C55837F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758" y="881775"/>
            <a:ext cx="5041338" cy="360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E1FC6-1907-EE61-4DB5-09504BA06B7B}"/>
              </a:ext>
            </a:extLst>
          </p:cNvPr>
          <p:cNvSpPr txBox="1"/>
          <p:nvPr/>
        </p:nvSpPr>
        <p:spPr>
          <a:xfrm>
            <a:off x="8060893" y="6489765"/>
            <a:ext cx="39886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000" dirty="0"/>
              <a:t>https://www.sciencedirect.com/science/article/pii/S221137972031977X</a:t>
            </a:r>
          </a:p>
        </p:txBody>
      </p:sp>
    </p:spTree>
    <p:extLst>
      <p:ext uri="{BB962C8B-B14F-4D97-AF65-F5344CB8AC3E}">
        <p14:creationId xmlns:p14="http://schemas.microsoft.com/office/powerpoint/2010/main" val="1760287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Право включване на </a:t>
            </a:r>
            <a:r>
              <a:rPr lang="en-US" sz="3200" dirty="0"/>
              <a:t>PN</a:t>
            </a:r>
            <a:r>
              <a:rPr lang="ru-RU" sz="3200" dirty="0"/>
              <a:t> преход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465437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C488-3DA2-DE81-C867-8A8807A6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3D2526-8C47-E449-E329-E6AF63F2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51" b="12665"/>
          <a:stretch>
            <a:fillRect/>
          </a:stretch>
        </p:blipFill>
        <p:spPr>
          <a:xfrm>
            <a:off x="581863" y="653425"/>
            <a:ext cx="4080685" cy="53745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EE3B63-27C8-6F62-902E-8A0AD7B4B38A}"/>
                  </a:ext>
                </a:extLst>
              </p:cNvPr>
              <p:cNvSpPr txBox="1"/>
              <p:nvPr/>
            </p:nvSpPr>
            <p:spPr>
              <a:xfrm>
                <a:off x="2349133" y="830023"/>
                <a:ext cx="54614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EE3B63-27C8-6F62-902E-8A0AD7B4B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133" y="830023"/>
                <a:ext cx="5461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8B3B6F-96C2-665C-8ACE-A1F392D377A4}"/>
                  </a:ext>
                </a:extLst>
              </p:cNvPr>
              <p:cNvSpPr txBox="1"/>
              <p:nvPr/>
            </p:nvSpPr>
            <p:spPr>
              <a:xfrm>
                <a:off x="3242156" y="3552972"/>
                <a:ext cx="123488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8B3B6F-96C2-665C-8ACE-A1F392D37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156" y="3552972"/>
                <a:ext cx="123488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097E9C1-1CC9-136F-BFF0-69CA9DD38E18}"/>
              </a:ext>
            </a:extLst>
          </p:cNvPr>
          <p:cNvSpPr txBox="1"/>
          <p:nvPr/>
        </p:nvSpPr>
        <p:spPr>
          <a:xfrm>
            <a:off x="1528229" y="137088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Право включване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969C7-BAED-3DD2-87DC-6400BF9D20A9}"/>
              </a:ext>
            </a:extLst>
          </p:cNvPr>
          <p:cNvSpPr txBox="1"/>
          <p:nvPr/>
        </p:nvSpPr>
        <p:spPr>
          <a:xfrm>
            <a:off x="5168518" y="1722134"/>
            <a:ext cx="61801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Прилагаме положително напрежение към </a:t>
            </a:r>
            <a:r>
              <a:rPr lang="en-US" dirty="0"/>
              <a:t>P </a:t>
            </a:r>
            <a:r>
              <a:rPr lang="bg-BG" dirty="0"/>
              <a:t>областта и отрицателно към </a:t>
            </a:r>
            <a:r>
              <a:rPr lang="en-US" dirty="0"/>
              <a:t>N </a:t>
            </a:r>
            <a:r>
              <a:rPr lang="bg-BG" dirty="0"/>
              <a:t>областта.</a:t>
            </a:r>
          </a:p>
          <a:p>
            <a:endParaRPr lang="bg-BG" dirty="0"/>
          </a:p>
          <a:p>
            <a:r>
              <a:rPr lang="ru-RU" dirty="0"/>
              <a:t>Нивото на Ферми в </a:t>
            </a:r>
            <a:r>
              <a:rPr lang="en-US" dirty="0"/>
              <a:t>P-</a:t>
            </a:r>
            <a:r>
              <a:rPr lang="ru-RU" dirty="0"/>
              <a:t>областта сега е по-ниско от това в </a:t>
            </a:r>
            <a:r>
              <a:rPr lang="en-US" dirty="0"/>
              <a:t>N-</a:t>
            </a:r>
            <a:r>
              <a:rPr lang="ru-RU" dirty="0"/>
              <a:t>областта. Общата потенциална бариера вече е намалена</a:t>
            </a:r>
            <a:r>
              <a:rPr lang="bg-BG" dirty="0"/>
              <a:t>:</a:t>
            </a:r>
            <a:r>
              <a:rPr lang="ru-RU" dirty="0"/>
              <a:t> 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Намаленият бариерен потенциал вече не е в състояние да спре </a:t>
            </a:r>
            <a:r>
              <a:rPr lang="bg-BG" b="1" dirty="0"/>
              <a:t>дифузията</a:t>
            </a:r>
            <a:r>
              <a:rPr lang="bg-BG" dirty="0"/>
              <a:t> на токоносители: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Дупки от </a:t>
            </a:r>
            <a:r>
              <a:rPr lang="en-US" dirty="0"/>
              <a:t>P</a:t>
            </a:r>
            <a:r>
              <a:rPr lang="bg-BG" dirty="0"/>
              <a:t>-областта в </a:t>
            </a:r>
            <a:r>
              <a:rPr lang="en-US" dirty="0"/>
              <a:t>N</a:t>
            </a:r>
            <a:r>
              <a:rPr lang="bg-BG" dirty="0"/>
              <a:t>-областта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Електрони от </a:t>
            </a:r>
            <a:r>
              <a:rPr lang="en-US" dirty="0"/>
              <a:t>N</a:t>
            </a:r>
            <a:r>
              <a:rPr lang="bg-BG" dirty="0"/>
              <a:t>-областта </a:t>
            </a:r>
            <a:r>
              <a:rPr lang="en-US" dirty="0"/>
              <a:t> </a:t>
            </a:r>
            <a:r>
              <a:rPr lang="bg-BG" dirty="0"/>
              <a:t>в </a:t>
            </a:r>
            <a:r>
              <a:rPr lang="en-US" dirty="0"/>
              <a:t>P</a:t>
            </a:r>
            <a:r>
              <a:rPr lang="bg-BG" dirty="0"/>
              <a:t>-областта </a:t>
            </a:r>
          </a:p>
          <a:p>
            <a:endParaRPr lang="bg-BG" dirty="0"/>
          </a:p>
          <a:p>
            <a:r>
              <a:rPr lang="bg-BG" dirty="0"/>
              <a:t>През </a:t>
            </a:r>
            <a:r>
              <a:rPr lang="en-US" dirty="0"/>
              <a:t>PN</a:t>
            </a:r>
            <a:r>
              <a:rPr lang="bg-BG" dirty="0"/>
              <a:t> прехода ще протече ток в </a:t>
            </a:r>
            <a:r>
              <a:rPr lang="bg-BG" b="1" dirty="0"/>
              <a:t>права посока: </a:t>
            </a:r>
            <a:r>
              <a:rPr lang="en-US" b="1" dirty="0"/>
              <a:t>P -&gt; N</a:t>
            </a:r>
            <a:r>
              <a:rPr lang="bg-BG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65F5F6-85E9-AAF9-D601-51C69E9FDF18}"/>
                  </a:ext>
                </a:extLst>
              </p:cNvPr>
              <p:cNvSpPr txBox="1"/>
              <p:nvPr/>
            </p:nvSpPr>
            <p:spPr>
              <a:xfrm>
                <a:off x="6904744" y="3245195"/>
                <a:ext cx="17357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65F5F6-85E9-AAF9-D601-51C69E9FD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744" y="3245195"/>
                <a:ext cx="173571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340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024E74-B41E-F185-CEDB-88A682AD2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51" y="519992"/>
            <a:ext cx="7978049" cy="6153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7F653-E59E-7DE9-1F4C-0EFFEDBB394B}"/>
                  </a:ext>
                </a:extLst>
              </p:cNvPr>
              <p:cNvSpPr txBox="1"/>
              <p:nvPr/>
            </p:nvSpPr>
            <p:spPr>
              <a:xfrm>
                <a:off x="7529453" y="702644"/>
                <a:ext cx="54614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7F653-E59E-7DE9-1F4C-0EFFEDBB3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453" y="702644"/>
                <a:ext cx="5461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49F7E-F38D-3054-7DB5-C3E8AF64B6F7}"/>
                  </a:ext>
                </a:extLst>
              </p:cNvPr>
              <p:cNvSpPr txBox="1"/>
              <p:nvPr/>
            </p:nvSpPr>
            <p:spPr>
              <a:xfrm>
                <a:off x="3523739" y="702644"/>
                <a:ext cx="54614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49F7E-F38D-3054-7DB5-C3E8AF64B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739" y="702644"/>
                <a:ext cx="5461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96593A-00AA-5AAA-DF73-01D41D5530F3}"/>
                  </a:ext>
                </a:extLst>
              </p:cNvPr>
              <p:cNvSpPr txBox="1"/>
              <p:nvPr/>
            </p:nvSpPr>
            <p:spPr>
              <a:xfrm>
                <a:off x="3944753" y="4344021"/>
                <a:ext cx="123488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bg-BG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96593A-00AA-5AAA-DF73-01D41D55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753" y="4344021"/>
                <a:ext cx="123488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B18C-9ADE-7341-19FA-1FB2D602378F}"/>
                  </a:ext>
                </a:extLst>
              </p:cNvPr>
              <p:cNvSpPr txBox="1"/>
              <p:nvPr/>
            </p:nvSpPr>
            <p:spPr>
              <a:xfrm>
                <a:off x="8438146" y="3443087"/>
                <a:ext cx="123488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B18C-9ADE-7341-19FA-1FB2D6023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146" y="3443087"/>
                <a:ext cx="123488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E470232-7081-737A-D0EA-9217AB8CE6BC}"/>
              </a:ext>
            </a:extLst>
          </p:cNvPr>
          <p:cNvSpPr txBox="1"/>
          <p:nvPr/>
        </p:nvSpPr>
        <p:spPr>
          <a:xfrm>
            <a:off x="2869330" y="333312"/>
            <a:ext cx="2150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Обратно включване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28474-DF1A-5DBB-2A50-8969E770B369}"/>
              </a:ext>
            </a:extLst>
          </p:cNvPr>
          <p:cNvSpPr txBox="1"/>
          <p:nvPr/>
        </p:nvSpPr>
        <p:spPr>
          <a:xfrm>
            <a:off x="6904744" y="333312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Право включване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CFDE9-397F-AEA0-BDAE-616D6CB63E70}"/>
              </a:ext>
            </a:extLst>
          </p:cNvPr>
          <p:cNvSpPr txBox="1"/>
          <p:nvPr/>
        </p:nvSpPr>
        <p:spPr>
          <a:xfrm>
            <a:off x="126541" y="112887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Сравнение</a:t>
            </a:r>
          </a:p>
        </p:txBody>
      </p:sp>
    </p:spTree>
    <p:extLst>
      <p:ext uri="{BB962C8B-B14F-4D97-AF65-F5344CB8AC3E}">
        <p14:creationId xmlns:p14="http://schemas.microsoft.com/office/powerpoint/2010/main" val="2494700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9758-D2D6-A165-B1E1-8AE541AD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9F1283-B1E3-855D-B8B6-F5AB2212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Влияние на температурата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418747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0205" y="19076"/>
            <a:ext cx="8487879" cy="59848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Влияние на температурата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- обратно включване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53" y="1050181"/>
            <a:ext cx="4000500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730367" y="4725144"/>
            <a:ext cx="8642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2000" i="0" dirty="0">
                <a:latin typeface="+mn-lt"/>
              </a:rPr>
              <a:t>Токът на насищане </a:t>
            </a:r>
            <a:r>
              <a:rPr lang="en-US" sz="2000" dirty="0">
                <a:latin typeface="+mn-lt"/>
              </a:rPr>
              <a:t>I</a:t>
            </a:r>
            <a:r>
              <a:rPr lang="en-US" sz="2000" baseline="-25000" dirty="0">
                <a:latin typeface="+mn-lt"/>
              </a:rPr>
              <a:t>s</a:t>
            </a:r>
            <a:r>
              <a:rPr lang="en-US" dirty="0">
                <a:latin typeface="+mn-lt"/>
              </a:rPr>
              <a:t> </a:t>
            </a:r>
            <a:r>
              <a:rPr lang="bg-BG" sz="1800" i="0" dirty="0">
                <a:latin typeface="+mn-lt"/>
              </a:rPr>
              <a:t>се удвоява на всеки</a:t>
            </a:r>
            <a:r>
              <a:rPr lang="en-US" sz="1800" dirty="0">
                <a:latin typeface="+mn-lt"/>
              </a:rPr>
              <a:t> 10</a:t>
            </a:r>
            <a:r>
              <a:rPr lang="bg-BG" sz="1800" dirty="0">
                <a:latin typeface="+mn-lt"/>
              </a:rPr>
              <a:t> </a:t>
            </a:r>
            <a:r>
              <a:rPr lang="en-US" sz="1800" baseline="30000" dirty="0" err="1">
                <a:latin typeface="+mn-lt"/>
              </a:rPr>
              <a:t>o</a:t>
            </a:r>
            <a:r>
              <a:rPr lang="en-US" sz="1800" dirty="0" err="1">
                <a:latin typeface="+mn-lt"/>
              </a:rPr>
              <a:t>C</a:t>
            </a:r>
            <a:r>
              <a:rPr lang="en-US" sz="1800" dirty="0">
                <a:latin typeface="+mn-lt"/>
              </a:rPr>
              <a:t> </a:t>
            </a:r>
            <a:r>
              <a:rPr lang="bg-BG" sz="1800" i="0" dirty="0">
                <a:latin typeface="+mn-lt"/>
              </a:rPr>
              <a:t>увеличение на температурата</a:t>
            </a:r>
            <a:r>
              <a:rPr lang="en-US" sz="1800" dirty="0">
                <a:latin typeface="+mn-lt"/>
              </a:rPr>
              <a:t>. 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730366" y="5517232"/>
            <a:ext cx="112204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>
                <a:latin typeface="+mn-lt"/>
              </a:rPr>
              <a:t>Тъй като обратният ток се формира от </a:t>
            </a:r>
            <a:r>
              <a:rPr lang="bg-BG" sz="1800" b="1" i="0" dirty="0">
                <a:latin typeface="+mn-lt"/>
              </a:rPr>
              <a:t>топлинно генерирани неосновни токоносители</a:t>
            </a:r>
            <a:r>
              <a:rPr lang="bg-BG" sz="1800" i="0" dirty="0">
                <a:latin typeface="+mn-lt"/>
              </a:rPr>
              <a:t>, той силно зависи от изменението на температурата. </a:t>
            </a:r>
            <a:endParaRPr lang="en-US" sz="1800" i="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D3059-8B20-4FE0-B89E-C17E2ACCD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976375"/>
            <a:ext cx="4909699" cy="358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2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9259" y="-26449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Влияние на температурата</a:t>
            </a:r>
            <a:r>
              <a:rPr lang="en-US" sz="2400" dirty="0">
                <a:solidFill>
                  <a:schemeClr val="tx1"/>
                </a:solidFill>
              </a:rPr>
              <a:t> – </a:t>
            </a:r>
            <a:r>
              <a:rPr lang="bg-BG" sz="2400" dirty="0">
                <a:solidFill>
                  <a:schemeClr val="tx1"/>
                </a:solidFill>
              </a:rPr>
              <a:t>право включване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19944"/>
            <a:ext cx="5029783" cy="217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524000" y="27048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8"/>
              <p:cNvSpPr txBox="1"/>
              <p:nvPr/>
            </p:nvSpPr>
            <p:spPr bwMode="auto">
              <a:xfrm>
                <a:off x="665163" y="3373438"/>
                <a:ext cx="3597275" cy="781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𝑇𝐾</m:t>
                      </m:r>
                      <m:sSub>
                        <m:sSubPr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bg-BG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bg-BG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bg-BG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𝑐𝑜𝑛𝑠𝑡</m:t>
                          </m:r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163" y="3373438"/>
                <a:ext cx="3597275" cy="781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65163" y="4280602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TKU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bg-BG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bg-BG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</a:t>
            </a:r>
            <a:r>
              <a:rPr lang="bg-BG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316272" y="5650446"/>
            <a:ext cx="1155945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2000" i="0" dirty="0">
                <a:latin typeface="+mn-lt"/>
              </a:rPr>
              <a:t>Диодът има </a:t>
            </a:r>
            <a:r>
              <a:rPr lang="bg-BG" sz="2000" b="1" i="0" dirty="0">
                <a:latin typeface="+mn-lt"/>
              </a:rPr>
              <a:t>отрицателен</a:t>
            </a:r>
            <a:r>
              <a:rPr lang="bg-BG" sz="2000" i="0" dirty="0">
                <a:latin typeface="+mn-lt"/>
              </a:rPr>
              <a:t> </a:t>
            </a:r>
            <a:r>
              <a:rPr lang="bg-BG" sz="2000" b="1" i="0" dirty="0">
                <a:latin typeface="+mn-lt"/>
              </a:rPr>
              <a:t>температуран коефициент </a:t>
            </a:r>
            <a:r>
              <a:rPr lang="bg-BG" sz="2000" i="0" dirty="0">
                <a:latin typeface="+mn-lt"/>
              </a:rPr>
              <a:t>на напрежението </a:t>
            </a:r>
            <a:r>
              <a:rPr lang="en-US" sz="2000" dirty="0">
                <a:latin typeface="+mn-lt"/>
              </a:rPr>
              <a:t>U</a:t>
            </a:r>
            <a:r>
              <a:rPr lang="en-US" sz="2000" baseline="-25000" dirty="0">
                <a:latin typeface="+mn-lt"/>
              </a:rPr>
              <a:t>F</a:t>
            </a:r>
            <a:r>
              <a:rPr lang="bg-BG" sz="2000" i="0" baseline="-25000" dirty="0">
                <a:latin typeface="+mn-lt"/>
              </a:rPr>
              <a:t>. </a:t>
            </a:r>
          </a:p>
          <a:p>
            <a:r>
              <a:rPr lang="bg-BG" sz="2000" i="0" dirty="0">
                <a:latin typeface="+mn-lt"/>
              </a:rPr>
              <a:t>Това позволява диодите да се използват като датчици за температура, както и за температурна компенсация. </a:t>
            </a:r>
            <a:endParaRPr lang="en-US" sz="2000" i="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126C13-7422-4BB0-BCAC-B14E587AC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568" y="522231"/>
            <a:ext cx="4574921" cy="36614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B66134-623B-DC1F-CBC5-19277B65DCE6}"/>
              </a:ext>
            </a:extLst>
          </p:cNvPr>
          <p:cNvSpPr txBox="1"/>
          <p:nvPr/>
        </p:nvSpPr>
        <p:spPr>
          <a:xfrm>
            <a:off x="665163" y="5072151"/>
            <a:ext cx="3098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i="1" dirty="0"/>
              <a:t>Ако Т↑</a:t>
            </a:r>
            <a:r>
              <a:rPr lang="en-US" sz="2000" i="1" dirty="0"/>
              <a:t> </a:t>
            </a:r>
            <a:r>
              <a:rPr lang="bg-BG" sz="2000" i="1" dirty="0"/>
              <a:t>то</a:t>
            </a:r>
            <a:r>
              <a:rPr lang="en-US" sz="2000" i="1" dirty="0"/>
              <a:t> U↓ </a:t>
            </a:r>
            <a:r>
              <a:rPr lang="bg-BG" sz="2000" i="1" dirty="0"/>
              <a:t>при </a:t>
            </a:r>
            <a:r>
              <a:rPr lang="en-US" sz="2000" i="1" dirty="0"/>
              <a:t>I=const</a:t>
            </a:r>
          </a:p>
        </p:txBody>
      </p:sp>
    </p:spTree>
    <p:extLst>
      <p:ext uri="{BB962C8B-B14F-4D97-AF65-F5344CB8AC3E}">
        <p14:creationId xmlns:p14="http://schemas.microsoft.com/office/powerpoint/2010/main" val="2425384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Преход метал-полупроводник</a:t>
            </a:r>
            <a:br>
              <a:rPr lang="bg-BG" sz="3200" dirty="0"/>
            </a:br>
            <a:r>
              <a:rPr lang="bg-BG" sz="2400" dirty="0"/>
              <a:t>Преход на Шотки</a:t>
            </a:r>
          </a:p>
        </p:txBody>
      </p:sp>
    </p:spTree>
    <p:extLst>
      <p:ext uri="{BB962C8B-B14F-4D97-AF65-F5344CB8AC3E}">
        <p14:creationId xmlns:p14="http://schemas.microsoft.com/office/powerpoint/2010/main" val="3847069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7BFA82E-1600-0300-4832-D2FA79B1B7BE}"/>
              </a:ext>
            </a:extLst>
          </p:cNvPr>
          <p:cNvSpPr txBox="1">
            <a:spLocks noChangeArrowheads="1"/>
          </p:cNvSpPr>
          <p:nvPr/>
        </p:nvSpPr>
        <p:spPr>
          <a:xfrm>
            <a:off x="115975" y="37394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Зонна диаграма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94083-4634-263C-B7B3-8BBA55B6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691" y="129943"/>
            <a:ext cx="5894229" cy="3163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1FA940-56AB-86C4-D676-D89E651FE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866" y="3423455"/>
            <a:ext cx="5175390" cy="3163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286F9C-A5F0-B37B-93D3-A9D0C4F3F0EA}"/>
              </a:ext>
            </a:extLst>
          </p:cNvPr>
          <p:cNvSpPr txBox="1"/>
          <p:nvPr/>
        </p:nvSpPr>
        <p:spPr>
          <a:xfrm>
            <a:off x="314079" y="651045"/>
            <a:ext cx="56696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Преди контакт: </a:t>
            </a:r>
          </a:p>
          <a:p>
            <a:r>
              <a:rPr lang="ru-RU" dirty="0"/>
              <a:t>нивото на Ферми в </a:t>
            </a:r>
            <a:r>
              <a:rPr lang="en-US" dirty="0"/>
              <a:t>N-</a:t>
            </a:r>
            <a:r>
              <a:rPr lang="ru-RU" dirty="0"/>
              <a:t>полупроводникът е над това в метала. </a:t>
            </a:r>
          </a:p>
          <a:p>
            <a:endParaRPr lang="ru-RU" dirty="0"/>
          </a:p>
          <a:p>
            <a:r>
              <a:rPr lang="ru-RU" dirty="0"/>
              <a:t>След осъществяване на контакт: </a:t>
            </a:r>
            <a:endParaRPr lang="en-US" dirty="0"/>
          </a:p>
          <a:p>
            <a:r>
              <a:rPr lang="ru-RU" dirty="0"/>
              <a:t>За да може нивото на Ферми да е постояно в цялата система, електрони от полупроводника преминават в по-ниските енергийни състояния в метала. </a:t>
            </a:r>
          </a:p>
          <a:p>
            <a:endParaRPr lang="ru-RU" dirty="0"/>
          </a:p>
          <a:p>
            <a:r>
              <a:rPr lang="ru-RU" dirty="0"/>
              <a:t>Положително заредени донорни атоми</a:t>
            </a:r>
          </a:p>
          <a:p>
            <a:r>
              <a:rPr lang="ru-RU" dirty="0"/>
              <a:t>остават в полупроводника, създавайки област на пространствен заряд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41F18F-357B-8309-0D12-BC25D31AAB35}"/>
                  </a:ext>
                </a:extLst>
              </p:cNvPr>
              <p:cNvSpPr txBox="1"/>
              <p:nvPr/>
            </p:nvSpPr>
            <p:spPr>
              <a:xfrm>
                <a:off x="385010" y="4193655"/>
                <a:ext cx="609760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bg-BG" dirty="0"/>
                  <a:t>работна функция на метала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bg-BG" dirty="0"/>
                  <a:t>работна функция на</a:t>
                </a:r>
                <a:r>
                  <a:rPr lang="en-US" dirty="0"/>
                  <a:t> </a:t>
                </a:r>
                <a:r>
                  <a:rPr lang="bg-BG" dirty="0"/>
                  <a:t>полупроводника</a:t>
                </a:r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– </a:t>
                </a:r>
                <a:r>
                  <a:rPr lang="bg-BG" dirty="0"/>
                  <a:t>електронен афинитет на полупроводника</a:t>
                </a:r>
                <a:endParaRPr lang="en-US" dirty="0"/>
              </a:p>
              <a:p>
                <a:endParaRPr lang="bg-B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41F18F-357B-8309-0D12-BC25D31AA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" y="4193655"/>
                <a:ext cx="6097604" cy="1200329"/>
              </a:xfrm>
              <a:prstGeom prst="rect">
                <a:avLst/>
              </a:prstGeom>
              <a:blipFill>
                <a:blip r:embed="rId5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282FBA-2B2E-DC86-8EDA-E3FAB48CC5E9}"/>
                  </a:ext>
                </a:extLst>
              </p:cNvPr>
              <p:cNvSpPr txBox="1"/>
              <p:nvPr/>
            </p:nvSpPr>
            <p:spPr>
              <a:xfrm>
                <a:off x="385010" y="5184595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bg-B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– </a:t>
                </a:r>
                <a:r>
                  <a:rPr lang="bg-BG" dirty="0"/>
                  <a:t>бариера на Шотки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282FBA-2B2E-DC86-8EDA-E3FAB48C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" y="5184595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1C0CB6-AE0D-A602-A300-BE8AC2D7F8EC}"/>
                  </a:ext>
                </a:extLst>
              </p:cNvPr>
              <p:cNvSpPr txBox="1"/>
              <p:nvPr/>
            </p:nvSpPr>
            <p:spPr>
              <a:xfrm>
                <a:off x="385010" y="5837623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bg-BG" dirty="0"/>
                  <a:t>бариерен потенциал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1C0CB6-AE0D-A602-A300-BE8AC2D7F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" y="5837623"/>
                <a:ext cx="6097604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D4E43E0F-2AC7-597F-8CE2-B7E538525754}"/>
              </a:ext>
            </a:extLst>
          </p:cNvPr>
          <p:cNvSpPr/>
          <p:nvPr/>
        </p:nvSpPr>
        <p:spPr>
          <a:xfrm>
            <a:off x="10052383" y="3971453"/>
            <a:ext cx="510139" cy="288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CC8050-618C-9A8D-66AB-ED5B7ADBCDFF}"/>
                  </a:ext>
                </a:extLst>
              </p:cNvPr>
              <p:cNvSpPr txBox="1"/>
              <p:nvPr/>
            </p:nvSpPr>
            <p:spPr>
              <a:xfrm>
                <a:off x="10046366" y="3931166"/>
                <a:ext cx="6954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CC8050-618C-9A8D-66AB-ED5B7ADB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366" y="3931166"/>
                <a:ext cx="69542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942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183897-6E5B-28DE-7507-77B9EDB1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5" y="1212782"/>
            <a:ext cx="4879931" cy="3662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12153-C5A8-E06B-D820-8D3A9815B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93955"/>
            <a:ext cx="5333401" cy="307009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2EF702C-118D-3244-9B31-D08CD0ABF002}"/>
              </a:ext>
            </a:extLst>
          </p:cNvPr>
          <p:cNvSpPr txBox="1">
            <a:spLocks noChangeArrowheads="1"/>
          </p:cNvSpPr>
          <p:nvPr/>
        </p:nvSpPr>
        <p:spPr>
          <a:xfrm>
            <a:off x="57108" y="2658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Зонна диаграма</a:t>
            </a:r>
            <a:r>
              <a:rPr lang="en-US" sz="2400" dirty="0">
                <a:solidFill>
                  <a:schemeClr val="tx1"/>
                </a:solidFill>
              </a:rPr>
              <a:t> – </a:t>
            </a:r>
            <a:r>
              <a:rPr lang="bg-BG" sz="2400" dirty="0">
                <a:solidFill>
                  <a:schemeClr val="tx1"/>
                </a:solidFill>
              </a:rPr>
              <a:t>право и обратно включване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D4CD6-59DC-247F-B4B5-F9B7CCD4E065}"/>
              </a:ext>
            </a:extLst>
          </p:cNvPr>
          <p:cNvSpPr txBox="1"/>
          <p:nvPr/>
        </p:nvSpPr>
        <p:spPr>
          <a:xfrm>
            <a:off x="349445" y="5103674"/>
            <a:ext cx="113453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Зонните диаграми при право и обратно включване на </a:t>
            </a:r>
            <a:r>
              <a:rPr lang="bg-BG" dirty="0"/>
              <a:t>прехода на Шотки са подобни на тези при </a:t>
            </a:r>
            <a:r>
              <a:rPr lang="en-US" dirty="0" err="1"/>
              <a:t>pn</a:t>
            </a:r>
            <a:r>
              <a:rPr lang="en-US" dirty="0"/>
              <a:t> </a:t>
            </a:r>
            <a:r>
              <a:rPr lang="bg-BG" dirty="0"/>
              <a:t>прехода.</a:t>
            </a:r>
          </a:p>
          <a:p>
            <a:r>
              <a:rPr lang="bg-BG" dirty="0"/>
              <a:t>Подобна е и волт-амперната карактеристика.</a:t>
            </a:r>
          </a:p>
          <a:p>
            <a:endParaRPr lang="bg-BG" dirty="0"/>
          </a:p>
          <a:p>
            <a:r>
              <a:rPr lang="bg-BG" dirty="0"/>
              <a:t>Съществена разлика, е че токът в прехода на Шотки се формира само от електрони – т.е. от основни токоносители.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41558A-3624-35D1-4914-DED05D17173E}"/>
              </a:ext>
            </a:extLst>
          </p:cNvPr>
          <p:cNvSpPr/>
          <p:nvPr/>
        </p:nvSpPr>
        <p:spPr>
          <a:xfrm>
            <a:off x="3670834" y="2219655"/>
            <a:ext cx="510139" cy="288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BB9CA-5891-0C67-FE24-DB178B39A22B}"/>
                  </a:ext>
                </a:extLst>
              </p:cNvPr>
              <p:cNvSpPr txBox="1"/>
              <p:nvPr/>
            </p:nvSpPr>
            <p:spPr>
              <a:xfrm>
                <a:off x="2937140" y="2219655"/>
                <a:ext cx="1985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bg-BG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BB9CA-5891-0C67-FE24-DB178B39A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40" y="2219655"/>
                <a:ext cx="19852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BF0291F-4742-18B2-E3E8-F8BBF7CE142D}"/>
              </a:ext>
            </a:extLst>
          </p:cNvPr>
          <p:cNvSpPr/>
          <p:nvPr/>
        </p:nvSpPr>
        <p:spPr>
          <a:xfrm>
            <a:off x="8470232" y="2079057"/>
            <a:ext cx="1453414" cy="429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CD33C9-C988-B709-5CF0-536706E48A05}"/>
                  </a:ext>
                </a:extLst>
              </p:cNvPr>
              <p:cNvSpPr txBox="1"/>
              <p:nvPr/>
            </p:nvSpPr>
            <p:spPr>
              <a:xfrm>
                <a:off x="8108182" y="2109069"/>
                <a:ext cx="1985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bg-BG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CD33C9-C988-B709-5CF0-536706E48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182" y="2109069"/>
                <a:ext cx="19852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220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AE55A5-45C1-642E-C57F-A1857BC3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50218"/>
              </p:ext>
            </p:extLst>
          </p:nvPr>
        </p:nvGraphicFramePr>
        <p:xfrm>
          <a:off x="561198" y="700042"/>
          <a:ext cx="10917858" cy="5877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513">
                  <a:extLst>
                    <a:ext uri="{9D8B030D-6E8A-4147-A177-3AD203B41FA5}">
                      <a16:colId xmlns:a16="http://schemas.microsoft.com/office/drawing/2014/main" val="669753963"/>
                    </a:ext>
                  </a:extLst>
                </a:gridCol>
                <a:gridCol w="4061819">
                  <a:extLst>
                    <a:ext uri="{9D8B030D-6E8A-4147-A177-3AD203B41FA5}">
                      <a16:colId xmlns:a16="http://schemas.microsoft.com/office/drawing/2014/main" val="1298221961"/>
                    </a:ext>
                  </a:extLst>
                </a:gridCol>
                <a:gridCol w="4752526">
                  <a:extLst>
                    <a:ext uri="{9D8B030D-6E8A-4147-A177-3AD203B41FA5}">
                      <a16:colId xmlns:a16="http://schemas.microsoft.com/office/drawing/2014/main" val="3701683324"/>
                    </a:ext>
                  </a:extLst>
                </a:gridCol>
              </a:tblGrid>
              <a:tr h="559711">
                <a:tc>
                  <a:txBody>
                    <a:bodyPr/>
                    <a:lstStyle/>
                    <a:p>
                      <a:endParaRPr lang="bg-B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PN </a:t>
                      </a:r>
                      <a:r>
                        <a:rPr lang="bg-BG" sz="1400" dirty="0"/>
                        <a:t>преход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Преход метал-полупроводник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580176"/>
                  </a:ext>
                </a:extLst>
              </a:tr>
              <a:tr h="565123">
                <a:tc>
                  <a:txBody>
                    <a:bodyPr/>
                    <a:lstStyle/>
                    <a:p>
                      <a:r>
                        <a:rPr lang="bg-BG" sz="1400" dirty="0"/>
                        <a:t>компоненти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P-</a:t>
                      </a:r>
                      <a:r>
                        <a:rPr lang="bg-BG" sz="1400" dirty="0"/>
                        <a:t>тип полупроводник и</a:t>
                      </a:r>
                    </a:p>
                    <a:p>
                      <a:r>
                        <a:rPr lang="en-US" sz="1400" dirty="0"/>
                        <a:t>N</a:t>
                      </a:r>
                      <a:r>
                        <a:rPr lang="bg-BG" sz="1400" dirty="0"/>
                        <a:t>-тип полупроводник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Метал и полупроводник (</a:t>
                      </a:r>
                      <a:r>
                        <a:rPr lang="en-US" sz="1400" dirty="0"/>
                        <a:t>N </a:t>
                      </a:r>
                      <a:r>
                        <a:rPr lang="bg-BG" sz="1400" dirty="0"/>
                        <a:t>или </a:t>
                      </a:r>
                      <a:r>
                        <a:rPr lang="en-US" sz="1400" dirty="0"/>
                        <a:t>P </a:t>
                      </a:r>
                      <a:r>
                        <a:rPr lang="bg-BG" sz="1400" dirty="0"/>
                        <a:t>тип</a:t>
                      </a:r>
                      <a:r>
                        <a:rPr lang="en-US" sz="1400" dirty="0"/>
                        <a:t>)</a:t>
                      </a:r>
                      <a:endParaRPr lang="bg-B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27311"/>
                  </a:ext>
                </a:extLst>
              </a:tr>
              <a:tr h="668440">
                <a:tc>
                  <a:txBody>
                    <a:bodyPr/>
                    <a:lstStyle/>
                    <a:p>
                      <a:r>
                        <a:rPr lang="bg-BG" sz="1400" dirty="0"/>
                        <a:t>Формиране на преход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Причинява се от градиент на концентрацията. Електроните дуфундират от </a:t>
                      </a:r>
                      <a:r>
                        <a:rPr lang="en-US" sz="1400" dirty="0"/>
                        <a:t>N </a:t>
                      </a:r>
                      <a:r>
                        <a:rPr lang="bg-BG" sz="1400" dirty="0"/>
                        <a:t>към </a:t>
                      </a:r>
                      <a:r>
                        <a:rPr lang="en-US" sz="1400" dirty="0"/>
                        <a:t>P, </a:t>
                      </a:r>
                      <a:r>
                        <a:rPr lang="bg-BG" sz="1400" dirty="0"/>
                        <a:t>дупките от </a:t>
                      </a:r>
                      <a:r>
                        <a:rPr lang="en-US" sz="1400" dirty="0"/>
                        <a:t>P </a:t>
                      </a:r>
                      <a:r>
                        <a:rPr lang="bg-BG" sz="1400" dirty="0"/>
                        <a:t>към </a:t>
                      </a:r>
                      <a:r>
                        <a:rPr lang="en-US" sz="1400" dirty="0"/>
                        <a:t>N, </a:t>
                      </a:r>
                      <a:r>
                        <a:rPr lang="bg-BG" sz="1400" dirty="0"/>
                        <a:t>създавайки обеднена област от двете страни на прехода.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Причинява се от разликата в работните функции на метал и полупроводник. Обеднената област се намира от страната на полупроводника.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4245"/>
                  </a:ext>
                </a:extLst>
              </a:tr>
              <a:tr h="668440">
                <a:tc>
                  <a:txBody>
                    <a:bodyPr/>
                    <a:lstStyle/>
                    <a:p>
                      <a:r>
                        <a:rPr lang="bg-BG" sz="1400" dirty="0"/>
                        <a:t>Токоносители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Биполярно устройство: както основните така и неосновните токоносители са съществени. </a:t>
                      </a:r>
                      <a:br>
                        <a:rPr lang="bg-BG" sz="1400" dirty="0"/>
                      </a:br>
                      <a:r>
                        <a:rPr lang="bg-BG" sz="1400" dirty="0"/>
                        <a:t>Токът в права посока се образува от неосновни токоносители.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Еднополярно устройство: Проводимостта се обуславя само от основните токонсители.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18021"/>
                  </a:ext>
                </a:extLst>
              </a:tr>
              <a:tr h="668440">
                <a:tc>
                  <a:txBody>
                    <a:bodyPr/>
                    <a:lstStyle/>
                    <a:p>
                      <a:r>
                        <a:rPr lang="bg-BG" sz="1400" dirty="0"/>
                        <a:t>Пад на напрежени в права посока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Напрежението необходимо да преодолее бариерният потенциал и да започне инжектиране на неосновни токоносители. </a:t>
                      </a:r>
                      <a:r>
                        <a:rPr lang="de-D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~0.6V - 0.9V </a:t>
                      </a:r>
                      <a:r>
                        <a:rPr lang="bg-BG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 силиций</a:t>
                      </a:r>
                      <a:endParaRPr lang="bg-B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Височината на бариерата е по-ниска. Падът на напрежението в права посока е </a:t>
                      </a:r>
                      <a:r>
                        <a:rPr lang="de-D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~0.2V - 0.4V</a:t>
                      </a:r>
                      <a:endParaRPr lang="bg-B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450564"/>
                  </a:ext>
                </a:extLst>
              </a:tr>
              <a:tr h="668440">
                <a:tc>
                  <a:txBody>
                    <a:bodyPr/>
                    <a:lstStyle/>
                    <a:p>
                      <a:r>
                        <a:rPr lang="bg-BG" sz="1400" dirty="0"/>
                        <a:t>Скорост на превключване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По-ниска. Определя се от времето за разнасяне на неосновните токоносители – </a:t>
                      </a:r>
                      <a:r>
                        <a:rPr lang="en-US" sz="1400" dirty="0" err="1"/>
                        <a:t>trr</a:t>
                      </a:r>
                      <a:r>
                        <a:rPr lang="bg-BG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По-висока. Няма неосновни токоносители, които да трябва да бъдат разнасяни. Скоростта е ограничена само от капацитета на прехода.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932828"/>
                  </a:ext>
                </a:extLst>
              </a:tr>
              <a:tr h="495659">
                <a:tc>
                  <a:txBody>
                    <a:bodyPr/>
                    <a:lstStyle/>
                    <a:p>
                      <a:r>
                        <a:rPr lang="bg-BG" sz="1400" dirty="0"/>
                        <a:t>Обратен 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Много малък – наноампери са силиций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По-висок от този на </a:t>
                      </a:r>
                      <a:r>
                        <a:rPr lang="en-US" sz="1400" dirty="0"/>
                        <a:t>PN</a:t>
                      </a:r>
                      <a:r>
                        <a:rPr lang="bg-BG" sz="1400" dirty="0"/>
                        <a:t> прехода поради по-ниската потенциална бариера.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905986"/>
                  </a:ext>
                </a:extLst>
              </a:tr>
              <a:tr h="668440">
                <a:tc>
                  <a:txBody>
                    <a:bodyPr/>
                    <a:lstStyle/>
                    <a:p>
                      <a:r>
                        <a:rPr lang="bg-BG" sz="1400" dirty="0"/>
                        <a:t>Поведения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Изправител (диод с </a:t>
                      </a:r>
                      <a:r>
                        <a:rPr lang="en-US" sz="1400" dirty="0"/>
                        <a:t>PN </a:t>
                      </a:r>
                      <a:r>
                        <a:rPr lang="bg-BG" sz="1400" dirty="0"/>
                        <a:t>преход)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Изправител (диод на Шотки) или омичен контакт. Зависи от легирането на полупроводника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056312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2B4342BD-0092-AE4D-D4C6-C29C1B88EF0C}"/>
              </a:ext>
            </a:extLst>
          </p:cNvPr>
          <p:cNvSpPr txBox="1">
            <a:spLocks noChangeArrowheads="1"/>
          </p:cNvSpPr>
          <p:nvPr/>
        </p:nvSpPr>
        <p:spPr>
          <a:xfrm>
            <a:off x="57108" y="2658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Сравнение на </a:t>
            </a:r>
            <a:r>
              <a:rPr lang="en-US" sz="2400" dirty="0">
                <a:solidFill>
                  <a:schemeClr val="tx1"/>
                </a:solidFill>
              </a:rPr>
              <a:t>PN </a:t>
            </a:r>
            <a:r>
              <a:rPr lang="bg-BG" sz="2400" dirty="0">
                <a:solidFill>
                  <a:schemeClr val="tx1"/>
                </a:solidFill>
              </a:rPr>
              <a:t>преход и преход метал-полупроводник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225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944A605-43B4-CF91-64AC-860EF2D57213}"/>
              </a:ext>
            </a:extLst>
          </p:cNvPr>
          <p:cNvSpPr txBox="1">
            <a:spLocks noChangeArrowheads="1"/>
          </p:cNvSpPr>
          <p:nvPr/>
        </p:nvSpPr>
        <p:spPr>
          <a:xfrm>
            <a:off x="57108" y="2658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Шотки Преход или Омичен Контакт?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0A9661-5F96-FC9E-DAE4-4208C1EEE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566" y="72285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800" dirty="0"/>
              <a:t>Поведението на преход метал-полупроводник се определя от работните функции на метала и полупроводника. </a:t>
            </a:r>
          </a:p>
          <a:p>
            <a:pPr marL="0" indent="0">
              <a:buNone/>
            </a:pPr>
            <a:r>
              <a:rPr lang="bg-BG" sz="1800" dirty="0"/>
              <a:t>Работната функция представлява енергията необходима за преместване на електрон от материала във вакум.</a:t>
            </a:r>
          </a:p>
          <a:p>
            <a:pPr marL="0" indent="0">
              <a:buNone/>
            </a:pPr>
            <a:r>
              <a:rPr lang="bg-BG" sz="1800" b="1" dirty="0"/>
              <a:t>Шотки преход</a:t>
            </a:r>
          </a:p>
          <a:p>
            <a:pPr marL="0" indent="0">
              <a:buNone/>
            </a:pPr>
            <a:r>
              <a:rPr lang="bg-BG" sz="1800" b="1" dirty="0"/>
              <a:t>Условие</a:t>
            </a:r>
            <a:r>
              <a:rPr lang="bg-BG" sz="1800" dirty="0"/>
              <a:t>: Работната функция на метала е по-голяма от тази на полупроводника. </a:t>
            </a:r>
          </a:p>
          <a:p>
            <a:pPr marL="0" indent="0">
              <a:buNone/>
            </a:pPr>
            <a:r>
              <a:rPr lang="bg-BG" sz="1800" b="1" dirty="0"/>
              <a:t>Какво се случва</a:t>
            </a:r>
            <a:r>
              <a:rPr lang="bg-BG" sz="1800" dirty="0"/>
              <a:t>: Електроните преминават от </a:t>
            </a:r>
            <a:r>
              <a:rPr lang="bg-BG" sz="1800" b="1" dirty="0"/>
              <a:t>полупроводника в метала </a:t>
            </a:r>
            <a:r>
              <a:rPr lang="bg-BG" sz="1800" dirty="0"/>
              <a:t>докато нивата на Ферми се изравнят. </a:t>
            </a:r>
          </a:p>
          <a:p>
            <a:pPr marL="0" indent="0">
              <a:buNone/>
            </a:pPr>
            <a:r>
              <a:rPr lang="bg-BG" sz="1800" b="1" dirty="0"/>
              <a:t>Резултат</a:t>
            </a:r>
            <a:r>
              <a:rPr lang="bg-BG" sz="1800" dirty="0"/>
              <a:t>: Потокът от електрони остава фиксиран положителен заряд в полупроводника, създавайки обеднена област и енергийна бариера. Тази бариера възпрепятства движението на електрони от полупроводника към метала.</a:t>
            </a:r>
          </a:p>
          <a:p>
            <a:pPr marL="0" indent="0">
              <a:buNone/>
            </a:pPr>
            <a:r>
              <a:rPr lang="bg-BG" sz="1800" b="1" dirty="0"/>
              <a:t>Поведение</a:t>
            </a:r>
            <a:r>
              <a:rPr lang="bg-BG" sz="1800" dirty="0"/>
              <a:t>: Преходът се държи като диод. Малко напрежелие, приложено в права посока, преодолява париерния потенциал и позволява протичането на ток. Напрежение, приложено в обратна посока, повишава бариерния потенциал и възпрепятства протичане на ток. Това е </a:t>
            </a:r>
            <a:r>
              <a:rPr lang="bg-BG" sz="1800" b="1" dirty="0"/>
              <a:t>диод на Шотки</a:t>
            </a:r>
            <a:r>
              <a:rPr lang="bg-BG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73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EF55-D6F9-4942-3025-F5AA2C0C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B6E6375-51B7-2296-A049-3F01ECD4468A}"/>
              </a:ext>
            </a:extLst>
          </p:cNvPr>
          <p:cNvSpPr txBox="1">
            <a:spLocks noChangeArrowheads="1"/>
          </p:cNvSpPr>
          <p:nvPr/>
        </p:nvSpPr>
        <p:spPr>
          <a:xfrm>
            <a:off x="57108" y="2658"/>
            <a:ext cx="11456275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tx1"/>
                </a:solidFill>
              </a:rPr>
              <a:t>Шотки Преход или Омичен Контакт?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7F034B-ED19-CB91-D38F-F5D7C091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566" y="722851"/>
            <a:ext cx="10515600" cy="2781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800" b="1" dirty="0"/>
              <a:t>Омичен преход</a:t>
            </a:r>
          </a:p>
          <a:p>
            <a:pPr marL="0" indent="0">
              <a:buNone/>
            </a:pPr>
            <a:r>
              <a:rPr lang="bg-BG" sz="1800" b="1" dirty="0"/>
              <a:t>Условие</a:t>
            </a:r>
            <a:r>
              <a:rPr lang="bg-BG" sz="1800" dirty="0"/>
              <a:t>: Работната функция на метала е по-малка от тази на полупроводника. </a:t>
            </a:r>
          </a:p>
          <a:p>
            <a:pPr marL="0" indent="0">
              <a:buNone/>
            </a:pPr>
            <a:r>
              <a:rPr lang="bg-BG" sz="1800" b="1" dirty="0"/>
              <a:t>Какво се случва</a:t>
            </a:r>
            <a:r>
              <a:rPr lang="bg-BG" sz="1800" dirty="0"/>
              <a:t>: Електроните преминават </a:t>
            </a:r>
            <a:r>
              <a:rPr lang="bg-BG" sz="1800" b="1" dirty="0"/>
              <a:t>от метала в полупроводника </a:t>
            </a:r>
            <a:r>
              <a:rPr lang="bg-BG" sz="1800" dirty="0"/>
              <a:t>докато нивата на Ферми се изравнят. </a:t>
            </a:r>
          </a:p>
          <a:p>
            <a:pPr marL="0" indent="0">
              <a:buNone/>
            </a:pPr>
            <a:r>
              <a:rPr lang="bg-BG" sz="1800" b="1" dirty="0"/>
              <a:t>Резултат</a:t>
            </a:r>
            <a:r>
              <a:rPr lang="bg-BG" sz="1800" dirty="0"/>
              <a:t>: Потокът от електрони създава излишък от електрони в полупроводника. Не се създава обеднена област и енергийна бариера, която да възпрепятства движението на електрони.</a:t>
            </a:r>
          </a:p>
          <a:p>
            <a:pPr marL="0" indent="0">
              <a:buNone/>
            </a:pPr>
            <a:r>
              <a:rPr lang="bg-BG" sz="1800" b="1" dirty="0"/>
              <a:t>Поведение</a:t>
            </a:r>
            <a:r>
              <a:rPr lang="bg-BG" sz="1800" dirty="0"/>
              <a:t>: Преходът се държи като обикновен проводник. Токът може да протича безпрепятствено и в  двете посоки. Това е </a:t>
            </a:r>
            <a:r>
              <a:rPr lang="bg-BG" sz="1800" b="1" dirty="0"/>
              <a:t>омичен контакт</a:t>
            </a:r>
            <a:r>
              <a:rPr lang="bg-BG" sz="1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A0CF9-0C81-78C7-5D48-5A01543512F3}"/>
              </a:ext>
            </a:extLst>
          </p:cNvPr>
          <p:cNvSpPr txBox="1"/>
          <p:nvPr/>
        </p:nvSpPr>
        <p:spPr>
          <a:xfrm>
            <a:off x="729950" y="4210949"/>
            <a:ext cx="9434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Дали ще се получи диод на Шотки или омичен контакт, зависи от концентрацията на примесите в полупроводника</a:t>
            </a:r>
          </a:p>
        </p:txBody>
      </p:sp>
    </p:spTree>
    <p:extLst>
      <p:ext uri="{BB962C8B-B14F-4D97-AF65-F5344CB8AC3E}">
        <p14:creationId xmlns:p14="http://schemas.microsoft.com/office/powerpoint/2010/main" val="324021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2403</Words>
  <Application>Microsoft Office PowerPoint</Application>
  <PresentationFormat>Widescreen</PresentationFormat>
  <Paragraphs>223</Paragraphs>
  <Slides>28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Times-Roman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Обратно включване на PN преход</vt:lpstr>
      <vt:lpstr>PowerPoint Presentation</vt:lpstr>
      <vt:lpstr>PowerPoint Presentation</vt:lpstr>
      <vt:lpstr>PowerPoint Presentation</vt:lpstr>
      <vt:lpstr>PowerPoint Presentation</vt:lpstr>
      <vt:lpstr>Право включване на PN преход</vt:lpstr>
      <vt:lpstr>PowerPoint Presentation</vt:lpstr>
      <vt:lpstr>PowerPoint Presentation</vt:lpstr>
      <vt:lpstr>Влияние на температурата</vt:lpstr>
      <vt:lpstr>PowerPoint Presentation</vt:lpstr>
      <vt:lpstr>PowerPoint Presentation</vt:lpstr>
      <vt:lpstr>Преход метал-полупроводник Преход на Шотки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 Преход</dc:title>
  <dc:creator>Vassiliy Tchoumatchenko</dc:creator>
  <cp:lastModifiedBy>Vassiliy Tchoumatchenko</cp:lastModifiedBy>
  <cp:revision>26</cp:revision>
  <dcterms:created xsi:type="dcterms:W3CDTF">2022-09-29T17:18:48Z</dcterms:created>
  <dcterms:modified xsi:type="dcterms:W3CDTF">2025-10-13T12:42:03Z</dcterms:modified>
</cp:coreProperties>
</file>