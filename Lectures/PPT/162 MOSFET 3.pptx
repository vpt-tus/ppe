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40" r:id="rId2"/>
    <p:sldId id="345" r:id="rId3"/>
    <p:sldId id="414" r:id="rId4"/>
    <p:sldId id="415" r:id="rId5"/>
    <p:sldId id="416" r:id="rId6"/>
    <p:sldId id="417" r:id="rId7"/>
    <p:sldId id="418" r:id="rId8"/>
    <p:sldId id="419" r:id="rId9"/>
    <p:sldId id="420" r:id="rId10"/>
    <p:sldId id="421" r:id="rId11"/>
    <p:sldId id="422" r:id="rId12"/>
    <p:sldId id="423" r:id="rId13"/>
    <p:sldId id="424" r:id="rId14"/>
  </p:sldIdLst>
  <p:sldSz cx="12192000" cy="6858000"/>
  <p:notesSz cx="6858000" cy="91440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988" autoAdjust="0"/>
    <p:restoredTop sz="83632" autoAdjust="0"/>
  </p:normalViewPr>
  <p:slideViewPr>
    <p:cSldViewPr snapToGrid="0">
      <p:cViewPr varScale="1">
        <p:scale>
          <a:sx n="135" d="100"/>
          <a:sy n="135" d="100"/>
        </p:scale>
        <p:origin x="110" y="1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bg-B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9724AB-2C2F-4935-B67B-5A68DF43EAFA}" type="datetimeFigureOut">
              <a:rPr lang="bg-BG" smtClean="0"/>
              <a:t>1.12.2025 г.</a:t>
            </a:fld>
            <a:endParaRPr lang="bg-B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bg-B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bg-B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29544D-D715-40D7-BC31-F8A346D97C74}" type="slidenum">
              <a:rPr lang="bg-BG" smtClean="0"/>
              <a:t>‹#›</a:t>
            </a:fld>
            <a:endParaRPr lang="bg-BG"/>
          </a:p>
        </p:txBody>
      </p:sp>
    </p:spTree>
    <p:extLst>
      <p:ext uri="{BB962C8B-B14F-4D97-AF65-F5344CB8AC3E}">
        <p14:creationId xmlns:p14="http://schemas.microsoft.com/office/powerpoint/2010/main" val="3825136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bg-BG" dirty="0"/>
          </a:p>
        </p:txBody>
      </p:sp>
      <p:sp>
        <p:nvSpPr>
          <p:cNvPr id="4" name="Slide Number Placeholder 3"/>
          <p:cNvSpPr>
            <a:spLocks noGrp="1"/>
          </p:cNvSpPr>
          <p:nvPr>
            <p:ph type="sldNum" sz="quarter" idx="5"/>
          </p:nvPr>
        </p:nvSpPr>
        <p:spPr/>
        <p:txBody>
          <a:bodyPr/>
          <a:lstStyle/>
          <a:p>
            <a:fld id="{B429544D-D715-40D7-BC31-F8A346D97C74}" type="slidenum">
              <a:rPr lang="bg-BG" smtClean="0"/>
              <a:t>2</a:t>
            </a:fld>
            <a:endParaRPr lang="bg-BG"/>
          </a:p>
        </p:txBody>
      </p:sp>
    </p:spTree>
    <p:extLst>
      <p:ext uri="{BB962C8B-B14F-4D97-AF65-F5344CB8AC3E}">
        <p14:creationId xmlns:p14="http://schemas.microsoft.com/office/powerpoint/2010/main" val="3108684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11E16-FB98-B19C-6EFC-988FC5CAB8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6E32F-75DF-697A-A079-9F84C6A5EF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100AC3-AE0C-4095-D21E-A6B3A84CFA69}"/>
              </a:ext>
            </a:extLst>
          </p:cNvPr>
          <p:cNvSpPr>
            <a:spLocks noGrp="1"/>
          </p:cNvSpPr>
          <p:nvPr>
            <p:ph type="body" idx="1"/>
          </p:nvPr>
        </p:nvSpPr>
        <p:spPr/>
        <p:txBody>
          <a:bodyPr/>
          <a:lstStyle/>
          <a:p>
            <a:r>
              <a:rPr lang="ru-RU" sz="1200" b="0" i="0" u="none" strike="noStrike" kern="1200" dirty="0">
                <a:solidFill>
                  <a:schemeClr val="tx1"/>
                </a:solidFill>
                <a:effectLst/>
                <a:latin typeface="+mn-lt"/>
                <a:ea typeface="+mn-ea"/>
                <a:cs typeface="+mn-cs"/>
              </a:rPr>
              <a:t>Цел: Студентите ще разберат, че превключването на MOSFET е процес на зареждане/разреждане на вътрешните му капацитети, ще идентифицират заряда на гейта (Qg) и платото на Милър, ще разберат необходимостта от специален драйвер на гейта и ще се научат как да намалят „звъненето“ на гейта с помощта на последователен резистор.</a:t>
            </a:r>
            <a:endParaRPr lang="bg-BG" b="0" dirty="0"/>
          </a:p>
        </p:txBody>
      </p:sp>
      <p:sp>
        <p:nvSpPr>
          <p:cNvPr id="4" name="Slide Number Placeholder 3">
            <a:extLst>
              <a:ext uri="{FF2B5EF4-FFF2-40B4-BE49-F238E27FC236}">
                <a16:creationId xmlns:a16="http://schemas.microsoft.com/office/drawing/2014/main" id="{B66FB717-2881-00E4-36AD-E417FD7AB087}"/>
              </a:ext>
            </a:extLst>
          </p:cNvPr>
          <p:cNvSpPr>
            <a:spLocks noGrp="1"/>
          </p:cNvSpPr>
          <p:nvPr>
            <p:ph type="sldNum" sz="quarter" idx="5"/>
          </p:nvPr>
        </p:nvSpPr>
        <p:spPr/>
        <p:txBody>
          <a:bodyPr/>
          <a:lstStyle/>
          <a:p>
            <a:fld id="{B429544D-D715-40D7-BC31-F8A346D97C74}" type="slidenum">
              <a:rPr lang="bg-BG" smtClean="0"/>
              <a:t>3</a:t>
            </a:fld>
            <a:endParaRPr lang="bg-BG"/>
          </a:p>
        </p:txBody>
      </p:sp>
    </p:spTree>
    <p:extLst>
      <p:ext uri="{BB962C8B-B14F-4D97-AF65-F5344CB8AC3E}">
        <p14:creationId xmlns:p14="http://schemas.microsoft.com/office/powerpoint/2010/main" val="496168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D627BD-63C7-7B56-1064-5F145E5681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753E8-C9AA-1F25-1F1F-9AB1F2B45F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DA03C9-BE65-4D1B-D02F-C57CDD14EC7B}"/>
              </a:ext>
            </a:extLst>
          </p:cNvPr>
          <p:cNvSpPr>
            <a:spLocks noGrp="1"/>
          </p:cNvSpPr>
          <p:nvPr>
            <p:ph type="body" idx="1"/>
          </p:nvPr>
        </p:nvSpPr>
        <p:spPr/>
        <p:txBody>
          <a:bodyPr/>
          <a:lstStyle/>
          <a:p>
            <a:endParaRPr lang="bg-BG" b="0" dirty="0"/>
          </a:p>
        </p:txBody>
      </p:sp>
      <p:sp>
        <p:nvSpPr>
          <p:cNvPr id="4" name="Slide Number Placeholder 3">
            <a:extLst>
              <a:ext uri="{FF2B5EF4-FFF2-40B4-BE49-F238E27FC236}">
                <a16:creationId xmlns:a16="http://schemas.microsoft.com/office/drawing/2014/main" id="{F5ABA728-5715-8032-C8F1-BC9C0362828A}"/>
              </a:ext>
            </a:extLst>
          </p:cNvPr>
          <p:cNvSpPr>
            <a:spLocks noGrp="1"/>
          </p:cNvSpPr>
          <p:nvPr>
            <p:ph type="sldNum" sz="quarter" idx="5"/>
          </p:nvPr>
        </p:nvSpPr>
        <p:spPr/>
        <p:txBody>
          <a:bodyPr/>
          <a:lstStyle/>
          <a:p>
            <a:fld id="{B429544D-D715-40D7-BC31-F8A346D97C74}" type="slidenum">
              <a:rPr lang="bg-BG" smtClean="0"/>
              <a:t>4</a:t>
            </a:fld>
            <a:endParaRPr lang="bg-BG"/>
          </a:p>
        </p:txBody>
      </p:sp>
    </p:spTree>
    <p:extLst>
      <p:ext uri="{BB962C8B-B14F-4D97-AF65-F5344CB8AC3E}">
        <p14:creationId xmlns:p14="http://schemas.microsoft.com/office/powerpoint/2010/main" val="3430523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D6B30-9629-A0A5-1732-8ABD6C612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17BE1-0C49-E833-DA2F-CF28488D68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AF3D00-C0AF-F015-62C9-E78D3CA00AF4}"/>
              </a:ext>
            </a:extLst>
          </p:cNvPr>
          <p:cNvSpPr>
            <a:spLocks noGrp="1"/>
          </p:cNvSpPr>
          <p:nvPr>
            <p:ph type="body" idx="1"/>
          </p:nvPr>
        </p:nvSpPr>
        <p:spPr/>
        <p:txBody>
          <a:bodyPr/>
          <a:lstStyle/>
          <a:p>
            <a:endParaRPr lang="bg-BG" b="0" dirty="0"/>
          </a:p>
        </p:txBody>
      </p:sp>
      <p:sp>
        <p:nvSpPr>
          <p:cNvPr id="4" name="Slide Number Placeholder 3">
            <a:extLst>
              <a:ext uri="{FF2B5EF4-FFF2-40B4-BE49-F238E27FC236}">
                <a16:creationId xmlns:a16="http://schemas.microsoft.com/office/drawing/2014/main" id="{157401CA-5E3E-8A3D-B1FE-65E76BA8ABD0}"/>
              </a:ext>
            </a:extLst>
          </p:cNvPr>
          <p:cNvSpPr>
            <a:spLocks noGrp="1"/>
          </p:cNvSpPr>
          <p:nvPr>
            <p:ph type="sldNum" sz="quarter" idx="5"/>
          </p:nvPr>
        </p:nvSpPr>
        <p:spPr/>
        <p:txBody>
          <a:bodyPr/>
          <a:lstStyle/>
          <a:p>
            <a:fld id="{B429544D-D715-40D7-BC31-F8A346D97C74}" type="slidenum">
              <a:rPr lang="bg-BG" smtClean="0"/>
              <a:t>5</a:t>
            </a:fld>
            <a:endParaRPr lang="bg-BG"/>
          </a:p>
        </p:txBody>
      </p:sp>
    </p:spTree>
    <p:extLst>
      <p:ext uri="{BB962C8B-B14F-4D97-AF65-F5344CB8AC3E}">
        <p14:creationId xmlns:p14="http://schemas.microsoft.com/office/powerpoint/2010/main" val="3625952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75BC1-012B-CF65-453B-95719940C2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CDDCC4-4C0C-0651-665F-4547426E4F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EB4D93-9B24-63CC-80E0-2D8F55C6F749}"/>
              </a:ext>
            </a:extLst>
          </p:cNvPr>
          <p:cNvSpPr>
            <a:spLocks noGrp="1"/>
          </p:cNvSpPr>
          <p:nvPr>
            <p:ph type="body" idx="1"/>
          </p:nvPr>
        </p:nvSpPr>
        <p:spPr/>
        <p:txBody>
          <a:bodyPr/>
          <a:lstStyle/>
          <a:p>
            <a:endParaRPr lang="bg-BG" b="0" dirty="0"/>
          </a:p>
        </p:txBody>
      </p:sp>
      <p:sp>
        <p:nvSpPr>
          <p:cNvPr id="4" name="Slide Number Placeholder 3">
            <a:extLst>
              <a:ext uri="{FF2B5EF4-FFF2-40B4-BE49-F238E27FC236}">
                <a16:creationId xmlns:a16="http://schemas.microsoft.com/office/drawing/2014/main" id="{1104A4F3-F52F-B0B7-0455-533474732412}"/>
              </a:ext>
            </a:extLst>
          </p:cNvPr>
          <p:cNvSpPr>
            <a:spLocks noGrp="1"/>
          </p:cNvSpPr>
          <p:nvPr>
            <p:ph type="sldNum" sz="quarter" idx="5"/>
          </p:nvPr>
        </p:nvSpPr>
        <p:spPr/>
        <p:txBody>
          <a:bodyPr/>
          <a:lstStyle/>
          <a:p>
            <a:fld id="{B429544D-D715-40D7-BC31-F8A346D97C74}" type="slidenum">
              <a:rPr lang="bg-BG" smtClean="0"/>
              <a:t>6</a:t>
            </a:fld>
            <a:endParaRPr lang="bg-BG"/>
          </a:p>
        </p:txBody>
      </p:sp>
    </p:spTree>
    <p:extLst>
      <p:ext uri="{BB962C8B-B14F-4D97-AF65-F5344CB8AC3E}">
        <p14:creationId xmlns:p14="http://schemas.microsoft.com/office/powerpoint/2010/main" val="1126871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49247-C055-A3CF-115E-0E50035E7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5FE6C1-E30E-4ED6-3DE7-A50A1B76CA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721CCA-2DB9-F875-7BE1-3064AB622EBF}"/>
              </a:ext>
            </a:extLst>
          </p:cNvPr>
          <p:cNvSpPr>
            <a:spLocks noGrp="1"/>
          </p:cNvSpPr>
          <p:nvPr>
            <p:ph type="body" idx="1"/>
          </p:nvPr>
        </p:nvSpPr>
        <p:spPr/>
        <p:txBody>
          <a:bodyPr/>
          <a:lstStyle/>
          <a:p>
            <a:endParaRPr lang="bg-BG" b="0" dirty="0"/>
          </a:p>
        </p:txBody>
      </p:sp>
      <p:sp>
        <p:nvSpPr>
          <p:cNvPr id="4" name="Slide Number Placeholder 3">
            <a:extLst>
              <a:ext uri="{FF2B5EF4-FFF2-40B4-BE49-F238E27FC236}">
                <a16:creationId xmlns:a16="http://schemas.microsoft.com/office/drawing/2014/main" id="{E0B141E8-3A9D-902D-4C1A-D163FAA98B9E}"/>
              </a:ext>
            </a:extLst>
          </p:cNvPr>
          <p:cNvSpPr>
            <a:spLocks noGrp="1"/>
          </p:cNvSpPr>
          <p:nvPr>
            <p:ph type="sldNum" sz="quarter" idx="5"/>
          </p:nvPr>
        </p:nvSpPr>
        <p:spPr/>
        <p:txBody>
          <a:bodyPr/>
          <a:lstStyle/>
          <a:p>
            <a:fld id="{B429544D-D715-40D7-BC31-F8A346D97C74}" type="slidenum">
              <a:rPr lang="bg-BG" smtClean="0"/>
              <a:t>7</a:t>
            </a:fld>
            <a:endParaRPr lang="bg-BG"/>
          </a:p>
        </p:txBody>
      </p:sp>
    </p:spTree>
    <p:extLst>
      <p:ext uri="{BB962C8B-B14F-4D97-AF65-F5344CB8AC3E}">
        <p14:creationId xmlns:p14="http://schemas.microsoft.com/office/powerpoint/2010/main" val="579420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56AD9-DAC3-6CC6-D263-92F41FF58E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DF54B-0426-B5B8-BDC7-9DCC61132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28D6A8-DABE-1A61-6AB0-695DC0CE5B8E}"/>
              </a:ext>
            </a:extLst>
          </p:cNvPr>
          <p:cNvSpPr>
            <a:spLocks noGrp="1"/>
          </p:cNvSpPr>
          <p:nvPr>
            <p:ph type="body" idx="1"/>
          </p:nvPr>
        </p:nvSpPr>
        <p:spPr/>
        <p:txBody>
          <a:bodyPr/>
          <a:lstStyle/>
          <a:p>
            <a:endParaRPr lang="bg-BG" b="0" dirty="0"/>
          </a:p>
        </p:txBody>
      </p:sp>
      <p:sp>
        <p:nvSpPr>
          <p:cNvPr id="4" name="Slide Number Placeholder 3">
            <a:extLst>
              <a:ext uri="{FF2B5EF4-FFF2-40B4-BE49-F238E27FC236}">
                <a16:creationId xmlns:a16="http://schemas.microsoft.com/office/drawing/2014/main" id="{05243340-82A4-2722-75FC-D03D772DAA7C}"/>
              </a:ext>
            </a:extLst>
          </p:cNvPr>
          <p:cNvSpPr>
            <a:spLocks noGrp="1"/>
          </p:cNvSpPr>
          <p:nvPr>
            <p:ph type="sldNum" sz="quarter" idx="5"/>
          </p:nvPr>
        </p:nvSpPr>
        <p:spPr/>
        <p:txBody>
          <a:bodyPr/>
          <a:lstStyle/>
          <a:p>
            <a:fld id="{B429544D-D715-40D7-BC31-F8A346D97C74}" type="slidenum">
              <a:rPr lang="bg-BG" smtClean="0"/>
              <a:t>8</a:t>
            </a:fld>
            <a:endParaRPr lang="bg-BG"/>
          </a:p>
        </p:txBody>
      </p:sp>
    </p:spTree>
    <p:extLst>
      <p:ext uri="{BB962C8B-B14F-4D97-AF65-F5344CB8AC3E}">
        <p14:creationId xmlns:p14="http://schemas.microsoft.com/office/powerpoint/2010/main" val="3752958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32164-9D0E-8350-FE7E-6599308F6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47758A-54F3-713D-196D-E014280615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22A32A-047B-6DEB-24BB-9992379B0C12}"/>
              </a:ext>
            </a:extLst>
          </p:cNvPr>
          <p:cNvSpPr>
            <a:spLocks noGrp="1"/>
          </p:cNvSpPr>
          <p:nvPr>
            <p:ph type="body" idx="1"/>
          </p:nvPr>
        </p:nvSpPr>
        <p:spPr/>
        <p:txBody>
          <a:bodyPr/>
          <a:lstStyle/>
          <a:p>
            <a:endParaRPr lang="bg-BG" b="0" dirty="0"/>
          </a:p>
        </p:txBody>
      </p:sp>
      <p:sp>
        <p:nvSpPr>
          <p:cNvPr id="4" name="Slide Number Placeholder 3">
            <a:extLst>
              <a:ext uri="{FF2B5EF4-FFF2-40B4-BE49-F238E27FC236}">
                <a16:creationId xmlns:a16="http://schemas.microsoft.com/office/drawing/2014/main" id="{34FCCD2D-C23F-3C9E-C4C1-F76405879A0C}"/>
              </a:ext>
            </a:extLst>
          </p:cNvPr>
          <p:cNvSpPr>
            <a:spLocks noGrp="1"/>
          </p:cNvSpPr>
          <p:nvPr>
            <p:ph type="sldNum" sz="quarter" idx="5"/>
          </p:nvPr>
        </p:nvSpPr>
        <p:spPr/>
        <p:txBody>
          <a:bodyPr/>
          <a:lstStyle/>
          <a:p>
            <a:fld id="{B429544D-D715-40D7-BC31-F8A346D97C74}" type="slidenum">
              <a:rPr lang="bg-BG" smtClean="0"/>
              <a:t>9</a:t>
            </a:fld>
            <a:endParaRPr lang="bg-BG"/>
          </a:p>
        </p:txBody>
      </p:sp>
    </p:spTree>
    <p:extLst>
      <p:ext uri="{BB962C8B-B14F-4D97-AF65-F5344CB8AC3E}">
        <p14:creationId xmlns:p14="http://schemas.microsoft.com/office/powerpoint/2010/main" val="2407634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C4DFF-D311-C140-D3A5-7EE59CF13D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A15BF7-BC2C-8440-874C-7CEB61F2F6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A0CEC-F62C-DCC6-05B9-3486F34C57FD}"/>
              </a:ext>
            </a:extLst>
          </p:cNvPr>
          <p:cNvSpPr>
            <a:spLocks noGrp="1"/>
          </p:cNvSpPr>
          <p:nvPr>
            <p:ph type="body" idx="1"/>
          </p:nvPr>
        </p:nvSpPr>
        <p:spPr/>
        <p:txBody>
          <a:bodyPr/>
          <a:lstStyle/>
          <a:p>
            <a:endParaRPr lang="bg-BG" b="0" dirty="0"/>
          </a:p>
        </p:txBody>
      </p:sp>
      <p:sp>
        <p:nvSpPr>
          <p:cNvPr id="4" name="Slide Number Placeholder 3">
            <a:extLst>
              <a:ext uri="{FF2B5EF4-FFF2-40B4-BE49-F238E27FC236}">
                <a16:creationId xmlns:a16="http://schemas.microsoft.com/office/drawing/2014/main" id="{F04B9BB2-C777-2C2E-BF38-99D85F3BB1AF}"/>
              </a:ext>
            </a:extLst>
          </p:cNvPr>
          <p:cNvSpPr>
            <a:spLocks noGrp="1"/>
          </p:cNvSpPr>
          <p:nvPr>
            <p:ph type="sldNum" sz="quarter" idx="5"/>
          </p:nvPr>
        </p:nvSpPr>
        <p:spPr/>
        <p:txBody>
          <a:bodyPr/>
          <a:lstStyle/>
          <a:p>
            <a:fld id="{B429544D-D715-40D7-BC31-F8A346D97C74}" type="slidenum">
              <a:rPr lang="bg-BG" smtClean="0"/>
              <a:t>10</a:t>
            </a:fld>
            <a:endParaRPr lang="bg-BG"/>
          </a:p>
        </p:txBody>
      </p:sp>
    </p:spTree>
    <p:extLst>
      <p:ext uri="{BB962C8B-B14F-4D97-AF65-F5344CB8AC3E}">
        <p14:creationId xmlns:p14="http://schemas.microsoft.com/office/powerpoint/2010/main" val="525327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D2667-1D15-847D-E20C-1F60BB2DE3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DA58-AD97-F6D7-0C7A-BC3E6AE6F7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AAA919-3053-48B7-B22F-2684E4BFFC4E}"/>
              </a:ext>
            </a:extLst>
          </p:cNvPr>
          <p:cNvSpPr>
            <a:spLocks noGrp="1"/>
          </p:cNvSpPr>
          <p:nvPr>
            <p:ph type="body" idx="1"/>
          </p:nvPr>
        </p:nvSpPr>
        <p:spPr/>
        <p:txBody>
          <a:bodyPr/>
          <a:lstStyle/>
          <a:p>
            <a:endParaRPr lang="bg-BG" b="0" dirty="0"/>
          </a:p>
        </p:txBody>
      </p:sp>
      <p:sp>
        <p:nvSpPr>
          <p:cNvPr id="4" name="Slide Number Placeholder 3">
            <a:extLst>
              <a:ext uri="{FF2B5EF4-FFF2-40B4-BE49-F238E27FC236}">
                <a16:creationId xmlns:a16="http://schemas.microsoft.com/office/drawing/2014/main" id="{7BB5B90E-500B-F5C4-1A6C-F0573945CCF2}"/>
              </a:ext>
            </a:extLst>
          </p:cNvPr>
          <p:cNvSpPr>
            <a:spLocks noGrp="1"/>
          </p:cNvSpPr>
          <p:nvPr>
            <p:ph type="sldNum" sz="quarter" idx="5"/>
          </p:nvPr>
        </p:nvSpPr>
        <p:spPr/>
        <p:txBody>
          <a:bodyPr/>
          <a:lstStyle/>
          <a:p>
            <a:fld id="{B429544D-D715-40D7-BC31-F8A346D97C74}" type="slidenum">
              <a:rPr lang="bg-BG" smtClean="0"/>
              <a:t>11</a:t>
            </a:fld>
            <a:endParaRPr lang="bg-BG"/>
          </a:p>
        </p:txBody>
      </p:sp>
    </p:spTree>
    <p:extLst>
      <p:ext uri="{BB962C8B-B14F-4D97-AF65-F5344CB8AC3E}">
        <p14:creationId xmlns:p14="http://schemas.microsoft.com/office/powerpoint/2010/main" val="1774399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EDE28-D411-4E1B-545E-2FBBD7F719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2D2F9-0FC3-E990-58B2-C39BAAF28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015A73-F4C2-C6AD-16E8-7C4D87756A19}"/>
              </a:ext>
            </a:extLst>
          </p:cNvPr>
          <p:cNvSpPr>
            <a:spLocks noGrp="1"/>
          </p:cNvSpPr>
          <p:nvPr>
            <p:ph type="body" idx="1"/>
          </p:nvPr>
        </p:nvSpPr>
        <p:spPr/>
        <p:txBody>
          <a:bodyPr/>
          <a:lstStyle/>
          <a:p>
            <a:endParaRPr lang="bg-BG" b="0" dirty="0"/>
          </a:p>
        </p:txBody>
      </p:sp>
      <p:sp>
        <p:nvSpPr>
          <p:cNvPr id="4" name="Slide Number Placeholder 3">
            <a:extLst>
              <a:ext uri="{FF2B5EF4-FFF2-40B4-BE49-F238E27FC236}">
                <a16:creationId xmlns:a16="http://schemas.microsoft.com/office/drawing/2014/main" id="{C712563A-93C5-9035-0199-237F34B2AD5E}"/>
              </a:ext>
            </a:extLst>
          </p:cNvPr>
          <p:cNvSpPr>
            <a:spLocks noGrp="1"/>
          </p:cNvSpPr>
          <p:nvPr>
            <p:ph type="sldNum" sz="quarter" idx="5"/>
          </p:nvPr>
        </p:nvSpPr>
        <p:spPr/>
        <p:txBody>
          <a:bodyPr/>
          <a:lstStyle/>
          <a:p>
            <a:fld id="{B429544D-D715-40D7-BC31-F8A346D97C74}" type="slidenum">
              <a:rPr lang="bg-BG" smtClean="0"/>
              <a:t>12</a:t>
            </a:fld>
            <a:endParaRPr lang="bg-BG"/>
          </a:p>
        </p:txBody>
      </p:sp>
    </p:spTree>
    <p:extLst>
      <p:ext uri="{BB962C8B-B14F-4D97-AF65-F5344CB8AC3E}">
        <p14:creationId xmlns:p14="http://schemas.microsoft.com/office/powerpoint/2010/main" val="4213668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F9599-7FFB-A5CD-F5A0-4B14D9EA2A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bg-BG"/>
          </a:p>
        </p:txBody>
      </p:sp>
      <p:sp>
        <p:nvSpPr>
          <p:cNvPr id="3" name="Subtitle 2">
            <a:extLst>
              <a:ext uri="{FF2B5EF4-FFF2-40B4-BE49-F238E27FC236}">
                <a16:creationId xmlns:a16="http://schemas.microsoft.com/office/drawing/2014/main" id="{F14944AC-E81C-DE01-E4DE-72466CBF7D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bg-BG"/>
          </a:p>
        </p:txBody>
      </p:sp>
      <p:sp>
        <p:nvSpPr>
          <p:cNvPr id="4" name="Date Placeholder 3">
            <a:extLst>
              <a:ext uri="{FF2B5EF4-FFF2-40B4-BE49-F238E27FC236}">
                <a16:creationId xmlns:a16="http://schemas.microsoft.com/office/drawing/2014/main" id="{A0C57B20-B467-57F5-9F67-152A323D5705}"/>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C47094D2-25B1-2A7B-9327-8599CF6C3C47}"/>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1856DF86-F233-C32F-F538-5F94BBC9390D}"/>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891419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6E186-F073-1F09-54A5-6643FC244EB2}"/>
              </a:ext>
            </a:extLst>
          </p:cNvPr>
          <p:cNvSpPr>
            <a:spLocks noGrp="1"/>
          </p:cNvSpPr>
          <p:nvPr>
            <p:ph type="title"/>
          </p:nvPr>
        </p:nvSpPr>
        <p:spPr/>
        <p:txBody>
          <a:bodyPr/>
          <a:lstStyle/>
          <a:p>
            <a:r>
              <a:rPr lang="en-US"/>
              <a:t>Click to edit Master title style</a:t>
            </a:r>
            <a:endParaRPr lang="bg-BG"/>
          </a:p>
        </p:txBody>
      </p:sp>
      <p:sp>
        <p:nvSpPr>
          <p:cNvPr id="3" name="Content Placeholder 2">
            <a:extLst>
              <a:ext uri="{FF2B5EF4-FFF2-40B4-BE49-F238E27FC236}">
                <a16:creationId xmlns:a16="http://schemas.microsoft.com/office/drawing/2014/main" id="{682FAB8C-0862-1891-8AFA-38E2CEF06A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DA7D224B-9AC9-7C18-2E81-D7509F9E0931}"/>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894D9A89-2168-B50A-CAC0-A33F917932AE}"/>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ECC2A00E-38FD-55AE-D4D7-70DE8DB41329}"/>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474006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C591C-1B96-3004-D104-25000ADC35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bg-BG"/>
          </a:p>
        </p:txBody>
      </p:sp>
      <p:sp>
        <p:nvSpPr>
          <p:cNvPr id="3" name="Text Placeholder 2">
            <a:extLst>
              <a:ext uri="{FF2B5EF4-FFF2-40B4-BE49-F238E27FC236}">
                <a16:creationId xmlns:a16="http://schemas.microsoft.com/office/drawing/2014/main" id="{0A8591C5-8C15-4A83-B39E-B227FD6D4DE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C21969-BA5B-1AF9-052F-40F78C7BF75E}"/>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6D59936E-E58D-EB0F-2A4C-429A8E14469E}"/>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66D9D855-50F8-FE97-8787-1F443A83ACDF}"/>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933622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65E9A-ECC2-8B14-64E7-C6E115992253}"/>
              </a:ext>
            </a:extLst>
          </p:cNvPr>
          <p:cNvSpPr>
            <a:spLocks noGrp="1"/>
          </p:cNvSpPr>
          <p:nvPr>
            <p:ph type="title"/>
          </p:nvPr>
        </p:nvSpPr>
        <p:spPr/>
        <p:txBody>
          <a:bodyPr/>
          <a:lstStyle/>
          <a:p>
            <a:r>
              <a:rPr lang="en-US"/>
              <a:t>Click to edit Master title style</a:t>
            </a:r>
            <a:endParaRPr lang="bg-BG"/>
          </a:p>
        </p:txBody>
      </p:sp>
      <p:sp>
        <p:nvSpPr>
          <p:cNvPr id="3" name="Content Placeholder 2">
            <a:extLst>
              <a:ext uri="{FF2B5EF4-FFF2-40B4-BE49-F238E27FC236}">
                <a16:creationId xmlns:a16="http://schemas.microsoft.com/office/drawing/2014/main" id="{99852DCB-936E-A8FB-3A7D-45C55C510DE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Content Placeholder 3">
            <a:extLst>
              <a:ext uri="{FF2B5EF4-FFF2-40B4-BE49-F238E27FC236}">
                <a16:creationId xmlns:a16="http://schemas.microsoft.com/office/drawing/2014/main" id="{F3317A36-52A1-7E75-07EE-12699A23AF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5" name="Date Placeholder 4">
            <a:extLst>
              <a:ext uri="{FF2B5EF4-FFF2-40B4-BE49-F238E27FC236}">
                <a16:creationId xmlns:a16="http://schemas.microsoft.com/office/drawing/2014/main" id="{C4F286D2-8508-F054-30AF-18E5C61C9AB1}"/>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6" name="Footer Placeholder 5">
            <a:extLst>
              <a:ext uri="{FF2B5EF4-FFF2-40B4-BE49-F238E27FC236}">
                <a16:creationId xmlns:a16="http://schemas.microsoft.com/office/drawing/2014/main" id="{82051910-1D25-0F6F-E2C0-C4F261E638AC}"/>
              </a:ext>
            </a:extLst>
          </p:cNvPr>
          <p:cNvSpPr>
            <a:spLocks noGrp="1"/>
          </p:cNvSpPr>
          <p:nvPr>
            <p:ph type="ftr" sz="quarter" idx="11"/>
          </p:nvPr>
        </p:nvSpPr>
        <p:spPr/>
        <p:txBody>
          <a:bodyPr/>
          <a:lstStyle/>
          <a:p>
            <a:endParaRPr lang="bg-BG"/>
          </a:p>
        </p:txBody>
      </p:sp>
      <p:sp>
        <p:nvSpPr>
          <p:cNvPr id="7" name="Slide Number Placeholder 6">
            <a:extLst>
              <a:ext uri="{FF2B5EF4-FFF2-40B4-BE49-F238E27FC236}">
                <a16:creationId xmlns:a16="http://schemas.microsoft.com/office/drawing/2014/main" id="{647182CD-4198-FA54-4C49-CFB64BD785B7}"/>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1485373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03CC3-1242-3126-9493-34BA7F54EAAD}"/>
              </a:ext>
            </a:extLst>
          </p:cNvPr>
          <p:cNvSpPr>
            <a:spLocks noGrp="1"/>
          </p:cNvSpPr>
          <p:nvPr>
            <p:ph type="title"/>
          </p:nvPr>
        </p:nvSpPr>
        <p:spPr>
          <a:xfrm>
            <a:off x="839788" y="365125"/>
            <a:ext cx="10515600" cy="1325563"/>
          </a:xfrm>
        </p:spPr>
        <p:txBody>
          <a:bodyPr/>
          <a:lstStyle/>
          <a:p>
            <a:r>
              <a:rPr lang="en-US"/>
              <a:t>Click to edit Master title style</a:t>
            </a:r>
            <a:endParaRPr lang="bg-BG"/>
          </a:p>
        </p:txBody>
      </p:sp>
      <p:sp>
        <p:nvSpPr>
          <p:cNvPr id="3" name="Text Placeholder 2">
            <a:extLst>
              <a:ext uri="{FF2B5EF4-FFF2-40B4-BE49-F238E27FC236}">
                <a16:creationId xmlns:a16="http://schemas.microsoft.com/office/drawing/2014/main" id="{5D4917A5-8E8D-5075-E81E-30AF1B90E5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63E8040-E8CD-4ED8-F307-B8F87DCE32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5" name="Text Placeholder 4">
            <a:extLst>
              <a:ext uri="{FF2B5EF4-FFF2-40B4-BE49-F238E27FC236}">
                <a16:creationId xmlns:a16="http://schemas.microsoft.com/office/drawing/2014/main" id="{64484509-F3E9-CC25-D786-33A92A124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8C10748-0178-E873-EFF0-CE21974AB6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7" name="Date Placeholder 6">
            <a:extLst>
              <a:ext uri="{FF2B5EF4-FFF2-40B4-BE49-F238E27FC236}">
                <a16:creationId xmlns:a16="http://schemas.microsoft.com/office/drawing/2014/main" id="{95D1CBD4-1041-6E34-7CDC-BCFFC0FD9632}"/>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8" name="Footer Placeholder 7">
            <a:extLst>
              <a:ext uri="{FF2B5EF4-FFF2-40B4-BE49-F238E27FC236}">
                <a16:creationId xmlns:a16="http://schemas.microsoft.com/office/drawing/2014/main" id="{5F43C420-F425-355F-CF8E-3F2BA26D14F1}"/>
              </a:ext>
            </a:extLst>
          </p:cNvPr>
          <p:cNvSpPr>
            <a:spLocks noGrp="1"/>
          </p:cNvSpPr>
          <p:nvPr>
            <p:ph type="ftr" sz="quarter" idx="11"/>
          </p:nvPr>
        </p:nvSpPr>
        <p:spPr/>
        <p:txBody>
          <a:bodyPr/>
          <a:lstStyle/>
          <a:p>
            <a:endParaRPr lang="bg-BG"/>
          </a:p>
        </p:txBody>
      </p:sp>
      <p:sp>
        <p:nvSpPr>
          <p:cNvPr id="9" name="Slide Number Placeholder 8">
            <a:extLst>
              <a:ext uri="{FF2B5EF4-FFF2-40B4-BE49-F238E27FC236}">
                <a16:creationId xmlns:a16="http://schemas.microsoft.com/office/drawing/2014/main" id="{FB555219-48B2-2357-F0F1-E4B1C113A970}"/>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995166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52A36-0CC2-35CD-A339-1FA1B6EA5E9B}"/>
              </a:ext>
            </a:extLst>
          </p:cNvPr>
          <p:cNvSpPr>
            <a:spLocks noGrp="1"/>
          </p:cNvSpPr>
          <p:nvPr>
            <p:ph type="title"/>
          </p:nvPr>
        </p:nvSpPr>
        <p:spPr/>
        <p:txBody>
          <a:bodyPr/>
          <a:lstStyle/>
          <a:p>
            <a:r>
              <a:rPr lang="en-US"/>
              <a:t>Click to edit Master title style</a:t>
            </a:r>
            <a:endParaRPr lang="bg-BG"/>
          </a:p>
        </p:txBody>
      </p:sp>
      <p:sp>
        <p:nvSpPr>
          <p:cNvPr id="3" name="Date Placeholder 2">
            <a:extLst>
              <a:ext uri="{FF2B5EF4-FFF2-40B4-BE49-F238E27FC236}">
                <a16:creationId xmlns:a16="http://schemas.microsoft.com/office/drawing/2014/main" id="{B91DCC87-BCFD-F4A2-B7A8-ACC2EDF35DBA}"/>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4" name="Footer Placeholder 3">
            <a:extLst>
              <a:ext uri="{FF2B5EF4-FFF2-40B4-BE49-F238E27FC236}">
                <a16:creationId xmlns:a16="http://schemas.microsoft.com/office/drawing/2014/main" id="{287FCDA2-B92F-DE75-434E-688A454F5721}"/>
              </a:ext>
            </a:extLst>
          </p:cNvPr>
          <p:cNvSpPr>
            <a:spLocks noGrp="1"/>
          </p:cNvSpPr>
          <p:nvPr>
            <p:ph type="ftr" sz="quarter" idx="11"/>
          </p:nvPr>
        </p:nvSpPr>
        <p:spPr/>
        <p:txBody>
          <a:bodyPr/>
          <a:lstStyle/>
          <a:p>
            <a:endParaRPr lang="bg-BG"/>
          </a:p>
        </p:txBody>
      </p:sp>
      <p:sp>
        <p:nvSpPr>
          <p:cNvPr id="5" name="Slide Number Placeholder 4">
            <a:extLst>
              <a:ext uri="{FF2B5EF4-FFF2-40B4-BE49-F238E27FC236}">
                <a16:creationId xmlns:a16="http://schemas.microsoft.com/office/drawing/2014/main" id="{82A5E2D3-1B2A-8626-ED16-CC0A1ED8F61D}"/>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636176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74CC47-1386-DE7B-75E4-F58FEF3B07B2}"/>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3" name="Footer Placeholder 2">
            <a:extLst>
              <a:ext uri="{FF2B5EF4-FFF2-40B4-BE49-F238E27FC236}">
                <a16:creationId xmlns:a16="http://schemas.microsoft.com/office/drawing/2014/main" id="{3CE0560C-6146-8D2E-08C6-5765D08C4726}"/>
              </a:ext>
            </a:extLst>
          </p:cNvPr>
          <p:cNvSpPr>
            <a:spLocks noGrp="1"/>
          </p:cNvSpPr>
          <p:nvPr>
            <p:ph type="ftr" sz="quarter" idx="11"/>
          </p:nvPr>
        </p:nvSpPr>
        <p:spPr/>
        <p:txBody>
          <a:bodyPr/>
          <a:lstStyle/>
          <a:p>
            <a:endParaRPr lang="bg-BG"/>
          </a:p>
        </p:txBody>
      </p:sp>
      <p:sp>
        <p:nvSpPr>
          <p:cNvPr id="4" name="Slide Number Placeholder 3">
            <a:extLst>
              <a:ext uri="{FF2B5EF4-FFF2-40B4-BE49-F238E27FC236}">
                <a16:creationId xmlns:a16="http://schemas.microsoft.com/office/drawing/2014/main" id="{6FA8EF57-8134-795A-1E19-C64BC0C60790}"/>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1026469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58096-1102-A25E-32B1-B01622848C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g-BG"/>
          </a:p>
        </p:txBody>
      </p:sp>
      <p:sp>
        <p:nvSpPr>
          <p:cNvPr id="3" name="Content Placeholder 2">
            <a:extLst>
              <a:ext uri="{FF2B5EF4-FFF2-40B4-BE49-F238E27FC236}">
                <a16:creationId xmlns:a16="http://schemas.microsoft.com/office/drawing/2014/main" id="{CCA53F3C-E02E-9870-26D7-76E7752F68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Text Placeholder 3">
            <a:extLst>
              <a:ext uri="{FF2B5EF4-FFF2-40B4-BE49-F238E27FC236}">
                <a16:creationId xmlns:a16="http://schemas.microsoft.com/office/drawing/2014/main" id="{62E901BD-08A3-2128-31F0-6D9E7A210B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949FB-69C3-5AA3-6E1F-C9F52882A680}"/>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6" name="Footer Placeholder 5">
            <a:extLst>
              <a:ext uri="{FF2B5EF4-FFF2-40B4-BE49-F238E27FC236}">
                <a16:creationId xmlns:a16="http://schemas.microsoft.com/office/drawing/2014/main" id="{586ECD44-CD55-E343-8E47-3572168DD708}"/>
              </a:ext>
            </a:extLst>
          </p:cNvPr>
          <p:cNvSpPr>
            <a:spLocks noGrp="1"/>
          </p:cNvSpPr>
          <p:nvPr>
            <p:ph type="ftr" sz="quarter" idx="11"/>
          </p:nvPr>
        </p:nvSpPr>
        <p:spPr/>
        <p:txBody>
          <a:bodyPr/>
          <a:lstStyle/>
          <a:p>
            <a:endParaRPr lang="bg-BG"/>
          </a:p>
        </p:txBody>
      </p:sp>
      <p:sp>
        <p:nvSpPr>
          <p:cNvPr id="7" name="Slide Number Placeholder 6">
            <a:extLst>
              <a:ext uri="{FF2B5EF4-FFF2-40B4-BE49-F238E27FC236}">
                <a16:creationId xmlns:a16="http://schemas.microsoft.com/office/drawing/2014/main" id="{BD3E4E46-D0D4-7B70-BFA1-5C74AD503D67}"/>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694340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7F118-1134-A79D-B065-6C8E30CA17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bg-BG"/>
          </a:p>
        </p:txBody>
      </p:sp>
      <p:sp>
        <p:nvSpPr>
          <p:cNvPr id="3" name="Picture Placeholder 2">
            <a:extLst>
              <a:ext uri="{FF2B5EF4-FFF2-40B4-BE49-F238E27FC236}">
                <a16:creationId xmlns:a16="http://schemas.microsoft.com/office/drawing/2014/main" id="{1DBBB2FD-7F7E-007F-D4C4-3BFF78F916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bg-BG"/>
          </a:p>
        </p:txBody>
      </p:sp>
      <p:sp>
        <p:nvSpPr>
          <p:cNvPr id="4" name="Text Placeholder 3">
            <a:extLst>
              <a:ext uri="{FF2B5EF4-FFF2-40B4-BE49-F238E27FC236}">
                <a16:creationId xmlns:a16="http://schemas.microsoft.com/office/drawing/2014/main" id="{7F482957-A807-30F6-F7D4-9D6FD0A626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57903C-4621-D169-4D26-EC0B09D5EB08}"/>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6" name="Footer Placeholder 5">
            <a:extLst>
              <a:ext uri="{FF2B5EF4-FFF2-40B4-BE49-F238E27FC236}">
                <a16:creationId xmlns:a16="http://schemas.microsoft.com/office/drawing/2014/main" id="{789531F8-5F64-52B1-2D5D-F622CE79C2EB}"/>
              </a:ext>
            </a:extLst>
          </p:cNvPr>
          <p:cNvSpPr>
            <a:spLocks noGrp="1"/>
          </p:cNvSpPr>
          <p:nvPr>
            <p:ph type="ftr" sz="quarter" idx="11"/>
          </p:nvPr>
        </p:nvSpPr>
        <p:spPr/>
        <p:txBody>
          <a:bodyPr/>
          <a:lstStyle/>
          <a:p>
            <a:endParaRPr lang="bg-BG"/>
          </a:p>
        </p:txBody>
      </p:sp>
      <p:sp>
        <p:nvSpPr>
          <p:cNvPr id="7" name="Slide Number Placeholder 6">
            <a:extLst>
              <a:ext uri="{FF2B5EF4-FFF2-40B4-BE49-F238E27FC236}">
                <a16:creationId xmlns:a16="http://schemas.microsoft.com/office/drawing/2014/main" id="{2CA08BDB-094C-56CA-8089-F68CD5B3B420}"/>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3844894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CDA17-D5CC-781B-2E0B-A74E7B64C21C}"/>
              </a:ext>
            </a:extLst>
          </p:cNvPr>
          <p:cNvSpPr>
            <a:spLocks noGrp="1"/>
          </p:cNvSpPr>
          <p:nvPr>
            <p:ph type="title"/>
          </p:nvPr>
        </p:nvSpPr>
        <p:spPr/>
        <p:txBody>
          <a:bodyPr/>
          <a:lstStyle/>
          <a:p>
            <a:r>
              <a:rPr lang="en-US"/>
              <a:t>Click to edit Master title style</a:t>
            </a:r>
            <a:endParaRPr lang="bg-BG"/>
          </a:p>
        </p:txBody>
      </p:sp>
      <p:sp>
        <p:nvSpPr>
          <p:cNvPr id="3" name="Vertical Text Placeholder 2">
            <a:extLst>
              <a:ext uri="{FF2B5EF4-FFF2-40B4-BE49-F238E27FC236}">
                <a16:creationId xmlns:a16="http://schemas.microsoft.com/office/drawing/2014/main" id="{49B14EB5-9F27-FE98-04A5-54237AE926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0B0CD1D7-AACB-FCA4-EFA9-A60984C8E077}"/>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33F5F7C8-5DA2-09DF-DA42-302C035B4747}"/>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6A202C54-F5EF-62E5-28E1-082554B3896E}"/>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953519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EA93D6-85C1-89A3-4486-9B9376B727E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bg-BG"/>
          </a:p>
        </p:txBody>
      </p:sp>
      <p:sp>
        <p:nvSpPr>
          <p:cNvPr id="3" name="Vertical Text Placeholder 2">
            <a:extLst>
              <a:ext uri="{FF2B5EF4-FFF2-40B4-BE49-F238E27FC236}">
                <a16:creationId xmlns:a16="http://schemas.microsoft.com/office/drawing/2014/main" id="{5CB3E985-E40F-C71E-C8EA-E8F2A0EDF0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6ED3872F-C295-04D7-86CF-463884713DE7}"/>
              </a:ext>
            </a:extLst>
          </p:cNvPr>
          <p:cNvSpPr>
            <a:spLocks noGrp="1"/>
          </p:cNvSpPr>
          <p:nvPr>
            <p:ph type="dt" sz="half" idx="10"/>
          </p:nvPr>
        </p:nvSpPr>
        <p:spPr/>
        <p:txBody>
          <a:body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801E456C-10FE-0060-63E1-632AA2A10049}"/>
              </a:ext>
            </a:extLst>
          </p:cNvPr>
          <p:cNvSpPr>
            <a:spLocks noGrp="1"/>
          </p:cNvSpPr>
          <p:nvPr>
            <p:ph type="ftr" sz="quarter" idx="11"/>
          </p:nvPr>
        </p:nvSpPr>
        <p:spPr/>
        <p:txBody>
          <a:bodyPr/>
          <a:lstStyle/>
          <a:p>
            <a:endParaRPr lang="bg-BG"/>
          </a:p>
        </p:txBody>
      </p:sp>
      <p:sp>
        <p:nvSpPr>
          <p:cNvPr id="6" name="Slide Number Placeholder 5">
            <a:extLst>
              <a:ext uri="{FF2B5EF4-FFF2-40B4-BE49-F238E27FC236}">
                <a16:creationId xmlns:a16="http://schemas.microsoft.com/office/drawing/2014/main" id="{519FEC20-6A53-22A7-BC04-C1B09AC70935}"/>
              </a:ext>
            </a:extLst>
          </p:cNvPr>
          <p:cNvSpPr>
            <a:spLocks noGrp="1"/>
          </p:cNvSpPr>
          <p:nvPr>
            <p:ph type="sldNum" sz="quarter" idx="12"/>
          </p:nvPr>
        </p:nvSpPr>
        <p:spPr/>
        <p:txBody>
          <a:bodyPr/>
          <a:lstStyle/>
          <a:p>
            <a:fld id="{0DA861DE-F4EC-4562-8E30-41C286D1D3C4}" type="slidenum">
              <a:rPr lang="bg-BG" smtClean="0"/>
              <a:t>‹#›</a:t>
            </a:fld>
            <a:endParaRPr lang="bg-BG"/>
          </a:p>
        </p:txBody>
      </p:sp>
    </p:spTree>
    <p:extLst>
      <p:ext uri="{BB962C8B-B14F-4D97-AF65-F5344CB8AC3E}">
        <p14:creationId xmlns:p14="http://schemas.microsoft.com/office/powerpoint/2010/main" val="16913889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7072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C0663B-A1F4-B046-3D7D-37C8563A4A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bg-BG"/>
          </a:p>
        </p:txBody>
      </p:sp>
      <p:sp>
        <p:nvSpPr>
          <p:cNvPr id="3" name="Text Placeholder 2">
            <a:extLst>
              <a:ext uri="{FF2B5EF4-FFF2-40B4-BE49-F238E27FC236}">
                <a16:creationId xmlns:a16="http://schemas.microsoft.com/office/drawing/2014/main" id="{156E7252-316D-9AD5-007E-7EEC2D4EF9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4" name="Date Placeholder 3">
            <a:extLst>
              <a:ext uri="{FF2B5EF4-FFF2-40B4-BE49-F238E27FC236}">
                <a16:creationId xmlns:a16="http://schemas.microsoft.com/office/drawing/2014/main" id="{5F8D6571-82CF-FD0C-641E-F171E706C5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85FB64-19E4-4EC1-9AA3-76686029FE44}" type="datetimeFigureOut">
              <a:rPr lang="bg-BG" smtClean="0"/>
              <a:t>1.12.2025 г.</a:t>
            </a:fld>
            <a:endParaRPr lang="bg-BG"/>
          </a:p>
        </p:txBody>
      </p:sp>
      <p:sp>
        <p:nvSpPr>
          <p:cNvPr id="5" name="Footer Placeholder 4">
            <a:extLst>
              <a:ext uri="{FF2B5EF4-FFF2-40B4-BE49-F238E27FC236}">
                <a16:creationId xmlns:a16="http://schemas.microsoft.com/office/drawing/2014/main" id="{C2F82626-FDDF-2080-1BB8-7113BFF98B0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bg-BG"/>
          </a:p>
        </p:txBody>
      </p:sp>
      <p:sp>
        <p:nvSpPr>
          <p:cNvPr id="6" name="Slide Number Placeholder 5">
            <a:extLst>
              <a:ext uri="{FF2B5EF4-FFF2-40B4-BE49-F238E27FC236}">
                <a16:creationId xmlns:a16="http://schemas.microsoft.com/office/drawing/2014/main" id="{03807C58-44CB-09DA-C2C1-6265C52276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A861DE-F4EC-4562-8E30-41C286D1D3C4}" type="slidenum">
              <a:rPr lang="bg-BG" smtClean="0"/>
              <a:t>‹#›</a:t>
            </a:fld>
            <a:endParaRPr lang="bg-BG"/>
          </a:p>
        </p:txBody>
      </p:sp>
    </p:spTree>
    <p:extLst>
      <p:ext uri="{BB962C8B-B14F-4D97-AF65-F5344CB8AC3E}">
        <p14:creationId xmlns:p14="http://schemas.microsoft.com/office/powerpoint/2010/main" val="42046406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2"/>
          <p:cNvSpPr/>
          <p:nvPr/>
        </p:nvSpPr>
        <p:spPr>
          <a:xfrm>
            <a:off x="655454" y="5013000"/>
            <a:ext cx="9544425" cy="1079640"/>
          </a:xfrm>
          <a:prstGeom prst="rect">
            <a:avLst/>
          </a:prstGeom>
          <a:noFill/>
          <a:ln w="0">
            <a:noFill/>
          </a:ln>
        </p:spPr>
        <p:style>
          <a:lnRef idx="0">
            <a:scrgbClr r="0" g="0" b="0"/>
          </a:lnRef>
          <a:fillRef idx="0">
            <a:scrgbClr r="0" g="0" b="0"/>
          </a:fillRef>
          <a:effectRef idx="0">
            <a:scrgbClr r="0" g="0" b="0"/>
          </a:effectRef>
          <a:fontRef idx="minor"/>
        </p:style>
        <p:txBody>
          <a:bodyPr anchor="b">
            <a:normAutofit fontScale="92500"/>
          </a:bodyPr>
          <a:lstStyle/>
          <a:p>
            <a:pPr>
              <a:lnSpc>
                <a:spcPct val="90000"/>
              </a:lnSpc>
              <a:spcAft>
                <a:spcPts val="601"/>
              </a:spcAft>
            </a:pPr>
            <a:r>
              <a:rPr lang="bg-BG" sz="3200" spc="-1" dirty="0">
                <a:solidFill>
                  <a:srgbClr val="0038A8"/>
                </a:solidFill>
                <a:latin typeface="+mj-lt"/>
              </a:rPr>
              <a:t>Полеви транзистор</a:t>
            </a:r>
          </a:p>
          <a:p>
            <a:pPr>
              <a:lnSpc>
                <a:spcPct val="90000"/>
              </a:lnSpc>
              <a:spcAft>
                <a:spcPts val="601"/>
              </a:spcAft>
            </a:pPr>
            <a:r>
              <a:rPr lang="en-US" sz="3200" spc="-1" dirty="0">
                <a:solidFill>
                  <a:srgbClr val="0038A8"/>
                </a:solidFill>
                <a:latin typeface="+mj-lt"/>
              </a:rPr>
              <a:t>MOSFET - metal-oxide-semiconductor field-effect transistor</a:t>
            </a:r>
            <a:endParaRPr lang="ru-RU" sz="3200" b="0" strike="noStrike" spc="-1" dirty="0">
              <a:solidFill>
                <a:srgbClr val="0038A8"/>
              </a:solidFill>
              <a:latin typeface="+mj-lt"/>
            </a:endParaRPr>
          </a:p>
        </p:txBody>
      </p:sp>
      <p:pic>
        <p:nvPicPr>
          <p:cNvPr id="115" name="Picture 4"/>
          <p:cNvPicPr/>
          <p:nvPr/>
        </p:nvPicPr>
        <p:blipFill>
          <a:blip r:embed="rId2"/>
          <a:stretch/>
        </p:blipFill>
        <p:spPr>
          <a:xfrm>
            <a:off x="551520" y="275760"/>
            <a:ext cx="904680" cy="91404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6DAF93-7A92-5F2A-FFD1-2DE3F39293E9}"/>
              </a:ext>
            </a:extLst>
          </p:cNvPr>
          <p:cNvSpPr txBox="1"/>
          <p:nvPr/>
        </p:nvSpPr>
        <p:spPr>
          <a:xfrm>
            <a:off x="234265" y="2865519"/>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Тема: </a:t>
            </a:r>
            <a:r>
              <a:rPr lang="ru-RU" sz="2400" dirty="0">
                <a:solidFill>
                  <a:srgbClr val="0038A8"/>
                </a:solidFill>
                <a:latin typeface="+mj-lt"/>
                <a:cs typeface="Arial" panose="020B0604020202020204" pitchFamily="34" charset="0"/>
              </a:rPr>
              <a:t>Управление на MOSFET - Динамиката на превключването</a:t>
            </a:r>
            <a:endParaRPr lang="bg-BG" sz="2400" dirty="0">
              <a:solidFill>
                <a:srgbClr val="0038A8"/>
              </a:solidFill>
              <a:latin typeface="+mj-lt"/>
              <a:cs typeface="Arial" panose="020B0604020202020204" pitchFamily="34" charset="0"/>
            </a:endParaRPr>
          </a:p>
        </p:txBody>
      </p:sp>
    </p:spTree>
    <p:extLst>
      <p:ext uri="{BB962C8B-B14F-4D97-AF65-F5344CB8AC3E}">
        <p14:creationId xmlns:p14="http://schemas.microsoft.com/office/powerpoint/2010/main" val="3046515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612EA-E6C9-AB06-5AEA-278799926DE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4F5EFEE-8002-5C69-2C8A-A91424F9A105}"/>
              </a:ext>
            </a:extLst>
          </p:cNvPr>
          <p:cNvSpPr txBox="1"/>
          <p:nvPr/>
        </p:nvSpPr>
        <p:spPr>
          <a:xfrm>
            <a:off x="534076" y="1711465"/>
            <a:ext cx="10618792" cy="2031325"/>
          </a:xfrm>
          <a:prstGeom prst="rect">
            <a:avLst/>
          </a:prstGeom>
          <a:noFill/>
        </p:spPr>
        <p:txBody>
          <a:bodyPr wrap="square" rtlCol="0">
            <a:spAutoFit/>
          </a:bodyPr>
          <a:lstStyle/>
          <a:p>
            <a:pPr fontAlgn="base"/>
            <a:r>
              <a:rPr lang="bg-BG" sz="1400" dirty="0"/>
              <a:t>Резюме: На предишната лекция </a:t>
            </a:r>
            <a:r>
              <a:rPr lang="ru-RU" sz="1400" dirty="0"/>
              <a:t>установихме правилата за включено състояние на MOSFET. Знаем, че трябва да приложим напрежение, обикновено +10 V, към гейта, за да постигнем възможно най-ниския Rds(on) и да имаме ефективен ключ.</a:t>
            </a:r>
          </a:p>
          <a:p>
            <a:pPr fontAlgn="base"/>
            <a:endParaRPr lang="ru-RU" sz="1400" dirty="0"/>
          </a:p>
          <a:p>
            <a:pPr fontAlgn="base"/>
            <a:r>
              <a:rPr lang="ru-RU" sz="1400" dirty="0"/>
              <a:t>Новият проблем: Ние знаем, че гейтът е физически изолиран от силиция чрез слой стъкло (</a:t>
            </a:r>
            <a:r>
              <a:rPr lang="en-US" sz="1400" dirty="0"/>
              <a:t>SiO2)</a:t>
            </a:r>
            <a:r>
              <a:rPr lang="ru-RU" sz="1400" dirty="0"/>
              <a:t>. Това е кондензатор. Как се прилага напрежение към кондензатор? Не можете просто да </a:t>
            </a:r>
            <a:r>
              <a:rPr lang="bg-BG" sz="1400" dirty="0"/>
              <a:t>установите </a:t>
            </a:r>
            <a:r>
              <a:rPr lang="ru-RU" sz="1400" dirty="0"/>
              <a:t>10 V мигновено. Трябва да го </a:t>
            </a:r>
            <a:r>
              <a:rPr lang="ru-RU" sz="1400" b="1" dirty="0"/>
              <a:t>заредите</a:t>
            </a:r>
            <a:r>
              <a:rPr lang="ru-RU" sz="1400" dirty="0"/>
              <a:t>. Целият процес на включване и изключване на MOSFET е процес на зареждане и разреждане на този капацитет на гейта.</a:t>
            </a:r>
          </a:p>
          <a:p>
            <a:pPr fontAlgn="base"/>
            <a:endParaRPr lang="ru-RU" sz="1400" dirty="0"/>
          </a:p>
          <a:p>
            <a:pPr fontAlgn="base"/>
            <a:r>
              <a:rPr lang="ru-RU" sz="1400" dirty="0"/>
              <a:t>Скоростта, с която можем да направим това, определя загубите ни при превключване (</a:t>
            </a:r>
            <a:r>
              <a:rPr lang="de-DE" sz="1400" dirty="0" err="1"/>
              <a:t>switching</a:t>
            </a:r>
            <a:r>
              <a:rPr lang="de-DE" sz="1400" dirty="0"/>
              <a:t> </a:t>
            </a:r>
            <a:r>
              <a:rPr lang="de-DE" sz="1400" dirty="0" err="1"/>
              <a:t>losses</a:t>
            </a:r>
            <a:r>
              <a:rPr lang="bg-BG" sz="1400" dirty="0"/>
              <a:t>) </a:t>
            </a:r>
            <a:r>
              <a:rPr lang="ru-RU" sz="1400" dirty="0"/>
              <a:t>и ефективността на цялата ни система.</a:t>
            </a:r>
            <a:endParaRPr lang="en-US" sz="1400" dirty="0"/>
          </a:p>
        </p:txBody>
      </p:sp>
    </p:spTree>
    <p:extLst>
      <p:ext uri="{BB962C8B-B14F-4D97-AF65-F5344CB8AC3E}">
        <p14:creationId xmlns:p14="http://schemas.microsoft.com/office/powerpoint/2010/main" val="1230570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732EE-1B4D-F95A-FE3F-CCD9E0821C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724A99-3914-907C-128B-257A218017F5}"/>
              </a:ext>
            </a:extLst>
          </p:cNvPr>
          <p:cNvSpPr txBox="1"/>
          <p:nvPr/>
        </p:nvSpPr>
        <p:spPr>
          <a:xfrm>
            <a:off x="-24680" y="166825"/>
            <a:ext cx="12216680" cy="461665"/>
          </a:xfrm>
          <a:prstGeom prst="rect">
            <a:avLst/>
          </a:prstGeom>
          <a:noFill/>
        </p:spPr>
        <p:txBody>
          <a:bodyPr wrap="square">
            <a:spAutoFit/>
          </a:bodyPr>
          <a:lstStyle/>
          <a:p>
            <a:pPr algn="ctr"/>
            <a:r>
              <a:rPr lang="ru-RU" sz="2400" dirty="0">
                <a:solidFill>
                  <a:srgbClr val="0038A8"/>
                </a:solidFill>
                <a:latin typeface="+mj-lt"/>
                <a:cs typeface="Arial" panose="020B0604020202020204" pitchFamily="34" charset="0"/>
              </a:rPr>
              <a:t>Вътрешните капацитети</a:t>
            </a:r>
            <a:endParaRPr lang="bg-BG" sz="2400" dirty="0">
              <a:solidFill>
                <a:srgbClr val="0038A8"/>
              </a:solidFill>
              <a:latin typeface="+mj-lt"/>
              <a:cs typeface="Arial" panose="020B0604020202020204" pitchFamily="34" charset="0"/>
            </a:endParaRPr>
          </a:p>
        </p:txBody>
      </p:sp>
      <p:sp>
        <p:nvSpPr>
          <p:cNvPr id="3" name="TextBox 2">
            <a:extLst>
              <a:ext uri="{FF2B5EF4-FFF2-40B4-BE49-F238E27FC236}">
                <a16:creationId xmlns:a16="http://schemas.microsoft.com/office/drawing/2014/main" id="{F172CEA3-8919-C232-8027-EB7A4F91CA96}"/>
              </a:ext>
            </a:extLst>
          </p:cNvPr>
          <p:cNvSpPr txBox="1"/>
          <p:nvPr/>
        </p:nvSpPr>
        <p:spPr>
          <a:xfrm>
            <a:off x="457201" y="1412060"/>
            <a:ext cx="6044749" cy="2893100"/>
          </a:xfrm>
          <a:prstGeom prst="rect">
            <a:avLst/>
          </a:prstGeom>
          <a:noFill/>
        </p:spPr>
        <p:txBody>
          <a:bodyPr wrap="square" rtlCol="0">
            <a:spAutoFit/>
          </a:bodyPr>
          <a:lstStyle/>
          <a:p>
            <a:pPr fontAlgn="base"/>
            <a:r>
              <a:rPr lang="ru-RU" sz="1400" dirty="0"/>
              <a:t>Трите паразитни кондензатора:</a:t>
            </a:r>
          </a:p>
          <a:p>
            <a:pPr fontAlgn="base"/>
            <a:endParaRPr lang="ru-RU" sz="1400" dirty="0"/>
          </a:p>
          <a:p>
            <a:pPr fontAlgn="base"/>
            <a:r>
              <a:rPr lang="ru-RU" sz="1400" dirty="0"/>
              <a:t>Всеки MOSFET има три основни „паразитни“ капацитета, които са неизбежна последица от неговата физическа структура.</a:t>
            </a:r>
          </a:p>
          <a:p>
            <a:pPr fontAlgn="base"/>
            <a:endParaRPr lang="ru-RU" sz="1400" dirty="0"/>
          </a:p>
          <a:p>
            <a:pPr fontAlgn="base"/>
            <a:r>
              <a:rPr lang="ru-RU" sz="1400" dirty="0"/>
              <a:t>(Gate-to-Source): Най-ясният. Капацитетът на гейтовата пластина над сорсовата област.</a:t>
            </a:r>
          </a:p>
          <a:p>
            <a:pPr fontAlgn="base"/>
            <a:endParaRPr lang="ru-RU" sz="1400" dirty="0"/>
          </a:p>
          <a:p>
            <a:pPr fontAlgn="base"/>
            <a:r>
              <a:rPr lang="ru-RU" sz="1400" dirty="0"/>
              <a:t>(Drain-to-Source): Изходният капацитет. Влияе на високочестотните характеристики.</a:t>
            </a:r>
          </a:p>
          <a:p>
            <a:pPr fontAlgn="base"/>
            <a:endParaRPr lang="ru-RU" sz="1400" dirty="0"/>
          </a:p>
          <a:p>
            <a:pPr fontAlgn="base"/>
            <a:r>
              <a:rPr lang="ru-RU" sz="1400" dirty="0"/>
              <a:t>(Gate-to-Drain): Наричан още капацитет на Милър. Това е най-важният и най-проблемен, тъй като свързва входа (гейт) с изхода (дрейн).</a:t>
            </a:r>
            <a:endParaRPr lang="en-US" sz="1400" dirty="0"/>
          </a:p>
        </p:txBody>
      </p:sp>
      <p:sp>
        <p:nvSpPr>
          <p:cNvPr id="7" name="TextBox 6">
            <a:extLst>
              <a:ext uri="{FF2B5EF4-FFF2-40B4-BE49-F238E27FC236}">
                <a16:creationId xmlns:a16="http://schemas.microsoft.com/office/drawing/2014/main" id="{258C4A6A-DBC0-B9D2-D6F2-A0F9E586EABB}"/>
              </a:ext>
            </a:extLst>
          </p:cNvPr>
          <p:cNvSpPr txBox="1"/>
          <p:nvPr/>
        </p:nvSpPr>
        <p:spPr>
          <a:xfrm>
            <a:off x="8171944" y="6516628"/>
            <a:ext cx="3860912" cy="246221"/>
          </a:xfrm>
          <a:prstGeom prst="rect">
            <a:avLst/>
          </a:prstGeom>
          <a:noFill/>
        </p:spPr>
        <p:txBody>
          <a:bodyPr wrap="square">
            <a:spAutoFit/>
          </a:bodyPr>
          <a:lstStyle/>
          <a:p>
            <a:r>
              <a:rPr lang="de-DE" sz="1000" dirty="0"/>
              <a:t>https://toshiba.semicon-storage.com/info/docget.jsp?did=13415</a:t>
            </a:r>
            <a:endParaRPr lang="bg-BG" sz="1000" dirty="0"/>
          </a:p>
        </p:txBody>
      </p:sp>
      <p:pic>
        <p:nvPicPr>
          <p:cNvPr id="9" name="Picture 8">
            <a:extLst>
              <a:ext uri="{FF2B5EF4-FFF2-40B4-BE49-F238E27FC236}">
                <a16:creationId xmlns:a16="http://schemas.microsoft.com/office/drawing/2014/main" id="{A282E28F-C984-9BB4-4B59-F2F647E8A88A}"/>
              </a:ext>
            </a:extLst>
          </p:cNvPr>
          <p:cNvPicPr>
            <a:picLocks noChangeAspect="1"/>
          </p:cNvPicPr>
          <p:nvPr/>
        </p:nvPicPr>
        <p:blipFill>
          <a:blip r:embed="rId3"/>
          <a:stretch>
            <a:fillRect/>
          </a:stretch>
        </p:blipFill>
        <p:spPr>
          <a:xfrm>
            <a:off x="8171944" y="1251449"/>
            <a:ext cx="2915321" cy="2213172"/>
          </a:xfrm>
          <a:prstGeom prst="rect">
            <a:avLst/>
          </a:prstGeom>
        </p:spPr>
      </p:pic>
      <p:pic>
        <p:nvPicPr>
          <p:cNvPr id="11" name="Picture 10">
            <a:extLst>
              <a:ext uri="{FF2B5EF4-FFF2-40B4-BE49-F238E27FC236}">
                <a16:creationId xmlns:a16="http://schemas.microsoft.com/office/drawing/2014/main" id="{CC567F9D-FB2C-1770-A9A5-25F22F957097}"/>
              </a:ext>
            </a:extLst>
          </p:cNvPr>
          <p:cNvPicPr>
            <a:picLocks noChangeAspect="1"/>
          </p:cNvPicPr>
          <p:nvPr/>
        </p:nvPicPr>
        <p:blipFill>
          <a:blip r:embed="rId4"/>
          <a:stretch>
            <a:fillRect/>
          </a:stretch>
        </p:blipFill>
        <p:spPr>
          <a:xfrm>
            <a:off x="8929328" y="3690934"/>
            <a:ext cx="2172946" cy="2259319"/>
          </a:xfrm>
          <a:prstGeom prst="rect">
            <a:avLst/>
          </a:prstGeom>
        </p:spPr>
      </p:pic>
    </p:spTree>
    <p:extLst>
      <p:ext uri="{BB962C8B-B14F-4D97-AF65-F5344CB8AC3E}">
        <p14:creationId xmlns:p14="http://schemas.microsoft.com/office/powerpoint/2010/main" val="1748308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5C02E-9652-C9F1-91EC-9FE2F134B8C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B972F15-2522-D60C-0F2B-36CCE8C5E734}"/>
              </a:ext>
            </a:extLst>
          </p:cNvPr>
          <p:cNvSpPr txBox="1"/>
          <p:nvPr/>
        </p:nvSpPr>
        <p:spPr>
          <a:xfrm>
            <a:off x="-24680" y="166825"/>
            <a:ext cx="12216680" cy="461665"/>
          </a:xfrm>
          <a:prstGeom prst="rect">
            <a:avLst/>
          </a:prstGeom>
          <a:noFill/>
        </p:spPr>
        <p:txBody>
          <a:bodyPr wrap="square">
            <a:spAutoFit/>
          </a:bodyPr>
          <a:lstStyle/>
          <a:p>
            <a:pPr algn="ctr"/>
            <a:r>
              <a:rPr lang="ru-RU" sz="2400" dirty="0">
                <a:solidFill>
                  <a:srgbClr val="0038A8"/>
                </a:solidFill>
                <a:latin typeface="+mj-lt"/>
                <a:cs typeface="Arial" panose="020B0604020202020204" pitchFamily="34" charset="0"/>
              </a:rPr>
              <a:t>Графика на заряда на гейта</a:t>
            </a:r>
            <a:endParaRPr lang="bg-BG" sz="2400" dirty="0">
              <a:solidFill>
                <a:srgbClr val="0038A8"/>
              </a:solidFill>
              <a:latin typeface="+mj-lt"/>
              <a:cs typeface="Arial" panose="020B0604020202020204" pitchFamily="34" charset="0"/>
            </a:endParaRPr>
          </a:p>
        </p:txBody>
      </p:sp>
      <p:sp>
        <p:nvSpPr>
          <p:cNvPr id="3" name="TextBox 2">
            <a:extLst>
              <a:ext uri="{FF2B5EF4-FFF2-40B4-BE49-F238E27FC236}">
                <a16:creationId xmlns:a16="http://schemas.microsoft.com/office/drawing/2014/main" id="{2D6C0911-D549-C848-B10C-05136F895014}"/>
              </a:ext>
            </a:extLst>
          </p:cNvPr>
          <p:cNvSpPr txBox="1"/>
          <p:nvPr/>
        </p:nvSpPr>
        <p:spPr>
          <a:xfrm>
            <a:off x="352005" y="950395"/>
            <a:ext cx="6809447" cy="4832092"/>
          </a:xfrm>
          <a:prstGeom prst="rect">
            <a:avLst/>
          </a:prstGeom>
          <a:noFill/>
        </p:spPr>
        <p:txBody>
          <a:bodyPr wrap="square" rtlCol="0">
            <a:spAutoFit/>
          </a:bodyPr>
          <a:lstStyle/>
          <a:p>
            <a:pPr fontAlgn="base"/>
            <a:r>
              <a:rPr lang="ru-RU" sz="1400" dirty="0"/>
              <a:t>Техническите данни на </a:t>
            </a:r>
            <a:r>
              <a:rPr lang="en-US" sz="1400" dirty="0"/>
              <a:t>MOSFET </a:t>
            </a:r>
            <a:r>
              <a:rPr lang="bg-BG" sz="1400" dirty="0"/>
              <a:t>включват</a:t>
            </a:r>
            <a:r>
              <a:rPr lang="ru-RU" sz="1400" dirty="0"/>
              <a:t> графика, която ни показва как точно се включва транзистора. Това е кривата на заряда на гейта. Тя изобразява напрежението гейт-сорс (</a:t>
            </a:r>
            <a:r>
              <a:rPr lang="en-US" sz="1400" dirty="0"/>
              <a:t>U</a:t>
            </a:r>
            <a:r>
              <a:rPr lang="ru-RU" sz="1400" dirty="0"/>
              <a:t>gs) по оста y спрямо общия заряд (Q), който сме инжектирали в гейта по оста x.</a:t>
            </a:r>
          </a:p>
          <a:p>
            <a:pPr fontAlgn="base"/>
            <a:endParaRPr lang="ru-RU" sz="1400" dirty="0"/>
          </a:p>
          <a:p>
            <a:pPr fontAlgn="base"/>
            <a:r>
              <a:rPr lang="ru-RU" sz="1400" dirty="0"/>
              <a:t>Първоначално покачване: </a:t>
            </a:r>
            <a:endParaRPr lang="en-US" sz="1400" dirty="0"/>
          </a:p>
          <a:p>
            <a:pPr fontAlgn="base"/>
            <a:r>
              <a:rPr lang="ru-RU" sz="1400" dirty="0"/>
              <a:t>Първо, нашият драйвер подава ток за зареждане на Cgs. Напрежението на гейта се покачва, докато достигне праговото напрежение, </a:t>
            </a:r>
            <a:r>
              <a:rPr lang="en-US" sz="1400" dirty="0"/>
              <a:t>U</a:t>
            </a:r>
            <a:r>
              <a:rPr lang="ru-RU" sz="1400" dirty="0"/>
              <a:t>th.</a:t>
            </a:r>
          </a:p>
          <a:p>
            <a:pPr fontAlgn="base"/>
            <a:endParaRPr lang="en-US" sz="1400" dirty="0"/>
          </a:p>
          <a:p>
            <a:pPr fontAlgn="base"/>
            <a:r>
              <a:rPr lang="ru-RU" sz="1400" dirty="0"/>
              <a:t>Платото на Милър: </a:t>
            </a:r>
            <a:endParaRPr lang="en-US" sz="1400" dirty="0"/>
          </a:p>
          <a:p>
            <a:pPr fontAlgn="base"/>
            <a:r>
              <a:rPr lang="ru-RU" sz="1400" dirty="0"/>
              <a:t>Веднага щом </a:t>
            </a:r>
            <a:r>
              <a:rPr lang="en-US" sz="1400" dirty="0"/>
              <a:t>U</a:t>
            </a:r>
            <a:r>
              <a:rPr lang="ru-RU" sz="1400" dirty="0"/>
              <a:t>gs пресече </a:t>
            </a:r>
            <a:r>
              <a:rPr lang="en-US" sz="1400" dirty="0"/>
              <a:t>U</a:t>
            </a:r>
            <a:r>
              <a:rPr lang="ru-RU" sz="1400" dirty="0"/>
              <a:t>th, транзисторът започва да се включва и напрежението на дрейна </a:t>
            </a:r>
            <a:r>
              <a:rPr lang="en-US" sz="1400" dirty="0"/>
              <a:t>U</a:t>
            </a:r>
            <a:r>
              <a:rPr lang="ru-RU" sz="1400" dirty="0"/>
              <a:t>ds започва да пада. </a:t>
            </a:r>
            <a:r>
              <a:rPr lang="bg-BG" sz="1400" dirty="0"/>
              <a:t>Задейства се т.нар. </a:t>
            </a:r>
            <a:r>
              <a:rPr lang="ru-RU" sz="1400" dirty="0"/>
              <a:t>ефект на Милър. Малкият кондензатор Cgd изведнъж изглежда като огромен кондензатор за нашия драйвер. Целият ток на драйвера сега отива за зареждане на този „кондензатор на Милър“. Докато това се случва, напрежението на гейта остава постоянно – това е платото на графиката. Това е най-критичната част от прехода, където загубите при превключване са най-високи.</a:t>
            </a:r>
            <a:endParaRPr lang="en-US" sz="1400" dirty="0"/>
          </a:p>
          <a:p>
            <a:pPr fontAlgn="base"/>
            <a:endParaRPr lang="ru-RU" sz="1400" dirty="0"/>
          </a:p>
          <a:p>
            <a:pPr fontAlgn="base"/>
            <a:r>
              <a:rPr lang="ru-RU" sz="1400" dirty="0"/>
              <a:t>Финално покачване: </a:t>
            </a:r>
          </a:p>
          <a:p>
            <a:pPr fontAlgn="base"/>
            <a:r>
              <a:rPr lang="ru-RU" sz="1400" dirty="0"/>
              <a:t>След като напрежението на дрейна е напълно спаднало (ключът е напълно включен), ефектът на Милър изчезва. Драйверът вече може лесно да завърши зареждането на Cgs от напрежението на платото до крайната ни цел от +10V.</a:t>
            </a:r>
            <a:endParaRPr lang="en-US" sz="1400" dirty="0"/>
          </a:p>
        </p:txBody>
      </p:sp>
      <p:sp>
        <p:nvSpPr>
          <p:cNvPr id="8" name="TextBox 7">
            <a:extLst>
              <a:ext uri="{FF2B5EF4-FFF2-40B4-BE49-F238E27FC236}">
                <a16:creationId xmlns:a16="http://schemas.microsoft.com/office/drawing/2014/main" id="{398DB5EE-3AEA-1208-7D4D-9D69C5B62E40}"/>
              </a:ext>
            </a:extLst>
          </p:cNvPr>
          <p:cNvSpPr txBox="1"/>
          <p:nvPr/>
        </p:nvSpPr>
        <p:spPr>
          <a:xfrm>
            <a:off x="10823435" y="5088952"/>
            <a:ext cx="1368565" cy="246221"/>
          </a:xfrm>
          <a:prstGeom prst="rect">
            <a:avLst/>
          </a:prstGeom>
          <a:noFill/>
        </p:spPr>
        <p:txBody>
          <a:bodyPr wrap="square">
            <a:spAutoFit/>
          </a:bodyPr>
          <a:lstStyle/>
          <a:p>
            <a:r>
              <a:rPr lang="de-DE" sz="1000" dirty="0"/>
              <a:t>IRF540N</a:t>
            </a:r>
            <a:endParaRPr lang="bg-BG" sz="1000" dirty="0"/>
          </a:p>
        </p:txBody>
      </p:sp>
      <p:pic>
        <p:nvPicPr>
          <p:cNvPr id="12" name="Picture 11">
            <a:extLst>
              <a:ext uri="{FF2B5EF4-FFF2-40B4-BE49-F238E27FC236}">
                <a16:creationId xmlns:a16="http://schemas.microsoft.com/office/drawing/2014/main" id="{77A1FC97-0CF0-41BE-92E0-C0203EC7A20C}"/>
              </a:ext>
            </a:extLst>
          </p:cNvPr>
          <p:cNvPicPr>
            <a:picLocks noChangeAspect="1"/>
          </p:cNvPicPr>
          <p:nvPr/>
        </p:nvPicPr>
        <p:blipFill>
          <a:blip r:embed="rId3"/>
          <a:stretch>
            <a:fillRect/>
          </a:stretch>
        </p:blipFill>
        <p:spPr>
          <a:xfrm>
            <a:off x="7560584" y="1278541"/>
            <a:ext cx="3890133" cy="3799211"/>
          </a:xfrm>
          <a:prstGeom prst="rect">
            <a:avLst/>
          </a:prstGeom>
        </p:spPr>
      </p:pic>
      <p:sp>
        <p:nvSpPr>
          <p:cNvPr id="14" name="TextBox 13">
            <a:extLst>
              <a:ext uri="{FF2B5EF4-FFF2-40B4-BE49-F238E27FC236}">
                <a16:creationId xmlns:a16="http://schemas.microsoft.com/office/drawing/2014/main" id="{79DBF43C-2710-9B0C-5D37-99AB8076FFD0}"/>
              </a:ext>
            </a:extLst>
          </p:cNvPr>
          <p:cNvSpPr txBox="1"/>
          <p:nvPr/>
        </p:nvSpPr>
        <p:spPr>
          <a:xfrm>
            <a:off x="352005" y="5921734"/>
            <a:ext cx="11365262" cy="523220"/>
          </a:xfrm>
          <a:prstGeom prst="rect">
            <a:avLst/>
          </a:prstGeom>
          <a:noFill/>
        </p:spPr>
        <p:txBody>
          <a:bodyPr wrap="square">
            <a:spAutoFit/>
          </a:bodyPr>
          <a:lstStyle/>
          <a:p>
            <a:r>
              <a:rPr lang="bg-BG" sz="1400" dirty="0"/>
              <a:t>Общият заряд, необходим за цялото това пътуване, е общият заряд на гейта измерен в нанокулони (nC). Това е ключов показател. По-ниският Qg означава по-бързо и по-ефективно превключване.</a:t>
            </a:r>
          </a:p>
        </p:txBody>
      </p:sp>
    </p:spTree>
    <p:extLst>
      <p:ext uri="{BB962C8B-B14F-4D97-AF65-F5344CB8AC3E}">
        <p14:creationId xmlns:p14="http://schemas.microsoft.com/office/powerpoint/2010/main" val="2208204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11FC0-5F0F-23FC-4032-FB53441819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63C6DC-571C-1E8C-9A36-9D8682A5330F}"/>
              </a:ext>
            </a:extLst>
          </p:cNvPr>
          <p:cNvSpPr txBox="1"/>
          <p:nvPr/>
        </p:nvSpPr>
        <p:spPr>
          <a:xfrm>
            <a:off x="-24680" y="166825"/>
            <a:ext cx="12216680" cy="461665"/>
          </a:xfrm>
          <a:prstGeom prst="rect">
            <a:avLst/>
          </a:prstGeom>
          <a:noFill/>
        </p:spPr>
        <p:txBody>
          <a:bodyPr wrap="square">
            <a:spAutoFit/>
          </a:bodyPr>
          <a:lstStyle/>
          <a:p>
            <a:pPr algn="ctr"/>
            <a:r>
              <a:rPr lang="en-US" sz="2400" dirty="0">
                <a:solidFill>
                  <a:srgbClr val="0038A8"/>
                </a:solidFill>
                <a:latin typeface="+mj-lt"/>
                <a:cs typeface="Arial" panose="020B0604020202020204" pitchFamily="34" charset="0"/>
              </a:rPr>
              <a:t>The Miller Effect</a:t>
            </a:r>
            <a:endParaRPr lang="bg-BG" sz="2400" dirty="0">
              <a:solidFill>
                <a:srgbClr val="0038A8"/>
              </a:solidFill>
              <a:latin typeface="+mj-lt"/>
              <a:cs typeface="Arial" panose="020B0604020202020204" pitchFamily="34" charset="0"/>
            </a:endParaRPr>
          </a:p>
        </p:txBody>
      </p:sp>
      <p:sp>
        <p:nvSpPr>
          <p:cNvPr id="3" name="TextBox 2">
            <a:extLst>
              <a:ext uri="{FF2B5EF4-FFF2-40B4-BE49-F238E27FC236}">
                <a16:creationId xmlns:a16="http://schemas.microsoft.com/office/drawing/2014/main" id="{50089890-5C32-65CA-822B-271316CCD36A}"/>
              </a:ext>
            </a:extLst>
          </p:cNvPr>
          <p:cNvSpPr txBox="1"/>
          <p:nvPr/>
        </p:nvSpPr>
        <p:spPr>
          <a:xfrm>
            <a:off x="352005" y="950395"/>
            <a:ext cx="8800087" cy="523220"/>
          </a:xfrm>
          <a:prstGeom prst="rect">
            <a:avLst/>
          </a:prstGeom>
          <a:noFill/>
        </p:spPr>
        <p:txBody>
          <a:bodyPr wrap="square" rtlCol="0">
            <a:spAutoFit/>
          </a:bodyPr>
          <a:lstStyle/>
          <a:p>
            <a:pPr fontAlgn="base"/>
            <a:r>
              <a:rPr lang="ru-RU" sz="1400" dirty="0"/>
              <a:t>Ефектът на Милър описва какво се случва, когато имате </a:t>
            </a:r>
            <a:r>
              <a:rPr lang="bg-BG" sz="1400" dirty="0"/>
              <a:t>импеданс</a:t>
            </a:r>
            <a:r>
              <a:rPr lang="ru-RU" sz="1400" dirty="0"/>
              <a:t>, свързан между входа и инвертиращия изход на усилвател.</a:t>
            </a:r>
          </a:p>
        </p:txBody>
      </p:sp>
      <p:sp>
        <p:nvSpPr>
          <p:cNvPr id="14" name="TextBox 13">
            <a:extLst>
              <a:ext uri="{FF2B5EF4-FFF2-40B4-BE49-F238E27FC236}">
                <a16:creationId xmlns:a16="http://schemas.microsoft.com/office/drawing/2014/main" id="{C186D098-BF18-BE07-7E4E-B08B3A02DA1C}"/>
              </a:ext>
            </a:extLst>
          </p:cNvPr>
          <p:cNvSpPr txBox="1"/>
          <p:nvPr/>
        </p:nvSpPr>
        <p:spPr>
          <a:xfrm>
            <a:off x="9645705" y="2895312"/>
            <a:ext cx="2370967" cy="1938992"/>
          </a:xfrm>
          <a:prstGeom prst="rect">
            <a:avLst/>
          </a:prstGeom>
          <a:noFill/>
        </p:spPr>
        <p:txBody>
          <a:bodyPr wrap="square">
            <a:spAutoFit/>
          </a:bodyPr>
          <a:lstStyle/>
          <a:p>
            <a:r>
              <a:rPr lang="ru-RU" sz="1200" dirty="0"/>
              <a:t>Този ​​ефект е кръстен на американския инженер </a:t>
            </a:r>
            <a:r>
              <a:rPr lang="de-DE" sz="1200" dirty="0"/>
              <a:t>John Milton Miller</a:t>
            </a:r>
            <a:r>
              <a:rPr lang="ru-RU" sz="1200" dirty="0"/>
              <a:t>, който го е открил през 1920 г., докато е работил с усилватели с вакуумни лампи. Това е още един пример за това как „старите“ принципи на електрониката са все още актуални за най-модерните ни устройства.</a:t>
            </a:r>
            <a:endParaRPr lang="bg-BG" sz="1200" dirty="0"/>
          </a:p>
        </p:txBody>
      </p:sp>
      <p:pic>
        <p:nvPicPr>
          <p:cNvPr id="1026" name="Picture 2" descr="undefined">
            <a:extLst>
              <a:ext uri="{FF2B5EF4-FFF2-40B4-BE49-F238E27FC236}">
                <a16:creationId xmlns:a16="http://schemas.microsoft.com/office/drawing/2014/main" id="{F2089B64-5D6F-5662-CF03-F285400AB9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6827" y="397709"/>
            <a:ext cx="1728830" cy="233757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B297C62-C261-86E2-C525-A39EEC03B1CD}"/>
              </a:ext>
            </a:extLst>
          </p:cNvPr>
          <p:cNvSpPr txBox="1"/>
          <p:nvPr/>
        </p:nvSpPr>
        <p:spPr>
          <a:xfrm>
            <a:off x="175328" y="3760004"/>
            <a:ext cx="8624760" cy="523220"/>
          </a:xfrm>
          <a:prstGeom prst="rect">
            <a:avLst/>
          </a:prstGeom>
          <a:noFill/>
        </p:spPr>
        <p:txBody>
          <a:bodyPr wrap="square">
            <a:spAutoFit/>
          </a:bodyPr>
          <a:lstStyle/>
          <a:p>
            <a:pPr fontAlgn="base"/>
            <a:r>
              <a:rPr lang="ru-RU" sz="1400" dirty="0"/>
              <a:t>По този начин резистор или индукт</a:t>
            </a:r>
            <a:r>
              <a:rPr lang="bg-BG" sz="1400" dirty="0"/>
              <a:t>ивност</a:t>
            </a:r>
            <a:r>
              <a:rPr lang="ru-RU" sz="1400" dirty="0"/>
              <a:t>, свързани от входа към изхода, ще изглеждат (1+A) пъти по-малки (както се вижда от входния терминал), а кондензатор ще изглежда (1 + A) пъти по-гол</a:t>
            </a:r>
            <a:r>
              <a:rPr lang="bg-BG" sz="1400" dirty="0"/>
              <a:t>ям</a:t>
            </a:r>
            <a:r>
              <a:rPr lang="ru-RU" sz="1400" dirty="0"/>
              <a:t>.</a:t>
            </a:r>
            <a:endParaRPr lang="en-US" sz="1400" dirty="0"/>
          </a:p>
        </p:txBody>
      </p:sp>
      <p:pic>
        <p:nvPicPr>
          <p:cNvPr id="10" name="Picture 9">
            <a:extLst>
              <a:ext uri="{FF2B5EF4-FFF2-40B4-BE49-F238E27FC236}">
                <a16:creationId xmlns:a16="http://schemas.microsoft.com/office/drawing/2014/main" id="{1E5449A2-411F-32B2-AD12-CF6FA0EE85A8}"/>
              </a:ext>
            </a:extLst>
          </p:cNvPr>
          <p:cNvPicPr>
            <a:picLocks noChangeAspect="1"/>
          </p:cNvPicPr>
          <p:nvPr/>
        </p:nvPicPr>
        <p:blipFill>
          <a:blip r:embed="rId4"/>
          <a:stretch>
            <a:fillRect/>
          </a:stretch>
        </p:blipFill>
        <p:spPr>
          <a:xfrm>
            <a:off x="313353" y="1728124"/>
            <a:ext cx="2845979" cy="1369872"/>
          </a:xfrm>
          <a:prstGeom prst="rect">
            <a:avLst/>
          </a:prstGeom>
        </p:spPr>
      </p:pic>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693FA4A9-72C4-F947-ADB7-851E03434212}"/>
                  </a:ext>
                </a:extLst>
              </p:cNvPr>
              <p:cNvSpPr txBox="1"/>
              <p:nvPr/>
            </p:nvSpPr>
            <p:spPr>
              <a:xfrm>
                <a:off x="4686216" y="1486038"/>
                <a:ext cx="2920297" cy="714683"/>
              </a:xfrm>
              <a:prstGeom prst="rect">
                <a:avLst/>
              </a:prstGeom>
              <a:noFill/>
            </p:spPr>
            <p:txBody>
              <a:bodyPr wrap="square">
                <a:spAutoFit/>
              </a:bodyPr>
              <a:lstStyle/>
              <a:p>
                <a14:m>
                  <m:oMathPara xmlns:m="http://schemas.openxmlformats.org/officeDocument/2006/math">
                    <m:oMathParaPr>
                      <m:jc m:val="centerGroup"/>
                    </m:oMathParaPr>
                    <m:oMath xmlns:m="http://schemas.openxmlformats.org/officeDocument/2006/math">
                      <m:sSub>
                        <m:sSubPr>
                          <m:ctrlPr>
                            <a:rPr lang="de-DE"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sub>
                      </m:sSub>
                      <m:r>
                        <a:rPr lang="de-DE" i="1" smtClean="0">
                          <a:latin typeface="Cambria Math" panose="02040503050406030204" pitchFamily="18" charset="0"/>
                        </a:rPr>
                        <m:t>=</m:t>
                      </m:r>
                      <m:f>
                        <m:fPr>
                          <m:ctrlPr>
                            <a:rPr lang="de-DE" i="1" smtClean="0">
                              <a:latin typeface="Cambria Math" panose="02040503050406030204" pitchFamily="18" charset="0"/>
                            </a:rPr>
                          </m:ctrlPr>
                        </m:fPr>
                        <m:num>
                          <m:sSub>
                            <m:sSubPr>
                              <m:ctrlPr>
                                <a:rPr lang="de-DE"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𝑜</m:t>
                              </m:r>
                            </m:sub>
                          </m:sSub>
                        </m:num>
                        <m:den>
                          <m:r>
                            <a:rPr lang="en-US" b="0" i="1" smtClean="0">
                              <a:latin typeface="Cambria Math" panose="02040503050406030204" pitchFamily="18" charset="0"/>
                            </a:rPr>
                            <m:t>𝑍</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r>
                                <a:rPr lang="en-US" b="0" i="1" smtClean="0">
                                  <a:latin typeface="Cambria Math" panose="02040503050406030204" pitchFamily="18" charset="0"/>
                                </a:rPr>
                                <m:t>𝐴</m:t>
                              </m:r>
                            </m:num>
                            <m:den>
                              <m:r>
                                <a:rPr lang="en-US" b="0" i="1" smtClean="0">
                                  <a:latin typeface="Cambria Math" panose="02040503050406030204" pitchFamily="18" charset="0"/>
                                </a:rPr>
                                <m:t>𝑍</m:t>
                              </m:r>
                            </m:den>
                          </m:f>
                        </m:e>
                      </m:d>
                    </m:oMath>
                  </m:oMathPara>
                </a14:m>
                <a:endParaRPr lang="bg-BG" dirty="0"/>
              </a:p>
            </p:txBody>
          </p:sp>
        </mc:Choice>
        <mc:Fallback>
          <p:sp>
            <p:nvSpPr>
              <p:cNvPr id="15" name="TextBox 14">
                <a:extLst>
                  <a:ext uri="{FF2B5EF4-FFF2-40B4-BE49-F238E27FC236}">
                    <a16:creationId xmlns:a16="http://schemas.microsoft.com/office/drawing/2014/main" id="{693FA4A9-72C4-F947-ADB7-851E03434212}"/>
                  </a:ext>
                </a:extLst>
              </p:cNvPr>
              <p:cNvSpPr txBox="1">
                <a:spLocks noRot="1" noChangeAspect="1" noMove="1" noResize="1" noEditPoints="1" noAdjustHandles="1" noChangeArrowheads="1" noChangeShapeType="1" noTextEdit="1"/>
              </p:cNvSpPr>
              <p:nvPr/>
            </p:nvSpPr>
            <p:spPr>
              <a:xfrm>
                <a:off x="4686216" y="1486038"/>
                <a:ext cx="2920297" cy="714683"/>
              </a:xfrm>
              <a:prstGeom prst="rect">
                <a:avLst/>
              </a:prstGeom>
              <a:blipFill>
                <a:blip r:embed="rId5"/>
                <a:stretch>
                  <a:fillRect/>
                </a:stretch>
              </a:blipFill>
            </p:spPr>
            <p:txBody>
              <a:bodyPr/>
              <a:lstStyle/>
              <a:p>
                <a:r>
                  <a:rPr lang="bg-BG">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A2C9498C-6DAA-4183-E8A9-82976FDF7A2A}"/>
                  </a:ext>
                </a:extLst>
              </p:cNvPr>
              <p:cNvSpPr txBox="1"/>
              <p:nvPr/>
            </p:nvSpPr>
            <p:spPr>
              <a:xfrm>
                <a:off x="4853199" y="2349468"/>
                <a:ext cx="1730795" cy="565411"/>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bg-BG"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𝑖</m:t>
                              </m:r>
                            </m:sub>
                          </m:sSub>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𝑖</m:t>
                              </m:r>
                            </m:sub>
                          </m:sSub>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𝑍</m:t>
                          </m:r>
                        </m:num>
                        <m:den>
                          <m:r>
                            <a:rPr lang="en-US" b="0" i="1" smtClean="0">
                              <a:latin typeface="Cambria Math" panose="02040503050406030204" pitchFamily="18" charset="0"/>
                            </a:rPr>
                            <m:t>1+</m:t>
                          </m:r>
                          <m:r>
                            <a:rPr lang="en-US" b="0" i="1" smtClean="0">
                              <a:latin typeface="Cambria Math" panose="02040503050406030204" pitchFamily="18" charset="0"/>
                            </a:rPr>
                            <m:t>𝐴</m:t>
                          </m:r>
                        </m:den>
                      </m:f>
                    </m:oMath>
                  </m:oMathPara>
                </a14:m>
                <a:endParaRPr lang="bg-BG" dirty="0"/>
              </a:p>
            </p:txBody>
          </p:sp>
        </mc:Choice>
        <mc:Fallback>
          <p:sp>
            <p:nvSpPr>
              <p:cNvPr id="16" name="TextBox 15">
                <a:extLst>
                  <a:ext uri="{FF2B5EF4-FFF2-40B4-BE49-F238E27FC236}">
                    <a16:creationId xmlns:a16="http://schemas.microsoft.com/office/drawing/2014/main" id="{A2C9498C-6DAA-4183-E8A9-82976FDF7A2A}"/>
                  </a:ext>
                </a:extLst>
              </p:cNvPr>
              <p:cNvSpPr txBox="1">
                <a:spLocks noRot="1" noChangeAspect="1" noMove="1" noResize="1" noEditPoints="1" noAdjustHandles="1" noChangeArrowheads="1" noChangeShapeType="1" noTextEdit="1"/>
              </p:cNvSpPr>
              <p:nvPr/>
            </p:nvSpPr>
            <p:spPr>
              <a:xfrm>
                <a:off x="4853199" y="2349468"/>
                <a:ext cx="1730795" cy="565411"/>
              </a:xfrm>
              <a:prstGeom prst="rect">
                <a:avLst/>
              </a:prstGeom>
              <a:blipFill>
                <a:blip r:embed="rId6"/>
                <a:stretch>
                  <a:fillRect/>
                </a:stretch>
              </a:blipFill>
            </p:spPr>
            <p:txBody>
              <a:bodyPr/>
              <a:lstStyle/>
              <a:p>
                <a:r>
                  <a:rPr lang="bg-BG">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7879CB30-FE09-62F9-DA96-428795D06F4C}"/>
                  </a:ext>
                </a:extLst>
              </p:cNvPr>
              <p:cNvSpPr txBox="1"/>
              <p:nvPr/>
            </p:nvSpPr>
            <p:spPr>
              <a:xfrm>
                <a:off x="1792228" y="5413408"/>
                <a:ext cx="2654060" cy="523157"/>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bg-BG"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𝑖𝑛</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𝐶</m:t>
                              </m:r>
                            </m:sub>
                          </m:sSub>
                        </m:num>
                        <m:den>
                          <m:r>
                            <a:rPr lang="en-US" b="0" i="1" smtClean="0">
                              <a:latin typeface="Cambria Math" panose="02040503050406030204" pitchFamily="18" charset="0"/>
                            </a:rPr>
                            <m:t>1+</m:t>
                          </m:r>
                          <m:r>
                            <a:rPr lang="en-US" b="0" i="1" smtClean="0">
                              <a:latin typeface="Cambria Math" panose="02040503050406030204" pitchFamily="18" charset="0"/>
                            </a:rPr>
                            <m:t>𝐴</m:t>
                          </m:r>
                        </m:den>
                      </m:f>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𝐶</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oMath>
                  </m:oMathPara>
                </a14:m>
                <a:endParaRPr lang="bg-BG" dirty="0"/>
              </a:p>
            </p:txBody>
          </p:sp>
        </mc:Choice>
        <mc:Fallback>
          <p:sp>
            <p:nvSpPr>
              <p:cNvPr id="17" name="TextBox 16">
                <a:extLst>
                  <a:ext uri="{FF2B5EF4-FFF2-40B4-BE49-F238E27FC236}">
                    <a16:creationId xmlns:a16="http://schemas.microsoft.com/office/drawing/2014/main" id="{7879CB30-FE09-62F9-DA96-428795D06F4C}"/>
                  </a:ext>
                </a:extLst>
              </p:cNvPr>
              <p:cNvSpPr txBox="1">
                <a:spLocks noRot="1" noChangeAspect="1" noMove="1" noResize="1" noEditPoints="1" noAdjustHandles="1" noChangeArrowheads="1" noChangeShapeType="1" noTextEdit="1"/>
              </p:cNvSpPr>
              <p:nvPr/>
            </p:nvSpPr>
            <p:spPr>
              <a:xfrm>
                <a:off x="1792228" y="5413408"/>
                <a:ext cx="2654060" cy="523157"/>
              </a:xfrm>
              <a:prstGeom prst="rect">
                <a:avLst/>
              </a:prstGeom>
              <a:blipFill>
                <a:blip r:embed="rId7"/>
                <a:stretch>
                  <a:fillRect/>
                </a:stretch>
              </a:blipFill>
            </p:spPr>
            <p:txBody>
              <a:bodyPr/>
              <a:lstStyle/>
              <a:p>
                <a:r>
                  <a:rPr lang="bg-BG">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35067EC0-B653-5CBB-66D1-3D8527DEB71D}"/>
                  </a:ext>
                </a:extLst>
              </p:cNvPr>
              <p:cNvSpPr txBox="1"/>
              <p:nvPr/>
            </p:nvSpPr>
            <p:spPr>
              <a:xfrm>
                <a:off x="3065375" y="4459159"/>
                <a:ext cx="994952" cy="568938"/>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bg-BG"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𝐶</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i="1">
                              <a:latin typeface="Cambria Math" panose="02040503050406030204" pitchFamily="18" charset="0"/>
                            </a:rPr>
                            <m:t>𝑗</m:t>
                          </m:r>
                          <m:r>
                            <a:rPr lang="en-US" i="1">
                              <a:latin typeface="Cambria Math" panose="02040503050406030204" pitchFamily="18" charset="0"/>
                              <a:ea typeface="Cambria Math" panose="02040503050406030204" pitchFamily="18" charset="0"/>
                            </a:rPr>
                            <m:t>𝜔</m:t>
                          </m:r>
                          <m:r>
                            <a:rPr lang="en-US" i="1">
                              <a:latin typeface="Cambria Math" panose="02040503050406030204" pitchFamily="18" charset="0"/>
                              <a:ea typeface="Cambria Math" panose="02040503050406030204" pitchFamily="18" charset="0"/>
                            </a:rPr>
                            <m:t>𝐶</m:t>
                          </m:r>
                        </m:den>
                      </m:f>
                    </m:oMath>
                  </m:oMathPara>
                </a14:m>
                <a:endParaRPr lang="bg-BG" dirty="0"/>
              </a:p>
            </p:txBody>
          </p:sp>
        </mc:Choice>
        <mc:Fallback>
          <p:sp>
            <p:nvSpPr>
              <p:cNvPr id="18" name="TextBox 17">
                <a:extLst>
                  <a:ext uri="{FF2B5EF4-FFF2-40B4-BE49-F238E27FC236}">
                    <a16:creationId xmlns:a16="http://schemas.microsoft.com/office/drawing/2014/main" id="{35067EC0-B653-5CBB-66D1-3D8527DEB71D}"/>
                  </a:ext>
                </a:extLst>
              </p:cNvPr>
              <p:cNvSpPr txBox="1">
                <a:spLocks noRot="1" noChangeAspect="1" noMove="1" noResize="1" noEditPoints="1" noAdjustHandles="1" noChangeArrowheads="1" noChangeShapeType="1" noTextEdit="1"/>
              </p:cNvSpPr>
              <p:nvPr/>
            </p:nvSpPr>
            <p:spPr>
              <a:xfrm>
                <a:off x="3065375" y="4459159"/>
                <a:ext cx="994952" cy="568938"/>
              </a:xfrm>
              <a:prstGeom prst="rect">
                <a:avLst/>
              </a:prstGeom>
              <a:blipFill>
                <a:blip r:embed="rId8"/>
                <a:stretch>
                  <a:fillRect/>
                </a:stretch>
              </a:blipFill>
            </p:spPr>
            <p:txBody>
              <a:bodyPr/>
              <a:lstStyle/>
              <a:p>
                <a:r>
                  <a:rPr lang="bg-BG">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4F60120D-1E61-051E-2376-5A0512B77561}"/>
                  </a:ext>
                </a:extLst>
              </p:cNvPr>
              <p:cNvSpPr txBox="1"/>
              <p:nvPr/>
            </p:nvSpPr>
            <p:spPr>
              <a:xfrm>
                <a:off x="1459105" y="4605129"/>
                <a:ext cx="961032"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bg-BG"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𝐿</m:t>
                          </m:r>
                        </m:sub>
                      </m:sSub>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𝐿</m:t>
                      </m:r>
                    </m:oMath>
                  </m:oMathPara>
                </a14:m>
                <a:endParaRPr lang="bg-BG" dirty="0"/>
              </a:p>
            </p:txBody>
          </p:sp>
        </mc:Choice>
        <mc:Fallback>
          <p:sp>
            <p:nvSpPr>
              <p:cNvPr id="19" name="TextBox 18">
                <a:extLst>
                  <a:ext uri="{FF2B5EF4-FFF2-40B4-BE49-F238E27FC236}">
                    <a16:creationId xmlns:a16="http://schemas.microsoft.com/office/drawing/2014/main" id="{4F60120D-1E61-051E-2376-5A0512B77561}"/>
                  </a:ext>
                </a:extLst>
              </p:cNvPr>
              <p:cNvSpPr txBox="1">
                <a:spLocks noRot="1" noChangeAspect="1" noMove="1" noResize="1" noEditPoints="1" noAdjustHandles="1" noChangeArrowheads="1" noChangeShapeType="1" noTextEdit="1"/>
              </p:cNvSpPr>
              <p:nvPr/>
            </p:nvSpPr>
            <p:spPr>
              <a:xfrm>
                <a:off x="1459105" y="4605129"/>
                <a:ext cx="961032" cy="276999"/>
              </a:xfrm>
              <a:prstGeom prst="rect">
                <a:avLst/>
              </a:prstGeom>
              <a:blipFill>
                <a:blip r:embed="rId9"/>
                <a:stretch>
                  <a:fillRect l="-5696" t="-2174" r="-5696" b="-32609"/>
                </a:stretch>
              </a:blipFill>
            </p:spPr>
            <p:txBody>
              <a:bodyPr/>
              <a:lstStyle/>
              <a:p>
                <a:r>
                  <a:rPr lang="bg-BG">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BD39B632-18A7-8A64-5021-D04273DA8EDA}"/>
                  </a:ext>
                </a:extLst>
              </p:cNvPr>
              <p:cNvSpPr txBox="1"/>
              <p:nvPr/>
            </p:nvSpPr>
            <p:spPr>
              <a:xfrm>
                <a:off x="4474794" y="4605129"/>
                <a:ext cx="756810" cy="2769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bg-BG" i="1" smtClean="0">
                              <a:latin typeface="Cambria Math" panose="02040503050406030204" pitchFamily="18" charset="0"/>
                            </a:rPr>
                          </m:ctrlPr>
                        </m:sSubPr>
                        <m:e>
                          <m:r>
                            <a:rPr lang="en-US" b="0" i="1" smtClean="0">
                              <a:latin typeface="Cambria Math" panose="02040503050406030204" pitchFamily="18" charset="0"/>
                            </a:rPr>
                            <m:t>𝑍</m:t>
                          </m:r>
                        </m:e>
                        <m:sub>
                          <m:r>
                            <a:rPr lang="en-US" b="0" i="1" smtClean="0">
                              <a:latin typeface="Cambria Math" panose="02040503050406030204" pitchFamily="18" charset="0"/>
                            </a:rPr>
                            <m:t>𝑅</m:t>
                          </m:r>
                        </m:sub>
                      </m:sSub>
                      <m:r>
                        <a:rPr lang="en-US" b="0" i="1" smtClean="0">
                          <a:latin typeface="Cambria Math" panose="02040503050406030204" pitchFamily="18" charset="0"/>
                        </a:rPr>
                        <m:t>=</m:t>
                      </m:r>
                      <m:r>
                        <a:rPr lang="en-US" b="0" i="1" smtClean="0">
                          <a:latin typeface="Cambria Math" panose="02040503050406030204" pitchFamily="18" charset="0"/>
                        </a:rPr>
                        <m:t>𝑅</m:t>
                      </m:r>
                    </m:oMath>
                  </m:oMathPara>
                </a14:m>
                <a:endParaRPr lang="bg-BG" dirty="0"/>
              </a:p>
            </p:txBody>
          </p:sp>
        </mc:Choice>
        <mc:Fallback>
          <p:sp>
            <p:nvSpPr>
              <p:cNvPr id="20" name="TextBox 19">
                <a:extLst>
                  <a:ext uri="{FF2B5EF4-FFF2-40B4-BE49-F238E27FC236}">
                    <a16:creationId xmlns:a16="http://schemas.microsoft.com/office/drawing/2014/main" id="{BD39B632-18A7-8A64-5021-D04273DA8EDA}"/>
                  </a:ext>
                </a:extLst>
              </p:cNvPr>
              <p:cNvSpPr txBox="1">
                <a:spLocks noRot="1" noChangeAspect="1" noMove="1" noResize="1" noEditPoints="1" noAdjustHandles="1" noChangeArrowheads="1" noChangeShapeType="1" noTextEdit="1"/>
              </p:cNvSpPr>
              <p:nvPr/>
            </p:nvSpPr>
            <p:spPr>
              <a:xfrm>
                <a:off x="4474794" y="4605129"/>
                <a:ext cx="756810" cy="276999"/>
              </a:xfrm>
              <a:prstGeom prst="rect">
                <a:avLst/>
              </a:prstGeom>
              <a:blipFill>
                <a:blip r:embed="rId10"/>
                <a:stretch>
                  <a:fillRect l="-7258" r="-7258" b="-13043"/>
                </a:stretch>
              </a:blipFill>
            </p:spPr>
            <p:txBody>
              <a:bodyPr/>
              <a:lstStyle/>
              <a:p>
                <a:r>
                  <a:rPr lang="bg-BG">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322163DA-87A2-879D-EE8F-EA966B5FF6E2}"/>
                  </a:ext>
                </a:extLst>
              </p:cNvPr>
              <p:cNvSpPr txBox="1"/>
              <p:nvPr/>
            </p:nvSpPr>
            <p:spPr>
              <a:xfrm>
                <a:off x="4853199" y="5525361"/>
                <a:ext cx="2658035" cy="29924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bg-BG"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𝑚𝑖𝑙𝑙𝑒𝑟</m:t>
                          </m:r>
                        </m:sub>
                      </m:sSub>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𝑓𝑒𝑒𝑑𝑏𝑎𝑐𝑘</m:t>
                          </m:r>
                        </m:sub>
                      </m:sSub>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oMath>
                  </m:oMathPara>
                </a14:m>
                <a:endParaRPr lang="bg-BG" dirty="0"/>
              </a:p>
            </p:txBody>
          </p:sp>
        </mc:Choice>
        <mc:Fallback>
          <p:sp>
            <p:nvSpPr>
              <p:cNvPr id="21" name="TextBox 20">
                <a:extLst>
                  <a:ext uri="{FF2B5EF4-FFF2-40B4-BE49-F238E27FC236}">
                    <a16:creationId xmlns:a16="http://schemas.microsoft.com/office/drawing/2014/main" id="{322163DA-87A2-879D-EE8F-EA966B5FF6E2}"/>
                  </a:ext>
                </a:extLst>
              </p:cNvPr>
              <p:cNvSpPr txBox="1">
                <a:spLocks noRot="1" noChangeAspect="1" noMove="1" noResize="1" noEditPoints="1" noAdjustHandles="1" noChangeArrowheads="1" noChangeShapeType="1" noTextEdit="1"/>
              </p:cNvSpPr>
              <p:nvPr/>
            </p:nvSpPr>
            <p:spPr>
              <a:xfrm>
                <a:off x="4853199" y="5525361"/>
                <a:ext cx="2658035" cy="299249"/>
              </a:xfrm>
              <a:prstGeom prst="rect">
                <a:avLst/>
              </a:prstGeom>
              <a:blipFill>
                <a:blip r:embed="rId11"/>
                <a:stretch>
                  <a:fillRect l="-1606" r="-2752" b="-28571"/>
                </a:stretch>
              </a:blipFill>
            </p:spPr>
            <p:txBody>
              <a:bodyPr/>
              <a:lstStyle/>
              <a:p>
                <a:r>
                  <a:rPr lang="bg-BG">
                    <a:noFill/>
                  </a:rPr>
                  <a:t> </a:t>
                </a:r>
              </a:p>
            </p:txBody>
          </p:sp>
        </mc:Fallback>
      </mc:AlternateContent>
    </p:spTree>
    <p:extLst>
      <p:ext uri="{BB962C8B-B14F-4D97-AF65-F5344CB8AC3E}">
        <p14:creationId xmlns:p14="http://schemas.microsoft.com/office/powerpoint/2010/main" val="1029048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2D6B2-203B-049C-0BC0-AEF8DCDD8E5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13EF12-4186-5A02-7A4B-BA6FEDCAB4F1}"/>
              </a:ext>
            </a:extLst>
          </p:cNvPr>
          <p:cNvSpPr txBox="1"/>
          <p:nvPr/>
        </p:nvSpPr>
        <p:spPr>
          <a:xfrm>
            <a:off x="-24680" y="166825"/>
            <a:ext cx="12216680" cy="461665"/>
          </a:xfrm>
          <a:prstGeom prst="rect">
            <a:avLst/>
          </a:prstGeom>
          <a:noFill/>
        </p:spPr>
        <p:txBody>
          <a:bodyPr wrap="square">
            <a:spAutoFit/>
          </a:bodyPr>
          <a:lstStyle/>
          <a:p>
            <a:pPr algn="ctr"/>
            <a:r>
              <a:rPr lang="en-US" sz="2400" dirty="0">
                <a:solidFill>
                  <a:srgbClr val="0038A8"/>
                </a:solidFill>
                <a:latin typeface="+mj-lt"/>
                <a:cs typeface="Arial" panose="020B0604020202020204" pitchFamily="34" charset="0"/>
              </a:rPr>
              <a:t>The Miller Effect</a:t>
            </a:r>
            <a:endParaRPr lang="bg-BG" sz="2400" dirty="0">
              <a:solidFill>
                <a:srgbClr val="0038A8"/>
              </a:solidFill>
              <a:latin typeface="+mj-lt"/>
              <a:cs typeface="Arial" panose="020B0604020202020204" pitchFamily="34" charset="0"/>
            </a:endParaRPr>
          </a:p>
        </p:txBody>
      </p:sp>
      <p:sp>
        <p:nvSpPr>
          <p:cNvPr id="3" name="TextBox 2">
            <a:extLst>
              <a:ext uri="{FF2B5EF4-FFF2-40B4-BE49-F238E27FC236}">
                <a16:creationId xmlns:a16="http://schemas.microsoft.com/office/drawing/2014/main" id="{A5E98463-2CAF-FC25-52B6-85D4F478081E}"/>
              </a:ext>
            </a:extLst>
          </p:cNvPr>
          <p:cNvSpPr txBox="1"/>
          <p:nvPr/>
        </p:nvSpPr>
        <p:spPr>
          <a:xfrm>
            <a:off x="352005" y="950395"/>
            <a:ext cx="11102271" cy="2677656"/>
          </a:xfrm>
          <a:prstGeom prst="rect">
            <a:avLst/>
          </a:prstGeom>
          <a:noFill/>
        </p:spPr>
        <p:txBody>
          <a:bodyPr wrap="square" rtlCol="0">
            <a:spAutoFit/>
          </a:bodyPr>
          <a:lstStyle/>
          <a:p>
            <a:pPr fontAlgn="base"/>
            <a:r>
              <a:rPr lang="ru-RU" sz="1400" dirty="0"/>
              <a:t>Представете си, че вие ​​сте входът и вашата задача е да заредите този кондензатор. Вие поставяте малко количество заряд от вашата страна на кондензатора, което води до малко повишаване на входното напрежение, ΔVin.</a:t>
            </a:r>
          </a:p>
          <a:p>
            <a:pPr fontAlgn="base"/>
            <a:endParaRPr lang="ru-RU" sz="1400" dirty="0"/>
          </a:p>
          <a:p>
            <a:pPr fontAlgn="base"/>
            <a:r>
              <a:rPr lang="ru-RU" sz="1400" dirty="0"/>
              <a:t>Тъй като това е инвертиращ усилвател с коефициент на усилване -A, изходното напрежение прави обратното. То се променя надолу с много по-голямо количество: ΔVout = -A * ΔVin.</a:t>
            </a:r>
          </a:p>
          <a:p>
            <a:pPr fontAlgn="base"/>
            <a:r>
              <a:rPr lang="ru-RU" sz="1400" dirty="0"/>
              <a:t>Така че, общата промяна на напрежението на кондензатора не е просто ΔVin, а е </a:t>
            </a:r>
            <a:endParaRPr lang="en-US" sz="1400" dirty="0"/>
          </a:p>
          <a:p>
            <a:pPr fontAlgn="base"/>
            <a:endParaRPr lang="en-US" sz="1400" dirty="0"/>
          </a:p>
          <a:p>
            <a:pPr fontAlgn="base"/>
            <a:r>
              <a:rPr lang="ru-RU" sz="1400" dirty="0"/>
              <a:t>ΔVtotal = ΔVin - ΔVout = ΔVin - (-A * ΔVin) = ΔVin * (1 + A)</a:t>
            </a:r>
          </a:p>
          <a:p>
            <a:pPr fontAlgn="base"/>
            <a:endParaRPr lang="en-US" sz="1400" dirty="0"/>
          </a:p>
          <a:p>
            <a:pPr fontAlgn="base"/>
            <a:r>
              <a:rPr lang="ru-RU" sz="1400" dirty="0"/>
              <a:t>От ваша гледна точка на входа, трябваше да подадете само малка промяна на напрежението ΔVin, но трябваше да осигурите достатъчно ток, за да се справите с </a:t>
            </a:r>
            <a:r>
              <a:rPr lang="bg-BG" sz="1400" dirty="0"/>
              <a:t>голямата промяна</a:t>
            </a:r>
            <a:r>
              <a:rPr lang="ru-RU" sz="1400" dirty="0"/>
              <a:t> на напрежението на кондензатора. </a:t>
            </a:r>
          </a:p>
          <a:p>
            <a:pPr fontAlgn="base"/>
            <a:r>
              <a:rPr lang="ru-RU" sz="1400" dirty="0"/>
              <a:t>Това прави кондензатора да изглежда (1 + Av) пъти по-голям, отколкото е в действителност.</a:t>
            </a: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929C206D-D706-2D50-7BE3-F992A604A141}"/>
                  </a:ext>
                </a:extLst>
              </p:cNvPr>
              <p:cNvSpPr txBox="1"/>
              <p:nvPr/>
            </p:nvSpPr>
            <p:spPr>
              <a:xfrm>
                <a:off x="2951571" y="3878132"/>
                <a:ext cx="2658035" cy="2992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bg-BG"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𝑚𝑖𝑙𝑙𝑒𝑟</m:t>
                          </m:r>
                        </m:sub>
                      </m:sSub>
                      <m:r>
                        <a:rPr lang="en-US" b="0" i="1" smtClean="0">
                          <a:latin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m:t>
                          </m:r>
                        </m:e>
                        <m:sub>
                          <m:r>
                            <a:rPr lang="en-US" b="0" i="1" smtClean="0">
                              <a:latin typeface="Cambria Math" panose="02040503050406030204" pitchFamily="18" charset="0"/>
                              <a:ea typeface="Cambria Math" panose="02040503050406030204" pitchFamily="18" charset="0"/>
                            </a:rPr>
                            <m:t>𝑓𝑒𝑒𝑑𝑏𝑎𝑐𝑘</m:t>
                          </m:r>
                        </m:sub>
                      </m:sSub>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m:t>
                      </m:r>
                    </m:oMath>
                  </m:oMathPara>
                </a14:m>
                <a:endParaRPr lang="bg-BG" dirty="0"/>
              </a:p>
            </p:txBody>
          </p:sp>
        </mc:Choice>
        <mc:Fallback>
          <p:sp>
            <p:nvSpPr>
              <p:cNvPr id="21" name="TextBox 20">
                <a:extLst>
                  <a:ext uri="{FF2B5EF4-FFF2-40B4-BE49-F238E27FC236}">
                    <a16:creationId xmlns:a16="http://schemas.microsoft.com/office/drawing/2014/main" id="{929C206D-D706-2D50-7BE3-F992A604A141}"/>
                  </a:ext>
                </a:extLst>
              </p:cNvPr>
              <p:cNvSpPr txBox="1">
                <a:spLocks noRot="1" noChangeAspect="1" noMove="1" noResize="1" noEditPoints="1" noAdjustHandles="1" noChangeArrowheads="1" noChangeShapeType="1" noTextEdit="1"/>
              </p:cNvSpPr>
              <p:nvPr/>
            </p:nvSpPr>
            <p:spPr>
              <a:xfrm>
                <a:off x="2951571" y="3878132"/>
                <a:ext cx="2658035" cy="299249"/>
              </a:xfrm>
              <a:prstGeom prst="rect">
                <a:avLst/>
              </a:prstGeom>
              <a:blipFill>
                <a:blip r:embed="rId3"/>
                <a:stretch>
                  <a:fillRect l="-1606" r="-2752" b="-28571"/>
                </a:stretch>
              </a:blipFill>
            </p:spPr>
            <p:txBody>
              <a:bodyPr/>
              <a:lstStyle/>
              <a:p>
                <a:r>
                  <a:rPr lang="bg-BG">
                    <a:noFill/>
                  </a:rPr>
                  <a:t> </a:t>
                </a:r>
              </a:p>
            </p:txBody>
          </p:sp>
        </mc:Fallback>
      </mc:AlternateContent>
    </p:spTree>
    <p:extLst>
      <p:ext uri="{BB962C8B-B14F-4D97-AF65-F5344CB8AC3E}">
        <p14:creationId xmlns:p14="http://schemas.microsoft.com/office/powerpoint/2010/main" val="28624459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C1C4A-F34D-29C1-9F13-BADF8ABE851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67316D-789C-6F91-EC3A-763EB255DDA8}"/>
              </a:ext>
            </a:extLst>
          </p:cNvPr>
          <p:cNvSpPr txBox="1"/>
          <p:nvPr/>
        </p:nvSpPr>
        <p:spPr>
          <a:xfrm>
            <a:off x="-24680" y="166825"/>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Обратно към </a:t>
            </a:r>
            <a:r>
              <a:rPr lang="en-US" sz="2400" dirty="0">
                <a:solidFill>
                  <a:srgbClr val="0038A8"/>
                </a:solidFill>
                <a:latin typeface="+mj-lt"/>
                <a:cs typeface="Arial" panose="020B0604020202020204" pitchFamily="34" charset="0"/>
              </a:rPr>
              <a:t>MOSFET</a:t>
            </a:r>
            <a:endParaRPr lang="bg-BG" sz="2400" dirty="0">
              <a:solidFill>
                <a:srgbClr val="0038A8"/>
              </a:solidFill>
              <a:latin typeface="+mj-lt"/>
              <a:cs typeface="Arial" panose="020B0604020202020204" pitchFamily="34" charset="0"/>
            </a:endParaRPr>
          </a:p>
        </p:txBody>
      </p:sp>
      <p:sp>
        <p:nvSpPr>
          <p:cNvPr id="3" name="TextBox 2">
            <a:extLst>
              <a:ext uri="{FF2B5EF4-FFF2-40B4-BE49-F238E27FC236}">
                <a16:creationId xmlns:a16="http://schemas.microsoft.com/office/drawing/2014/main" id="{2DF88261-3FA8-E999-BA60-9ABA63892A24}"/>
              </a:ext>
            </a:extLst>
          </p:cNvPr>
          <p:cNvSpPr txBox="1"/>
          <p:nvPr/>
        </p:nvSpPr>
        <p:spPr>
          <a:xfrm>
            <a:off x="307499" y="1646310"/>
            <a:ext cx="7735984" cy="2677656"/>
          </a:xfrm>
          <a:prstGeom prst="rect">
            <a:avLst/>
          </a:prstGeom>
          <a:noFill/>
        </p:spPr>
        <p:txBody>
          <a:bodyPr wrap="square" rtlCol="0">
            <a:spAutoFit/>
          </a:bodyPr>
          <a:lstStyle/>
          <a:p>
            <a:pPr fontAlgn="base"/>
            <a:r>
              <a:rPr lang="ru-RU" sz="1400" dirty="0"/>
              <a:t>Сега нека отново разгледаме нашия MOSFET. Гейтът е входът. Дрейнът е инвертиращият изход (когато напрежението на гейта се повиши, напрежението на дрейна спадне). Проблемният кондензатор Cgd е свързан директно между входа и инвертиращия изход!</a:t>
            </a:r>
          </a:p>
          <a:p>
            <a:pPr fontAlgn="base"/>
            <a:endParaRPr lang="ru-RU" sz="1400" dirty="0"/>
          </a:p>
          <a:p>
            <a:pPr fontAlgn="base"/>
            <a:r>
              <a:rPr lang="ru-RU" sz="1400" dirty="0"/>
              <a:t>По време на превключването, MOSFET действа като усилвател с висок коефициент на усилване. Следователно, малкото Cgd се умножава по ефекта на Милър и изглежда на драйвера на гейта като много голям кондензатор.</a:t>
            </a:r>
          </a:p>
          <a:p>
            <a:pPr fontAlgn="base"/>
            <a:endParaRPr lang="ru-RU" sz="1400" dirty="0"/>
          </a:p>
          <a:p>
            <a:pPr fontAlgn="base"/>
            <a:r>
              <a:rPr lang="ru-RU" sz="1400" dirty="0"/>
              <a:t>Този ​​голям ефективен капацитет изисква голямо количество ток от драйвера на гейта, за да го зареди. Докато драйверът се бори да осигури този ток, напрежението на гейта почти не се променя. Това е физическата причина за платото на Милър. Това е областта, където нашият драйвер се бори с усиления капацитет на Милър.</a:t>
            </a:r>
          </a:p>
        </p:txBody>
      </p:sp>
      <p:pic>
        <p:nvPicPr>
          <p:cNvPr id="4" name="Picture 3">
            <a:extLst>
              <a:ext uri="{FF2B5EF4-FFF2-40B4-BE49-F238E27FC236}">
                <a16:creationId xmlns:a16="http://schemas.microsoft.com/office/drawing/2014/main" id="{D1D51D8A-5FCB-3F7D-2E55-57D9F7BC32C8}"/>
              </a:ext>
            </a:extLst>
          </p:cNvPr>
          <p:cNvPicPr>
            <a:picLocks noChangeAspect="1"/>
          </p:cNvPicPr>
          <p:nvPr/>
        </p:nvPicPr>
        <p:blipFill>
          <a:blip r:embed="rId3"/>
          <a:stretch>
            <a:fillRect/>
          </a:stretch>
        </p:blipFill>
        <p:spPr>
          <a:xfrm>
            <a:off x="8171944" y="1251449"/>
            <a:ext cx="2915321" cy="2213172"/>
          </a:xfrm>
          <a:prstGeom prst="rect">
            <a:avLst/>
          </a:prstGeom>
        </p:spPr>
      </p:pic>
      <p:pic>
        <p:nvPicPr>
          <p:cNvPr id="5" name="Picture 4">
            <a:extLst>
              <a:ext uri="{FF2B5EF4-FFF2-40B4-BE49-F238E27FC236}">
                <a16:creationId xmlns:a16="http://schemas.microsoft.com/office/drawing/2014/main" id="{94D90968-6636-66A7-72C6-52EA37CF946F}"/>
              </a:ext>
            </a:extLst>
          </p:cNvPr>
          <p:cNvPicPr>
            <a:picLocks noChangeAspect="1"/>
          </p:cNvPicPr>
          <p:nvPr/>
        </p:nvPicPr>
        <p:blipFill>
          <a:blip r:embed="rId4"/>
          <a:stretch>
            <a:fillRect/>
          </a:stretch>
        </p:blipFill>
        <p:spPr>
          <a:xfrm>
            <a:off x="8687746" y="3706630"/>
            <a:ext cx="2815083" cy="2256818"/>
          </a:xfrm>
          <a:prstGeom prst="rect">
            <a:avLst/>
          </a:prstGeom>
        </p:spPr>
      </p:pic>
      <p:sp>
        <p:nvSpPr>
          <p:cNvPr id="6" name="TextBox 5">
            <a:extLst>
              <a:ext uri="{FF2B5EF4-FFF2-40B4-BE49-F238E27FC236}">
                <a16:creationId xmlns:a16="http://schemas.microsoft.com/office/drawing/2014/main" id="{B49E5ACF-5B95-99B6-DF37-837705D5A5A4}"/>
              </a:ext>
            </a:extLst>
          </p:cNvPr>
          <p:cNvSpPr txBox="1"/>
          <p:nvPr/>
        </p:nvSpPr>
        <p:spPr>
          <a:xfrm>
            <a:off x="5304329" y="6627168"/>
            <a:ext cx="7200800" cy="230832"/>
          </a:xfrm>
          <a:prstGeom prst="rect">
            <a:avLst/>
          </a:prstGeom>
          <a:noFill/>
        </p:spPr>
        <p:txBody>
          <a:bodyPr wrap="square">
            <a:spAutoFit/>
          </a:bodyPr>
          <a:lstStyle/>
          <a:p>
            <a:r>
              <a:rPr lang="en-US" sz="900" dirty="0"/>
              <a:t>Vishay AN-608А, “Power MOSFET Basics: Understanding Gate Charge and Using it to Assess Switching Performance”, www.vishay.com</a:t>
            </a:r>
            <a:endParaRPr lang="bg-BG" sz="900" dirty="0"/>
          </a:p>
        </p:txBody>
      </p:sp>
    </p:spTree>
    <p:extLst>
      <p:ext uri="{BB962C8B-B14F-4D97-AF65-F5344CB8AC3E}">
        <p14:creationId xmlns:p14="http://schemas.microsoft.com/office/powerpoint/2010/main" val="2884871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558AA-9BDF-2268-0274-6CD9257F239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4F5AA6E-F5D4-2D97-D3E0-9DFE1B39DCFA}"/>
              </a:ext>
            </a:extLst>
          </p:cNvPr>
          <p:cNvSpPr txBox="1"/>
          <p:nvPr/>
        </p:nvSpPr>
        <p:spPr>
          <a:xfrm>
            <a:off x="-24680" y="166825"/>
            <a:ext cx="12216680" cy="461665"/>
          </a:xfrm>
          <a:prstGeom prst="rect">
            <a:avLst/>
          </a:prstGeom>
          <a:noFill/>
        </p:spPr>
        <p:txBody>
          <a:bodyPr wrap="square">
            <a:spAutoFit/>
          </a:bodyPr>
          <a:lstStyle/>
          <a:p>
            <a:pPr algn="ctr"/>
            <a:r>
              <a:rPr lang="bg-BG" sz="2400" dirty="0">
                <a:solidFill>
                  <a:srgbClr val="0038A8"/>
                </a:solidFill>
                <a:latin typeface="+mj-lt"/>
                <a:cs typeface="Arial" panose="020B0604020202020204" pitchFamily="34" charset="0"/>
              </a:rPr>
              <a:t>Обратно към </a:t>
            </a:r>
            <a:r>
              <a:rPr lang="en-US" sz="2400" dirty="0">
                <a:solidFill>
                  <a:srgbClr val="0038A8"/>
                </a:solidFill>
                <a:latin typeface="+mj-lt"/>
                <a:cs typeface="Arial" panose="020B0604020202020204" pitchFamily="34" charset="0"/>
              </a:rPr>
              <a:t>MOSFET</a:t>
            </a:r>
            <a:endParaRPr lang="bg-BG" sz="2400" dirty="0">
              <a:solidFill>
                <a:srgbClr val="0038A8"/>
              </a:solidFill>
              <a:latin typeface="+mj-lt"/>
              <a:cs typeface="Arial" panose="020B0604020202020204" pitchFamily="34" charset="0"/>
            </a:endParaRPr>
          </a:p>
        </p:txBody>
      </p:sp>
      <p:sp>
        <p:nvSpPr>
          <p:cNvPr id="3" name="TextBox 2">
            <a:extLst>
              <a:ext uri="{FF2B5EF4-FFF2-40B4-BE49-F238E27FC236}">
                <a16:creationId xmlns:a16="http://schemas.microsoft.com/office/drawing/2014/main" id="{C0016951-6BC7-3C4B-5E0E-828B721BD12A}"/>
              </a:ext>
            </a:extLst>
          </p:cNvPr>
          <p:cNvSpPr txBox="1"/>
          <p:nvPr/>
        </p:nvSpPr>
        <p:spPr>
          <a:xfrm>
            <a:off x="307499" y="1646310"/>
            <a:ext cx="7735984" cy="3539430"/>
          </a:xfrm>
          <a:prstGeom prst="rect">
            <a:avLst/>
          </a:prstGeom>
          <a:noFill/>
        </p:spPr>
        <p:txBody>
          <a:bodyPr wrap="square" rtlCol="0">
            <a:spAutoFit/>
          </a:bodyPr>
          <a:lstStyle/>
          <a:p>
            <a:pPr fontAlgn="base"/>
            <a:r>
              <a:rPr lang="ru-RU" sz="1400" dirty="0"/>
              <a:t>Така че, поглеждайки назад към нашата крива на заряд на гейта, сега можем да я разберем </a:t>
            </a:r>
            <a:r>
              <a:rPr lang="bg-BG" sz="1400" dirty="0"/>
              <a:t>по-добре</a:t>
            </a:r>
            <a:r>
              <a:rPr lang="ru-RU" sz="1400" dirty="0"/>
              <a:t>.</a:t>
            </a:r>
          </a:p>
          <a:p>
            <a:pPr fontAlgn="base"/>
            <a:endParaRPr lang="en-US" sz="1400" dirty="0"/>
          </a:p>
          <a:p>
            <a:pPr fontAlgn="base"/>
            <a:r>
              <a:rPr lang="ru-RU" sz="1400" dirty="0"/>
              <a:t>Стъпка 1: Драйверът зарежда Cgs. </a:t>
            </a:r>
            <a:r>
              <a:rPr lang="en-US" sz="1400" dirty="0"/>
              <a:t>U</a:t>
            </a:r>
            <a:r>
              <a:rPr lang="ru-RU" sz="1400" dirty="0"/>
              <a:t>gs се повишава л</a:t>
            </a:r>
            <a:r>
              <a:rPr lang="bg-BG" sz="1400" dirty="0"/>
              <a:t>инейно</a:t>
            </a:r>
            <a:r>
              <a:rPr lang="ru-RU" sz="1400" dirty="0"/>
              <a:t>.</a:t>
            </a:r>
          </a:p>
          <a:p>
            <a:pPr fontAlgn="base"/>
            <a:endParaRPr lang="en-US" sz="1400" dirty="0"/>
          </a:p>
          <a:p>
            <a:pPr fontAlgn="base"/>
            <a:r>
              <a:rPr lang="ru-RU" sz="1400" dirty="0"/>
              <a:t>Стъпка 2: Платото на Милър. Транзисторът навлиза в областта си с високо усилване, ефектът на Милър се задейства, което прави Cgd да изглежда огромен. Драйверът работи усилено, но </a:t>
            </a:r>
            <a:r>
              <a:rPr lang="en-US" sz="1400" dirty="0"/>
              <a:t>U</a:t>
            </a:r>
            <a:r>
              <a:rPr lang="ru-RU" sz="1400" dirty="0"/>
              <a:t>gs се </a:t>
            </a:r>
            <a:r>
              <a:rPr lang="bg-BG" sz="1400" dirty="0"/>
              <a:t>не се променя защото</a:t>
            </a:r>
            <a:r>
              <a:rPr lang="ru-RU" sz="1400" dirty="0"/>
              <a:t> </a:t>
            </a:r>
            <a:r>
              <a:rPr lang="en-US" sz="1400" dirty="0"/>
              <a:t>U</a:t>
            </a:r>
            <a:r>
              <a:rPr lang="ru-RU" sz="1400" dirty="0"/>
              <a:t>ds пада.</a:t>
            </a:r>
          </a:p>
          <a:p>
            <a:pPr fontAlgn="base"/>
            <a:endParaRPr lang="en-US" sz="1400" dirty="0"/>
          </a:p>
          <a:p>
            <a:pPr fontAlgn="base"/>
            <a:r>
              <a:rPr lang="ru-RU" sz="1400" dirty="0"/>
              <a:t>Стъпка 3: Ключът е напълно включен, усилването става нула, ефектът на Милър изчезва и драйверът може лесно да завърши зареждането на Cgs до крайното напрежение на гейта.</a:t>
            </a:r>
          </a:p>
          <a:p>
            <a:pPr fontAlgn="base"/>
            <a:endParaRPr lang="en-US" sz="1400" dirty="0"/>
          </a:p>
          <a:p>
            <a:pPr fontAlgn="base"/>
            <a:r>
              <a:rPr lang="ru-RU" sz="1400" dirty="0"/>
              <a:t>Ролята на драйвера на гейта: </a:t>
            </a:r>
            <a:r>
              <a:rPr lang="bg-BG" sz="1400" dirty="0"/>
              <a:t>Добър </a:t>
            </a:r>
            <a:r>
              <a:rPr lang="ru-RU" sz="1400" dirty="0"/>
              <a:t>драйвер на гейта е този, който може да генерира и поглъща висок пиков ток, специално за да премине през платото на Милър възможно най-бързо. По-бързият преход през платото означава по-ниски загуби при превключване и по-ефективна система.</a:t>
            </a:r>
          </a:p>
        </p:txBody>
      </p:sp>
      <p:pic>
        <p:nvPicPr>
          <p:cNvPr id="5" name="Picture 4">
            <a:extLst>
              <a:ext uri="{FF2B5EF4-FFF2-40B4-BE49-F238E27FC236}">
                <a16:creationId xmlns:a16="http://schemas.microsoft.com/office/drawing/2014/main" id="{4FF6C3B8-68A1-81BD-08AA-08E182714E70}"/>
              </a:ext>
            </a:extLst>
          </p:cNvPr>
          <p:cNvPicPr>
            <a:picLocks noChangeAspect="1"/>
          </p:cNvPicPr>
          <p:nvPr/>
        </p:nvPicPr>
        <p:blipFill>
          <a:blip r:embed="rId3"/>
          <a:stretch>
            <a:fillRect/>
          </a:stretch>
        </p:blipFill>
        <p:spPr>
          <a:xfrm>
            <a:off x="8081141" y="1572660"/>
            <a:ext cx="3721094" cy="2983156"/>
          </a:xfrm>
          <a:prstGeom prst="rect">
            <a:avLst/>
          </a:prstGeom>
        </p:spPr>
      </p:pic>
      <p:sp>
        <p:nvSpPr>
          <p:cNvPr id="6" name="TextBox 5">
            <a:extLst>
              <a:ext uri="{FF2B5EF4-FFF2-40B4-BE49-F238E27FC236}">
                <a16:creationId xmlns:a16="http://schemas.microsoft.com/office/drawing/2014/main" id="{6641D1C2-B89B-1F9E-F80E-40BEA0AD9CFE}"/>
              </a:ext>
            </a:extLst>
          </p:cNvPr>
          <p:cNvSpPr txBox="1"/>
          <p:nvPr/>
        </p:nvSpPr>
        <p:spPr>
          <a:xfrm>
            <a:off x="5304329" y="6627168"/>
            <a:ext cx="7200800" cy="230832"/>
          </a:xfrm>
          <a:prstGeom prst="rect">
            <a:avLst/>
          </a:prstGeom>
          <a:noFill/>
        </p:spPr>
        <p:txBody>
          <a:bodyPr wrap="square">
            <a:spAutoFit/>
          </a:bodyPr>
          <a:lstStyle/>
          <a:p>
            <a:r>
              <a:rPr lang="en-US" sz="900" dirty="0"/>
              <a:t>Vishay AN-608А, “Power MOSFET Basics: Understanding Gate Charge and Using it to Assess Switching Performance”, www.vishay.com</a:t>
            </a:r>
            <a:endParaRPr lang="bg-BG" sz="900" dirty="0"/>
          </a:p>
        </p:txBody>
      </p:sp>
    </p:spTree>
    <p:extLst>
      <p:ext uri="{BB962C8B-B14F-4D97-AF65-F5344CB8AC3E}">
        <p14:creationId xmlns:p14="http://schemas.microsoft.com/office/powerpoint/2010/main" val="3035085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B0449-B65F-6576-50E8-420D7D7BD2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D450BCB-8C5E-3DB4-0441-F73AD21E1EE0}"/>
              </a:ext>
            </a:extLst>
          </p:cNvPr>
          <p:cNvSpPr txBox="1"/>
          <p:nvPr/>
        </p:nvSpPr>
        <p:spPr>
          <a:xfrm>
            <a:off x="-24680" y="166825"/>
            <a:ext cx="12216680" cy="461665"/>
          </a:xfrm>
          <a:prstGeom prst="rect">
            <a:avLst/>
          </a:prstGeom>
          <a:noFill/>
        </p:spPr>
        <p:txBody>
          <a:bodyPr wrap="square">
            <a:spAutoFit/>
          </a:bodyPr>
          <a:lstStyle/>
          <a:p>
            <a:pPr algn="ctr"/>
            <a:r>
              <a:rPr lang="ru-RU" sz="2400" dirty="0">
                <a:solidFill>
                  <a:srgbClr val="0038A8"/>
                </a:solidFill>
                <a:latin typeface="+mj-lt"/>
                <a:cs typeface="Arial" panose="020B0604020202020204" pitchFamily="34" charset="0"/>
              </a:rPr>
              <a:t>Ролята на гейтовия драйвер за осигуряването на безопасно „изключено“ състояние</a:t>
            </a:r>
            <a:endParaRPr lang="bg-BG" sz="2400" dirty="0">
              <a:solidFill>
                <a:srgbClr val="0038A8"/>
              </a:solidFill>
              <a:latin typeface="+mj-lt"/>
              <a:cs typeface="Arial" panose="020B0604020202020204" pitchFamily="34" charset="0"/>
            </a:endParaRPr>
          </a:p>
        </p:txBody>
      </p:sp>
      <p:sp>
        <p:nvSpPr>
          <p:cNvPr id="3" name="TextBox 2">
            <a:extLst>
              <a:ext uri="{FF2B5EF4-FFF2-40B4-BE49-F238E27FC236}">
                <a16:creationId xmlns:a16="http://schemas.microsoft.com/office/drawing/2014/main" id="{8724AD8D-0B54-16A0-C713-A909B606D5BE}"/>
              </a:ext>
            </a:extLst>
          </p:cNvPr>
          <p:cNvSpPr txBox="1"/>
          <p:nvPr/>
        </p:nvSpPr>
        <p:spPr>
          <a:xfrm>
            <a:off x="356051" y="1249801"/>
            <a:ext cx="10984936" cy="3323987"/>
          </a:xfrm>
          <a:prstGeom prst="rect">
            <a:avLst/>
          </a:prstGeom>
          <a:noFill/>
        </p:spPr>
        <p:txBody>
          <a:bodyPr wrap="square" rtlCol="0">
            <a:spAutoFit/>
          </a:bodyPr>
          <a:lstStyle/>
          <a:p>
            <a:pPr fontAlgn="base"/>
            <a:r>
              <a:rPr lang="ru-RU" sz="1400" dirty="0"/>
              <a:t>И така, установихме, че е необходим силен гейтов драйвер, който да осигури висок пиков ток, за да зареди капацитета на гейта и да включи транзистора колкото може по-бързо. </a:t>
            </a:r>
          </a:p>
          <a:p>
            <a:pPr fontAlgn="base"/>
            <a:endParaRPr lang="ru-RU" sz="1400" dirty="0"/>
          </a:p>
          <a:p>
            <a:pPr fontAlgn="base"/>
            <a:r>
              <a:rPr lang="ru-RU" sz="1400" dirty="0"/>
              <a:t>Но работата на драйвера е само наполовина свършена. За да изключи MOSFET-а, той трябва да действа като път с нисък импеданс към земята, бързо изтегляйки целия съхранен заряд от капацитета на гейта. Добрият драйвер е отличен както в отдаването на ток (за включване), така и в поемането на тока (за изключване).</a:t>
            </a:r>
          </a:p>
          <a:p>
            <a:pPr fontAlgn="base"/>
            <a:endParaRPr lang="ru-RU" sz="1400" dirty="0"/>
          </a:p>
          <a:p>
            <a:pPr fontAlgn="base"/>
            <a:r>
              <a:rPr lang="ru-RU" sz="1400" dirty="0"/>
              <a:t>Какво се случва, ако гейтът на изключен </a:t>
            </a:r>
            <a:r>
              <a:rPr lang="en-US" sz="1400" dirty="0"/>
              <a:t>MOSFET </a:t>
            </a:r>
            <a:r>
              <a:rPr lang="ru-RU" sz="1400" dirty="0"/>
              <a:t>се остави да „плува“ (т.е. да няма нискоомен път към земя)?</a:t>
            </a:r>
          </a:p>
          <a:p>
            <a:pPr fontAlgn="base"/>
            <a:endParaRPr lang="ru-RU" sz="1400" dirty="0"/>
          </a:p>
          <a:p>
            <a:pPr fontAlgn="base"/>
            <a:r>
              <a:rPr lang="ru-RU" sz="1400" dirty="0"/>
              <a:t>Това е много често срещан сценарий в прости схеми. Инженер може да се опита да управлява MOSFET директно от I/O пин на микроконтролера. По време на нормална работа, пинът или активно захранва HIGH (+5V), или активно захранва LOW (0V).</a:t>
            </a:r>
          </a:p>
          <a:p>
            <a:pPr fontAlgn="base"/>
            <a:endParaRPr lang="ru-RU" sz="1400" dirty="0"/>
          </a:p>
          <a:p>
            <a:pPr fontAlgn="base"/>
            <a:r>
              <a:rPr lang="ru-RU" sz="1400" dirty="0"/>
              <a:t>Проблемът: Но какво се случва, когато микроконтролерът се включва, програмира или е в състояние на ресет? В тези случаи, I/O пинът може да влезе в състояние на висок импеданс. Гейта MOSFET-а сега е плаващ.</a:t>
            </a:r>
          </a:p>
          <a:p>
            <a:pPr fontAlgn="base"/>
            <a:endParaRPr lang="ru-RU" sz="1400" dirty="0"/>
          </a:p>
        </p:txBody>
      </p:sp>
    </p:spTree>
    <p:extLst>
      <p:ext uri="{BB962C8B-B14F-4D97-AF65-F5344CB8AC3E}">
        <p14:creationId xmlns:p14="http://schemas.microsoft.com/office/powerpoint/2010/main" val="14152758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16A90-BA8E-AC33-02E4-4E7360A04D2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78B3603-B09B-1CB6-5DCA-DF37B5731CF1}"/>
              </a:ext>
            </a:extLst>
          </p:cNvPr>
          <p:cNvSpPr txBox="1"/>
          <p:nvPr/>
        </p:nvSpPr>
        <p:spPr>
          <a:xfrm>
            <a:off x="-24680" y="166825"/>
            <a:ext cx="12216680" cy="461665"/>
          </a:xfrm>
          <a:prstGeom prst="rect">
            <a:avLst/>
          </a:prstGeom>
          <a:noFill/>
        </p:spPr>
        <p:txBody>
          <a:bodyPr wrap="square">
            <a:spAutoFit/>
          </a:bodyPr>
          <a:lstStyle/>
          <a:p>
            <a:pPr algn="ctr"/>
            <a:r>
              <a:rPr lang="ru-RU" sz="2400" dirty="0">
                <a:solidFill>
                  <a:srgbClr val="0038A8"/>
                </a:solidFill>
                <a:latin typeface="+mj-lt"/>
                <a:cs typeface="Arial" panose="020B0604020202020204" pitchFamily="34" charset="0"/>
              </a:rPr>
              <a:t>Защо плаващият гейт е опасен</a:t>
            </a:r>
          </a:p>
        </p:txBody>
      </p:sp>
      <p:sp>
        <p:nvSpPr>
          <p:cNvPr id="3" name="TextBox 2">
            <a:extLst>
              <a:ext uri="{FF2B5EF4-FFF2-40B4-BE49-F238E27FC236}">
                <a16:creationId xmlns:a16="http://schemas.microsoft.com/office/drawing/2014/main" id="{D6DA1AAD-D2A9-AEA6-73C5-EE0E8AB98C2E}"/>
              </a:ext>
            </a:extLst>
          </p:cNvPr>
          <p:cNvSpPr txBox="1"/>
          <p:nvPr/>
        </p:nvSpPr>
        <p:spPr>
          <a:xfrm>
            <a:off x="356051" y="1249801"/>
            <a:ext cx="10984936" cy="3323987"/>
          </a:xfrm>
          <a:prstGeom prst="rect">
            <a:avLst/>
          </a:prstGeom>
          <a:noFill/>
        </p:spPr>
        <p:txBody>
          <a:bodyPr wrap="square" rtlCol="0">
            <a:spAutoFit/>
          </a:bodyPr>
          <a:lstStyle/>
          <a:p>
            <a:pPr fontAlgn="base"/>
            <a:r>
              <a:rPr lang="ru-RU" sz="1400" dirty="0"/>
              <a:t>Капацитивна връзка и паразитно включване</a:t>
            </a:r>
          </a:p>
          <a:p>
            <a:pPr fontAlgn="base"/>
            <a:endParaRPr lang="ru-RU" sz="1400" dirty="0"/>
          </a:p>
          <a:p>
            <a:pPr fontAlgn="base"/>
            <a:r>
              <a:rPr lang="ru-RU" sz="1400" dirty="0"/>
              <a:t>Спомняте ли си проблемния кондензатор на Милър, Cgd? Той свързва Дрейна с Гейта. Ако има внезапна промяна на напрежението на Дрейна (например, когато захранването се подаде за първи път към веригата), тази промяна може да се свърже през Cgd и да индуцира напрежение върху плаващия гейт.</a:t>
            </a:r>
          </a:p>
          <a:p>
            <a:pPr fontAlgn="base"/>
            <a:endParaRPr lang="ru-RU" sz="1400" dirty="0"/>
          </a:p>
          <a:p>
            <a:pPr fontAlgn="base"/>
            <a:r>
              <a:rPr lang="ru-RU" sz="1400" dirty="0"/>
              <a:t>Това напрежение може лесно да бъде достатъчно, за да надвиши за момент праговото напрежение Vth, което ще доведе до частично включване на MOSFET-а, когато трябва да е напълно изключен. Това може да </a:t>
            </a:r>
            <a:r>
              <a:rPr lang="bg-BG" sz="1400" dirty="0"/>
              <a:t>доведе до</a:t>
            </a:r>
            <a:r>
              <a:rPr lang="ru-RU" sz="1400" dirty="0"/>
              <a:t> съединение и повреда на транзистора.</a:t>
            </a:r>
          </a:p>
          <a:p>
            <a:pPr fontAlgn="base"/>
            <a:endParaRPr lang="ru-RU" sz="1400" dirty="0"/>
          </a:p>
          <a:p>
            <a:pPr fontAlgn="base"/>
            <a:r>
              <a:rPr lang="ru-RU" sz="1400" dirty="0"/>
              <a:t>Статичен заряд (ESD)</a:t>
            </a:r>
          </a:p>
          <a:p>
            <a:pPr fontAlgn="base"/>
            <a:endParaRPr lang="ru-RU" sz="1400" dirty="0"/>
          </a:p>
          <a:p>
            <a:pPr fontAlgn="base"/>
            <a:r>
              <a:rPr lang="ru-RU" sz="1400" dirty="0"/>
              <a:t>Гейтът е изолиран от изключително тънък слой стъкло. Ако се остави плаващ, той действа като малък кондензатор, лесно натрупвайки статичен заряд от околната среда. Този натрупан заряд може да създаде достатъчно високо напрежение, за да пробие и унищожи деликатния гейт оксид.</a:t>
            </a:r>
          </a:p>
        </p:txBody>
      </p:sp>
    </p:spTree>
    <p:extLst>
      <p:ext uri="{BB962C8B-B14F-4D97-AF65-F5344CB8AC3E}">
        <p14:creationId xmlns:p14="http://schemas.microsoft.com/office/powerpoint/2010/main" val="937520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8B403-C5E6-2DC5-9BEE-155F65D38A6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B0BBC6F-3621-A7C3-1F1F-B33B1FC8B9FC}"/>
              </a:ext>
            </a:extLst>
          </p:cNvPr>
          <p:cNvSpPr txBox="1"/>
          <p:nvPr/>
        </p:nvSpPr>
        <p:spPr>
          <a:xfrm>
            <a:off x="271084" y="517472"/>
            <a:ext cx="5166764" cy="3970318"/>
          </a:xfrm>
          <a:prstGeom prst="rect">
            <a:avLst/>
          </a:prstGeom>
          <a:noFill/>
        </p:spPr>
        <p:txBody>
          <a:bodyPr wrap="square" rtlCol="0">
            <a:spAutoFit/>
          </a:bodyPr>
          <a:lstStyle/>
          <a:p>
            <a:pPr fontAlgn="base"/>
            <a:r>
              <a:rPr lang="ru-RU" sz="1400" dirty="0"/>
              <a:t>Решение: Резистор от гейта към земя</a:t>
            </a:r>
          </a:p>
          <a:p>
            <a:pPr fontAlgn="base"/>
            <a:endParaRPr lang="ru-RU" sz="1400" dirty="0"/>
          </a:p>
          <a:p>
            <a:pPr fontAlgn="base"/>
            <a:r>
              <a:rPr lang="ru-RU" sz="1400" dirty="0"/>
              <a:t>Решението е просто, но критично. Винаги трябва да се уверим, че гейтът има път към земята. Добавяме резистор, обикновено между 1kΩ и 10kΩ, свързан директно от гейта към сорс.</a:t>
            </a:r>
          </a:p>
          <a:p>
            <a:pPr fontAlgn="base"/>
            <a:endParaRPr lang="ru-RU" sz="1400" dirty="0"/>
          </a:p>
          <a:p>
            <a:pPr fontAlgn="base"/>
            <a:r>
              <a:rPr lang="ru-RU" sz="1400" dirty="0"/>
              <a:t>Работата на този резистор е да „отвежда“ всеки разсеян заряд, който може да се натрупа върху гейта, като гарантира, че Vgs остава безопасно на 0V, ако драйверът е в състояние на висок импеданс. Той осигурява състояние „изключено“ по подразбиране.</a:t>
            </a:r>
          </a:p>
          <a:p>
            <a:pPr fontAlgn="base"/>
            <a:endParaRPr lang="ru-RU" sz="1400" dirty="0"/>
          </a:p>
          <a:p>
            <a:pPr fontAlgn="base"/>
            <a:r>
              <a:rPr lang="ru-RU" sz="1400" dirty="0"/>
              <a:t>Избор на стойност: Стойността е компромис. Тя трябва да е достатъчно ниска, за да преодолее всякакви утечки или свързани токове, но достатъчно висока, за да не черпи значителна мощност от драйвера на гейта по време на състояние „включено“. 10kΩ е много често срещан избор.</a:t>
            </a:r>
          </a:p>
        </p:txBody>
      </p:sp>
      <p:pic>
        <p:nvPicPr>
          <p:cNvPr id="4" name="Picture 3">
            <a:extLst>
              <a:ext uri="{FF2B5EF4-FFF2-40B4-BE49-F238E27FC236}">
                <a16:creationId xmlns:a16="http://schemas.microsoft.com/office/drawing/2014/main" id="{497C4780-C95F-3FB5-9D3F-AE3E9B7F1B74}"/>
              </a:ext>
            </a:extLst>
          </p:cNvPr>
          <p:cNvPicPr>
            <a:picLocks noChangeAspect="1"/>
          </p:cNvPicPr>
          <p:nvPr/>
        </p:nvPicPr>
        <p:blipFill>
          <a:blip r:embed="rId3"/>
          <a:stretch>
            <a:fillRect/>
          </a:stretch>
        </p:blipFill>
        <p:spPr>
          <a:xfrm>
            <a:off x="6117529" y="1137254"/>
            <a:ext cx="5858693" cy="4429743"/>
          </a:xfrm>
          <a:prstGeom prst="rect">
            <a:avLst/>
          </a:prstGeom>
        </p:spPr>
      </p:pic>
      <p:sp>
        <p:nvSpPr>
          <p:cNvPr id="7" name="Rectangle 6">
            <a:extLst>
              <a:ext uri="{FF2B5EF4-FFF2-40B4-BE49-F238E27FC236}">
                <a16:creationId xmlns:a16="http://schemas.microsoft.com/office/drawing/2014/main" id="{72A722E4-E7A6-87DD-A22F-064FADF2969B}"/>
              </a:ext>
            </a:extLst>
          </p:cNvPr>
          <p:cNvSpPr/>
          <p:nvPr/>
        </p:nvSpPr>
        <p:spPr>
          <a:xfrm>
            <a:off x="8764165" y="3665032"/>
            <a:ext cx="565423" cy="170331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71745B3-6D66-2B98-2966-614234534BEC}"/>
              </a:ext>
            </a:extLst>
          </p:cNvPr>
          <p:cNvSpPr txBox="1"/>
          <p:nvPr/>
        </p:nvSpPr>
        <p:spPr>
          <a:xfrm>
            <a:off x="8496554" y="615821"/>
            <a:ext cx="2705241" cy="461665"/>
          </a:xfrm>
          <a:prstGeom prst="rect">
            <a:avLst/>
          </a:prstGeom>
          <a:noFill/>
        </p:spPr>
        <p:txBody>
          <a:bodyPr wrap="square" rtlCol="0">
            <a:spAutoFit/>
          </a:bodyPr>
          <a:lstStyle/>
          <a:p>
            <a:r>
              <a:rPr lang="en-US" sz="1200" dirty="0"/>
              <a:t>D1 - </a:t>
            </a:r>
            <a:r>
              <a:rPr lang="bg-BG" sz="1200" dirty="0"/>
              <a:t>Защита от пренапрежение при индуктивен товар</a:t>
            </a:r>
            <a:endParaRPr lang="en-US" sz="1200" dirty="0"/>
          </a:p>
        </p:txBody>
      </p:sp>
      <p:sp>
        <p:nvSpPr>
          <p:cNvPr id="10" name="TextBox 9">
            <a:extLst>
              <a:ext uri="{FF2B5EF4-FFF2-40B4-BE49-F238E27FC236}">
                <a16:creationId xmlns:a16="http://schemas.microsoft.com/office/drawing/2014/main" id="{483F5073-D99A-DB04-8FFC-CF5DE78C8054}"/>
              </a:ext>
            </a:extLst>
          </p:cNvPr>
          <p:cNvSpPr txBox="1"/>
          <p:nvPr/>
        </p:nvSpPr>
        <p:spPr>
          <a:xfrm>
            <a:off x="5513164" y="2630858"/>
            <a:ext cx="2736304" cy="646331"/>
          </a:xfrm>
          <a:prstGeom prst="rect">
            <a:avLst/>
          </a:prstGeom>
          <a:noFill/>
        </p:spPr>
        <p:txBody>
          <a:bodyPr wrap="square" rtlCol="0">
            <a:spAutoFit/>
          </a:bodyPr>
          <a:lstStyle/>
          <a:p>
            <a:r>
              <a:rPr lang="en-US" sz="1200" dirty="0"/>
              <a:t>R2 - </a:t>
            </a:r>
            <a:r>
              <a:rPr lang="bg-BG" sz="1200" dirty="0"/>
              <a:t>Защита от резонанс: паразитна индуктивност на проводници + капацитет на гейта</a:t>
            </a:r>
            <a:endParaRPr lang="en-US" sz="1200" dirty="0"/>
          </a:p>
        </p:txBody>
      </p:sp>
      <p:sp>
        <p:nvSpPr>
          <p:cNvPr id="11" name="TextBox 10">
            <a:extLst>
              <a:ext uri="{FF2B5EF4-FFF2-40B4-BE49-F238E27FC236}">
                <a16:creationId xmlns:a16="http://schemas.microsoft.com/office/drawing/2014/main" id="{A64CE9ED-9AEF-3790-0AD7-5B13E9DEC081}"/>
              </a:ext>
            </a:extLst>
          </p:cNvPr>
          <p:cNvSpPr txBox="1"/>
          <p:nvPr/>
        </p:nvSpPr>
        <p:spPr>
          <a:xfrm>
            <a:off x="5513164" y="5204655"/>
            <a:ext cx="2736304" cy="461665"/>
          </a:xfrm>
          <a:prstGeom prst="rect">
            <a:avLst/>
          </a:prstGeom>
          <a:noFill/>
        </p:spPr>
        <p:txBody>
          <a:bodyPr wrap="square" rtlCol="0">
            <a:spAutoFit/>
          </a:bodyPr>
          <a:lstStyle/>
          <a:p>
            <a:r>
              <a:rPr lang="en-US" sz="1200" dirty="0"/>
              <a:t>D2 - </a:t>
            </a:r>
            <a:r>
              <a:rPr lang="bg-BG" sz="1200" dirty="0"/>
              <a:t>Защита от пренапрежения на гейта. </a:t>
            </a:r>
            <a:r>
              <a:rPr lang="en-US" sz="1200" dirty="0" err="1"/>
              <a:t>Uz</a:t>
            </a:r>
            <a:r>
              <a:rPr lang="en-US" sz="1200" dirty="0"/>
              <a:t> &lt; </a:t>
            </a:r>
            <a:r>
              <a:rPr lang="en-US" sz="1200" dirty="0" err="1"/>
              <a:t>Ugs</a:t>
            </a:r>
            <a:r>
              <a:rPr lang="en-US" sz="1200" dirty="0"/>
              <a:t> max</a:t>
            </a:r>
          </a:p>
        </p:txBody>
      </p:sp>
      <p:sp>
        <p:nvSpPr>
          <p:cNvPr id="12" name="TextBox 11">
            <a:extLst>
              <a:ext uri="{FF2B5EF4-FFF2-40B4-BE49-F238E27FC236}">
                <a16:creationId xmlns:a16="http://schemas.microsoft.com/office/drawing/2014/main" id="{157F4BFA-8325-D631-2459-4E608CF4DBB1}"/>
              </a:ext>
            </a:extLst>
          </p:cNvPr>
          <p:cNvSpPr txBox="1"/>
          <p:nvPr/>
        </p:nvSpPr>
        <p:spPr>
          <a:xfrm>
            <a:off x="8259068" y="5596915"/>
            <a:ext cx="3806823" cy="461665"/>
          </a:xfrm>
          <a:prstGeom prst="rect">
            <a:avLst/>
          </a:prstGeom>
          <a:noFill/>
        </p:spPr>
        <p:txBody>
          <a:bodyPr wrap="square" rtlCol="0">
            <a:spAutoFit/>
          </a:bodyPr>
          <a:lstStyle/>
          <a:p>
            <a:r>
              <a:rPr lang="ru-RU" sz="1200" dirty="0"/>
              <a:t>R1 </a:t>
            </a:r>
            <a:r>
              <a:rPr lang="ru-RU" sz="1200" dirty="0" err="1"/>
              <a:t>гарантира</a:t>
            </a:r>
            <a:r>
              <a:rPr lang="ru-RU" sz="1200" dirty="0"/>
              <a:t>, че </a:t>
            </a:r>
            <a:r>
              <a:rPr lang="ru-RU" sz="1200" dirty="0" err="1"/>
              <a:t>транзисторът</a:t>
            </a:r>
            <a:r>
              <a:rPr lang="ru-RU" sz="1200" dirty="0"/>
              <a:t> </a:t>
            </a:r>
            <a:r>
              <a:rPr lang="ru-RU" sz="1200" dirty="0" err="1"/>
              <a:t>ще</a:t>
            </a:r>
            <a:r>
              <a:rPr lang="ru-RU" sz="1200" dirty="0"/>
              <a:t> е </a:t>
            </a:r>
            <a:r>
              <a:rPr lang="ru-RU" sz="1200" dirty="0" err="1"/>
              <a:t>изключен</a:t>
            </a:r>
            <a:r>
              <a:rPr lang="ru-RU" sz="1200" dirty="0"/>
              <a:t> </a:t>
            </a:r>
            <a:r>
              <a:rPr lang="ru-RU" sz="1200" dirty="0" err="1"/>
              <a:t>ако</a:t>
            </a:r>
            <a:r>
              <a:rPr lang="ru-RU" sz="1200" dirty="0"/>
              <a:t> гейта </a:t>
            </a:r>
            <a:r>
              <a:rPr lang="ru-RU" sz="1200" dirty="0" err="1"/>
              <a:t>остане</a:t>
            </a:r>
            <a:r>
              <a:rPr lang="ru-RU" sz="1200" dirty="0"/>
              <a:t> „</a:t>
            </a:r>
            <a:r>
              <a:rPr lang="ru-RU" sz="1200" dirty="0" err="1"/>
              <a:t>висящ</a:t>
            </a:r>
            <a:r>
              <a:rPr lang="ru-RU" sz="1200" dirty="0"/>
              <a:t>“.</a:t>
            </a:r>
            <a:endParaRPr lang="en-US" sz="1200" dirty="0"/>
          </a:p>
        </p:txBody>
      </p:sp>
    </p:spTree>
    <p:extLst>
      <p:ext uri="{BB962C8B-B14F-4D97-AF65-F5344CB8AC3E}">
        <p14:creationId xmlns:p14="http://schemas.microsoft.com/office/powerpoint/2010/main" val="2002067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A2CE8A-7653-BDAD-E53C-0DC34E33C2CD}"/>
              </a:ext>
            </a:extLst>
          </p:cNvPr>
          <p:cNvSpPr txBox="1"/>
          <p:nvPr/>
        </p:nvSpPr>
        <p:spPr>
          <a:xfrm>
            <a:off x="0" y="64164"/>
            <a:ext cx="12162329" cy="461665"/>
          </a:xfrm>
          <a:prstGeom prst="rect">
            <a:avLst/>
          </a:prstGeom>
          <a:noFill/>
        </p:spPr>
        <p:txBody>
          <a:bodyPr wrap="square">
            <a:spAutoFit/>
          </a:bodyPr>
          <a:lstStyle/>
          <a:p>
            <a:pPr algn="ctr"/>
            <a:r>
              <a:rPr lang="bg-BG" sz="2400" dirty="0">
                <a:solidFill>
                  <a:srgbClr val="0070C0"/>
                </a:solidFill>
              </a:rPr>
              <a:t>Обобщение</a:t>
            </a:r>
          </a:p>
        </p:txBody>
      </p:sp>
      <p:sp>
        <p:nvSpPr>
          <p:cNvPr id="3" name="TextBox 2">
            <a:extLst>
              <a:ext uri="{FF2B5EF4-FFF2-40B4-BE49-F238E27FC236}">
                <a16:creationId xmlns:a16="http://schemas.microsoft.com/office/drawing/2014/main" id="{9827C460-5A97-188A-2995-58A35AE2C415}"/>
              </a:ext>
            </a:extLst>
          </p:cNvPr>
          <p:cNvSpPr txBox="1"/>
          <p:nvPr/>
        </p:nvSpPr>
        <p:spPr>
          <a:xfrm>
            <a:off x="538120" y="1391830"/>
            <a:ext cx="10369943" cy="1815882"/>
          </a:xfrm>
          <a:prstGeom prst="rect">
            <a:avLst/>
          </a:prstGeom>
          <a:noFill/>
        </p:spPr>
        <p:txBody>
          <a:bodyPr wrap="square" rtlCol="0">
            <a:spAutoFit/>
          </a:bodyPr>
          <a:lstStyle/>
          <a:p>
            <a:r>
              <a:rPr lang="ru-RU" sz="1400" dirty="0"/>
              <a:t>Научихме, че превключването на MOSFET е процес на зареждане и разреждане на вътрешните му капацитети, което изисква силен гейтов драйвер, който може едновременно да отдава и консумира ток.</a:t>
            </a:r>
          </a:p>
          <a:p>
            <a:endParaRPr lang="ru-RU" sz="1400" dirty="0"/>
          </a:p>
          <a:p>
            <a:r>
              <a:rPr lang="ru-RU" sz="1400" dirty="0"/>
              <a:t>Научихме, че винаги трябва да гарантираме, че когате </a:t>
            </a:r>
            <a:r>
              <a:rPr lang="en-US" sz="1400" dirty="0"/>
              <a:t>MOSFET </a:t>
            </a:r>
            <a:r>
              <a:rPr lang="bg-BG" sz="1400" dirty="0"/>
              <a:t>е изключен, гейта му не трябва да бъде оставян на „плува“, а </a:t>
            </a:r>
            <a:r>
              <a:rPr lang="ru-RU" sz="1400" dirty="0"/>
              <a:t> трябва активно да бъде държан в ниско ниво.</a:t>
            </a:r>
          </a:p>
          <a:p>
            <a:endParaRPr lang="ru-RU" sz="1400" dirty="0"/>
          </a:p>
          <a:p>
            <a:r>
              <a:rPr lang="ru-RU" sz="1400" dirty="0"/>
              <a:t>След като вече знаем как да включваме и изключваме </a:t>
            </a:r>
            <a:r>
              <a:rPr lang="en-US" sz="1400" dirty="0"/>
              <a:t>MOSFET </a:t>
            </a:r>
            <a:r>
              <a:rPr lang="ru-RU" sz="1400" dirty="0"/>
              <a:t>безопасно и ефективно, следващия път ще разгледаме опасностите, с които се сблъскваме  когато </a:t>
            </a:r>
            <a:r>
              <a:rPr lang="bg-BG" sz="1400" dirty="0"/>
              <a:t>товарът</a:t>
            </a:r>
            <a:r>
              <a:rPr lang="ru-RU" sz="1400" dirty="0"/>
              <a:t> не е обикновен резистор, а индуктивност.</a:t>
            </a:r>
          </a:p>
        </p:txBody>
      </p:sp>
    </p:spTree>
    <p:extLst>
      <p:ext uri="{BB962C8B-B14F-4D97-AF65-F5344CB8AC3E}">
        <p14:creationId xmlns:p14="http://schemas.microsoft.com/office/powerpoint/2010/main" val="22788731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627</TotalTime>
  <Words>1924</Words>
  <Application>Microsoft Office PowerPoint</Application>
  <PresentationFormat>Widescreen</PresentationFormat>
  <Paragraphs>121</Paragraphs>
  <Slides>13</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Vassiliy Tchoumatchenko</dc:creator>
  <cp:lastModifiedBy>Vassiliy Tchoumatchenko</cp:lastModifiedBy>
  <cp:revision>20</cp:revision>
  <dcterms:created xsi:type="dcterms:W3CDTF">2025-10-27T17:36:55Z</dcterms:created>
  <dcterms:modified xsi:type="dcterms:W3CDTF">2025-12-01T12:17:05Z</dcterms:modified>
</cp:coreProperties>
</file>