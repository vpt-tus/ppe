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8" r:id="rId2"/>
    <p:sldId id="257" r:id="rId3"/>
    <p:sldId id="385" r:id="rId4"/>
    <p:sldId id="294" r:id="rId5"/>
    <p:sldId id="259" r:id="rId6"/>
    <p:sldId id="260" r:id="rId7"/>
    <p:sldId id="261" r:id="rId8"/>
    <p:sldId id="262" r:id="rId9"/>
    <p:sldId id="263" r:id="rId10"/>
    <p:sldId id="264" r:id="rId11"/>
    <p:sldId id="387" r:id="rId12"/>
    <p:sldId id="388" r:id="rId13"/>
    <p:sldId id="398" r:id="rId14"/>
    <p:sldId id="394" r:id="rId15"/>
    <p:sldId id="395" r:id="rId16"/>
    <p:sldId id="396" r:id="rId17"/>
    <p:sldId id="399" r:id="rId18"/>
    <p:sldId id="389" r:id="rId19"/>
    <p:sldId id="400" r:id="rId20"/>
    <p:sldId id="401" r:id="rId21"/>
    <p:sldId id="402" r:id="rId22"/>
    <p:sldId id="403" r:id="rId23"/>
    <p:sldId id="404" r:id="rId24"/>
    <p:sldId id="390" r:id="rId25"/>
    <p:sldId id="276" r:id="rId26"/>
    <p:sldId id="278" r:id="rId27"/>
    <p:sldId id="374" r:id="rId28"/>
    <p:sldId id="384" r:id="rId2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8A8"/>
    <a:srgbClr val="D7F0F3"/>
    <a:srgbClr val="E1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020" autoAdjust="0"/>
  </p:normalViewPr>
  <p:slideViewPr>
    <p:cSldViewPr>
      <p:cViewPr varScale="1">
        <p:scale>
          <a:sx n="72" d="100"/>
          <a:sy n="72" d="100"/>
        </p:scale>
        <p:origin x="1104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3" d="100"/>
          <a:sy n="103" d="100"/>
        </p:scale>
        <p:origin x="32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7C656D6-A842-4425-A532-3D5FCD608661}" type="datetime1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B2F23AD-DD44-49C7-AB14-59A495CA52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591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01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9EB583F-6715-4920-B56D-72B9914B75E2}" type="datetime1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010" y="8684684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702B6B-561A-4A8F-9B90-C1F5C818ED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5913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Objective: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Arial" charset="0"/>
              </a:rPr>
              <a:t> Students will understand the need for DC biasing, recognize the voltage divider bias configuration as a stable solution, and grasp the basic concepts of small-signal AC analysis, including voltage gain.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61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base"/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7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40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E23A0-3DB7-5774-CEE1-03A470395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263B0-4AE7-6082-F0AE-EC68B8B56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7592C-D03C-7CCF-E312-A856A2A38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78E20-54BE-F2B9-D79A-E37A128A5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38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899F3-F0BB-9CFB-68B7-D8024EE4C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97BEB-1E41-D165-E96C-E5FAD58B6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AE9CBF-F40E-75D2-B7CF-BB3BA6A26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ABD40-9742-EEC8-A882-8C0A9C497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901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3B53-7EE3-845E-3816-3C78A468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2A84-2532-BDF9-B349-AC3205650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08564-CBEC-4606-1FD6-2DBFEF0F5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AA7DA-18BB-6C70-8B63-D0BA05855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702B6B-561A-4A8F-9B90-C1F5C818EDE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718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439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300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039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6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48.png"/><Relationship Id="rId9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88640"/>
            <a:ext cx="9048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79376" y="4509120"/>
            <a:ext cx="943304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 i="1">
                <a:solidFill>
                  <a:srgbClr val="C66B5A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 pitchFamily="34" charset="0"/>
              </a:defRPr>
            </a:lvl9pPr>
          </a:lstStyle>
          <a:p>
            <a:pPr>
              <a:defRPr/>
            </a:pPr>
            <a:r>
              <a:rPr lang="bg-BG" sz="3200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Биполярният транзистор</a:t>
            </a:r>
            <a:r>
              <a:rPr lang="en-US" sz="3200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 </a:t>
            </a:r>
            <a:r>
              <a:rPr lang="bg-BG" sz="3200" b="0" i="0" kern="0" dirty="0">
                <a:solidFill>
                  <a:schemeClr val="tx1"/>
                </a:solidFill>
                <a:effectLst/>
                <a:latin typeface="Arial Narrow" pitchFamily="34" charset="0"/>
              </a:rPr>
              <a:t>като усилвател</a:t>
            </a:r>
            <a:endParaRPr lang="en-US" sz="3200" b="0" i="0" kern="0" dirty="0"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ru-RU" sz="3200" dirty="0">
                <a:solidFill>
                  <a:schemeClr val="accent2"/>
                </a:solidFill>
                <a:latin typeface="Arial Narrow" pitchFamily="34" charset="0"/>
              </a:rPr>
              <a:t>Целта: От DC управление към AC усилване</a:t>
            </a:r>
            <a:br>
              <a:rPr lang="ru-RU" sz="3200" dirty="0">
                <a:solidFill>
                  <a:schemeClr val="accent2"/>
                </a:solidFill>
                <a:latin typeface="Arial Narrow" pitchFamily="34" charset="0"/>
              </a:rPr>
            </a:br>
            <a:endParaRPr lang="en-US" sz="320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814734-C286-B1BC-8AD4-432DD5A1469C}"/>
              </a:ext>
            </a:extLst>
          </p:cNvPr>
          <p:cNvSpPr txBox="1"/>
          <p:nvPr/>
        </p:nvSpPr>
        <p:spPr>
          <a:xfrm>
            <a:off x="191344" y="1208941"/>
            <a:ext cx="698477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Последния път създадохме нашата „карта“ – характеристичните криви – и използвахме линия на натоварване, за да намерим работна точка по постоянен ток, Q-точката. Досега всичко беше постоянен ток. Но </a:t>
            </a:r>
            <a:r>
              <a:rPr lang="bg-BG" sz="1600" dirty="0"/>
              <a:t>ние </a:t>
            </a:r>
            <a:r>
              <a:rPr lang="ru-RU" sz="1600" dirty="0"/>
              <a:t>искаме да усилим променлив сигнал, като музика или радиовълна.</a:t>
            </a:r>
          </a:p>
          <a:p>
            <a:endParaRPr lang="ru-RU" sz="1600" dirty="0"/>
          </a:p>
          <a:p>
            <a:r>
              <a:rPr lang="ru-RU" sz="1600" dirty="0"/>
              <a:t>Променливият сигнал се колебае положително и отрицателно. Ако просто го приложим директно към базата, биполярният транзистор ще бъде в изключено положение по време на отрицателния полупериод. Ще отрежем половината от сигнала си.</a:t>
            </a:r>
          </a:p>
          <a:p>
            <a:endParaRPr lang="bg-BG" sz="1600" dirty="0"/>
          </a:p>
          <a:p>
            <a:r>
              <a:rPr lang="ru-RU" sz="1600" dirty="0"/>
              <a:t>Първо трябва да използваме постоянно напрежение, за да „повдигнем“ нашия променливотоков сигнал до средата на активната област. Трябва да зададем стабилна работна точка на постоянен ток или Q-точка и след това да оставим малкия променливотоков сигнал да „се движи“ върху нея. Този процес се нарича “</a:t>
            </a:r>
            <a:r>
              <a:rPr lang="bg-BG" sz="1600" dirty="0"/>
              <a:t>установяване на посточнно токовия режим (</a:t>
            </a:r>
            <a:r>
              <a:rPr lang="ru-RU" sz="1600" dirty="0"/>
              <a:t>DC </a:t>
            </a:r>
            <a:r>
              <a:rPr lang="en-US" sz="1600" dirty="0"/>
              <a:t>biasing)”.</a:t>
            </a:r>
            <a:endParaRPr lang="bg-BG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E6DB69-8E5C-EF03-C8F3-E0996BE0EB64}"/>
              </a:ext>
            </a:extLst>
          </p:cNvPr>
          <p:cNvSpPr txBox="1"/>
          <p:nvPr/>
        </p:nvSpPr>
        <p:spPr>
          <a:xfrm>
            <a:off x="11352584" y="6525344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BC547</a:t>
            </a:r>
            <a:endParaRPr lang="bg-BG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907C9-5520-42B1-70B9-5A6159715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168" y="1052736"/>
            <a:ext cx="4948488" cy="4228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55AFA-BBDF-DC44-BE92-5B6CFA40A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484784"/>
            <a:ext cx="4449753" cy="3530623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1465F15-CFA5-E2BE-6FC0-F238141F9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76"/>
            <a:ext cx="12192000" cy="5681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3200" dirty="0">
                <a:solidFill>
                  <a:srgbClr val="0038A8"/>
                </a:solidFill>
                <a:latin typeface="Arial Narrow" panose="020B0606020202030204" pitchFamily="34" charset="0"/>
              </a:rPr>
              <a:t>У</a:t>
            </a:r>
            <a:r>
              <a:rPr lang="en-US" sz="3200" dirty="0" err="1">
                <a:solidFill>
                  <a:srgbClr val="0038A8"/>
                </a:solidFill>
                <a:latin typeface="Arial Narrow" panose="020B0606020202030204" pitchFamily="34" charset="0"/>
              </a:rPr>
              <a:t>силва</a:t>
            </a:r>
            <a:r>
              <a:rPr lang="bg-BG" sz="3200" dirty="0">
                <a:solidFill>
                  <a:srgbClr val="0038A8"/>
                </a:solidFill>
                <a:latin typeface="Arial Narrow" panose="020B0606020202030204" pitchFamily="34" charset="0"/>
              </a:rPr>
              <a:t>не на променливотоков сигнал</a:t>
            </a:r>
            <a:endParaRPr lang="en-US" sz="3200" dirty="0">
              <a:solidFill>
                <a:srgbClr val="0038A8"/>
              </a:solidFill>
              <a:latin typeface="Arial Narrow" panose="020B0606020202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FBD8C9-1605-8C6C-C724-622B719F3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904" y="1569701"/>
            <a:ext cx="6585510" cy="336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0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479376" y="4896364"/>
            <a:ext cx="1137726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>
                <a:latin typeface="+mn-lt"/>
              </a:rPr>
              <a:t>Променливото входно напрежение предизвиква появата на променлив ток в базата, което довежда до промяна в колекторния ток и съответно до промяна в изходното напрежение.</a:t>
            </a:r>
            <a:endParaRPr lang="en-US" sz="1800" i="0" dirty="0">
              <a:latin typeface="+mn-lt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176" y="787896"/>
            <a:ext cx="61722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71864" y="971436"/>
            <a:ext cx="612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en-US" sz="1200" i="1" dirty="0"/>
              <a:t>U</a:t>
            </a:r>
            <a:r>
              <a:rPr lang="en-US" sz="1200" i="1" baseline="-25000" dirty="0"/>
              <a:t>CC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16A4D0-E121-3978-C346-63FABC49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2376"/>
            <a:ext cx="12192000" cy="5681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3200" dirty="0">
                <a:solidFill>
                  <a:srgbClr val="0038A8"/>
                </a:solidFill>
                <a:latin typeface="Arial Narrow" panose="020B0606020202030204" pitchFamily="34" charset="0"/>
              </a:rPr>
              <a:t>Графичен анализ</a:t>
            </a:r>
            <a:endParaRPr lang="en-US" sz="3200" dirty="0">
              <a:solidFill>
                <a:srgbClr val="0038A8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3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3E4475-42B0-CF81-21DD-ECBEF792A5A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11424" y="1484784"/>
            <a:ext cx="3410280" cy="3092760"/>
          </a:xfrm>
          <a:prstGeom prst="rect">
            <a:avLst/>
          </a:prstGeom>
          <a:ln w="0"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AC37253-5CF7-85C3-CDE1-6BF9642C4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Схема с фиксиран базов ток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AE8FCA-8B06-622D-F9D3-EF79D1F07B21}"/>
                  </a:ext>
                </a:extLst>
              </p:cNvPr>
              <p:cNvSpPr txBox="1"/>
              <p:nvPr/>
            </p:nvSpPr>
            <p:spPr>
              <a:xfrm>
                <a:off x="5180418" y="2254368"/>
                <a:ext cx="2689880" cy="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kumimoji="0" 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BAE8FCA-8B06-622D-F9D3-EF79D1F07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418" y="2254368"/>
                <a:ext cx="2689880" cy="656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5E7990C-C10E-2F59-3D04-477A4943562D}"/>
              </a:ext>
            </a:extLst>
          </p:cNvPr>
          <p:cNvSpPr txBox="1"/>
          <p:nvPr/>
        </p:nvSpPr>
        <p:spPr>
          <a:xfrm>
            <a:off x="6168008" y="3356992"/>
            <a:ext cx="1080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C 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= </a:t>
            </a:r>
            <a:r>
              <a:rPr lang="el-GR" sz="1800" b="0" strike="noStrike" spc="-1" dirty="0">
                <a:solidFill>
                  <a:srgbClr val="FF0000"/>
                </a:solidFill>
                <a:latin typeface="Calibri"/>
              </a:rPr>
              <a:t>β</a:t>
            </a:r>
            <a:r>
              <a:rPr lang="bg-BG" sz="1800" b="0" strike="noStrike" spc="-1" dirty="0">
                <a:solidFill>
                  <a:schemeClr val="dk1"/>
                </a:solidFill>
                <a:latin typeface="Calibri"/>
              </a:rPr>
              <a:t>.</a:t>
            </a:r>
            <a:r>
              <a:rPr lang="en-US" sz="1800" b="0" i="1" strike="noStrike" spc="-1" dirty="0">
                <a:solidFill>
                  <a:schemeClr val="dk1"/>
                </a:solidFill>
                <a:latin typeface="Calibri"/>
              </a:rPr>
              <a:t>I</a:t>
            </a:r>
            <a:r>
              <a:rPr lang="en-US" sz="1800" b="0" i="1" strike="noStrike" spc="-1" baseline="-25000" dirty="0">
                <a:solidFill>
                  <a:schemeClr val="dk1"/>
                </a:solidFill>
                <a:latin typeface="Calibri"/>
              </a:rPr>
              <a:t>B</a:t>
            </a:r>
            <a:r>
              <a:rPr lang="en-US" sz="1800" b="0" strike="noStrike" spc="-1" dirty="0">
                <a:solidFill>
                  <a:schemeClr val="dk1"/>
                </a:solidFill>
                <a:latin typeface="Calibri"/>
              </a:rPr>
              <a:t> </a:t>
            </a:r>
            <a:endParaRPr lang="bg-B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6923A0-E1C6-656E-EDDE-38C781F65F00}"/>
              </a:ext>
            </a:extLst>
          </p:cNvPr>
          <p:cNvSpPr txBox="1"/>
          <p:nvPr/>
        </p:nvSpPr>
        <p:spPr>
          <a:xfrm>
            <a:off x="3935760" y="4330307"/>
            <a:ext cx="7056784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1100"/>
              </a:spcBef>
              <a:spcAft>
                <a:spcPts val="1100"/>
              </a:spcAft>
            </a:pP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Работната точка на тази схема е изцяло зависима от </a:t>
            </a:r>
            <a:r>
              <a:rPr lang="el-GR" sz="1600" spc="-1" dirty="0">
                <a:solidFill>
                  <a:schemeClr val="dk1"/>
                </a:solidFill>
                <a:latin typeface="Calibri"/>
              </a:rPr>
              <a:t>β </a:t>
            </a:r>
            <a:endParaRPr lang="bg-BG" sz="1600" spc="-1" dirty="0">
              <a:solidFill>
                <a:schemeClr val="dk1"/>
              </a:solidFill>
              <a:latin typeface="Calibri"/>
            </a:endParaRPr>
          </a:p>
          <a:p>
            <a:pPr marL="457200">
              <a:spcBef>
                <a:spcPts val="1100"/>
              </a:spcBef>
              <a:spcAft>
                <a:spcPts val="1100"/>
              </a:spcAft>
            </a:pP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Тъй като </a:t>
            </a:r>
            <a:r>
              <a:rPr lang="el-GR" spc="-1" dirty="0">
                <a:solidFill>
                  <a:schemeClr val="dk1"/>
                </a:solidFill>
                <a:latin typeface="Calibri"/>
              </a:rPr>
              <a:t>β </a:t>
            </a:r>
            <a:r>
              <a:rPr lang="bg-BG" spc="-1" dirty="0">
                <a:solidFill>
                  <a:schemeClr val="dk1"/>
                </a:solidFill>
                <a:latin typeface="Calibri"/>
              </a:rPr>
              <a:t>се </a:t>
            </a: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променя с температурата, тази верига е нестабилна и ненадеждна. Нуждаем се от по-добър начин.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E3F9E4-E9A0-58D2-9605-2680B763C864}"/>
              </a:ext>
            </a:extLst>
          </p:cNvPr>
          <p:cNvSpPr txBox="1"/>
          <p:nvPr/>
        </p:nvSpPr>
        <p:spPr>
          <a:xfrm>
            <a:off x="4007768" y="1161618"/>
            <a:ext cx="70567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spcBef>
                <a:spcPts val="1100"/>
              </a:spcBef>
              <a:spcAft>
                <a:spcPts val="1100"/>
              </a:spcAft>
            </a:pPr>
            <a:r>
              <a:rPr lang="bg-BG" dirty="0">
                <a:solidFill>
                  <a:srgbClr val="1A1C1E"/>
                </a:solidFill>
                <a:latin typeface="Arial" panose="020B0604020202020204" pitchFamily="34" charset="0"/>
              </a:rPr>
              <a:t>Най-простата схема за установяване на работна тока е схема с фиксиран базов ток.</a:t>
            </a:r>
            <a:endParaRPr lang="ru-RU" sz="1800" b="0" i="0" u="none" strike="noStrike" dirty="0">
              <a:solidFill>
                <a:srgbClr val="1A1C1E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79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EC2E6-2EC4-CC55-824D-F7D98A9E5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5997CE-7AE5-4091-7AE0-5A96AC034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Отрицателна обратна връзка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DD678-24A7-7C62-C47C-636989BC39E9}"/>
              </a:ext>
            </a:extLst>
          </p:cNvPr>
          <p:cNvSpPr txBox="1"/>
          <p:nvPr/>
        </p:nvSpPr>
        <p:spPr>
          <a:xfrm>
            <a:off x="263352" y="1124744"/>
            <a:ext cx="705678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Преди да разгледаме решението, нека поговорим за една от най-важните идеи в цялото инженерство:</a:t>
            </a:r>
          </a:p>
          <a:p>
            <a:r>
              <a:rPr lang="ru-RU" b="1" dirty="0"/>
              <a:t>отрицателна обратна връзка</a:t>
            </a:r>
          </a:p>
          <a:p>
            <a:endParaRPr lang="ru-RU" b="1" dirty="0"/>
          </a:p>
          <a:p>
            <a:r>
              <a:rPr lang="ru-RU" dirty="0"/>
              <a:t>Концепцията е проста: вземате малка част от изходният сигнал и я „връщате“ обратно към входня сигнал по начин, който противодейства на всякакви промени.</a:t>
            </a:r>
          </a:p>
          <a:p>
            <a:endParaRPr lang="ru-RU" b="1" dirty="0"/>
          </a:p>
          <a:p>
            <a:r>
              <a:rPr lang="ru-RU" b="1" dirty="0"/>
              <a:t>Аналогия: Термостатът</a:t>
            </a:r>
            <a:r>
              <a:rPr lang="ru-RU" dirty="0"/>
              <a:t> </a:t>
            </a:r>
          </a:p>
          <a:p>
            <a:r>
              <a:rPr lang="ru-RU" dirty="0"/>
              <a:t>„Изходът“ е стайната температура. Термостатът измерва температурата и </a:t>
            </a:r>
            <a:r>
              <a:rPr lang="ru-RU" i="1" dirty="0"/>
              <a:t>ако стане твърде горещо - </a:t>
            </a:r>
            <a:r>
              <a:rPr lang="ru-RU" dirty="0"/>
              <a:t>изключва нагревателя. Ако стане </a:t>
            </a:r>
            <a:r>
              <a:rPr lang="ru-RU" i="1" dirty="0"/>
              <a:t>твърде студено</a:t>
            </a:r>
            <a:r>
              <a:rPr lang="ru-RU" dirty="0"/>
              <a:t>, това включва нагревателя.</a:t>
            </a:r>
            <a:r>
              <a:rPr lang="ru-RU" i="1" dirty="0"/>
              <a:t> </a:t>
            </a:r>
            <a:r>
              <a:rPr lang="ru-RU" dirty="0"/>
              <a:t>Винаги работи, за да се противопоставя на грешката, поддържайки системата стабилна. </a:t>
            </a:r>
          </a:p>
          <a:p>
            <a:r>
              <a:rPr lang="ru-RU" dirty="0"/>
              <a:t>Това е отрицателна обратна връзка.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4D41BF92-EE90-398C-F0B9-4754DFCB28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4152" y="1484784"/>
            <a:ext cx="4331871" cy="159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80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B919E-6E11-F340-7636-69282674D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215116-AD71-958C-402C-3D8171B82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Отрицателна обратна връзка</a:t>
            </a:r>
            <a:endParaRPr lang="en-US" sz="3200" kern="0" dirty="0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579F7-1CC3-14AE-F1C5-A2992267D6CA}"/>
              </a:ext>
            </a:extLst>
          </p:cNvPr>
          <p:cNvSpPr txBox="1"/>
          <p:nvPr/>
        </p:nvSpPr>
        <p:spPr>
          <a:xfrm>
            <a:off x="263352" y="1124744"/>
            <a:ext cx="7848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През 20-те години на миналия век инженер в Bell Labs на име </a:t>
            </a:r>
            <a:r>
              <a:rPr lang="de-DE" b="1" dirty="0"/>
              <a:t>Harold Stephen Black</a:t>
            </a:r>
            <a:r>
              <a:rPr lang="bg-BG" b="1" dirty="0"/>
              <a:t> </a:t>
            </a:r>
            <a:r>
              <a:rPr lang="ru-RU" dirty="0"/>
              <a:t>се опитвал да проектира по-добри телефонни усилватели, но те били безнадеждно нелинейни и нестабилни.</a:t>
            </a:r>
          </a:p>
          <a:p>
            <a:endParaRPr lang="ru-RU" dirty="0"/>
          </a:p>
          <a:p>
            <a:r>
              <a:rPr lang="ru-RU" dirty="0"/>
              <a:t>Историята разказва, че една сутрин отивал на работа с ферибот, когато цялата концепция за усилвател с отрицателна обратна връзка му хрумнала. Точно тогава той я надраскал на вестника си. </a:t>
            </a:r>
          </a:p>
          <a:p>
            <a:endParaRPr lang="ru-RU" dirty="0"/>
          </a:p>
          <a:p>
            <a:r>
              <a:rPr lang="ru-RU" dirty="0"/>
              <a:t>Тази единствена идея се смята от мнозина за най-важното изобретение в електрониката от първата половина на 20-ти век. </a:t>
            </a:r>
          </a:p>
          <a:p>
            <a:r>
              <a:rPr lang="ru-RU" dirty="0"/>
              <a:t>Тя ни позволява да създаваме стабилни, предвидими системи от несъвършени компоненти.</a:t>
            </a:r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F852E1C7-787F-6864-7288-2AFF72512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1052736"/>
            <a:ext cx="2785100" cy="4080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82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9192-7617-8492-3015-48008DED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59B910A-7D31-9145-52AD-BFF962A9C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Схема с фиксиран емитерен ток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57456-1D91-2779-BFB9-4CBAECA30DE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95400" y="1340768"/>
            <a:ext cx="3636360" cy="3502440"/>
          </a:xfrm>
          <a:prstGeom prst="rect">
            <a:avLst/>
          </a:prstGeom>
          <a:ln w="0"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413884-9DDA-3F84-4513-1658A6C30AB9}"/>
              </a:ext>
            </a:extLst>
          </p:cNvPr>
          <p:cNvSpPr txBox="1"/>
          <p:nvPr/>
        </p:nvSpPr>
        <p:spPr>
          <a:xfrm>
            <a:off x="4304932" y="692696"/>
            <a:ext cx="7479699" cy="4844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Ключът към стабилността на тази верига е емитерният</a:t>
            </a:r>
            <a:r>
              <a:rPr lang="en-US" sz="1600" dirty="0"/>
              <a:t> </a:t>
            </a:r>
            <a:r>
              <a:rPr lang="ru-RU" sz="1600" dirty="0"/>
              <a:t>резистор Re</a:t>
            </a:r>
          </a:p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Представете си, че транзисторът започва да се нагрява, което води до </a:t>
            </a:r>
            <a:r>
              <a:rPr lang="bg-BG" sz="1600" dirty="0"/>
              <a:t>увеличаване на </a:t>
            </a:r>
            <a:r>
              <a:rPr lang="el-GR" sz="1600" spc="-1" dirty="0">
                <a:solidFill>
                  <a:schemeClr val="dk1"/>
                </a:solidFill>
                <a:latin typeface="Calibri"/>
              </a:rPr>
              <a:t>β</a:t>
            </a:r>
            <a:r>
              <a:rPr lang="ru-RU" sz="1600" dirty="0"/>
              <a:t>. Това ще се доведе до увеличаване на колекторния ток Ic. Понеже Ie ≈ Ic, емитерният ток също ще се увеличи.</a:t>
            </a:r>
          </a:p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Според закона на Ом, ако Ie се увеличава, падът на напрежението върху </a:t>
            </a:r>
            <a:r>
              <a:rPr lang="en-US" sz="1600" dirty="0"/>
              <a:t>Re </a:t>
            </a:r>
            <a:r>
              <a:rPr lang="ru-RU" sz="1600" dirty="0"/>
              <a:t>(</a:t>
            </a:r>
            <a:r>
              <a:rPr lang="en-US" sz="1600" dirty="0"/>
              <a:t>U</a:t>
            </a:r>
            <a:r>
              <a:rPr lang="ru-RU" sz="1600" dirty="0"/>
              <a:t>e = Ie * Re) също трябва да се увеличи.</a:t>
            </a:r>
          </a:p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А сега за обратната връзка! </a:t>
            </a:r>
            <a:br>
              <a:rPr lang="ru-RU" sz="1600" dirty="0"/>
            </a:br>
            <a:r>
              <a:rPr lang="ru-RU" sz="1600" dirty="0"/>
              <a:t>Напрежението на прехода база-емитер е</a:t>
            </a:r>
            <a:r>
              <a:rPr lang="en-US" sz="1600" dirty="0"/>
              <a:t> U</a:t>
            </a:r>
            <a:r>
              <a:rPr lang="ru-RU" sz="1600" dirty="0"/>
              <a:t>be = </a:t>
            </a:r>
            <a:r>
              <a:rPr lang="en-US" sz="1600" dirty="0"/>
              <a:t>U</a:t>
            </a:r>
            <a:r>
              <a:rPr lang="ru-RU" sz="1600" dirty="0"/>
              <a:t>b – </a:t>
            </a:r>
            <a:r>
              <a:rPr lang="en-US" sz="1600" dirty="0"/>
              <a:t>U</a:t>
            </a:r>
            <a:r>
              <a:rPr lang="ru-RU" sz="1600" dirty="0"/>
              <a:t>e</a:t>
            </a:r>
            <a:r>
              <a:rPr lang="en-US" sz="1600" dirty="0"/>
              <a:t>. </a:t>
            </a:r>
            <a:r>
              <a:rPr lang="ru-RU" sz="1600" dirty="0"/>
              <a:t>Базовото напрежение</a:t>
            </a:r>
            <a:r>
              <a:rPr lang="en-US" sz="1600" dirty="0"/>
              <a:t> U</a:t>
            </a:r>
            <a:r>
              <a:rPr lang="ru-RU" sz="1600" dirty="0"/>
              <a:t>b</a:t>
            </a:r>
            <a:r>
              <a:rPr lang="en-US" sz="1600" dirty="0"/>
              <a:t> </a:t>
            </a:r>
            <a:r>
              <a:rPr lang="ru-RU" sz="1600" dirty="0"/>
              <a:t>се държи стабилно от нашия делител на напрежение.</a:t>
            </a:r>
          </a:p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И така, ако</a:t>
            </a:r>
            <a:r>
              <a:rPr lang="en-US" sz="1600" dirty="0"/>
              <a:t> U</a:t>
            </a:r>
            <a:r>
              <a:rPr lang="ru-RU" sz="1600" dirty="0"/>
              <a:t>e</a:t>
            </a:r>
            <a:r>
              <a:rPr lang="en-US" sz="1600" dirty="0"/>
              <a:t> </a:t>
            </a:r>
            <a:r>
              <a:rPr lang="bg-BG" sz="1600" dirty="0"/>
              <a:t>нараства</a:t>
            </a:r>
            <a:r>
              <a:rPr lang="ru-RU" sz="1600" dirty="0"/>
              <a:t>, </a:t>
            </a:r>
            <a:r>
              <a:rPr lang="en-US" sz="1600" dirty="0"/>
              <a:t>U</a:t>
            </a:r>
            <a:r>
              <a:rPr lang="ru-RU" sz="1600" dirty="0"/>
              <a:t>be трябва да тръгне надолу.</a:t>
            </a:r>
          </a:p>
          <a:p>
            <a:pPr>
              <a:spcBef>
                <a:spcPts val="1100"/>
              </a:spcBef>
              <a:spcAft>
                <a:spcPts val="1100"/>
              </a:spcAft>
            </a:pPr>
            <a:r>
              <a:rPr lang="ru-RU" sz="1600" dirty="0"/>
              <a:t>По-ниското </a:t>
            </a:r>
            <a:r>
              <a:rPr lang="en-US" sz="1600" dirty="0"/>
              <a:t>U</a:t>
            </a:r>
            <a:r>
              <a:rPr lang="ru-RU" sz="1600" dirty="0"/>
              <a:t>be намалява броя на електроните, инжектирани в базата, което води до намаляване на Ic.</a:t>
            </a:r>
          </a:p>
          <a:p>
            <a:endParaRPr lang="bg-BG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9632AB-4D86-9CBB-E7CC-53BC5FBB9343}"/>
              </a:ext>
            </a:extLst>
          </p:cNvPr>
          <p:cNvSpPr txBox="1"/>
          <p:nvPr/>
        </p:nvSpPr>
        <p:spPr>
          <a:xfrm>
            <a:off x="-24680" y="5715536"/>
            <a:ext cx="116107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 fontAlgn="base">
              <a:spcBef>
                <a:spcPts val="1100"/>
              </a:spcBef>
              <a:spcAft>
                <a:spcPts val="1100"/>
              </a:spcAft>
            </a:pP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Транзисторът се опита да увеличи тока си и схемата автоматично реагира, като създаде сигнал, който </a:t>
            </a:r>
            <a:r>
              <a:rPr lang="ru-RU" sz="1800" b="0" i="1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намали</a:t>
            </a: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 тока. Това е </a:t>
            </a:r>
            <a:r>
              <a:rPr lang="ru-RU" sz="1800" b="1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отрицателна обратна връзка по постоянен ток </a:t>
            </a: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в действие. Това е, което прави </a:t>
            </a:r>
            <a:r>
              <a:rPr lang="ru-RU" dirty="0">
                <a:solidFill>
                  <a:srgbClr val="1A1C1E"/>
                </a:solidFill>
                <a:latin typeface="Arial" panose="020B0604020202020204" pitchFamily="34" charset="0"/>
              </a:rPr>
              <a:t>работната т</a:t>
            </a:r>
            <a:r>
              <a:rPr lang="ru-RU" sz="1800" b="0" i="0" u="none" strike="noStrike" dirty="0">
                <a:solidFill>
                  <a:srgbClr val="1A1C1E"/>
                </a:solidFill>
                <a:effectLst/>
                <a:latin typeface="Arial" panose="020B0604020202020204" pitchFamily="34" charset="0"/>
              </a:rPr>
              <a:t>очка стабилна и независима от бета.</a:t>
            </a:r>
          </a:p>
        </p:txBody>
      </p:sp>
    </p:spTree>
    <p:extLst>
      <p:ext uri="{BB962C8B-B14F-4D97-AF65-F5344CB8AC3E}">
        <p14:creationId xmlns:p14="http://schemas.microsoft.com/office/powerpoint/2010/main" val="291027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0F8C31E-0764-F6B0-BCE4-9DD2E887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Делител на напрежение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FEAFA1-6CE2-BB5C-CBE1-AE9E0513B92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384032" y="1092222"/>
            <a:ext cx="3168352" cy="2938869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EA6B82-55CA-F09B-8775-D6D5CD8D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836712"/>
            <a:ext cx="3293142" cy="31493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DC93FF-1589-4491-D620-82C21B01F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448" y="3993226"/>
            <a:ext cx="2232248" cy="2375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BEDB9D-FD0E-F9C4-83A3-AFE2617C5F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930"/>
          <a:stretch>
            <a:fillRect/>
          </a:stretch>
        </p:blipFill>
        <p:spPr>
          <a:xfrm>
            <a:off x="6528049" y="4530571"/>
            <a:ext cx="3528392" cy="20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56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855B8D3-0D65-3676-830A-9C7517A2C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9" y="0"/>
            <a:ext cx="12192000" cy="7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bg-BG" sz="3200" kern="0" dirty="0">
                <a:solidFill>
                  <a:schemeClr val="accent2"/>
                </a:solidFill>
                <a:latin typeface="Arial Narrow" pitchFamily="34" charset="0"/>
              </a:rPr>
              <a:t>Постоянно-токов анализ на схема с фиксиран емитерен ток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6E4CC2-AB26-39C5-23B9-8B868B9B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5029902" cy="42201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C2B0F-F4E0-FF9E-CA6F-171B0D8238D1}"/>
                  </a:ext>
                </a:extLst>
              </p:cNvPr>
              <p:cNvSpPr txBox="1"/>
              <p:nvPr/>
            </p:nvSpPr>
            <p:spPr>
              <a:xfrm>
                <a:off x="4799856" y="1988840"/>
                <a:ext cx="2689880" cy="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𝐵𝐵</m:t>
                          </m:r>
                        </m:sub>
                      </m:sSub>
                      <m:r>
                        <a:rPr kumimoji="0" 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𝐶𝐶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. </m:t>
                          </m:r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DC2B0F-F4E0-FF9E-CA6F-171B0D823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856" y="1988840"/>
                <a:ext cx="2689880" cy="656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21617-46D7-9F80-7E0A-CC6F66555174}"/>
                  </a:ext>
                </a:extLst>
              </p:cNvPr>
              <p:cNvSpPr txBox="1"/>
              <p:nvPr/>
            </p:nvSpPr>
            <p:spPr>
              <a:xfrm>
                <a:off x="7392144" y="2099288"/>
                <a:ext cx="2689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𝐵𝐵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𝐵𝐸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1821617-46D7-9F80-7E0A-CC6F665551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099288"/>
                <a:ext cx="26898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073631-9474-0E87-A356-A83B997896EA}"/>
                  </a:ext>
                </a:extLst>
              </p:cNvPr>
              <p:cNvSpPr txBox="1"/>
              <p:nvPr/>
            </p:nvSpPr>
            <p:spPr>
              <a:xfrm>
                <a:off x="5339916" y="3149101"/>
                <a:ext cx="1368152" cy="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073631-9474-0E87-A356-A83B99789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916" y="3149101"/>
                <a:ext cx="1368152" cy="6562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EA0900-EDE3-5A16-97F7-A1F35C264CBC}"/>
                  </a:ext>
                </a:extLst>
              </p:cNvPr>
              <p:cNvSpPr txBox="1"/>
              <p:nvPr/>
            </p:nvSpPr>
            <p:spPr>
              <a:xfrm>
                <a:off x="7752184" y="3291146"/>
                <a:ext cx="136815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kumimoji="0" 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EA0900-EDE3-5A16-97F7-A1F35C264C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184" y="3291146"/>
                <a:ext cx="136815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EC6253-1202-6DA3-C00D-95BD99765781}"/>
                  </a:ext>
                </a:extLst>
              </p:cNvPr>
              <p:cNvSpPr txBox="1"/>
              <p:nvPr/>
            </p:nvSpPr>
            <p:spPr>
              <a:xfrm>
                <a:off x="5558702" y="4425534"/>
                <a:ext cx="2689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𝐶𝐶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6EC6253-1202-6DA3-C00D-95BD99765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8702" y="4425534"/>
                <a:ext cx="268988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11832-5B25-E808-5E75-8D9AC4F9A71D}"/>
                  </a:ext>
                </a:extLst>
              </p:cNvPr>
              <p:cNvSpPr txBox="1"/>
              <p:nvPr/>
            </p:nvSpPr>
            <p:spPr>
              <a:xfrm>
                <a:off x="7978925" y="4425534"/>
                <a:ext cx="2689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kumimoji="0" lang="en-US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𝐶𝐸</m:t>
                        </m:r>
                      </m:sub>
                    </m:sSub>
                    <m:r>
                      <a:rPr kumimoji="0" lang="en-US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0F11832-5B25-E808-5E75-8D9AC4F9A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925" y="4425534"/>
                <a:ext cx="268988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9F339-02C0-7E48-41EB-99118C8D38E7}"/>
                  </a:ext>
                </a:extLst>
              </p:cNvPr>
              <p:cNvSpPr txBox="1"/>
              <p:nvPr/>
            </p:nvSpPr>
            <p:spPr>
              <a:xfrm>
                <a:off x="5555940" y="884041"/>
                <a:ext cx="244827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kumimoji="0" lang="en-US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kumimoji="0" lang="en-US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=?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79F339-02C0-7E48-41EB-99118C8D3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5940" y="884041"/>
                <a:ext cx="24482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1222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87454DEF-3524-45C5-9533-A78DC71201B2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Пример</a:t>
            </a:r>
            <a:r>
              <a:rPr lang="en-US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 – </a:t>
            </a: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Постоянно-токов режим на усилвател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5C2011-5946-0DAB-1342-7F6E4B21B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5029902" cy="42201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0DAEA1-78E3-B122-471E-A3E08EB67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5157192"/>
            <a:ext cx="3672408" cy="1499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322320-173C-B47E-FA21-65113F299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1079294"/>
            <a:ext cx="3744416" cy="473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17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FC1153-9DEF-524D-FA7D-E6FCB508FC54}"/>
              </a:ext>
            </a:extLst>
          </p:cNvPr>
          <p:cNvSpPr txBox="1"/>
          <p:nvPr/>
        </p:nvSpPr>
        <p:spPr>
          <a:xfrm>
            <a:off x="3071664" y="2996952"/>
            <a:ext cx="6202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Продължение – променливо-токов анализ на усилвател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28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4BA96F-295D-DC2E-0E45-C6FC31A2B1FE}"/>
              </a:ext>
            </a:extLst>
          </p:cNvPr>
          <p:cNvSpPr txBox="1"/>
          <p:nvPr/>
        </p:nvSpPr>
        <p:spPr>
          <a:xfrm>
            <a:off x="407368" y="620688"/>
            <a:ext cx="1123324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Основата за приложението на транзистора в проектирането на усилватели е, че когато той работи в активната област, се реализира източник на ток, управляван от напрежение.</a:t>
            </a:r>
          </a:p>
          <a:p>
            <a:endParaRPr lang="en-US" dirty="0"/>
          </a:p>
          <a:p>
            <a:r>
              <a:rPr lang="bg-BG" dirty="0"/>
              <a:t>Когато биполярният транзистор работи в активната област, напрежението база-емитер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dirty="0"/>
              <a:t> </a:t>
            </a:r>
            <a:r>
              <a:rPr lang="bg-BG" dirty="0"/>
              <a:t>контролира колекторния ток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bg-BG" dirty="0"/>
              <a:t> съгласно експоненциалната зависимост, която за npn транзистор се изразява като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A12B72-0576-1DDE-9B8B-66198BA6584C}"/>
                  </a:ext>
                </a:extLst>
              </p:cNvPr>
              <p:cNvSpPr txBox="1"/>
              <p:nvPr/>
            </p:nvSpPr>
            <p:spPr>
              <a:xfrm>
                <a:off x="767408" y="2443108"/>
                <a:ext cx="1134606" cy="416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𝑏𝑒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A12B72-0576-1DDE-9B8B-66198BA65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8" y="2443108"/>
                <a:ext cx="1134606" cy="4166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4C523BF-85AD-D7CE-A092-42DD62074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678" y="2715658"/>
            <a:ext cx="2736938" cy="35216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EBD546-5927-469D-A4B8-BD73209963E6}"/>
              </a:ext>
            </a:extLst>
          </p:cNvPr>
          <p:cNvSpPr txBox="1"/>
          <p:nvPr/>
        </p:nvSpPr>
        <p:spPr>
          <a:xfrm>
            <a:off x="479376" y="3079323"/>
            <a:ext cx="8280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Този модел на биполярния транзистор показва, че колекторният ток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bg-BG" dirty="0"/>
              <a:t> не зависи от колекторното напрежение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bg-BG" dirty="0"/>
              <a:t>, защото преходът колектор-база е обратно поляризиран, като по този начин „изолира“ колектора.</a:t>
            </a:r>
          </a:p>
          <a:p>
            <a:endParaRPr lang="bg-BG" dirty="0"/>
          </a:p>
          <a:p>
            <a:r>
              <a:rPr lang="ru-RU" dirty="0"/>
              <a:t>За npn транзистор, условието за обратно </a:t>
            </a:r>
            <a:r>
              <a:rPr lang="bg-BG" dirty="0"/>
              <a:t>поляризиране</a:t>
            </a:r>
            <a:r>
              <a:rPr lang="ru-RU" dirty="0"/>
              <a:t> на прехода CB се осигурява чрез поддържане на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ru-RU" dirty="0"/>
              <a:t>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≥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0,3 V</a:t>
            </a:r>
            <a:r>
              <a:rPr lang="ru-RU" dirty="0"/>
              <a:t>. Тъй като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ru-RU" dirty="0"/>
              <a:t> обикновено е близо до 0,7 V,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ru-RU" dirty="0"/>
              <a:t> се поддържа по-малко от 0,4 V, което е достатъчно, за да се предотврати провеждането на този относително голям преход.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466A0-A283-47B4-0FC1-489FB5AB9EDC}"/>
                  </a:ext>
                </a:extLst>
              </p:cNvPr>
              <p:cNvSpPr txBox="1"/>
              <p:nvPr/>
            </p:nvSpPr>
            <p:spPr>
              <a:xfrm>
                <a:off x="2423592" y="2394801"/>
                <a:ext cx="6922470" cy="6417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bg-BG" sz="1400" dirty="0"/>
                  <a:t> - ток на насищане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bg-BG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bg-BG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bg-BG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𝑘𝑇</m:t>
                        </m:r>
                      </m:num>
                      <m:den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lang="bg-BG" sz="1400" dirty="0"/>
                  <a:t> - топлинен потенциал, равен на 25-25</a:t>
                </a:r>
                <a:r>
                  <a:rPr lang="en-US" sz="1400" dirty="0"/>
                  <a:t>mV </a:t>
                </a:r>
                <a:r>
                  <a:rPr lang="bg-BG" sz="1400" dirty="0"/>
                  <a:t>за стайна температура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466A0-A283-47B4-0FC1-489FB5AB9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2394801"/>
                <a:ext cx="6922470" cy="641714"/>
              </a:xfrm>
              <a:prstGeom prst="rect">
                <a:avLst/>
              </a:prstGeom>
              <a:blipFill>
                <a:blip r:embed="rId4"/>
                <a:stretch>
                  <a:fillRect t="-1905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647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EBD6B7-970E-A6D8-9209-3E218FAB593D}"/>
              </a:ext>
            </a:extLst>
          </p:cNvPr>
          <p:cNvSpPr txBox="1"/>
          <p:nvPr/>
        </p:nvSpPr>
        <p:spPr>
          <a:xfrm>
            <a:off x="748337" y="182542"/>
            <a:ext cx="11017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38A8"/>
                </a:solidFill>
                <a:latin typeface="Arial Narrow" panose="020B0606020202030204" pitchFamily="34" charset="0"/>
              </a:rPr>
              <a:t>Получаване на линейно усилване чрез подходящ постоянно-токов режим на транзистора</a:t>
            </a:r>
            <a:endParaRPr lang="bg-BG" sz="2400" dirty="0">
              <a:solidFill>
                <a:srgbClr val="0038A8"/>
              </a:solidFill>
              <a:latin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07569-5313-A910-273F-4536021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024" y="1052736"/>
            <a:ext cx="5442695" cy="4824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4C3FF0-BBF5-6618-7A0B-CBCC48860F58}"/>
                  </a:ext>
                </a:extLst>
              </p:cNvPr>
              <p:cNvSpPr txBox="1"/>
              <p:nvPr/>
            </p:nvSpPr>
            <p:spPr>
              <a:xfrm>
                <a:off x="7320136" y="1052736"/>
                <a:ext cx="1134606" cy="416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bg-BG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>
                            <m:f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𝑏𝑒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den>
                          </m:f>
                        </m:sup>
                      </m:sSup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4C3FF0-BBF5-6618-7A0B-CBCC48860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136" y="1052736"/>
                <a:ext cx="1134606" cy="4166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752D222-3F72-39D5-81DC-3B8F9A8C63F3}"/>
              </a:ext>
            </a:extLst>
          </p:cNvPr>
          <p:cNvSpPr txBox="1"/>
          <p:nvPr/>
        </p:nvSpPr>
        <p:spPr>
          <a:xfrm>
            <a:off x="437281" y="1305341"/>
            <a:ext cx="604867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Зависимостта на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bg-BG" dirty="0"/>
              <a:t> от 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bg-BG" dirty="0"/>
              <a:t>нелинейна, но при подходящо избрана работна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bg-BG" dirty="0"/>
              <a:t>, е възможно да се постигне линейно усилване на сигнал с малка амплитуда.</a:t>
            </a:r>
          </a:p>
          <a:p>
            <a:endParaRPr lang="bg-BG" dirty="0"/>
          </a:p>
          <a:p>
            <a:r>
              <a:rPr lang="bg-BG" dirty="0"/>
              <a:t>На фигурат</a:t>
            </a:r>
            <a:r>
              <a:rPr lang="en-US" dirty="0"/>
              <a:t>a</a:t>
            </a:r>
            <a:r>
              <a:rPr lang="bg-BG" dirty="0"/>
              <a:t> е показано как малък синал с триъгълна форма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lang="bg-BG" dirty="0"/>
              <a:t>е наложен вурху постоянното напрежение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en-US" dirty="0"/>
              <a:t>. </a:t>
            </a:r>
            <a:r>
              <a:rPr lang="bg-BG" dirty="0"/>
              <a:t>Това води до промени със същата форма в колекторния ток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bg-BG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dirty="0"/>
              <a:t>, който е наложен върху  постоянният колекторен ток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dirty="0"/>
          </a:p>
          <a:p>
            <a:endParaRPr lang="en-US" dirty="0"/>
          </a:p>
          <a:p>
            <a:r>
              <a:rPr lang="bg-BG" dirty="0"/>
              <a:t>В линейната област близо до работната точка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/>
              <a:t>, </a:t>
            </a:r>
            <a:r>
              <a:rPr lang="bg-BG" dirty="0"/>
              <a:t>връзката между малките промени в напрежението база-емитер и съответните промени на колекторният ток се дава от т.нар. стръмност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/>
              <a:t>.</a:t>
            </a:r>
            <a:r>
              <a:rPr lang="bg-BG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0E0D82-5F24-13E5-90BE-E953D4B26673}"/>
                  </a:ext>
                </a:extLst>
              </p:cNvPr>
              <p:cNvSpPr txBox="1"/>
              <p:nvPr/>
            </p:nvSpPr>
            <p:spPr>
              <a:xfrm>
                <a:off x="2639616" y="5738772"/>
                <a:ext cx="11817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𝑏𝑒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0E0D82-5F24-13E5-90BE-E953D4B26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5738772"/>
                <a:ext cx="1181797" cy="276999"/>
              </a:xfrm>
              <a:prstGeom prst="rect">
                <a:avLst/>
              </a:prstGeom>
              <a:blipFill>
                <a:blip r:embed="rId4"/>
                <a:stretch>
                  <a:fillRect l="-4124" r="-515" b="-2608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D2F312F-AD2C-A48D-280A-5DB0D46EA993}"/>
              </a:ext>
            </a:extLst>
          </p:cNvPr>
          <p:cNvSpPr txBox="1"/>
          <p:nvPr/>
        </p:nvSpPr>
        <p:spPr>
          <a:xfrm>
            <a:off x="9889081" y="4653136"/>
            <a:ext cx="2927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sz="1600" dirty="0"/>
              <a:t>Предавателна характеристика</a:t>
            </a:r>
          </a:p>
        </p:txBody>
      </p:sp>
    </p:spTree>
    <p:extLst>
      <p:ext uri="{BB962C8B-B14F-4D97-AF65-F5344CB8AC3E}">
        <p14:creationId xmlns:p14="http://schemas.microsoft.com/office/powerpoint/2010/main" val="3372018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C87D74-B862-BFF3-1943-15A33548F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57" b="9676"/>
          <a:stretch>
            <a:fillRect/>
          </a:stretch>
        </p:blipFill>
        <p:spPr>
          <a:xfrm>
            <a:off x="3215680" y="1052736"/>
            <a:ext cx="4501368" cy="3672408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7FE3784-9784-FB6F-C79B-BD8332251A00}"/>
              </a:ext>
            </a:extLst>
          </p:cNvPr>
          <p:cNvCxnSpPr>
            <a:cxnSpLocks/>
          </p:cNvCxnSpPr>
          <p:nvPr/>
        </p:nvCxnSpPr>
        <p:spPr>
          <a:xfrm>
            <a:off x="3503712" y="2780928"/>
            <a:ext cx="2044840" cy="1695021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0E180EAB-5ABC-18BD-ECB4-92127218FC2A}"/>
              </a:ext>
            </a:extLst>
          </p:cNvPr>
          <p:cNvSpPr/>
          <p:nvPr/>
        </p:nvSpPr>
        <p:spPr>
          <a:xfrm>
            <a:off x="4043772" y="3222993"/>
            <a:ext cx="144016" cy="144016"/>
          </a:xfrm>
          <a:prstGeom prst="ellipse">
            <a:avLst/>
          </a:prstGeom>
          <a:solidFill>
            <a:srgbClr val="003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80CB1-B673-3555-FC20-1C27EB503E13}"/>
              </a:ext>
            </a:extLst>
          </p:cNvPr>
          <p:cNvSpPr txBox="1"/>
          <p:nvPr/>
        </p:nvSpPr>
        <p:spPr>
          <a:xfrm>
            <a:off x="5159896" y="465313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Ucc</a:t>
            </a:r>
            <a:r>
              <a:rPr lang="en-US" sz="1200" dirty="0"/>
              <a:t>=10V</a:t>
            </a:r>
            <a:endParaRPr lang="bg-BG" sz="1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58FD277-BB11-1E03-9434-69B89599DC03}"/>
              </a:ext>
            </a:extLst>
          </p:cNvPr>
          <p:cNvCxnSpPr>
            <a:cxnSpLocks/>
          </p:cNvCxnSpPr>
          <p:nvPr/>
        </p:nvCxnSpPr>
        <p:spPr>
          <a:xfrm>
            <a:off x="4871864" y="1412776"/>
            <a:ext cx="676688" cy="3063173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4DDE616D-D105-6A12-4BEB-A119567B5622}"/>
              </a:ext>
            </a:extLst>
          </p:cNvPr>
          <p:cNvSpPr/>
          <p:nvPr/>
        </p:nvSpPr>
        <p:spPr>
          <a:xfrm>
            <a:off x="5200097" y="3128864"/>
            <a:ext cx="144016" cy="144016"/>
          </a:xfrm>
          <a:prstGeom prst="ellipse">
            <a:avLst/>
          </a:prstGeom>
          <a:solidFill>
            <a:srgbClr val="0038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E02E77-90E5-89F8-D51F-E29E5E53C136}"/>
              </a:ext>
            </a:extLst>
          </p:cNvPr>
          <p:cNvSpPr txBox="1"/>
          <p:nvPr/>
        </p:nvSpPr>
        <p:spPr>
          <a:xfrm>
            <a:off x="4015111" y="2924721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38A8"/>
                </a:solidFill>
              </a:rPr>
              <a:t>Q1</a:t>
            </a:r>
            <a:endParaRPr lang="bg-BG" sz="1200" b="1" dirty="0">
              <a:solidFill>
                <a:srgbClr val="0038A8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255A95-6FE0-97E8-B99D-361AE91151B1}"/>
              </a:ext>
            </a:extLst>
          </p:cNvPr>
          <p:cNvSpPr txBox="1"/>
          <p:nvPr/>
        </p:nvSpPr>
        <p:spPr>
          <a:xfrm>
            <a:off x="5200097" y="2857628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38A8"/>
                </a:solidFill>
              </a:rPr>
              <a:t>Q2</a:t>
            </a:r>
            <a:endParaRPr lang="bg-BG" sz="1200" b="1" dirty="0">
              <a:solidFill>
                <a:srgbClr val="0038A8"/>
              </a:solidFill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B639EA45-EEFA-694F-1F56-DC5C907BC186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Избот на постоянно-токова работна точка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37CDD-8A0F-4E60-6337-E4A02B12F4F5}"/>
              </a:ext>
            </a:extLst>
          </p:cNvPr>
          <p:cNvSpPr txBox="1"/>
          <p:nvPr/>
        </p:nvSpPr>
        <p:spPr>
          <a:xfrm>
            <a:off x="479376" y="5229200"/>
            <a:ext cx="115932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Q1 – </a:t>
            </a:r>
            <a:r>
              <a:rPr lang="bg-BG" sz="1600" dirty="0"/>
              <a:t>твърде близко до областта на насищане. Ще ограничава положителната полувълна на усиленият сигнал.</a:t>
            </a:r>
          </a:p>
          <a:p>
            <a:r>
              <a:rPr lang="en-US" sz="1600" dirty="0"/>
              <a:t>Q</a:t>
            </a:r>
            <a:r>
              <a:rPr lang="bg-BG" sz="1600" dirty="0"/>
              <a:t>2</a:t>
            </a:r>
            <a:r>
              <a:rPr lang="en-US" sz="1600" dirty="0"/>
              <a:t> – </a:t>
            </a:r>
            <a:r>
              <a:rPr lang="bg-BG" sz="1600" dirty="0"/>
              <a:t>твърде близко до областта на отсечка. Ще ограничава отрицателната полувълна на усиленият сигнал.</a:t>
            </a:r>
          </a:p>
          <a:p>
            <a:endParaRPr lang="bg-BG" sz="1600" dirty="0"/>
          </a:p>
          <a:p>
            <a:r>
              <a:rPr lang="bg-BG" sz="1600" dirty="0"/>
              <a:t>За да може изхдният сигнал да е с максимална неизкривена амплитуда, напрежението на </a:t>
            </a:r>
            <a:r>
              <a:rPr lang="en-US" sz="1600" dirty="0"/>
              <a:t>Q </a:t>
            </a:r>
            <a:r>
              <a:rPr lang="bg-BG" sz="1600" dirty="0"/>
              <a:t>трябва да бъде равно на </a:t>
            </a:r>
            <a:r>
              <a:rPr lang="en-US" sz="1600" dirty="0" err="1"/>
              <a:t>Ucc</a:t>
            </a:r>
            <a:r>
              <a:rPr lang="en-US" sz="1600" dirty="0"/>
              <a:t> – Uce(sat) / 2.</a:t>
            </a:r>
            <a:endParaRPr lang="bg-BG" sz="1600" dirty="0"/>
          </a:p>
        </p:txBody>
      </p:sp>
    </p:spTree>
    <p:extLst>
      <p:ext uri="{BB962C8B-B14F-4D97-AF65-F5344CB8AC3E}">
        <p14:creationId xmlns:p14="http://schemas.microsoft.com/office/powerpoint/2010/main" val="2029931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CBD573-123F-4C49-AD2C-8759CB5C1CDC}"/>
              </a:ext>
            </a:extLst>
          </p:cNvPr>
          <p:cNvSpPr txBox="1"/>
          <p:nvPr/>
        </p:nvSpPr>
        <p:spPr>
          <a:xfrm>
            <a:off x="2495600" y="188640"/>
            <a:ext cx="6095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dirty="0">
                <a:solidFill>
                  <a:srgbClr val="0038A8"/>
                </a:solidFill>
              </a:rPr>
              <a:t>Модели на транзистори за малки сигнали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6B4837-1FB6-DB90-7032-9D6CD88D319E}"/>
              </a:ext>
            </a:extLst>
          </p:cNvPr>
          <p:cNvSpPr txBox="1"/>
          <p:nvPr/>
        </p:nvSpPr>
        <p:spPr>
          <a:xfrm>
            <a:off x="623392" y="980728"/>
            <a:ext cx="106571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dirty="0"/>
              <a:t>За да се визуализира работата на транзистор в усилвателна схема, често е полезно той да бъде заменен с опростен модел. Тези модели използва различни вътрешни параметри на транзистора, за да представи неговата работата при усилване на сигнали с малка амплитуда.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B921D-3786-E42B-6396-B53E48C537CB}"/>
              </a:ext>
            </a:extLst>
          </p:cNvPr>
          <p:cNvSpPr txBox="1"/>
          <p:nvPr/>
        </p:nvSpPr>
        <p:spPr>
          <a:xfrm>
            <a:off x="2063552" y="2420888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Хибриден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dirty="0"/>
              <a:t> </a:t>
            </a:r>
            <a:r>
              <a:rPr lang="bg-BG" dirty="0"/>
              <a:t>модел </a:t>
            </a:r>
            <a:r>
              <a:rPr lang="en-US" dirty="0"/>
              <a:t>(</a:t>
            </a:r>
            <a:r>
              <a:rPr lang="bg-BG" dirty="0"/>
              <a:t>модел на </a:t>
            </a:r>
            <a:r>
              <a:rPr lang="de-DE" dirty="0" err="1"/>
              <a:t>Giacoletto</a:t>
            </a:r>
            <a:r>
              <a:rPr lang="de-DE" dirty="0"/>
              <a:t>)</a:t>
            </a:r>
            <a:endParaRPr lang="bg-B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092614-5A3C-DD4F-B34E-62AE5A240BD5}"/>
                  </a:ext>
                </a:extLst>
              </p:cNvPr>
              <p:cNvSpPr txBox="1"/>
              <p:nvPr/>
            </p:nvSpPr>
            <p:spPr>
              <a:xfrm>
                <a:off x="6528048" y="3356992"/>
                <a:ext cx="3240360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𝑏𝑒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bg-BG" dirty="0"/>
                  <a:t> стръмност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6092614-5A3C-DD4F-B34E-62AE5A240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3356992"/>
                <a:ext cx="3240360" cy="545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white circle in the sky&#10;&#10;AI-generated content may be incorrect.">
            <a:extLst>
              <a:ext uri="{FF2B5EF4-FFF2-40B4-BE49-F238E27FC236}">
                <a16:creationId xmlns:a16="http://schemas.microsoft.com/office/drawing/2014/main" id="{F5CB7DD1-CC1C-581F-9D1D-D7E6E820AC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3212976"/>
            <a:ext cx="4295800" cy="2354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DB5C8E-48B5-496E-ECEF-A93EB445D34B}"/>
                  </a:ext>
                </a:extLst>
              </p:cNvPr>
              <p:cNvSpPr txBox="1"/>
              <p:nvPr/>
            </p:nvSpPr>
            <p:spPr>
              <a:xfrm>
                <a:off x="6528048" y="3994111"/>
                <a:ext cx="5256584" cy="534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den>
                    </m:f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bg-BG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bg-BG" dirty="0"/>
                  <a:t> входно съпротивление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BDB5C8E-48B5-496E-ECEF-A93EB445D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3994111"/>
                <a:ext cx="5256584" cy="534442"/>
              </a:xfrm>
              <a:prstGeom prst="rect">
                <a:avLst/>
              </a:prstGeom>
              <a:blipFill>
                <a:blip r:embed="rId4"/>
                <a:stretch>
                  <a:fillRect b="-227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F076A2-E827-16E5-0DB5-A42069509D6A}"/>
                  </a:ext>
                </a:extLst>
              </p:cNvPr>
              <p:cNvSpPr txBox="1"/>
              <p:nvPr/>
            </p:nvSpPr>
            <p:spPr>
              <a:xfrm>
                <a:off x="6600056" y="4653136"/>
                <a:ext cx="5256584" cy="49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𝑐𝑒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bg-BG" dirty="0"/>
                  <a:t> изходно съпротивление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3F076A2-E827-16E5-0DB5-A42069509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56" y="4653136"/>
                <a:ext cx="5256584" cy="4971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59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363348-2DE3-8B1C-3ABB-380E1976FC29}"/>
              </a:ext>
            </a:extLst>
          </p:cNvPr>
          <p:cNvSpPr txBox="1"/>
          <p:nvPr/>
        </p:nvSpPr>
        <p:spPr>
          <a:xfrm>
            <a:off x="6506219" y="220486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T-</a:t>
            </a:r>
            <a:r>
              <a:rPr lang="bg-BG" dirty="0"/>
              <a:t>модел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FD1E76-15D5-538F-4E4C-E860C9C73568}"/>
                  </a:ext>
                </a:extLst>
              </p:cNvPr>
              <p:cNvSpPr txBox="1"/>
              <p:nvPr/>
            </p:nvSpPr>
            <p:spPr>
              <a:xfrm>
                <a:off x="6528048" y="3356992"/>
                <a:ext cx="3240360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𝑏𝑒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bg-BG" dirty="0"/>
                  <a:t> стръмност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FFD1E76-15D5-538F-4E4C-E860C9C73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3356992"/>
                <a:ext cx="3240360" cy="5451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5504FD-86F9-6307-71B1-F647BDBEBDE7}"/>
                  </a:ext>
                </a:extLst>
              </p:cNvPr>
              <p:cNvSpPr txBox="1"/>
              <p:nvPr/>
            </p:nvSpPr>
            <p:spPr>
              <a:xfrm>
                <a:off x="6528048" y="3994111"/>
                <a:ext cx="5256584" cy="49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bg-BG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bg-BG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bg-BG" dirty="0"/>
                  <a:t> съпротивление на емитера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5504FD-86F9-6307-71B1-F647BDBEB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8048" y="3994111"/>
                <a:ext cx="5256584" cy="497187"/>
              </a:xfrm>
              <a:prstGeom prst="rect">
                <a:avLst/>
              </a:prstGeom>
              <a:blipFill>
                <a:blip r:embed="rId3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0382F87-C90E-323E-C056-4EC59028EF60}"/>
              </a:ext>
            </a:extLst>
          </p:cNvPr>
          <p:cNvSpPr txBox="1"/>
          <p:nvPr/>
        </p:nvSpPr>
        <p:spPr>
          <a:xfrm>
            <a:off x="2495600" y="188640"/>
            <a:ext cx="6095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dirty="0">
                <a:solidFill>
                  <a:srgbClr val="0038A8"/>
                </a:solidFill>
              </a:rPr>
              <a:t>Модели на транзистори за малки сигнали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FB1CA5-1C4B-FBAF-95EA-E2BDCEF905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528" y="1570484"/>
            <a:ext cx="2145519" cy="35730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BCCDD5-9479-AED2-9EF3-EB41C89E8D1C}"/>
              </a:ext>
            </a:extLst>
          </p:cNvPr>
          <p:cNvSpPr txBox="1"/>
          <p:nvPr/>
        </p:nvSpPr>
        <p:spPr>
          <a:xfrm>
            <a:off x="4943872" y="5264882"/>
            <a:ext cx="6527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dirty="0"/>
              <a:t>Параметрите на модела се определят от постоянно-токовия режим. т.е. от 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bg-BG" i="1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82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132E57C-E8B0-04EC-CBF4-2A79BA27A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931344"/>
            <a:ext cx="7085181" cy="4792916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DC709E88-5ED8-FECE-745C-DAD4CF398258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Анализ на усилвател общ емитер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4BA21D-736B-843C-DB73-EF071FF8B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931344"/>
            <a:ext cx="1758447" cy="149560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1A895EB-F01E-E2F0-C345-849DDD547276}"/>
              </a:ext>
            </a:extLst>
          </p:cNvPr>
          <p:cNvCxnSpPr>
            <a:cxnSpLocks/>
          </p:cNvCxnSpPr>
          <p:nvPr/>
        </p:nvCxnSpPr>
        <p:spPr>
          <a:xfrm>
            <a:off x="3173927" y="1412776"/>
            <a:ext cx="689825" cy="17281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62DF55-3984-BBCC-6325-3225758D647F}"/>
              </a:ext>
            </a:extLst>
          </p:cNvPr>
          <p:cNvCxnSpPr>
            <a:cxnSpLocks/>
          </p:cNvCxnSpPr>
          <p:nvPr/>
        </p:nvCxnSpPr>
        <p:spPr>
          <a:xfrm>
            <a:off x="2232074" y="2133897"/>
            <a:ext cx="407542" cy="10790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618E9AE2-2169-7C0C-D7B4-45E35C4DC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0336" y="116632"/>
            <a:ext cx="1764890" cy="3574856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CB1FC92-3C9E-2453-EFE0-EA0C668DB7F1}"/>
              </a:ext>
            </a:extLst>
          </p:cNvPr>
          <p:cNvCxnSpPr>
            <a:cxnSpLocks/>
          </p:cNvCxnSpPr>
          <p:nvPr/>
        </p:nvCxnSpPr>
        <p:spPr>
          <a:xfrm flipH="1">
            <a:off x="6312024" y="1196752"/>
            <a:ext cx="2736304" cy="15121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06656A-8B62-6615-08B6-FF7F395F1EAC}"/>
              </a:ext>
            </a:extLst>
          </p:cNvPr>
          <p:cNvCxnSpPr/>
          <p:nvPr/>
        </p:nvCxnSpPr>
        <p:spPr>
          <a:xfrm flipH="1">
            <a:off x="8400256" y="2708920"/>
            <a:ext cx="792088" cy="2160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07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32CD-7C40-4DC7-97CC-533D7F88E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C2A788C5-0532-0EA4-FB6B-8DB1575A79BF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Анализ на усилвател общ емитер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3866C-8AA0-A625-BDFA-50849C3724E0}"/>
              </a:ext>
            </a:extLst>
          </p:cNvPr>
          <p:cNvSpPr txBox="1"/>
          <p:nvPr/>
        </p:nvSpPr>
        <p:spPr>
          <a:xfrm>
            <a:off x="5303912" y="1124744"/>
            <a:ext cx="275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Постоянно-токов режим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77E191-6F18-83EA-2F36-E8FF5888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80" y="1628800"/>
            <a:ext cx="1998861" cy="3861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EC265-6AB5-7480-4843-D772B90E56BF}"/>
                  </a:ext>
                </a:extLst>
              </p:cNvPr>
              <p:cNvSpPr txBox="1"/>
              <p:nvPr/>
            </p:nvSpPr>
            <p:spPr>
              <a:xfrm>
                <a:off x="4727848" y="2137127"/>
                <a:ext cx="5293903" cy="5712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6.8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=2.83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8EC265-6AB5-7480-4843-D772B90E5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48" y="2137127"/>
                <a:ext cx="5293903" cy="5712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698E7C-8591-AF69-93AB-1392205F7757}"/>
                  </a:ext>
                </a:extLst>
              </p:cNvPr>
              <p:cNvSpPr txBox="1"/>
              <p:nvPr/>
            </p:nvSpPr>
            <p:spPr>
              <a:xfrm>
                <a:off x="5015880" y="2996952"/>
                <a:ext cx="4248472" cy="6580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𝐵𝐸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2.83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−0.7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560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698E7C-8591-AF69-93AB-1392205F7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0" y="2996952"/>
                <a:ext cx="4248472" cy="6580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28C699-E524-4F23-27C6-0B61F8CB2E83}"/>
                  </a:ext>
                </a:extLst>
              </p:cNvPr>
              <p:cNvSpPr txBox="1"/>
              <p:nvPr/>
            </p:nvSpPr>
            <p:spPr>
              <a:xfrm>
                <a:off x="4871864" y="3789040"/>
                <a:ext cx="21405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bg-BG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r>
                            <a:rPr lang="bg-BG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28C699-E524-4F23-27C6-0B61F8CB2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3789040"/>
                <a:ext cx="214056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B79872-2576-BD28-891D-2A4324059346}"/>
                  </a:ext>
                </a:extLst>
              </p:cNvPr>
              <p:cNvSpPr txBox="1"/>
              <p:nvPr/>
            </p:nvSpPr>
            <p:spPr>
              <a:xfrm>
                <a:off x="4583832" y="4346604"/>
                <a:ext cx="461573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bg-BG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=560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=2.13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2B79872-2576-BD28-891D-2A4324059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832" y="4346604"/>
                <a:ext cx="461573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923C0B-4F15-50B0-E3CD-CEB7E5B7032D}"/>
                  </a:ext>
                </a:extLst>
              </p:cNvPr>
              <p:cNvSpPr txBox="1"/>
              <p:nvPr/>
            </p:nvSpPr>
            <p:spPr>
              <a:xfrm>
                <a:off x="5133220" y="5081988"/>
                <a:ext cx="45484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−3.8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=8.2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923C0B-4F15-50B0-E3CD-CEB7E5B703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3220" y="5081988"/>
                <a:ext cx="4548425" cy="276999"/>
              </a:xfrm>
              <a:prstGeom prst="rect">
                <a:avLst/>
              </a:prstGeom>
              <a:blipFill>
                <a:blip r:embed="rId8"/>
                <a:stretch>
                  <a:fillRect l="-536" r="-670" b="-17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5B29D0-159A-B4E9-1031-C471554752A9}"/>
                  </a:ext>
                </a:extLst>
              </p:cNvPr>
              <p:cNvSpPr txBox="1"/>
              <p:nvPr/>
            </p:nvSpPr>
            <p:spPr>
              <a:xfrm>
                <a:off x="5150040" y="5589240"/>
                <a:ext cx="3739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=8.2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−2.13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≈6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5B29D0-159A-B4E9-1031-C47155475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0040" y="5589240"/>
                <a:ext cx="3739678" cy="276999"/>
              </a:xfrm>
              <a:prstGeom prst="rect">
                <a:avLst/>
              </a:prstGeom>
              <a:blipFill>
                <a:blip r:embed="rId9"/>
                <a:stretch>
                  <a:fillRect l="-979" r="-816" b="-17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4942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451A5-491B-F1D5-F435-D73424E3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59042172-1230-1760-6B6A-6D7BF576991F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Анализ на усилвател общ емитер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84FC5-D35D-A978-8004-5146FDF20693}"/>
              </a:ext>
            </a:extLst>
          </p:cNvPr>
          <p:cNvSpPr txBox="1"/>
          <p:nvPr/>
        </p:nvSpPr>
        <p:spPr>
          <a:xfrm>
            <a:off x="1919536" y="947047"/>
            <a:ext cx="2957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Променливо-токов режим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FD518C-9804-E8A3-2A74-2E584E345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48" y="1628800"/>
            <a:ext cx="4392488" cy="2143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65B1F3-0E15-C48B-33BB-823F01551268}"/>
                  </a:ext>
                </a:extLst>
              </p:cNvPr>
              <p:cNvSpPr txBox="1"/>
              <p:nvPr/>
            </p:nvSpPr>
            <p:spPr>
              <a:xfrm>
                <a:off x="4477192" y="4509120"/>
                <a:ext cx="2280561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  <m:r>
                        <a:rPr lang="de-DE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"/>
                          <m:endChr m:val="‖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"/>
                          <m:endChr m:val="‖"/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365B1F3-0E15-C48B-33BB-823F0155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192" y="4509120"/>
                <a:ext cx="2280561" cy="303673"/>
              </a:xfrm>
              <a:prstGeom prst="rect">
                <a:avLst/>
              </a:prstGeom>
              <a:blipFill>
                <a:blip r:embed="rId4"/>
                <a:stretch>
                  <a:fillRect l="-1600" t="-160000" r="-800" b="-232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AE7D7333-8396-46CC-14F1-B490422D3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440" y="4028179"/>
            <a:ext cx="2448272" cy="2246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51A727-CE6D-054B-0A0D-16DA8F96D14B}"/>
              </a:ext>
            </a:extLst>
          </p:cNvPr>
          <p:cNvSpPr txBox="1"/>
          <p:nvPr/>
        </p:nvSpPr>
        <p:spPr>
          <a:xfrm>
            <a:off x="5663952" y="2516068"/>
            <a:ext cx="4362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Еквивалентна схема по променлив ток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4D17F-EDD5-2F59-157F-2DB7B31DB274}"/>
              </a:ext>
            </a:extLst>
          </p:cNvPr>
          <p:cNvSpPr txBox="1"/>
          <p:nvPr/>
        </p:nvSpPr>
        <p:spPr>
          <a:xfrm>
            <a:off x="4583832" y="5229200"/>
            <a:ext cx="6299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Ако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 &lt;&lt; Rin</a:t>
            </a:r>
            <a:r>
              <a:rPr lang="en-US" dirty="0"/>
              <a:t>, </a:t>
            </a:r>
            <a:r>
              <a:rPr lang="bg-BG" dirty="0"/>
              <a:t>входното напрежение на усилвателя е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endParaRPr lang="bg-BG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293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98AD6-9FC3-A178-62FF-2C7F2D6B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82AD9611-D191-BB27-77E6-402589327699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Анализ на усилвател общ емитер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F8988-1110-300E-85E7-1F63B404D4BE}"/>
                  </a:ext>
                </a:extLst>
              </p:cNvPr>
              <p:cNvSpPr txBox="1"/>
              <p:nvPr/>
            </p:nvSpPr>
            <p:spPr>
              <a:xfrm>
                <a:off x="4511824" y="1720028"/>
                <a:ext cx="3750194" cy="396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g-BG" dirty="0"/>
                  <a:t>Съпротивление в базата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7CF8988-1110-300E-85E7-1F63B404D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1720028"/>
                <a:ext cx="3750194" cy="396006"/>
              </a:xfrm>
              <a:prstGeom prst="rect">
                <a:avLst/>
              </a:prstGeom>
              <a:blipFill>
                <a:blip r:embed="rId3"/>
                <a:stretch>
                  <a:fillRect l="-1301" t="-7692" b="-16923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CF6E4EF4-4203-A278-5F9B-339B4CE81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80" y="1343427"/>
            <a:ext cx="2145519" cy="35730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B314FB-670A-FEC1-BCE1-7F33E37A76E7}"/>
                  </a:ext>
                </a:extLst>
              </p:cNvPr>
              <p:cNvSpPr txBox="1"/>
              <p:nvPr/>
            </p:nvSpPr>
            <p:spPr>
              <a:xfrm>
                <a:off x="5015880" y="2348880"/>
                <a:ext cx="1555811" cy="521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𝑏𝑎𝑠𝑒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bg-BG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bg-BG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bg-BG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B314FB-670A-FEC1-BCE1-7F33E37A7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80" y="2348880"/>
                <a:ext cx="1555811" cy="5211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CC7192-2480-76C8-0A94-7AA25687723E}"/>
                  </a:ext>
                </a:extLst>
              </p:cNvPr>
              <p:cNvSpPr txBox="1"/>
              <p:nvPr/>
            </p:nvSpPr>
            <p:spPr>
              <a:xfrm>
                <a:off x="7248128" y="2420888"/>
                <a:ext cx="1061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BCC7192-2480-76C8-0A94-7AA256877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8128" y="2420888"/>
                <a:ext cx="1061893" cy="276999"/>
              </a:xfrm>
              <a:prstGeom prst="rect">
                <a:avLst/>
              </a:prstGeom>
              <a:blipFill>
                <a:blip r:embed="rId6"/>
                <a:stretch>
                  <a:fillRect l="-2299" b="-1739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205613-7B75-2F14-BDC9-6FE6B184ED3B}"/>
                  </a:ext>
                </a:extLst>
              </p:cNvPr>
              <p:cNvSpPr txBox="1"/>
              <p:nvPr/>
            </p:nvSpPr>
            <p:spPr>
              <a:xfrm>
                <a:off x="8832304" y="2306689"/>
                <a:ext cx="1205715" cy="5633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205613-7B75-2F14-BDC9-6FE6B184E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2304" y="2306689"/>
                <a:ext cx="1205715" cy="5633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CD5567-C009-F369-C3C2-7457DEB65BBD}"/>
                  </a:ext>
                </a:extLst>
              </p:cNvPr>
              <p:cNvSpPr txBox="1"/>
              <p:nvPr/>
            </p:nvSpPr>
            <p:spPr>
              <a:xfrm>
                <a:off x="5015879" y="3318327"/>
                <a:ext cx="1590179" cy="303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𝑏𝑎𝑠𝑒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bg-BG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bg-BG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  <m:sSub>
                      <m:sSubPr>
                        <m:ctrlPr>
                          <a:rPr lang="bg-BG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bg-B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4CD5567-C009-F369-C3C2-7457DEB65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879" y="3318327"/>
                <a:ext cx="1590179" cy="303673"/>
              </a:xfrm>
              <a:prstGeom prst="rect">
                <a:avLst/>
              </a:prstGeom>
              <a:blipFill>
                <a:blip r:embed="rId8"/>
                <a:stretch>
                  <a:fillRect l="-5364" b="-2600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8282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B2A5-3B3B-349C-1DBC-AB9E53808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2708C929-4931-5B66-CD67-DC0BD027B20B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2097344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bg-BG" sz="3200" kern="0" dirty="0">
                <a:solidFill>
                  <a:srgbClr val="0038A8"/>
                </a:solidFill>
                <a:latin typeface="Arial Narrow" panose="020B0606020202030204" pitchFamily="34" charset="0"/>
                <a:cs typeface="Calibri Light" panose="020F0302020204030204" pitchFamily="34" charset="0"/>
              </a:rPr>
              <a:t>Анализ на усилвател общ емитер</a:t>
            </a:r>
            <a:endParaRPr lang="en-US" sz="3200" kern="0" dirty="0">
              <a:solidFill>
                <a:srgbClr val="0038A8"/>
              </a:solidFill>
              <a:latin typeface="Arial Narrow" panose="020B0606020202030204" pitchFamily="34" charset="0"/>
              <a:cs typeface="Calibri Light" panose="020F03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E07ACB-92C2-3B7F-ABDF-CFCAB10C4943}"/>
                  </a:ext>
                </a:extLst>
              </p:cNvPr>
              <p:cNvSpPr txBox="1"/>
              <p:nvPr/>
            </p:nvSpPr>
            <p:spPr>
              <a:xfrm>
                <a:off x="5663952" y="1628800"/>
                <a:ext cx="39661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g-BG" dirty="0"/>
                  <a:t>Изходно съпротивление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endParaRPr lang="bg-B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E07ACB-92C2-3B7F-ABDF-CFCAB10C4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3952" y="1628800"/>
                <a:ext cx="3966150" cy="369332"/>
              </a:xfrm>
              <a:prstGeom prst="rect">
                <a:avLst/>
              </a:prstGeom>
              <a:blipFill>
                <a:blip r:embed="rId3"/>
                <a:stretch>
                  <a:fillRect l="-1229" t="-8197" b="-24590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9EB99CFF-DFC6-793C-2B20-7A669C5DF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1268760"/>
            <a:ext cx="4392488" cy="2143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F5C72C-4685-5E60-6C29-889C386D5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6" y="3717032"/>
            <a:ext cx="2350732" cy="26583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E28E22-C1CC-0C45-EC0D-B3A3229BDF5C}"/>
                  </a:ext>
                </a:extLst>
              </p:cNvPr>
              <p:cNvSpPr txBox="1"/>
              <p:nvPr/>
            </p:nvSpPr>
            <p:spPr>
              <a:xfrm>
                <a:off x="5035704" y="3933056"/>
                <a:ext cx="2882777" cy="1167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bg-BG" dirty="0"/>
                  <a:t>Усилване по напрежение</a:t>
                </a:r>
                <a:endParaRPr lang="en-US" dirty="0"/>
              </a:p>
              <a:p>
                <a:endParaRPr lang="bg-BG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E28E22-C1CC-0C45-EC0D-B3A3229BD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704" y="3933056"/>
                <a:ext cx="2882777" cy="1167499"/>
              </a:xfrm>
              <a:prstGeom prst="rect">
                <a:avLst/>
              </a:prstGeom>
              <a:blipFill>
                <a:blip r:embed="rId6"/>
                <a:stretch>
                  <a:fillRect l="-1691" t="-2604" r="-1057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66C43DB5-7404-C3E5-77FE-23028CA18F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5480" y="5445224"/>
            <a:ext cx="434327" cy="2757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E27E7A-1C7B-A39D-2685-D7545CCC84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1584" y="4365104"/>
            <a:ext cx="309045" cy="2279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C11007-E373-B9F5-252C-F81114615FAA}"/>
                  </a:ext>
                </a:extLst>
              </p:cNvPr>
              <p:cNvSpPr txBox="1"/>
              <p:nvPr/>
            </p:nvSpPr>
            <p:spPr>
              <a:xfrm>
                <a:off x="9912424" y="4581128"/>
                <a:ext cx="10618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bg-BG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𝑏𝑒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EC11007-E373-B9F5-252C-F81114615F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2424" y="4581128"/>
                <a:ext cx="1061893" cy="276999"/>
              </a:xfrm>
              <a:prstGeom prst="rect">
                <a:avLst/>
              </a:prstGeom>
              <a:blipFill>
                <a:blip r:embed="rId9"/>
                <a:stretch>
                  <a:fillRect l="-2299" b="-17391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7D30FB-DDAD-4E82-9D5E-9AF46C6EF348}"/>
                  </a:ext>
                </a:extLst>
              </p:cNvPr>
              <p:cNvSpPr txBox="1"/>
              <p:nvPr/>
            </p:nvSpPr>
            <p:spPr>
              <a:xfrm>
                <a:off x="7647027" y="4600963"/>
                <a:ext cx="17758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bg-BG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97D30FB-DDAD-4E82-9D5E-9AF46C6EF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027" y="4600963"/>
                <a:ext cx="1775871" cy="276999"/>
              </a:xfrm>
              <a:prstGeom prst="rect">
                <a:avLst/>
              </a:prstGeom>
              <a:blipFill>
                <a:blip r:embed="rId10"/>
                <a:stretch>
                  <a:fillRect l="-1027" b="-17778"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A92B6D-9B1E-06C6-B1F7-BAAB4F74EE90}"/>
                  </a:ext>
                </a:extLst>
              </p:cNvPr>
              <p:cNvSpPr txBox="1"/>
              <p:nvPr/>
            </p:nvSpPr>
            <p:spPr>
              <a:xfrm>
                <a:off x="3423650" y="5461711"/>
                <a:ext cx="6106884" cy="6576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bg-BG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AA92B6D-9B1E-06C6-B1F7-BAAB4F74E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650" y="5461711"/>
                <a:ext cx="6106884" cy="65768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bg-B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237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65058-446A-CE39-FE62-234C57441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980728"/>
            <a:ext cx="6264696" cy="4778158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144C7E4-F1F5-2367-5038-169438591DE1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1953328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Пример – Коефициент </a:t>
            </a:r>
            <a:r>
              <a:rPr lang="en-US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 </a:t>
            </a: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входно съпротивление на усилвател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9ADE0-25B8-8A83-4F0D-3DE38AE23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048" y="692696"/>
            <a:ext cx="5635720" cy="2952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6BA04A-6238-5331-9DDF-CFCD88958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9298" y="3823933"/>
            <a:ext cx="5487166" cy="24577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2EC44E4-13ED-35F0-8F95-22355D2E363E}"/>
              </a:ext>
            </a:extLst>
          </p:cNvPr>
          <p:cNvSpPr/>
          <p:nvPr/>
        </p:nvSpPr>
        <p:spPr>
          <a:xfrm>
            <a:off x="6528048" y="4687058"/>
            <a:ext cx="2016224" cy="6141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6CF06E-FC15-1033-F027-42FEF7E30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5517232"/>
            <a:ext cx="1752845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21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E144C7E4-F1F5-2367-5038-169438591DE1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1953328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Пример – Коефициент </a:t>
            </a:r>
            <a:r>
              <a:rPr lang="en-US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Au </a:t>
            </a: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входно съпротивление на усилвател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BE3BDB-E07A-3B7C-ECAC-7403E8E25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0" y="1196752"/>
            <a:ext cx="6149073" cy="47724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113DDD-6F68-832A-FB49-B172361C4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298" y="705028"/>
            <a:ext cx="5136431" cy="28955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C63886-4404-CC38-C344-E6CCC6BE5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40" y="3861048"/>
            <a:ext cx="5372850" cy="24673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B8DF179-11CE-5AB0-A4C9-99B43DE665EE}"/>
              </a:ext>
            </a:extLst>
          </p:cNvPr>
          <p:cNvSpPr/>
          <p:nvPr/>
        </p:nvSpPr>
        <p:spPr>
          <a:xfrm>
            <a:off x="3719736" y="4149080"/>
            <a:ext cx="648072" cy="100811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5CCBB9-2E92-D1C4-3A5F-8013E2F72ADD}"/>
              </a:ext>
            </a:extLst>
          </p:cNvPr>
          <p:cNvSpPr/>
          <p:nvPr/>
        </p:nvSpPr>
        <p:spPr>
          <a:xfrm>
            <a:off x="6384032" y="4687058"/>
            <a:ext cx="1944215" cy="6141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D18EBF1-EB16-898D-D854-16C97A4B8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08" y="5789563"/>
            <a:ext cx="2086266" cy="752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58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5"/>
          <p:cNvCxnSpPr>
            <a:cxnSpLocks noChangeShapeType="1"/>
          </p:cNvCxnSpPr>
          <p:nvPr/>
        </p:nvCxnSpPr>
        <p:spPr bwMode="auto">
          <a:xfrm>
            <a:off x="2423592" y="2661320"/>
            <a:ext cx="2935288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8"/>
          <p:cNvCxnSpPr>
            <a:cxnSpLocks noChangeShapeType="1"/>
          </p:cNvCxnSpPr>
          <p:nvPr/>
        </p:nvCxnSpPr>
        <p:spPr bwMode="auto">
          <a:xfrm flipV="1">
            <a:off x="2423592" y="908720"/>
            <a:ext cx="0" cy="17526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5" name="Group 13"/>
          <p:cNvGrpSpPr>
            <a:grpSpLocks/>
          </p:cNvGrpSpPr>
          <p:nvPr/>
        </p:nvGrpSpPr>
        <p:grpSpPr bwMode="auto">
          <a:xfrm>
            <a:off x="2436295" y="1700882"/>
            <a:ext cx="2073275" cy="1919288"/>
            <a:chOff x="1120462" y="1970447"/>
            <a:chExt cx="2369712" cy="2653090"/>
          </a:xfrm>
        </p:grpSpPr>
        <p:sp>
          <p:nvSpPr>
            <p:cNvPr id="26" name="Freeform 25"/>
            <p:cNvSpPr/>
            <p:nvPr/>
          </p:nvSpPr>
          <p:spPr bwMode="auto">
            <a:xfrm>
              <a:off x="1120462" y="1970447"/>
              <a:ext cx="1184857" cy="1327643"/>
            </a:xfrm>
            <a:custGeom>
              <a:avLst/>
              <a:gdLst>
                <a:gd name="connsiteX0" fmla="*/ 0 w 1184856"/>
                <a:gd name="connsiteY0" fmla="*/ 1300787 h 1326545"/>
                <a:gd name="connsiteX1" fmla="*/ 605307 w 1184856"/>
                <a:gd name="connsiteY1" fmla="*/ 21 h 1326545"/>
                <a:gd name="connsiteX2" fmla="*/ 1184856 w 1184856"/>
                <a:gd name="connsiteY2" fmla="*/ 1326545 h 132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4856" h="1326545">
                  <a:moveTo>
                    <a:pt x="0" y="1300787"/>
                  </a:moveTo>
                  <a:cubicBezTo>
                    <a:pt x="203915" y="648257"/>
                    <a:pt x="407831" y="-4272"/>
                    <a:pt x="605307" y="21"/>
                  </a:cubicBezTo>
                  <a:cubicBezTo>
                    <a:pt x="802783" y="4314"/>
                    <a:pt x="1184856" y="1326545"/>
                    <a:pt x="1184856" y="1326545"/>
                  </a:cubicBezTo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 bwMode="auto">
            <a:xfrm flipV="1">
              <a:off x="2305319" y="3298090"/>
              <a:ext cx="1184855" cy="1325447"/>
            </a:xfrm>
            <a:custGeom>
              <a:avLst/>
              <a:gdLst>
                <a:gd name="connsiteX0" fmla="*/ 0 w 1184856"/>
                <a:gd name="connsiteY0" fmla="*/ 1300787 h 1326545"/>
                <a:gd name="connsiteX1" fmla="*/ 605307 w 1184856"/>
                <a:gd name="connsiteY1" fmla="*/ 21 h 1326545"/>
                <a:gd name="connsiteX2" fmla="*/ 1184856 w 1184856"/>
                <a:gd name="connsiteY2" fmla="*/ 1326545 h 132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4856" h="1326545">
                  <a:moveTo>
                    <a:pt x="0" y="1300787"/>
                  </a:moveTo>
                  <a:cubicBezTo>
                    <a:pt x="203915" y="648257"/>
                    <a:pt x="407831" y="-4272"/>
                    <a:pt x="605307" y="21"/>
                  </a:cubicBezTo>
                  <a:cubicBezTo>
                    <a:pt x="802783" y="4314"/>
                    <a:pt x="1184856" y="1326545"/>
                    <a:pt x="1184856" y="1326545"/>
                  </a:cubicBezTo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grpSp>
        <p:nvGrpSpPr>
          <p:cNvPr id="28" name="Group 45"/>
          <p:cNvGrpSpPr>
            <a:grpSpLocks/>
          </p:cNvGrpSpPr>
          <p:nvPr/>
        </p:nvGrpSpPr>
        <p:grpSpPr bwMode="auto">
          <a:xfrm>
            <a:off x="2953820" y="1894560"/>
            <a:ext cx="1903413" cy="1573213"/>
            <a:chOff x="1120462" y="1970447"/>
            <a:chExt cx="2369712" cy="2653090"/>
          </a:xfrm>
        </p:grpSpPr>
        <p:sp>
          <p:nvSpPr>
            <p:cNvPr id="29" name="Freeform 28"/>
            <p:cNvSpPr/>
            <p:nvPr/>
          </p:nvSpPr>
          <p:spPr bwMode="auto">
            <a:xfrm>
              <a:off x="1120462" y="1970447"/>
              <a:ext cx="1185844" cy="1327883"/>
            </a:xfrm>
            <a:custGeom>
              <a:avLst/>
              <a:gdLst>
                <a:gd name="connsiteX0" fmla="*/ 0 w 1184856"/>
                <a:gd name="connsiteY0" fmla="*/ 1300787 h 1326545"/>
                <a:gd name="connsiteX1" fmla="*/ 605307 w 1184856"/>
                <a:gd name="connsiteY1" fmla="*/ 21 h 1326545"/>
                <a:gd name="connsiteX2" fmla="*/ 1184856 w 1184856"/>
                <a:gd name="connsiteY2" fmla="*/ 1326545 h 132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4856" h="1326545">
                  <a:moveTo>
                    <a:pt x="0" y="1300787"/>
                  </a:moveTo>
                  <a:cubicBezTo>
                    <a:pt x="203915" y="648257"/>
                    <a:pt x="407831" y="-4272"/>
                    <a:pt x="605307" y="21"/>
                  </a:cubicBezTo>
                  <a:cubicBezTo>
                    <a:pt x="802783" y="4314"/>
                    <a:pt x="1184856" y="1326545"/>
                    <a:pt x="1184856" y="1326545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Freeform 29"/>
            <p:cNvSpPr/>
            <p:nvPr/>
          </p:nvSpPr>
          <p:spPr bwMode="auto">
            <a:xfrm flipV="1">
              <a:off x="2306306" y="3298330"/>
              <a:ext cx="1183868" cy="1325207"/>
            </a:xfrm>
            <a:custGeom>
              <a:avLst/>
              <a:gdLst>
                <a:gd name="connsiteX0" fmla="*/ 0 w 1184856"/>
                <a:gd name="connsiteY0" fmla="*/ 1300787 h 1326545"/>
                <a:gd name="connsiteX1" fmla="*/ 605307 w 1184856"/>
                <a:gd name="connsiteY1" fmla="*/ 21 h 1326545"/>
                <a:gd name="connsiteX2" fmla="*/ 1184856 w 1184856"/>
                <a:gd name="connsiteY2" fmla="*/ 1326545 h 1326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84856" h="1326545">
                  <a:moveTo>
                    <a:pt x="0" y="1300787"/>
                  </a:moveTo>
                  <a:cubicBezTo>
                    <a:pt x="203915" y="648257"/>
                    <a:pt x="407831" y="-4272"/>
                    <a:pt x="605307" y="21"/>
                  </a:cubicBezTo>
                  <a:cubicBezTo>
                    <a:pt x="802783" y="4314"/>
                    <a:pt x="1184856" y="1326545"/>
                    <a:pt x="1184856" y="1326545"/>
                  </a:cubicBezTo>
                </a:path>
              </a:pathLst>
            </a:cu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cxnSp>
        <p:nvCxnSpPr>
          <p:cNvPr id="31" name="Straight Connector 16"/>
          <p:cNvCxnSpPr>
            <a:cxnSpLocks noChangeShapeType="1"/>
          </p:cNvCxnSpPr>
          <p:nvPr/>
        </p:nvCxnSpPr>
        <p:spPr bwMode="auto">
          <a:xfrm>
            <a:off x="2423592" y="2681957"/>
            <a:ext cx="0" cy="45878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19"/>
          <p:cNvCxnSpPr>
            <a:cxnSpLocks noChangeShapeType="1"/>
            <a:stCxn id="29" idx="0"/>
          </p:cNvCxnSpPr>
          <p:nvPr/>
        </p:nvCxnSpPr>
        <p:spPr bwMode="auto">
          <a:xfrm flipH="1">
            <a:off x="2953817" y="2666085"/>
            <a:ext cx="0" cy="47466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Straight Arrow Connector 22"/>
          <p:cNvCxnSpPr>
            <a:cxnSpLocks noChangeShapeType="1"/>
          </p:cNvCxnSpPr>
          <p:nvPr/>
        </p:nvCxnSpPr>
        <p:spPr bwMode="auto">
          <a:xfrm>
            <a:off x="2423595" y="2997870"/>
            <a:ext cx="530225" cy="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arrow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TextBox 23"/>
          <p:cNvSpPr txBox="1">
            <a:spLocks noChangeArrowheads="1"/>
          </p:cNvSpPr>
          <p:nvPr/>
        </p:nvSpPr>
        <p:spPr bwMode="auto">
          <a:xfrm>
            <a:off x="2460105" y="2951832"/>
            <a:ext cx="501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l-GR" sz="1800"/>
              <a:t>φ</a:t>
            </a:r>
            <a:endParaRPr lang="en-US" sz="1800"/>
          </a:p>
        </p:txBody>
      </p:sp>
      <p:sp>
        <p:nvSpPr>
          <p:cNvPr id="35" name="TextBox 24"/>
          <p:cNvSpPr txBox="1">
            <a:spLocks noChangeArrowheads="1"/>
          </p:cNvSpPr>
          <p:nvPr/>
        </p:nvSpPr>
        <p:spPr bwMode="auto">
          <a:xfrm>
            <a:off x="5358883" y="2512098"/>
            <a:ext cx="6445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600">
                <a:latin typeface="+mn-lt"/>
              </a:rPr>
              <a:t>t</a:t>
            </a:r>
          </a:p>
        </p:txBody>
      </p:sp>
      <p:sp>
        <p:nvSpPr>
          <p:cNvPr id="36" name="TextBox 29"/>
          <p:cNvSpPr txBox="1">
            <a:spLocks noChangeArrowheads="1"/>
          </p:cNvSpPr>
          <p:nvPr/>
        </p:nvSpPr>
        <p:spPr bwMode="auto">
          <a:xfrm>
            <a:off x="2893492" y="1265910"/>
            <a:ext cx="7826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in</a:t>
            </a:r>
          </a:p>
        </p:txBody>
      </p:sp>
      <p:sp>
        <p:nvSpPr>
          <p:cNvPr id="37" name="TextBox 58"/>
          <p:cNvSpPr txBox="1">
            <a:spLocks noChangeArrowheads="1"/>
          </p:cNvSpPr>
          <p:nvPr/>
        </p:nvSpPr>
        <p:spPr bwMode="auto">
          <a:xfrm>
            <a:off x="3676133" y="1726285"/>
            <a:ext cx="7826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baseline="-25000">
                <a:latin typeface="Times New Roman" pitchFamily="18" charset="0"/>
                <a:cs typeface="Times New Roman" pitchFamily="18" charset="0"/>
              </a:rPr>
              <a:t>out</a:t>
            </a:r>
          </a:p>
        </p:txBody>
      </p:sp>
      <p:sp>
        <p:nvSpPr>
          <p:cNvPr id="38" name="Rectangle 3"/>
          <p:cNvSpPr>
            <a:spLocks noChangeArrowheads="1"/>
          </p:cNvSpPr>
          <p:nvPr/>
        </p:nvSpPr>
        <p:spPr bwMode="auto">
          <a:xfrm>
            <a:off x="5700191" y="927773"/>
            <a:ext cx="5940419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spcBef>
                <a:spcPts val="600"/>
              </a:spcBef>
              <a:defRPr/>
            </a:pPr>
            <a:r>
              <a:rPr lang="bg-BG" dirty="0"/>
              <a:t>При високи честоти върху поведението на транзистора започват да оказват влияние</a:t>
            </a:r>
            <a:r>
              <a:rPr lang="en-US" dirty="0"/>
              <a:t>:</a:t>
            </a:r>
            <a:r>
              <a:rPr lang="bg-BG" dirty="0"/>
              <a:t> </a:t>
            </a:r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bg-BG" dirty="0"/>
              <a:t>инерционността на процесите на пренасяне на токоносителите от емитерния до колекторния преход</a:t>
            </a:r>
            <a:endParaRPr lang="en-US" dirty="0"/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bg-BG" dirty="0"/>
              <a:t>капацитетите на преходите</a:t>
            </a:r>
            <a:endParaRPr lang="en-US" dirty="0"/>
          </a:p>
          <a:p>
            <a:pPr marL="285750" lvl="1" indent="-2857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bg-BG" dirty="0"/>
              <a:t>паразитните капацитети на корпуса и индуктивности на изводите</a:t>
            </a:r>
          </a:p>
          <a:p>
            <a:pPr marL="0" lvl="1">
              <a:spcBef>
                <a:spcPts val="600"/>
              </a:spcBef>
              <a:defRPr/>
            </a:pPr>
            <a:endParaRPr lang="bg-BG" dirty="0"/>
          </a:p>
        </p:txBody>
      </p:sp>
      <p:sp>
        <p:nvSpPr>
          <p:cNvPr id="39" name="TextBox 36"/>
          <p:cNvSpPr txBox="1">
            <a:spLocks noChangeArrowheads="1"/>
          </p:cNvSpPr>
          <p:nvPr/>
        </p:nvSpPr>
        <p:spPr bwMode="auto">
          <a:xfrm>
            <a:off x="134756" y="4904264"/>
            <a:ext cx="11737303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>
                <a:latin typeface="+mn-lt"/>
              </a:rPr>
              <a:t>В резултат се наблюдава  намаляване на амплитудата на изходния сигнал  и изоставането му по фаза (закъсняване) спрямо входния. </a:t>
            </a:r>
          </a:p>
          <a:p>
            <a:endParaRPr lang="bg-BG" sz="1200" i="0" dirty="0">
              <a:latin typeface="+mn-lt"/>
            </a:endParaRPr>
          </a:p>
          <a:p>
            <a:r>
              <a:rPr lang="bg-BG" sz="1800" i="0" dirty="0">
                <a:latin typeface="+mn-lt"/>
              </a:rPr>
              <a:t>За оценка на усилвателните свойства на транзистора при високи честоти се използват </a:t>
            </a:r>
            <a:r>
              <a:rPr lang="bg-BG" sz="1800" b="1" i="0" dirty="0">
                <a:solidFill>
                  <a:srgbClr val="0038A8"/>
                </a:solidFill>
                <a:latin typeface="+mn-lt"/>
              </a:rPr>
              <a:t>граничните честоти</a:t>
            </a:r>
            <a:r>
              <a:rPr lang="bg-BG" sz="1800" i="0" dirty="0">
                <a:latin typeface="+mn-lt"/>
              </a:rPr>
              <a:t>. 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3E80D82A-9E9B-4B2D-A932-BD5D21E46805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9144000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Работа при </a:t>
            </a:r>
            <a:r>
              <a:rPr lang="bg-BG" sz="3200" kern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високи честоти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813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5"/>
          <p:cNvCxnSpPr>
            <a:cxnSpLocks noChangeShapeType="1"/>
          </p:cNvCxnSpPr>
          <p:nvPr/>
        </p:nvCxnSpPr>
        <p:spPr bwMode="auto">
          <a:xfrm flipV="1">
            <a:off x="6223000" y="3995394"/>
            <a:ext cx="4127500" cy="3175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7"/>
          <p:cNvCxnSpPr>
            <a:cxnSpLocks noChangeShapeType="1"/>
          </p:cNvCxnSpPr>
          <p:nvPr/>
        </p:nvCxnSpPr>
        <p:spPr bwMode="auto">
          <a:xfrm flipV="1">
            <a:off x="6218238" y="1566516"/>
            <a:ext cx="0" cy="24320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38"/>
          <p:cNvSpPr txBox="1">
            <a:spLocks noChangeArrowheads="1"/>
          </p:cNvSpPr>
          <p:nvPr/>
        </p:nvSpPr>
        <p:spPr bwMode="auto">
          <a:xfrm>
            <a:off x="5781678" y="1501428"/>
            <a:ext cx="690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l-GR" sz="2000" i="0" dirty="0">
                <a:latin typeface="+mn-lt"/>
              </a:rPr>
              <a:t>β</a:t>
            </a:r>
            <a:endParaRPr lang="en-US" sz="2000" i="0" dirty="0">
              <a:latin typeface="+mn-lt"/>
            </a:endParaRPr>
          </a:p>
        </p:txBody>
      </p:sp>
      <p:sp>
        <p:nvSpPr>
          <p:cNvPr id="14" name="TextBox 39"/>
          <p:cNvSpPr txBox="1">
            <a:spLocks noChangeArrowheads="1"/>
          </p:cNvSpPr>
          <p:nvPr/>
        </p:nvSpPr>
        <p:spPr bwMode="auto">
          <a:xfrm>
            <a:off x="9945688" y="3552478"/>
            <a:ext cx="4048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>
                <a:latin typeface="+mn-lt"/>
              </a:rPr>
              <a:t>f</a:t>
            </a:r>
          </a:p>
        </p:txBody>
      </p:sp>
      <p:sp>
        <p:nvSpPr>
          <p:cNvPr id="15" name="TextBox 41"/>
          <p:cNvSpPr txBox="1">
            <a:spLocks noChangeArrowheads="1"/>
          </p:cNvSpPr>
          <p:nvPr/>
        </p:nvSpPr>
        <p:spPr bwMode="auto">
          <a:xfrm>
            <a:off x="6870700" y="4033491"/>
            <a:ext cx="8699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>
                <a:latin typeface="+mn-lt"/>
              </a:rPr>
              <a:t>f</a:t>
            </a:r>
            <a:r>
              <a:rPr lang="bg-BG" baseline="-25000">
                <a:latin typeface="+mn-lt"/>
              </a:rPr>
              <a:t>Т</a:t>
            </a:r>
            <a:endParaRPr lang="en-US" baseline="-25000">
              <a:latin typeface="+mn-lt"/>
            </a:endParaRPr>
          </a:p>
        </p:txBody>
      </p:sp>
      <p:sp>
        <p:nvSpPr>
          <p:cNvPr id="16" name="TextBox 44"/>
          <p:cNvSpPr txBox="1">
            <a:spLocks noChangeArrowheads="1"/>
          </p:cNvSpPr>
          <p:nvPr/>
        </p:nvSpPr>
        <p:spPr bwMode="auto">
          <a:xfrm>
            <a:off x="5362537" y="5022567"/>
            <a:ext cx="639925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>
                <a:latin typeface="+mn-lt"/>
              </a:rPr>
              <a:t>Транзитната честота </a:t>
            </a:r>
            <a:r>
              <a:rPr lang="en-US" sz="1800" dirty="0">
                <a:latin typeface="+mn-lt"/>
              </a:rPr>
              <a:t>f</a:t>
            </a:r>
            <a:r>
              <a:rPr lang="bg-BG" sz="1800" baseline="-25000" dirty="0">
                <a:latin typeface="+mn-lt"/>
              </a:rPr>
              <a:t>Т  </a:t>
            </a:r>
            <a:r>
              <a:rPr lang="bg-BG" sz="1800" i="0" dirty="0">
                <a:latin typeface="+mn-lt"/>
              </a:rPr>
              <a:t>може да се дефинира и като честотата, при която модулът на коефициента </a:t>
            </a:r>
            <a:r>
              <a:rPr lang="el-GR" sz="1800" i="0" dirty="0">
                <a:latin typeface="+mn-lt"/>
              </a:rPr>
              <a:t>β</a:t>
            </a:r>
            <a:r>
              <a:rPr lang="bg-BG" sz="1800" i="0" dirty="0">
                <a:latin typeface="+mn-lt"/>
              </a:rPr>
              <a:t>  става приблизително единица.  </a:t>
            </a:r>
            <a:endParaRPr lang="en-US" sz="1800" i="0" dirty="0">
              <a:latin typeface="+mn-lt"/>
            </a:endParaRPr>
          </a:p>
        </p:txBody>
      </p:sp>
      <p:sp>
        <p:nvSpPr>
          <p:cNvPr id="17" name="TextBox 11"/>
          <p:cNvSpPr txBox="1">
            <a:spLocks noChangeArrowheads="1"/>
          </p:cNvSpPr>
          <p:nvPr/>
        </p:nvSpPr>
        <p:spPr bwMode="auto">
          <a:xfrm>
            <a:off x="5856288" y="3154016"/>
            <a:ext cx="360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2000">
                <a:latin typeface="+mn-lt"/>
                <a:cs typeface="Times New Roman" pitchFamily="18" charset="0"/>
              </a:rPr>
              <a:t>1</a:t>
            </a:r>
            <a:r>
              <a:rPr lang="en-US" sz="2000">
                <a:latin typeface="+mn-lt"/>
                <a:cs typeface="Times New Roman" pitchFamily="18" charset="0"/>
              </a:rPr>
              <a:t> </a:t>
            </a:r>
          </a:p>
        </p:txBody>
      </p:sp>
      <p:grpSp>
        <p:nvGrpSpPr>
          <p:cNvPr id="18" name="Group 33"/>
          <p:cNvGrpSpPr>
            <a:grpSpLocks/>
          </p:cNvGrpSpPr>
          <p:nvPr/>
        </p:nvGrpSpPr>
        <p:grpSpPr bwMode="auto">
          <a:xfrm>
            <a:off x="6223000" y="2176119"/>
            <a:ext cx="1733550" cy="1819275"/>
            <a:chOff x="4698752" y="2964312"/>
            <a:chExt cx="2496527" cy="1427806"/>
          </a:xfrm>
        </p:grpSpPr>
        <p:cxnSp>
          <p:nvCxnSpPr>
            <p:cNvPr id="19" name="Straight Connector 18"/>
            <p:cNvCxnSpPr/>
            <p:nvPr/>
          </p:nvCxnSpPr>
          <p:spPr bwMode="auto">
            <a:xfrm>
              <a:off x="4698752" y="2968049"/>
              <a:ext cx="651567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 bwMode="auto">
            <a:xfrm>
              <a:off x="5320598" y="2964312"/>
              <a:ext cx="1874681" cy="1427806"/>
            </a:xfrm>
            <a:custGeom>
              <a:avLst/>
              <a:gdLst>
                <a:gd name="connsiteX0" fmla="*/ 0 w 1873771"/>
                <a:gd name="connsiteY0" fmla="*/ 3740 h 1427806"/>
                <a:gd name="connsiteX1" fmla="*/ 374754 w 1873771"/>
                <a:gd name="connsiteY1" fmla="*/ 168632 h 1427806"/>
                <a:gd name="connsiteX2" fmla="*/ 794479 w 1873771"/>
                <a:gd name="connsiteY2" fmla="*/ 1098022 h 1427806"/>
                <a:gd name="connsiteX3" fmla="*/ 1873771 w 1873771"/>
                <a:gd name="connsiteY3" fmla="*/ 1427806 h 1427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3771" h="1427806">
                  <a:moveTo>
                    <a:pt x="0" y="3740"/>
                  </a:moveTo>
                  <a:cubicBezTo>
                    <a:pt x="121170" y="-5004"/>
                    <a:pt x="242341" y="-13748"/>
                    <a:pt x="374754" y="168632"/>
                  </a:cubicBezTo>
                  <a:cubicBezTo>
                    <a:pt x="507167" y="351012"/>
                    <a:pt x="544643" y="888160"/>
                    <a:pt x="794479" y="1098022"/>
                  </a:cubicBezTo>
                  <a:cubicBezTo>
                    <a:pt x="1044315" y="1307884"/>
                    <a:pt x="1683896" y="1375340"/>
                    <a:pt x="1873771" y="1427806"/>
                  </a:cubicBezTo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cxnSp>
        <p:nvCxnSpPr>
          <p:cNvPr id="25" name="Straight Connector 21"/>
          <p:cNvCxnSpPr>
            <a:cxnSpLocks noChangeShapeType="1"/>
          </p:cNvCxnSpPr>
          <p:nvPr/>
        </p:nvCxnSpPr>
        <p:spPr bwMode="auto">
          <a:xfrm>
            <a:off x="6831013" y="1931644"/>
            <a:ext cx="387350" cy="22002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8"/>
          <p:cNvCxnSpPr>
            <a:cxnSpLocks noChangeShapeType="1"/>
          </p:cNvCxnSpPr>
          <p:nvPr/>
        </p:nvCxnSpPr>
        <p:spPr bwMode="auto">
          <a:xfrm>
            <a:off x="7080250" y="3393728"/>
            <a:ext cx="0" cy="604838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9"/>
          <p:cNvSpPr txBox="1">
            <a:spLocks noChangeArrowheads="1"/>
          </p:cNvSpPr>
          <p:nvPr/>
        </p:nvSpPr>
        <p:spPr bwMode="auto">
          <a:xfrm>
            <a:off x="335367" y="1731616"/>
            <a:ext cx="544631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bg-BG" sz="1800" i="0" dirty="0">
                <a:latin typeface="+mn-lt"/>
              </a:rPr>
              <a:t>Произведението на модула на диференциалния коефициент на усилване </a:t>
            </a:r>
            <a:r>
              <a:rPr lang="el-GR" sz="1800" i="0" dirty="0">
                <a:latin typeface="+mn-lt"/>
              </a:rPr>
              <a:t>β</a:t>
            </a:r>
            <a:r>
              <a:rPr lang="bg-BG" sz="1800" i="0" dirty="0">
                <a:latin typeface="+mn-lt"/>
              </a:rPr>
              <a:t> и текущата честота се нарича транзитна честота </a:t>
            </a:r>
            <a:r>
              <a:rPr lang="en-US" sz="1800" dirty="0" err="1">
                <a:latin typeface="+mn-lt"/>
              </a:rPr>
              <a:t>f</a:t>
            </a:r>
            <a:r>
              <a:rPr lang="en-US" sz="1800" baseline="-25000" dirty="0" err="1">
                <a:latin typeface="+mn-lt"/>
              </a:rPr>
              <a:t>T</a:t>
            </a:r>
            <a:r>
              <a:rPr lang="en-US" sz="1800" i="0" dirty="0" err="1">
                <a:latin typeface="+mn-lt"/>
              </a:rPr>
              <a:t>.</a:t>
            </a:r>
            <a:endParaRPr lang="en-US" sz="1800" i="0" dirty="0">
              <a:latin typeface="+mn-lt"/>
            </a:endParaRPr>
          </a:p>
        </p:txBody>
      </p:sp>
      <p:sp>
        <p:nvSpPr>
          <p:cNvPr id="28" name="TextBox 15"/>
          <p:cNvSpPr txBox="1">
            <a:spLocks noChangeArrowheads="1"/>
          </p:cNvSpPr>
          <p:nvPr/>
        </p:nvSpPr>
        <p:spPr bwMode="auto">
          <a:xfrm>
            <a:off x="2359495" y="3833185"/>
            <a:ext cx="2219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l-GR" sz="2000" i="0" dirty="0">
                <a:latin typeface="+mn-lt"/>
                <a:cs typeface="Times New Roman" pitchFamily="18" charset="0"/>
              </a:rPr>
              <a:t>β</a:t>
            </a:r>
            <a:r>
              <a:rPr lang="en-US" sz="2000" dirty="0">
                <a:latin typeface="+mn-lt"/>
                <a:cs typeface="Times New Roman" pitchFamily="18" charset="0"/>
              </a:rPr>
              <a:t>.f = </a:t>
            </a:r>
            <a:r>
              <a:rPr lang="en-US" sz="2000" dirty="0" err="1">
                <a:latin typeface="+mn-lt"/>
                <a:cs typeface="Times New Roman" pitchFamily="18" charset="0"/>
              </a:rPr>
              <a:t>f</a:t>
            </a:r>
            <a:r>
              <a:rPr lang="en-US" sz="2000" baseline="-25000" dirty="0" err="1">
                <a:latin typeface="+mn-lt"/>
                <a:cs typeface="Times New Roman" pitchFamily="18" charset="0"/>
              </a:rPr>
              <a:t>T</a:t>
            </a:r>
            <a:r>
              <a:rPr lang="en-US" sz="2000" dirty="0">
                <a:latin typeface="+mn-lt"/>
                <a:cs typeface="Times New Roman" pitchFamily="18" charset="0"/>
              </a:rPr>
              <a:t> </a:t>
            </a:r>
          </a:p>
        </p:txBody>
      </p:sp>
      <p:sp>
        <p:nvSpPr>
          <p:cNvPr id="30" name="TextBox 49"/>
          <p:cNvSpPr txBox="1">
            <a:spLocks noChangeArrowheads="1"/>
          </p:cNvSpPr>
          <p:nvPr/>
        </p:nvSpPr>
        <p:spPr bwMode="auto">
          <a:xfrm>
            <a:off x="6223003" y="1731616"/>
            <a:ext cx="688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l-GR" sz="2000" i="0" dirty="0">
                <a:latin typeface="+mn-lt"/>
              </a:rPr>
              <a:t>β</a:t>
            </a:r>
            <a:r>
              <a:rPr lang="bg-BG" sz="2000" baseline="-25000" dirty="0">
                <a:latin typeface="+mn-lt"/>
              </a:rPr>
              <a:t>0</a:t>
            </a:r>
            <a:endParaRPr lang="en-US" sz="2000" baseline="-25000" dirty="0">
              <a:latin typeface="+mn-lt"/>
            </a:endParaRPr>
          </a:p>
        </p:txBody>
      </p:sp>
      <p:grpSp>
        <p:nvGrpSpPr>
          <p:cNvPr id="31" name="Group 24"/>
          <p:cNvGrpSpPr>
            <a:grpSpLocks/>
          </p:cNvGrpSpPr>
          <p:nvPr/>
        </p:nvGrpSpPr>
        <p:grpSpPr bwMode="auto">
          <a:xfrm>
            <a:off x="1982791" y="4622457"/>
            <a:ext cx="1843087" cy="495435"/>
            <a:chOff x="5789722" y="1890297"/>
            <a:chExt cx="1843158" cy="402862"/>
          </a:xfrm>
        </p:grpSpPr>
        <p:sp>
          <p:nvSpPr>
            <p:cNvPr id="32" name="TextBox 16"/>
            <p:cNvSpPr txBox="1">
              <a:spLocks noChangeArrowheads="1"/>
            </p:cNvSpPr>
            <p:nvPr/>
          </p:nvSpPr>
          <p:spPr bwMode="auto">
            <a:xfrm>
              <a:off x="5789722" y="1894861"/>
              <a:ext cx="1743363" cy="325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bg-BG" sz="1800" i="0" dirty="0">
                  <a:latin typeface="+mn-lt"/>
                </a:rPr>
                <a:t>Ако </a:t>
              </a:r>
              <a:r>
                <a:rPr lang="en-US" sz="2000" dirty="0">
                  <a:latin typeface="+mn-lt"/>
                  <a:cs typeface="Times New Roman" pitchFamily="18" charset="0"/>
                </a:rPr>
                <a:t>f</a:t>
              </a:r>
              <a:r>
                <a:rPr lang="en-US" sz="2000" i="0" dirty="0">
                  <a:latin typeface="+mn-lt"/>
                  <a:cs typeface="Times New Roman" pitchFamily="18" charset="0"/>
                </a:rPr>
                <a:t> = </a:t>
              </a:r>
              <a:r>
                <a:rPr lang="en-US" sz="2000" dirty="0" err="1">
                  <a:latin typeface="+mn-lt"/>
                  <a:cs typeface="Times New Roman" pitchFamily="18" charset="0"/>
                </a:rPr>
                <a:t>f</a:t>
              </a:r>
              <a:r>
                <a:rPr lang="en-US" sz="2000" baseline="-25000" dirty="0" err="1">
                  <a:latin typeface="+mn-lt"/>
                  <a:cs typeface="Times New Roman" pitchFamily="18" charset="0"/>
                </a:rPr>
                <a:t>T</a:t>
              </a:r>
              <a:r>
                <a:rPr lang="en-US" sz="2000" i="0" dirty="0">
                  <a:latin typeface="+mn-lt"/>
                  <a:cs typeface="Times New Roman" pitchFamily="18" charset="0"/>
                </a:rPr>
                <a:t>,  </a:t>
              </a:r>
              <a:r>
                <a:rPr lang="el-GR" sz="2000" i="0" dirty="0">
                  <a:latin typeface="+mn-lt"/>
                  <a:cs typeface="Times New Roman" pitchFamily="18" charset="0"/>
                </a:rPr>
                <a:t>β</a:t>
              </a:r>
              <a:endParaRPr lang="en-US" sz="2000" i="0" dirty="0">
                <a:latin typeface="+mn-lt"/>
                <a:cs typeface="Times New Roman" pitchFamily="18" charset="0"/>
              </a:endParaRPr>
            </a:p>
          </p:txBody>
        </p:sp>
        <p:grpSp>
          <p:nvGrpSpPr>
            <p:cNvPr id="33" name="Group 22"/>
            <p:cNvGrpSpPr>
              <a:grpSpLocks/>
            </p:cNvGrpSpPr>
            <p:nvPr/>
          </p:nvGrpSpPr>
          <p:grpSpPr bwMode="auto">
            <a:xfrm>
              <a:off x="7107583" y="1890297"/>
              <a:ext cx="329248" cy="402862"/>
              <a:chOff x="7123913" y="2346776"/>
              <a:chExt cx="329248" cy="402862"/>
            </a:xfrm>
          </p:grpSpPr>
          <p:sp>
            <p:nvSpPr>
              <p:cNvPr id="35" name="Rectangle 17"/>
              <p:cNvSpPr>
                <a:spLocks noChangeArrowheads="1"/>
              </p:cNvSpPr>
              <p:nvPr/>
            </p:nvSpPr>
            <p:spPr bwMode="auto">
              <a:xfrm>
                <a:off x="7140243" y="2346776"/>
                <a:ext cx="312918" cy="325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l-GR" sz="2000"/>
                  <a:t>~</a:t>
                </a:r>
                <a:endParaRPr lang="en-US" sz="2000"/>
              </a:p>
            </p:txBody>
          </p:sp>
          <p:sp>
            <p:nvSpPr>
              <p:cNvPr id="36" name="Rectangle 19"/>
              <p:cNvSpPr>
                <a:spLocks noChangeArrowheads="1"/>
              </p:cNvSpPr>
              <p:nvPr/>
            </p:nvSpPr>
            <p:spPr bwMode="auto">
              <a:xfrm>
                <a:off x="7123913" y="2424289"/>
                <a:ext cx="312918" cy="325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l-GR" sz="2000"/>
                  <a:t>~</a:t>
                </a:r>
                <a:endParaRPr lang="en-US" sz="2000"/>
              </a:p>
            </p:txBody>
          </p:sp>
        </p:grpSp>
        <p:sp>
          <p:nvSpPr>
            <p:cNvPr id="34" name="TextBox 23"/>
            <p:cNvSpPr txBox="1">
              <a:spLocks noChangeArrowheads="1"/>
            </p:cNvSpPr>
            <p:nvPr/>
          </p:nvSpPr>
          <p:spPr bwMode="auto">
            <a:xfrm>
              <a:off x="7310644" y="1909885"/>
              <a:ext cx="322236" cy="325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2000">
                  <a:latin typeface="+mn-lt"/>
                  <a:cs typeface="Times New Roman" pitchFamily="18" charset="0"/>
                </a:rPr>
                <a:t>1</a:t>
              </a:r>
            </a:p>
          </p:txBody>
        </p:sp>
      </p:grpSp>
      <p:cxnSp>
        <p:nvCxnSpPr>
          <p:cNvPr id="37" name="Straight Connector 10"/>
          <p:cNvCxnSpPr>
            <a:cxnSpLocks noChangeShapeType="1"/>
          </p:cNvCxnSpPr>
          <p:nvPr/>
        </p:nvCxnSpPr>
        <p:spPr bwMode="auto">
          <a:xfrm>
            <a:off x="6223000" y="3431828"/>
            <a:ext cx="271938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Rectangle 2">
            <a:extLst>
              <a:ext uri="{FF2B5EF4-FFF2-40B4-BE49-F238E27FC236}">
                <a16:creationId xmlns:a16="http://schemas.microsoft.com/office/drawing/2014/main" id="{6A22AE33-4D67-4470-B61E-962B72B37D55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9144000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Транзитна честота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636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8F5E1252-F8D1-4254-942A-62D9145070F7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10585176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Транзитна честота</a:t>
            </a:r>
            <a:r>
              <a:rPr lang="en-US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(gain bandwidth product) </a:t>
            </a: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и </a:t>
            </a:r>
            <a:r>
              <a:rPr lang="en-US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Noise Figure</a:t>
            </a: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1BCEF-6A14-491A-AFE3-C156D978AAA5}"/>
              </a:ext>
            </a:extLst>
          </p:cNvPr>
          <p:cNvSpPr txBox="1"/>
          <p:nvPr/>
        </p:nvSpPr>
        <p:spPr>
          <a:xfrm>
            <a:off x="11136560" y="6381328"/>
            <a:ext cx="5854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BC</a:t>
            </a:r>
            <a:r>
              <a:rPr lang="bg-BG" sz="1200" dirty="0"/>
              <a:t>546</a:t>
            </a:r>
            <a:endParaRPr lang="en-US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C8585-D167-0638-D391-9DAAD39D83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196752"/>
            <a:ext cx="4686418" cy="3753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6EF9D3-1E12-EF38-9AEA-5673681A9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36" y="1215783"/>
            <a:ext cx="6161017" cy="254394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210863-6276-F012-D225-F6F0AF64523F}"/>
              </a:ext>
            </a:extLst>
          </p:cNvPr>
          <p:cNvSpPr/>
          <p:nvPr/>
        </p:nvSpPr>
        <p:spPr>
          <a:xfrm>
            <a:off x="191344" y="1412776"/>
            <a:ext cx="6048672" cy="5040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D2B9B3A-9BC6-C3DD-AB6C-F6C459945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4" y="3759728"/>
            <a:ext cx="2658406" cy="4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87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D9C4B18-3862-667C-0C3D-C0D71A4A9987}"/>
              </a:ext>
            </a:extLst>
          </p:cNvPr>
          <p:cNvSpPr txBox="1">
            <a:spLocks noChangeArrowheads="1"/>
          </p:cNvSpPr>
          <p:nvPr/>
        </p:nvSpPr>
        <p:spPr>
          <a:xfrm>
            <a:off x="-24680" y="-46412"/>
            <a:ext cx="9144000" cy="52810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bg-BG" sz="3200" kern="0" dirty="0">
                <a:solidFill>
                  <a:srgbClr val="0038A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Пример – променливо-токов анализ на усилвател</a:t>
            </a:r>
            <a:endParaRPr lang="en-US" sz="3200" kern="0" dirty="0">
              <a:solidFill>
                <a:srgbClr val="0038A8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454B0E-DC70-413A-0D3F-D85FE6431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2" y="730697"/>
            <a:ext cx="3617394" cy="27830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B1DA6E2-9D46-CEDE-7021-2FE89C8F5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674" y="626398"/>
            <a:ext cx="6018994" cy="31619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724E92-E605-40AE-55D8-9D475370E9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7888" y="3933056"/>
            <a:ext cx="5946986" cy="28970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E6E3F4-AA41-E2C4-3A05-1905AEE7D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368" y="3815936"/>
            <a:ext cx="3765522" cy="289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8048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11290</TotalTime>
  <Words>1553</Words>
  <Application>Microsoft Office PowerPoint</Application>
  <PresentationFormat>Widescreen</PresentationFormat>
  <Paragraphs>156</Paragraphs>
  <Slides>28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Narrow</vt:lpstr>
      <vt:lpstr>Calibri</vt:lpstr>
      <vt:lpstr>Calibri Light</vt:lpstr>
      <vt:lpstr>Cambria Math</vt:lpstr>
      <vt:lpstr>Times New Roman</vt:lpstr>
      <vt:lpstr>Default Design</vt:lpstr>
      <vt:lpstr>PowerPoint Presentation</vt:lpstr>
      <vt:lpstr>Целта: От DC управление към AC усилване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ТУ-София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Vassiliy Tchoumatchenko</cp:lastModifiedBy>
  <cp:revision>344</cp:revision>
  <dcterms:created xsi:type="dcterms:W3CDTF">2013-03-19T07:28:34Z</dcterms:created>
  <dcterms:modified xsi:type="dcterms:W3CDTF">2025-11-25T10:51:59Z</dcterms:modified>
</cp:coreProperties>
</file>