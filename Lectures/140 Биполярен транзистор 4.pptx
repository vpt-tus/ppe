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9" r:id="rId5"/>
    <p:sldId id="257" r:id="rId6"/>
    <p:sldId id="258" r:id="rId7"/>
    <p:sldId id="265" r:id="rId8"/>
    <p:sldId id="268" r:id="rId9"/>
    <p:sldId id="270" r:id="rId10"/>
    <p:sldId id="271" r:id="rId11"/>
    <p:sldId id="272" r:id="rId12"/>
    <p:sldId id="273" r:id="rId13"/>
    <p:sldId id="274" r:id="rId14"/>
    <p:sldId id="275" r:id="rId15"/>
    <p:sldId id="278" r:id="rId16"/>
    <p:sldId id="299" r:id="rId17"/>
    <p:sldId id="300" r:id="rId18"/>
    <p:sldId id="279" r:id="rId19"/>
    <p:sldId id="280" r:id="rId20"/>
    <p:sldId id="281" r:id="rId21"/>
    <p:sldId id="292" r:id="rId22"/>
  </p:sldIdLst>
  <p:sldSz cx="12192000" cy="6858000"/>
  <p:notesSz cx="7559675" cy="10691813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41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bg-BG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bg-BG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bg-BG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bg-BG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bg-BG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bg-BG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2"/>
          <p:cNvSpPr/>
          <p:nvPr/>
        </p:nvSpPr>
        <p:spPr>
          <a:xfrm>
            <a:off x="119160" y="5013000"/>
            <a:ext cx="10080720" cy="10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</a:pPr>
            <a:r>
              <a:rPr lang="en-US" sz="3200" b="0" strike="noStrike" spc="-1">
                <a:solidFill>
                  <a:srgbClr val="0038A8"/>
                </a:solidFill>
                <a:latin typeface="Calibri Light"/>
              </a:rPr>
              <a:t>Работа </a:t>
            </a: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на биполярен </a:t>
            </a:r>
            <a:r>
              <a:rPr lang="en-US" sz="3200" b="0" strike="noStrike" spc="-1">
                <a:solidFill>
                  <a:srgbClr val="0038A8"/>
                </a:solidFill>
                <a:latin typeface="Calibri Light"/>
              </a:rPr>
              <a:t> транзи</a:t>
            </a: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с</a:t>
            </a:r>
            <a:r>
              <a:rPr lang="en-US" sz="3200" b="0" strike="noStrike" spc="-1">
                <a:solidFill>
                  <a:srgbClr val="0038A8"/>
                </a:solidFill>
                <a:latin typeface="Calibri Light"/>
              </a:rPr>
              <a:t>тор като </a:t>
            </a: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ключ</a:t>
            </a:r>
            <a:endParaRPr lang="bg-BG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Picture 4"/>
          <p:cNvPicPr/>
          <p:nvPr/>
        </p:nvPicPr>
        <p:blipFill>
          <a:blip r:embed="rId2"/>
          <a:stretch/>
        </p:blipFill>
        <p:spPr>
          <a:xfrm>
            <a:off x="551520" y="275760"/>
            <a:ext cx="904680" cy="914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-24840" y="-720"/>
            <a:ext cx="7772040" cy="404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Ключ общ емитер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4" name="Text Box 10"/>
          <p:cNvSpPr/>
          <p:nvPr/>
        </p:nvSpPr>
        <p:spPr>
          <a:xfrm>
            <a:off x="767520" y="6093360"/>
            <a:ext cx="79772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901"/>
              </a:spcBef>
            </a:pP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Състоянието на ключа се определя от амплитудата на входния импулс. 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Picture 2"/>
          <p:cNvPicPr/>
          <p:nvPr/>
        </p:nvPicPr>
        <p:blipFill>
          <a:blip r:embed="rId2"/>
          <a:stretch/>
        </p:blipFill>
        <p:spPr>
          <a:xfrm>
            <a:off x="5663880" y="1567800"/>
            <a:ext cx="5562720" cy="2973600"/>
          </a:xfrm>
          <a:prstGeom prst="rect">
            <a:avLst/>
          </a:prstGeom>
          <a:ln w="0">
            <a:noFill/>
          </a:ln>
        </p:spPr>
      </p:pic>
      <p:pic>
        <p:nvPicPr>
          <p:cNvPr id="166" name="Picture 10"/>
          <p:cNvPicPr/>
          <p:nvPr/>
        </p:nvPicPr>
        <p:blipFill>
          <a:blip r:embed="rId3"/>
          <a:stretch/>
        </p:blipFill>
        <p:spPr>
          <a:xfrm>
            <a:off x="737280" y="1660320"/>
            <a:ext cx="4913640" cy="2849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39"/>
          <p:cNvPicPr/>
          <p:nvPr/>
        </p:nvPicPr>
        <p:blipFill>
          <a:blip r:embed="rId2"/>
          <a:stretch/>
        </p:blipFill>
        <p:spPr>
          <a:xfrm>
            <a:off x="2436120" y="797760"/>
            <a:ext cx="6006240" cy="5354280"/>
          </a:xfrm>
          <a:prstGeom prst="rect">
            <a:avLst/>
          </a:prstGeom>
          <a:ln w="0">
            <a:noFill/>
          </a:ln>
        </p:spPr>
      </p:pic>
      <p:sp>
        <p:nvSpPr>
          <p:cNvPr id="118" name="TextBox 5"/>
          <p:cNvSpPr/>
          <p:nvPr/>
        </p:nvSpPr>
        <p:spPr>
          <a:xfrm>
            <a:off x="43560" y="-27360"/>
            <a:ext cx="774468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Режими на работа на биполярен транзистор</a:t>
            </a:r>
            <a:endParaRPr lang="bg-BG" sz="3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9" name="Straight Connector 8"/>
          <p:cNvCxnSpPr/>
          <p:nvPr/>
        </p:nvCxnSpPr>
        <p:spPr>
          <a:xfrm flipV="1">
            <a:off x="2796120" y="926280"/>
            <a:ext cx="226440" cy="5018400"/>
          </a:xfrm>
          <a:prstGeom prst="straightConnector1">
            <a:avLst/>
          </a:prstGeom>
          <a:ln w="19050">
            <a:solidFill>
              <a:srgbClr val="FF0000"/>
            </a:solidFill>
            <a:round/>
          </a:ln>
        </p:spPr>
      </p:cxnSp>
      <p:cxnSp>
        <p:nvCxnSpPr>
          <p:cNvPr id="120" name="Straight Connector 10"/>
          <p:cNvCxnSpPr/>
          <p:nvPr/>
        </p:nvCxnSpPr>
        <p:spPr>
          <a:xfrm flipV="1">
            <a:off x="2804760" y="5915520"/>
            <a:ext cx="5560200" cy="16200"/>
          </a:xfrm>
          <a:prstGeom prst="straightConnector1">
            <a:avLst/>
          </a:prstGeom>
          <a:ln w="19050">
            <a:solidFill>
              <a:srgbClr val="FF0000"/>
            </a:solidFill>
            <a:round/>
          </a:ln>
        </p:spPr>
      </p:cxnSp>
      <p:sp>
        <p:nvSpPr>
          <p:cNvPr id="121" name="TextBox 15"/>
          <p:cNvSpPr/>
          <p:nvPr/>
        </p:nvSpPr>
        <p:spPr>
          <a:xfrm>
            <a:off x="453240" y="844560"/>
            <a:ext cx="104508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400" b="0" strike="noStrike" spc="-1">
                <a:solidFill>
                  <a:srgbClr val="FF0000"/>
                </a:solidFill>
                <a:latin typeface="Calibri"/>
              </a:rPr>
              <a:t>насищатне </a:t>
            </a:r>
            <a:endParaRPr lang="bg-BG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FF0000"/>
                </a:solidFill>
                <a:latin typeface="Calibri"/>
              </a:rPr>
              <a:t>saturation</a:t>
            </a:r>
            <a:endParaRPr lang="bg-BG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16"/>
          <p:cNvSpPr/>
          <p:nvPr/>
        </p:nvSpPr>
        <p:spPr>
          <a:xfrm>
            <a:off x="9079560" y="5664600"/>
            <a:ext cx="18356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400" b="0" strike="noStrike" spc="-1">
                <a:solidFill>
                  <a:srgbClr val="FF0000"/>
                </a:solidFill>
                <a:latin typeface="Calibri"/>
              </a:rPr>
              <a:t>отсечка / </a:t>
            </a:r>
            <a:r>
              <a:rPr lang="en-US" sz="1400" b="0" strike="noStrike" spc="-1">
                <a:solidFill>
                  <a:srgbClr val="FF0000"/>
                </a:solidFill>
                <a:latin typeface="Calibri"/>
              </a:rPr>
              <a:t>cutoff</a:t>
            </a:r>
            <a:endParaRPr lang="bg-BG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3" name="Straight Arrow Connector 18"/>
          <p:cNvCxnSpPr>
            <a:stCxn id="121" idx="3"/>
          </p:cNvCxnSpPr>
          <p:nvPr/>
        </p:nvCxnSpPr>
        <p:spPr>
          <a:xfrm>
            <a:off x="1498320" y="1102680"/>
            <a:ext cx="1401120" cy="401040"/>
          </a:xfrm>
          <a:prstGeom prst="straightConnector1">
            <a:avLst/>
          </a:prstGeom>
          <a:ln>
            <a:solidFill>
              <a:srgbClr val="FF0000"/>
            </a:solidFill>
            <a:round/>
            <a:tailEnd type="triangle" w="med" len="med"/>
          </a:ln>
        </p:spPr>
      </p:cxnSp>
      <p:cxnSp>
        <p:nvCxnSpPr>
          <p:cNvPr id="124" name="Straight Arrow Connector 20"/>
          <p:cNvCxnSpPr>
            <a:stCxn id="122" idx="1"/>
          </p:cNvCxnSpPr>
          <p:nvPr/>
        </p:nvCxnSpPr>
        <p:spPr>
          <a:xfrm flipH="1">
            <a:off x="8395200" y="5816160"/>
            <a:ext cx="684720" cy="105480"/>
          </a:xfrm>
          <a:prstGeom prst="straightConnector1">
            <a:avLst/>
          </a:prstGeom>
          <a:ln>
            <a:solidFill>
              <a:srgbClr val="FF0000"/>
            </a:solidFill>
            <a:round/>
            <a:tailEnd type="triangle" w="med" len="med"/>
          </a:ln>
        </p:spPr>
      </p:cxnSp>
      <p:sp>
        <p:nvSpPr>
          <p:cNvPr id="125" name="TextBox 21"/>
          <p:cNvSpPr/>
          <p:nvPr/>
        </p:nvSpPr>
        <p:spPr>
          <a:xfrm>
            <a:off x="4557600" y="1964520"/>
            <a:ext cx="2292480" cy="3031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400" b="0" strike="noStrike" spc="-1">
                <a:solidFill>
                  <a:srgbClr val="FF0000"/>
                </a:solidFill>
                <a:latin typeface="Calibri"/>
              </a:rPr>
              <a:t>активна област</a:t>
            </a:r>
            <a:endParaRPr lang="bg-BG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6" name="Straight Connector 23"/>
          <p:cNvCxnSpPr>
            <a:stCxn id="127" idx="5"/>
            <a:endCxn id="128" idx="1"/>
          </p:cNvCxnSpPr>
          <p:nvPr/>
        </p:nvCxnSpPr>
        <p:spPr>
          <a:xfrm>
            <a:off x="2838960" y="2288880"/>
            <a:ext cx="4557960" cy="3593160"/>
          </a:xfrm>
          <a:prstGeom prst="straightConnector1">
            <a:avLst/>
          </a:prstGeom>
          <a:ln w="38100">
            <a:solidFill>
              <a:srgbClr val="00B0F0"/>
            </a:solidFill>
            <a:round/>
          </a:ln>
        </p:spPr>
      </p:cxnSp>
      <p:sp>
        <p:nvSpPr>
          <p:cNvPr id="129" name="TextBox 26"/>
          <p:cNvSpPr/>
          <p:nvPr/>
        </p:nvSpPr>
        <p:spPr>
          <a:xfrm>
            <a:off x="1980360" y="2084040"/>
            <a:ext cx="61236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00B0F0"/>
                </a:solidFill>
                <a:latin typeface="Calibri"/>
              </a:rPr>
              <a:t>Ucc/Rc</a:t>
            </a:r>
            <a:endParaRPr lang="bg-BG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27"/>
          <p:cNvSpPr/>
          <p:nvPr/>
        </p:nvSpPr>
        <p:spPr>
          <a:xfrm>
            <a:off x="7180200" y="6188760"/>
            <a:ext cx="519480" cy="3639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B0F0"/>
                </a:solidFill>
                <a:latin typeface="Calibri"/>
              </a:rPr>
              <a:t>Ucc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Oval 29"/>
          <p:cNvSpPr/>
          <p:nvPr/>
        </p:nvSpPr>
        <p:spPr>
          <a:xfrm>
            <a:off x="5060520" y="4011120"/>
            <a:ext cx="143640" cy="14364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Oval 30"/>
          <p:cNvSpPr/>
          <p:nvPr/>
        </p:nvSpPr>
        <p:spPr>
          <a:xfrm>
            <a:off x="7375680" y="5860800"/>
            <a:ext cx="143640" cy="14364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Oval 31"/>
          <p:cNvSpPr/>
          <p:nvPr/>
        </p:nvSpPr>
        <p:spPr>
          <a:xfrm>
            <a:off x="2716200" y="2166120"/>
            <a:ext cx="143640" cy="14364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32"/>
          <p:cNvSpPr/>
          <p:nvPr/>
        </p:nvSpPr>
        <p:spPr>
          <a:xfrm>
            <a:off x="5178240" y="3755880"/>
            <a:ext cx="3351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B0F0"/>
                </a:solidFill>
                <a:latin typeface="Calibri"/>
              </a:rPr>
              <a:t>Q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34"/>
          <p:cNvSpPr/>
          <p:nvPr/>
        </p:nvSpPr>
        <p:spPr>
          <a:xfrm>
            <a:off x="23760" y="1414417"/>
            <a:ext cx="2815200" cy="3888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bg-BG" sz="1200" b="0" strike="noStrike" spc="-1" dirty="0">
                <a:solidFill>
                  <a:schemeClr val="dk1"/>
                </a:solidFill>
                <a:latin typeface="Calibri"/>
              </a:rPr>
              <a:t>емитерен преход – право включване</a:t>
            </a:r>
            <a:endParaRPr lang="bg-BG" sz="1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bg-BG" sz="1200" b="0" strike="noStrike" spc="-1" dirty="0">
                <a:solidFill>
                  <a:schemeClr val="dk1"/>
                </a:solidFill>
                <a:latin typeface="Calibri"/>
              </a:rPr>
              <a:t>колекторен преход – право включване</a:t>
            </a:r>
            <a:r>
              <a:rPr lang="en-US" sz="12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endParaRPr lang="bg-BG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35"/>
          <p:cNvSpPr/>
          <p:nvPr/>
        </p:nvSpPr>
        <p:spPr>
          <a:xfrm>
            <a:off x="8743320" y="6105960"/>
            <a:ext cx="2927570" cy="3888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bg-BG" sz="1200" b="0" strike="noStrike" spc="-1" dirty="0">
                <a:solidFill>
                  <a:schemeClr val="dk1"/>
                </a:solidFill>
                <a:latin typeface="Calibri"/>
              </a:rPr>
              <a:t>емитерен преход – обратно включване</a:t>
            </a:r>
            <a:endParaRPr lang="bg-BG" sz="1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bg-BG" sz="1200" b="0" strike="noStrike" spc="-1" dirty="0">
                <a:solidFill>
                  <a:schemeClr val="dk1"/>
                </a:solidFill>
                <a:latin typeface="Calibri"/>
              </a:rPr>
              <a:t>колекторен преход – обратно включване</a:t>
            </a:r>
            <a:r>
              <a:rPr lang="en-US" sz="12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endParaRPr lang="bg-BG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36"/>
          <p:cNvSpPr/>
          <p:nvPr/>
        </p:nvSpPr>
        <p:spPr>
          <a:xfrm>
            <a:off x="4570920" y="2213640"/>
            <a:ext cx="3281760" cy="388846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bg-BG" sz="1200" b="0" strike="noStrike" spc="-1" dirty="0">
                <a:solidFill>
                  <a:schemeClr val="dk1"/>
                </a:solidFill>
                <a:latin typeface="Calibri"/>
              </a:rPr>
              <a:t>емитерен преход – право включване</a:t>
            </a:r>
            <a:endParaRPr lang="bg-BG" sz="12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bg-BG" sz="1200" b="0" strike="noStrike" spc="-1" dirty="0">
                <a:solidFill>
                  <a:schemeClr val="dk1"/>
                </a:solidFill>
                <a:latin typeface="Calibri"/>
              </a:rPr>
              <a:t>колекторен преход – обратно включване</a:t>
            </a:r>
            <a:r>
              <a:rPr lang="en-US" sz="12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endParaRPr lang="bg-BG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45"/>
          <p:cNvSpPr/>
          <p:nvPr/>
        </p:nvSpPr>
        <p:spPr>
          <a:xfrm>
            <a:off x="7630200" y="1098360"/>
            <a:ext cx="6764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Calibri"/>
              </a:rPr>
              <a:t>Ube=1V</a:t>
            </a:r>
            <a:endParaRPr lang="bg-BG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46"/>
          <p:cNvSpPr/>
          <p:nvPr/>
        </p:nvSpPr>
        <p:spPr>
          <a:xfrm>
            <a:off x="7554960" y="2858400"/>
            <a:ext cx="79236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Calibri"/>
              </a:rPr>
              <a:t>Ube=0.9V</a:t>
            </a:r>
            <a:endParaRPr lang="bg-BG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47"/>
          <p:cNvSpPr/>
          <p:nvPr/>
        </p:nvSpPr>
        <p:spPr>
          <a:xfrm>
            <a:off x="7535160" y="4528080"/>
            <a:ext cx="79236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Calibri"/>
              </a:rPr>
              <a:t>Ube=0.8V</a:t>
            </a:r>
            <a:endParaRPr lang="bg-BG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48"/>
          <p:cNvSpPr/>
          <p:nvPr/>
        </p:nvSpPr>
        <p:spPr>
          <a:xfrm>
            <a:off x="7566480" y="5535360"/>
            <a:ext cx="79236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Calibri"/>
              </a:rPr>
              <a:t>Ube=0.7V</a:t>
            </a:r>
            <a:endParaRPr lang="bg-BG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Picture 25"/>
          <p:cNvPicPr/>
          <p:nvPr/>
        </p:nvPicPr>
        <p:blipFill>
          <a:blip r:embed="rId3"/>
          <a:stretch/>
        </p:blipFill>
        <p:spPr>
          <a:xfrm>
            <a:off x="8615880" y="302400"/>
            <a:ext cx="3425760" cy="1986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4"/>
          <p:cNvPicPr/>
          <p:nvPr/>
        </p:nvPicPr>
        <p:blipFill>
          <a:blip r:embed="rId2"/>
          <a:stretch/>
        </p:blipFill>
        <p:spPr>
          <a:xfrm>
            <a:off x="591120" y="1076400"/>
            <a:ext cx="7009920" cy="4704840"/>
          </a:xfrm>
          <a:prstGeom prst="rect">
            <a:avLst/>
          </a:prstGeom>
          <a:ln w="0">
            <a:noFill/>
          </a:ln>
        </p:spPr>
      </p:pic>
      <p:sp>
        <p:nvSpPr>
          <p:cNvPr id="142" name="TextBox 5"/>
          <p:cNvSpPr/>
          <p:nvPr/>
        </p:nvSpPr>
        <p:spPr>
          <a:xfrm>
            <a:off x="43560" y="-27360"/>
            <a:ext cx="774468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Режими на работа на биполярен транзистор</a:t>
            </a:r>
            <a:endParaRPr lang="bg-BG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6"/>
          <p:cNvSpPr/>
          <p:nvPr/>
        </p:nvSpPr>
        <p:spPr>
          <a:xfrm>
            <a:off x="1775520" y="3723480"/>
            <a:ext cx="18356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200" b="0" strike="noStrike" spc="-1">
                <a:solidFill>
                  <a:srgbClr val="FF0000"/>
                </a:solidFill>
                <a:latin typeface="Calibri"/>
              </a:rPr>
              <a:t>отсечка / </a:t>
            </a:r>
            <a:r>
              <a:rPr lang="en-US" sz="1200" b="0" strike="noStrike" spc="-1">
                <a:solidFill>
                  <a:srgbClr val="FF0000"/>
                </a:solidFill>
                <a:latin typeface="Calibri"/>
              </a:rPr>
              <a:t>cutoff</a:t>
            </a:r>
            <a:endParaRPr lang="bg-BG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7"/>
          <p:cNvSpPr/>
          <p:nvPr/>
        </p:nvSpPr>
        <p:spPr>
          <a:xfrm>
            <a:off x="4145040" y="3290400"/>
            <a:ext cx="1333080" cy="2725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200" b="0" strike="noStrike" spc="-1">
                <a:solidFill>
                  <a:srgbClr val="FF0000"/>
                </a:solidFill>
                <a:latin typeface="Calibri"/>
              </a:rPr>
              <a:t>активна област</a:t>
            </a:r>
            <a:endParaRPr lang="bg-BG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8"/>
          <p:cNvSpPr/>
          <p:nvPr/>
        </p:nvSpPr>
        <p:spPr>
          <a:xfrm>
            <a:off x="5712840" y="2781000"/>
            <a:ext cx="18460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200" b="0" strike="noStrike" spc="-1">
                <a:solidFill>
                  <a:srgbClr val="FF0000"/>
                </a:solidFill>
                <a:latin typeface="Calibri"/>
              </a:rPr>
              <a:t>насищатне </a:t>
            </a:r>
            <a:r>
              <a:rPr lang="en-US" sz="1200" b="0" strike="noStrike" spc="-1">
                <a:solidFill>
                  <a:srgbClr val="FF0000"/>
                </a:solidFill>
                <a:latin typeface="Calibri"/>
              </a:rPr>
              <a:t> / saturation</a:t>
            </a:r>
            <a:endParaRPr lang="bg-BG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Picture 21"/>
          <p:cNvPicPr/>
          <p:nvPr/>
        </p:nvPicPr>
        <p:blipFill>
          <a:blip r:embed="rId3"/>
          <a:stretch/>
        </p:blipFill>
        <p:spPr>
          <a:xfrm>
            <a:off x="7864200" y="3290400"/>
            <a:ext cx="3425760" cy="3053880"/>
          </a:xfrm>
          <a:prstGeom prst="rect">
            <a:avLst/>
          </a:prstGeom>
          <a:ln w="0">
            <a:noFill/>
          </a:ln>
        </p:spPr>
      </p:pic>
      <p:cxnSp>
        <p:nvCxnSpPr>
          <p:cNvPr id="147" name="Straight Connector 22"/>
          <p:cNvCxnSpPr/>
          <p:nvPr/>
        </p:nvCxnSpPr>
        <p:spPr>
          <a:xfrm flipV="1">
            <a:off x="8069760" y="3363480"/>
            <a:ext cx="129240" cy="2862720"/>
          </a:xfrm>
          <a:prstGeom prst="straightConnector1">
            <a:avLst/>
          </a:prstGeom>
          <a:ln w="19050">
            <a:solidFill>
              <a:srgbClr val="FF0000"/>
            </a:solidFill>
            <a:round/>
          </a:ln>
        </p:spPr>
      </p:cxnSp>
      <p:cxnSp>
        <p:nvCxnSpPr>
          <p:cNvPr id="148" name="Straight Connector 23"/>
          <p:cNvCxnSpPr/>
          <p:nvPr/>
        </p:nvCxnSpPr>
        <p:spPr>
          <a:xfrm flipV="1">
            <a:off x="8074440" y="6209280"/>
            <a:ext cx="3171600" cy="9720"/>
          </a:xfrm>
          <a:prstGeom prst="straightConnector1">
            <a:avLst/>
          </a:prstGeom>
          <a:ln w="19050">
            <a:solidFill>
              <a:srgbClr val="FF0000"/>
            </a:solidFill>
            <a:round/>
          </a:ln>
        </p:spPr>
      </p:cxnSp>
      <p:cxnSp>
        <p:nvCxnSpPr>
          <p:cNvPr id="149" name="Straight Connector 24"/>
          <p:cNvCxnSpPr>
            <a:stCxn id="150" idx="5"/>
            <a:endCxn id="151" idx="1"/>
          </p:cNvCxnSpPr>
          <p:nvPr/>
        </p:nvCxnSpPr>
        <p:spPr>
          <a:xfrm>
            <a:off x="8093880" y="4140720"/>
            <a:ext cx="2561040" cy="2030400"/>
          </a:xfrm>
          <a:prstGeom prst="straightConnector1">
            <a:avLst/>
          </a:prstGeom>
          <a:ln w="19050">
            <a:solidFill>
              <a:srgbClr val="00B0F0"/>
            </a:solidFill>
            <a:round/>
          </a:ln>
        </p:spPr>
      </p:cxnSp>
      <p:sp>
        <p:nvSpPr>
          <p:cNvPr id="152" name="Oval 27"/>
          <p:cNvSpPr/>
          <p:nvPr/>
        </p:nvSpPr>
        <p:spPr>
          <a:xfrm>
            <a:off x="9385560" y="5155920"/>
            <a:ext cx="81720" cy="8172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2960" rIns="90000" bIns="129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Oval 28"/>
          <p:cNvSpPr/>
          <p:nvPr/>
        </p:nvSpPr>
        <p:spPr>
          <a:xfrm>
            <a:off x="10642680" y="6158880"/>
            <a:ext cx="81720" cy="8172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2960" rIns="90000" bIns="129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0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Oval 29"/>
          <p:cNvSpPr/>
          <p:nvPr/>
        </p:nvSpPr>
        <p:spPr>
          <a:xfrm>
            <a:off x="8024040" y="4070880"/>
            <a:ext cx="81720" cy="8172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2960" rIns="90000" bIns="1296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153" name="Straight Arrow Connector 30"/>
          <p:cNvCxnSpPr/>
          <p:nvPr/>
        </p:nvCxnSpPr>
        <p:spPr>
          <a:xfrm flipH="1" flipV="1">
            <a:off x="9969840" y="5479560"/>
            <a:ext cx="567720" cy="444960"/>
          </a:xfrm>
          <a:prstGeom prst="straightConnector1">
            <a:avLst/>
          </a:prstGeom>
          <a:ln w="19050">
            <a:solidFill>
              <a:srgbClr val="00B0F0"/>
            </a:solidFill>
            <a:round/>
            <a:tailEnd type="triangle" w="med" len="med"/>
          </a:ln>
        </p:spPr>
      </p:cxnSp>
      <p:cxnSp>
        <p:nvCxnSpPr>
          <p:cNvPr id="154" name="Straight Arrow Connector 31"/>
          <p:cNvCxnSpPr/>
          <p:nvPr/>
        </p:nvCxnSpPr>
        <p:spPr>
          <a:xfrm flipH="1" flipV="1">
            <a:off x="8605080" y="4403520"/>
            <a:ext cx="567720" cy="444960"/>
          </a:xfrm>
          <a:prstGeom prst="straightConnector1">
            <a:avLst/>
          </a:prstGeom>
          <a:ln w="19050">
            <a:solidFill>
              <a:srgbClr val="00B0F0"/>
            </a:solidFill>
            <a:round/>
            <a:tailEnd type="triangle" w="med" len="med"/>
          </a:ln>
        </p:spPr>
      </p:cxnSp>
      <p:sp>
        <p:nvSpPr>
          <p:cNvPr id="155" name="TextBox 32"/>
          <p:cNvSpPr/>
          <p:nvPr/>
        </p:nvSpPr>
        <p:spPr>
          <a:xfrm>
            <a:off x="10647360" y="3381840"/>
            <a:ext cx="58968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chemeClr val="dk1"/>
                </a:solidFill>
                <a:latin typeface="Calibri"/>
              </a:rPr>
              <a:t>Ube=1V</a:t>
            </a:r>
            <a:endParaRPr lang="bg-BG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33"/>
          <p:cNvSpPr/>
          <p:nvPr/>
        </p:nvSpPr>
        <p:spPr>
          <a:xfrm>
            <a:off x="10605240" y="4385880"/>
            <a:ext cx="68544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chemeClr val="dk1"/>
                </a:solidFill>
                <a:latin typeface="Calibri"/>
              </a:rPr>
              <a:t>Ube=0.9V</a:t>
            </a:r>
            <a:endParaRPr lang="bg-BG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34"/>
          <p:cNvSpPr/>
          <p:nvPr/>
        </p:nvSpPr>
        <p:spPr>
          <a:xfrm>
            <a:off x="10593720" y="5338080"/>
            <a:ext cx="68544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chemeClr val="dk1"/>
                </a:solidFill>
                <a:latin typeface="Calibri"/>
              </a:rPr>
              <a:t>Ube=0.8V</a:t>
            </a:r>
            <a:endParaRPr lang="bg-BG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35"/>
          <p:cNvSpPr/>
          <p:nvPr/>
        </p:nvSpPr>
        <p:spPr>
          <a:xfrm>
            <a:off x="10611720" y="5912640"/>
            <a:ext cx="685440" cy="2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chemeClr val="dk1"/>
                </a:solidFill>
                <a:latin typeface="Calibri"/>
              </a:rPr>
              <a:t>Ube=0.7V</a:t>
            </a:r>
            <a:endParaRPr lang="bg-BG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38"/>
          <p:cNvSpPr/>
          <p:nvPr/>
        </p:nvSpPr>
        <p:spPr>
          <a:xfrm>
            <a:off x="9541440" y="4015080"/>
            <a:ext cx="920520" cy="5166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400" b="0" strike="noStrike" spc="-1">
                <a:solidFill>
                  <a:srgbClr val="FF0000"/>
                </a:solidFill>
                <a:latin typeface="Calibri"/>
              </a:rPr>
              <a:t>активна област</a:t>
            </a:r>
            <a:endParaRPr lang="bg-BG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0" name="Straight Arrow Connector 40"/>
          <p:cNvCxnSpPr/>
          <p:nvPr/>
        </p:nvCxnSpPr>
        <p:spPr>
          <a:xfrm>
            <a:off x="6635880" y="3057840"/>
            <a:ext cx="1498680" cy="570240"/>
          </a:xfrm>
          <a:prstGeom prst="straightConnector1">
            <a:avLst/>
          </a:prstGeom>
          <a:ln>
            <a:solidFill>
              <a:srgbClr val="FF0000"/>
            </a:solidFill>
            <a:round/>
            <a:tailEnd type="triangle" w="med" len="med"/>
          </a:ln>
        </p:spPr>
      </p:cxnSp>
      <p:sp>
        <p:nvSpPr>
          <p:cNvPr id="161" name="TextBox 41"/>
          <p:cNvSpPr/>
          <p:nvPr/>
        </p:nvSpPr>
        <p:spPr>
          <a:xfrm>
            <a:off x="9375840" y="6406920"/>
            <a:ext cx="12661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200" b="0" strike="noStrike" spc="-1">
                <a:solidFill>
                  <a:srgbClr val="FF0000"/>
                </a:solidFill>
                <a:latin typeface="Calibri"/>
              </a:rPr>
              <a:t>отсечка / </a:t>
            </a:r>
            <a:r>
              <a:rPr lang="en-US" sz="1200" b="0" strike="noStrike" spc="-1">
                <a:solidFill>
                  <a:srgbClr val="FF0000"/>
                </a:solidFill>
                <a:latin typeface="Calibri"/>
              </a:rPr>
              <a:t>cutoff</a:t>
            </a:r>
            <a:endParaRPr lang="bg-BG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Picture 25"/>
          <p:cNvPicPr/>
          <p:nvPr/>
        </p:nvPicPr>
        <p:blipFill>
          <a:blip r:embed="rId4"/>
          <a:stretch/>
        </p:blipFill>
        <p:spPr>
          <a:xfrm>
            <a:off x="8513280" y="596880"/>
            <a:ext cx="3480480" cy="2018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Picture 14"/>
          <p:cNvPicPr/>
          <p:nvPr/>
        </p:nvPicPr>
        <p:blipFill>
          <a:blip r:embed="rId2"/>
          <a:stretch/>
        </p:blipFill>
        <p:spPr>
          <a:xfrm>
            <a:off x="695520" y="457200"/>
            <a:ext cx="6552720" cy="5943240"/>
          </a:xfrm>
          <a:prstGeom prst="rect">
            <a:avLst/>
          </a:prstGeom>
          <a:ln w="0">
            <a:noFill/>
          </a:ln>
        </p:spPr>
      </p:pic>
      <p:sp>
        <p:nvSpPr>
          <p:cNvPr id="393" name="TextBox 7"/>
          <p:cNvSpPr/>
          <p:nvPr/>
        </p:nvSpPr>
        <p:spPr>
          <a:xfrm>
            <a:off x="4793760" y="2758320"/>
            <a:ext cx="93564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Bsat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Box 10"/>
          <p:cNvSpPr/>
          <p:nvPr/>
        </p:nvSpPr>
        <p:spPr>
          <a:xfrm>
            <a:off x="2111760" y="4417560"/>
            <a:ext cx="7376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200" b="0" strike="noStrike" spc="-1">
                <a:solidFill>
                  <a:srgbClr val="FF0000"/>
                </a:solidFill>
                <a:latin typeface="Calibri"/>
              </a:rPr>
              <a:t>отсечка</a:t>
            </a:r>
            <a:endParaRPr lang="bg-BG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Box 11"/>
          <p:cNvSpPr/>
          <p:nvPr/>
        </p:nvSpPr>
        <p:spPr>
          <a:xfrm>
            <a:off x="3673080" y="3913560"/>
            <a:ext cx="1333080" cy="2725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200" b="0" strike="noStrike" spc="-1">
                <a:solidFill>
                  <a:srgbClr val="FF0000"/>
                </a:solidFill>
                <a:latin typeface="Calibri"/>
              </a:rPr>
              <a:t>активна област</a:t>
            </a:r>
            <a:endParaRPr lang="bg-BG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Box 12"/>
          <p:cNvSpPr/>
          <p:nvPr/>
        </p:nvSpPr>
        <p:spPr>
          <a:xfrm>
            <a:off x="6116400" y="3472560"/>
            <a:ext cx="10933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200" b="0" strike="noStrike" spc="-1">
                <a:solidFill>
                  <a:srgbClr val="FF0000"/>
                </a:solidFill>
                <a:latin typeface="Calibri"/>
              </a:rPr>
              <a:t>насищатне </a:t>
            </a:r>
            <a:endParaRPr lang="bg-BG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Box 15"/>
          <p:cNvSpPr/>
          <p:nvPr/>
        </p:nvSpPr>
        <p:spPr>
          <a:xfrm>
            <a:off x="5261760" y="3449160"/>
            <a:ext cx="93564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Csat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8" name="Picture 17"/>
          <p:cNvPicPr/>
          <p:nvPr/>
        </p:nvPicPr>
        <p:blipFill>
          <a:blip r:embed="rId3"/>
          <a:stretch/>
        </p:blipFill>
        <p:spPr>
          <a:xfrm>
            <a:off x="7210080" y="2257560"/>
            <a:ext cx="2952720" cy="2066760"/>
          </a:xfrm>
          <a:prstGeom prst="rect">
            <a:avLst/>
          </a:prstGeom>
          <a:ln w="0">
            <a:noFill/>
          </a:ln>
        </p:spPr>
      </p:pic>
      <p:sp>
        <p:nvSpPr>
          <p:cNvPr id="399" name="Rectangle 1"/>
          <p:cNvSpPr/>
          <p:nvPr/>
        </p:nvSpPr>
        <p:spPr>
          <a:xfrm>
            <a:off x="8748360" y="2761560"/>
            <a:ext cx="1414800" cy="431640"/>
          </a:xfrm>
          <a:prstGeom prst="rect">
            <a:avLst/>
          </a:prstGeom>
          <a:noFill/>
          <a:ln w="1270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0" name="Rectangle 9"/>
          <p:cNvSpPr/>
          <p:nvPr/>
        </p:nvSpPr>
        <p:spPr>
          <a:xfrm>
            <a:off x="8745120" y="3301560"/>
            <a:ext cx="1414800" cy="431640"/>
          </a:xfrm>
          <a:prstGeom prst="rect">
            <a:avLst/>
          </a:prstGeom>
          <a:noFill/>
          <a:ln w="1270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1" name="TextBox 13"/>
          <p:cNvSpPr/>
          <p:nvPr/>
        </p:nvSpPr>
        <p:spPr>
          <a:xfrm>
            <a:off x="10296360" y="3291120"/>
            <a:ext cx="93564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Csat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Box 16"/>
          <p:cNvSpPr/>
          <p:nvPr/>
        </p:nvSpPr>
        <p:spPr>
          <a:xfrm>
            <a:off x="10263240" y="2758320"/>
            <a:ext cx="93564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Bsat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28C920D-F1D0-58D9-D406-D2556A6424FA}"/>
              </a:ext>
            </a:extLst>
          </p:cNvPr>
          <p:cNvSpPr/>
          <p:nvPr/>
        </p:nvSpPr>
        <p:spPr>
          <a:xfrm>
            <a:off x="7200" y="0"/>
            <a:ext cx="7772040" cy="40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bg-BG" sz="3200" b="0" strike="noStrike" spc="-1" dirty="0">
                <a:solidFill>
                  <a:srgbClr val="0038A8"/>
                </a:solidFill>
                <a:latin typeface="Calibri Light"/>
              </a:rPr>
              <a:t>Режим на насищане</a:t>
            </a:r>
            <a:endParaRPr lang="bg-BG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5">
            <a:extLst>
              <a:ext uri="{FF2B5EF4-FFF2-40B4-BE49-F238E27FC236}">
                <a16:creationId xmlns:a16="http://schemas.microsoft.com/office/drawing/2014/main" id="{4910CBAD-F4A4-5C57-A796-F065DFD6CC7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8100326" y="-12600"/>
            <a:ext cx="3480480" cy="2018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Rectangle 2"/>
          <p:cNvSpPr/>
          <p:nvPr/>
        </p:nvSpPr>
        <p:spPr>
          <a:xfrm>
            <a:off x="7200" y="0"/>
            <a:ext cx="7772040" cy="40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bg-BG" sz="3200" b="0" strike="noStrike" spc="-1" dirty="0">
                <a:solidFill>
                  <a:srgbClr val="0038A8"/>
                </a:solidFill>
                <a:latin typeface="Calibri Light"/>
              </a:rPr>
              <a:t>Режим на насищане</a:t>
            </a:r>
            <a:endParaRPr lang="bg-BG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Box 8"/>
          <p:cNvSpPr/>
          <p:nvPr/>
        </p:nvSpPr>
        <p:spPr>
          <a:xfrm>
            <a:off x="191520" y="991440"/>
            <a:ext cx="1094472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В режим на насищане </a:t>
            </a:r>
            <a:r>
              <a:rPr lang="bg-BG" sz="1800" b="1" strike="noStrike" spc="-1" dirty="0">
                <a:solidFill>
                  <a:schemeClr val="dk1"/>
                </a:solidFill>
                <a:latin typeface="Calibri"/>
              </a:rPr>
              <a:t>двата прехода се включват в права посока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. </a:t>
            </a:r>
            <a:r>
              <a:rPr lang="en-US" sz="1800" b="0" strike="noStrike" spc="-1" dirty="0" err="1">
                <a:solidFill>
                  <a:schemeClr val="dk1"/>
                </a:solidFill>
                <a:latin typeface="Calibri"/>
              </a:rPr>
              <a:t>Te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инжектират токоносители в базата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 и напрежението 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U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Calibri"/>
              </a:rPr>
              <a:t>CE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= 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U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Calibri"/>
              </a:rPr>
              <a:t>CE(sat)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 ≈ 0,1 ÷ 0,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3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V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.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5" name="TextBox 10"/>
              <p:cNvSpPr/>
              <p:nvPr/>
            </p:nvSpPr>
            <p:spPr>
              <a:xfrm>
                <a:off x="747241" y="2002985"/>
                <a:ext cx="5256360" cy="1368921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bg-BG" sz="1800" b="0" strike="noStrike" spc="-1" dirty="0">
                    <a:solidFill>
                      <a:schemeClr val="dk1"/>
                    </a:solidFill>
                    <a:latin typeface="Calibri"/>
                  </a:rPr>
                  <a:t>Колекторният ток в режим на насищане</a:t>
                </a:r>
                <a:r>
                  <a:rPr lang="bg-BG" sz="1800" b="0" i="1" strike="noStrike" spc="-1" dirty="0">
                    <a:solidFill>
                      <a:schemeClr val="dk1"/>
                    </a:solidFill>
                    <a:latin typeface="Calibri"/>
                  </a:rPr>
                  <a:t> </a:t>
                </a:r>
                <a:r>
                  <a:rPr lang="en-US" sz="1800" b="0" strike="noStrike" spc="-1" dirty="0">
                    <a:solidFill>
                      <a:schemeClr val="dk1"/>
                    </a:solidFill>
                    <a:latin typeface="Calibri"/>
                  </a:rPr>
                  <a:t>e</a:t>
                </a:r>
                <a:endParaRPr lang="bg-BG" sz="1800" b="0" strike="noStrike" spc="-1" dirty="0">
                  <a:solidFill>
                    <a:srgbClr val="000000"/>
                  </a:solidFill>
                  <a:latin typeface="Arial"/>
                </a:endParaRPr>
              </a:p>
              <a:p>
                <a:r>
                  <a:rPr lang="en-US" sz="1800" b="0" strike="noStrike" spc="-1" dirty="0">
                    <a:solidFill>
                      <a:schemeClr val="dk1"/>
                    </a:solidFill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𝐶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i="1">
                            <a:latin typeface="Cambria Math"/>
                          </a:rPr>
                          <m:t>𝑠𝑎𝑡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1800" i="1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  <m:r>
                          <a:rPr lang="en-US" sz="1800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𝐶𝐸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latin typeface="Cambria Math"/>
                              </a:rPr>
                              <m:t>𝑠𝑎𝑡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bg-BG" sz="18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≈</m:t>
                    </m:r>
                    <m:f>
                      <m:fPr>
                        <m:ctrlPr>
                          <a:rPr lang="en-US" sz="18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/>
                                <a:ea typeface="Cambria Math"/>
                              </a:rPr>
                              <m:t>𝐶</m:t>
                            </m:r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/>
                                <a:ea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/>
                                <a:ea typeface="Cambria Math"/>
                              </a:rPr>
                              <m:t>𝐶</m:t>
                            </m:r>
                          </m:sub>
                        </m:sSub>
                      </m:den>
                    </m:f>
                    <m:r>
                      <a:rPr lang="bg-BG" sz="1800" b="0" i="1" dirty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bg-BG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bg-BG" sz="1800" b="0" strike="noStrike" spc="-1" dirty="0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1800" b="0" i="1" strike="noStrike" spc="-1" dirty="0">
                    <a:solidFill>
                      <a:srgbClr val="FF0000"/>
                    </a:solidFill>
                    <a:latin typeface="Calibri"/>
                  </a:rPr>
                  <a:t>I</a:t>
                </a:r>
                <a:r>
                  <a:rPr lang="en-US" sz="1800" b="0" i="1" strike="noStrike" spc="-1" baseline="-25000" dirty="0">
                    <a:solidFill>
                      <a:srgbClr val="FF0000"/>
                    </a:solidFill>
                    <a:latin typeface="Calibri"/>
                  </a:rPr>
                  <a:t>C(sat)</a:t>
                </a:r>
                <a:r>
                  <a:rPr lang="en-US" sz="1800" b="0" strike="noStrike" spc="-1" dirty="0">
                    <a:solidFill>
                      <a:srgbClr val="FF0000"/>
                    </a:solidFill>
                    <a:latin typeface="Calibri"/>
                  </a:rPr>
                  <a:t> </a:t>
                </a:r>
                <a:r>
                  <a:rPr lang="bg-BG" sz="1800" b="0" strike="noStrike" spc="-1" dirty="0">
                    <a:solidFill>
                      <a:srgbClr val="FF0000"/>
                    </a:solidFill>
                    <a:latin typeface="Calibri"/>
                  </a:rPr>
                  <a:t>не зависи от транзистора </a:t>
                </a:r>
                <a:endParaRPr lang="bg-BG" sz="1800" b="0" strike="noStrike" spc="-1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465" name="TextBox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41" y="2002985"/>
                <a:ext cx="5256360" cy="1368921"/>
              </a:xfrm>
              <a:prstGeom prst="rect">
                <a:avLst/>
              </a:prstGeom>
              <a:blipFill>
                <a:blip r:embed="rId2"/>
                <a:stretch>
                  <a:fillRect l="-1044" t="-2679" b="-625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0">
            <a:extLst>
              <a:ext uri="{FF2B5EF4-FFF2-40B4-BE49-F238E27FC236}">
                <a16:creationId xmlns:a16="http://schemas.microsoft.com/office/drawing/2014/main" id="{8809A6C4-C8B1-3FA7-F249-9158646A470B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003601" y="1917914"/>
            <a:ext cx="5283899" cy="3847456"/>
          </a:xfrm>
          <a:prstGeom prst="rect">
            <a:avLst/>
          </a:prstGeom>
          <a:ln w="0">
            <a:noFill/>
          </a:ln>
        </p:spPr>
      </p:pic>
      <p:pic>
        <p:nvPicPr>
          <p:cNvPr id="4" name="Picture 25">
            <a:extLst>
              <a:ext uri="{FF2B5EF4-FFF2-40B4-BE49-F238E27FC236}">
                <a16:creationId xmlns:a16="http://schemas.microsoft.com/office/drawing/2014/main" id="{C76207C7-3509-CC62-136A-F0B83D107A37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341439" y="4018131"/>
            <a:ext cx="3480480" cy="2018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Rectangle 2"/>
          <p:cNvSpPr/>
          <p:nvPr/>
        </p:nvSpPr>
        <p:spPr>
          <a:xfrm>
            <a:off x="63720" y="20520"/>
            <a:ext cx="9143640" cy="49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Условие за настъпване на насищане</a:t>
            </a:r>
            <a:endParaRPr lang="bg-BG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Box 31"/>
          <p:cNvSpPr/>
          <p:nvPr/>
        </p:nvSpPr>
        <p:spPr>
          <a:xfrm>
            <a:off x="324000" y="898200"/>
            <a:ext cx="116042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901"/>
              </a:spcBef>
            </a:pP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Условието транзисторът да навлезе в режим на насищане е </a:t>
            </a:r>
            <a:r>
              <a:rPr lang="bg-BG" sz="1800" b="1" strike="noStrike" spc="-1">
                <a:solidFill>
                  <a:srgbClr val="0038A8"/>
                </a:solidFill>
                <a:latin typeface="Calibri"/>
              </a:rPr>
              <a:t>базисният ток да е по-голям от базисния ток на насищане</a:t>
            </a: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.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Rectangle 33"/>
          <p:cNvSpPr/>
          <p:nvPr/>
        </p:nvSpPr>
        <p:spPr>
          <a:xfrm>
            <a:off x="363960" y="3275280"/>
            <a:ext cx="11492280" cy="67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Насищане може да настъпи при много малки токове, тъй като то не зависи от големината на тока, а от </a:t>
            </a:r>
            <a:r>
              <a:rPr lang="bg-BG" sz="1800" b="1" strike="noStrike" spc="-1">
                <a:solidFill>
                  <a:srgbClr val="0038A8"/>
                </a:solidFill>
                <a:latin typeface="Calibri"/>
              </a:rPr>
              <a:t>съотношението</a:t>
            </a: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 между токовете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</a:t>
            </a: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 и 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Bsat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.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 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Box 7"/>
          <p:cNvSpPr/>
          <p:nvPr/>
        </p:nvSpPr>
        <p:spPr>
          <a:xfrm>
            <a:off x="324000" y="2394360"/>
            <a:ext cx="1123272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В режим на насищане </a:t>
            </a:r>
            <a:r>
              <a:rPr lang="bg-BG" sz="1800" b="1" strike="noStrike" spc="-1" dirty="0">
                <a:solidFill>
                  <a:srgbClr val="FF0000"/>
                </a:solidFill>
                <a:latin typeface="Calibri"/>
              </a:rPr>
              <a:t>не важи условието 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Calibri"/>
              </a:rPr>
              <a:t>C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 = </a:t>
            </a:r>
            <a:r>
              <a:rPr lang="el-GR" sz="1800" b="0" strike="noStrike" spc="-1" dirty="0">
                <a:solidFill>
                  <a:schemeClr val="dk1"/>
                </a:solidFill>
                <a:latin typeface="Calibri"/>
              </a:rPr>
              <a:t>β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.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Calibri"/>
              </a:rPr>
              <a:t>B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Box 8"/>
          <p:cNvSpPr/>
          <p:nvPr/>
        </p:nvSpPr>
        <p:spPr>
          <a:xfrm>
            <a:off x="397440" y="4060440"/>
            <a:ext cx="35053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800" b="1" strike="noStrike" spc="-1">
                <a:solidFill>
                  <a:srgbClr val="0038A8"/>
                </a:solidFill>
                <a:latin typeface="Calibri"/>
              </a:rPr>
              <a:t>Степен на насищане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7" name="TextBox 10"/>
              <p:cNvSpPr txBox="1"/>
              <p:nvPr/>
            </p:nvSpPr>
            <p:spPr>
              <a:xfrm>
                <a:off x="389880" y="4653000"/>
                <a:ext cx="1298880" cy="72000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𝐵𝑠𝑎𝑡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 xmlns:p14="http://schemas.microsoft.com/office/powerpoint/2010/main" xmlns:p15="http://schemas.microsoft.com/office/powerpoint/2012/main"/>
      </mc:AlternateContent>
      <p:sp>
        <p:nvSpPr>
          <p:cNvPr id="478" name="TextBox 11"/>
          <p:cNvSpPr/>
          <p:nvPr/>
        </p:nvSpPr>
        <p:spPr>
          <a:xfrm>
            <a:off x="1974240" y="4766760"/>
            <a:ext cx="2232000" cy="43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2000" b="0" i="1" strike="noStrike" spc="-1" baseline="-25000">
                <a:solidFill>
                  <a:schemeClr val="dk1"/>
                </a:solidFill>
                <a:latin typeface="Calibri"/>
              </a:rPr>
              <a:t>B</a:t>
            </a: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 &gt; </a:t>
            </a:r>
            <a:r>
              <a:rPr lang="en-US" sz="20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2000" b="0" i="1" strike="noStrike" spc="-1" baseline="-25000">
                <a:solidFill>
                  <a:schemeClr val="dk1"/>
                </a:solidFill>
                <a:latin typeface="Calibri"/>
              </a:rPr>
              <a:t>Bsat</a:t>
            </a:r>
            <a:r>
              <a:rPr lang="bg-BG" sz="2000" b="0" i="1" strike="noStrike" spc="-1">
                <a:solidFill>
                  <a:schemeClr val="dk1"/>
                </a:solidFill>
                <a:latin typeface="Calibri"/>
              </a:rPr>
              <a:t>  </a:t>
            </a:r>
            <a:endParaRPr lang="bg-BG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Box 6"/>
          <p:cNvSpPr/>
          <p:nvPr/>
        </p:nvSpPr>
        <p:spPr>
          <a:xfrm>
            <a:off x="3630240" y="4797720"/>
            <a:ext cx="1151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N 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= 2 ÷ 5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Box 12"/>
          <p:cNvSpPr/>
          <p:nvPr/>
        </p:nvSpPr>
        <p:spPr>
          <a:xfrm>
            <a:off x="2423520" y="1694160"/>
            <a:ext cx="1079640" cy="43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2000" b="0" i="1" strike="noStrike" spc="-1" baseline="-25000">
                <a:solidFill>
                  <a:schemeClr val="dk1"/>
                </a:solidFill>
                <a:latin typeface="Calibri"/>
              </a:rPr>
              <a:t>B</a:t>
            </a: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 &gt; </a:t>
            </a:r>
            <a:r>
              <a:rPr lang="en-US" sz="20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2000" b="0" i="1" strike="noStrike" spc="-1" baseline="-25000">
                <a:solidFill>
                  <a:schemeClr val="dk1"/>
                </a:solidFill>
                <a:latin typeface="Calibri"/>
              </a:rPr>
              <a:t>Bsat</a:t>
            </a:r>
            <a:r>
              <a:rPr lang="bg-BG" sz="2000" b="0" i="1" strike="noStrike" spc="-1">
                <a:solidFill>
                  <a:schemeClr val="dk1"/>
                </a:solidFill>
                <a:latin typeface="Calibri"/>
              </a:rPr>
              <a:t>  </a:t>
            </a:r>
            <a:endParaRPr lang="bg-BG" sz="2000" b="0" strike="noStrike" spc="-1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5">
                <a:extLst>
                  <a:ext uri="{FF2B5EF4-FFF2-40B4-BE49-F238E27FC236}">
                    <a16:creationId xmlns:a16="http://schemas.microsoft.com/office/drawing/2014/main" id="{68FD6B5A-1843-209E-0645-65735D60645A}"/>
                  </a:ext>
                </a:extLst>
              </p:cNvPr>
              <p:cNvSpPr txBox="1"/>
              <p:nvPr/>
            </p:nvSpPr>
            <p:spPr>
              <a:xfrm>
                <a:off x="4440370" y="1536480"/>
                <a:ext cx="4248472" cy="670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r>
                  <a:rPr lang="bg-BG" dirty="0">
                    <a:latin typeface="Calibri" panose="020F0502020204030204" pitchFamily="34" charset="0"/>
                    <a:cs typeface="Calibri" panose="020F0502020204030204" pitchFamily="34" charset="0"/>
                  </a:rPr>
                  <a:t>Тогава</a:t>
                </a:r>
                <a:r>
                  <a:rPr lang="bg-B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i="1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=</a:t>
                </a:r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i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2000" i="1" baseline="-25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Csat</a:t>
                </a:r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5">
                <a:extLst>
                  <a:ext uri="{FF2B5EF4-FFF2-40B4-BE49-F238E27FC236}">
                    <a16:creationId xmlns:a16="http://schemas.microsoft.com/office/drawing/2014/main" id="{68FD6B5A-1843-209E-0645-65735D606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0370" y="1536480"/>
                <a:ext cx="4248472" cy="670440"/>
              </a:xfrm>
              <a:prstGeom prst="rect">
                <a:avLst/>
              </a:prstGeom>
              <a:blipFill>
                <a:blip r:embed="rId2"/>
                <a:stretch>
                  <a:fillRect l="-114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Rectangle 2"/>
          <p:cNvSpPr/>
          <p:nvPr/>
        </p:nvSpPr>
        <p:spPr>
          <a:xfrm>
            <a:off x="63720" y="20520"/>
            <a:ext cx="9143640" cy="49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0038A8"/>
                </a:solidFill>
                <a:latin typeface="Calibri Light"/>
              </a:rPr>
              <a:t>Collector saturation region</a:t>
            </a:r>
            <a:endParaRPr lang="bg-BG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Box 4"/>
          <p:cNvSpPr/>
          <p:nvPr/>
        </p:nvSpPr>
        <p:spPr>
          <a:xfrm>
            <a:off x="11518920" y="6581160"/>
            <a:ext cx="6688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chemeClr val="dk1"/>
                </a:solidFill>
                <a:latin typeface="Calibri"/>
              </a:rPr>
              <a:t>2N2222</a:t>
            </a:r>
            <a:endParaRPr lang="bg-BG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3" name="Picture 6"/>
          <p:cNvPicPr/>
          <p:nvPr/>
        </p:nvPicPr>
        <p:blipFill>
          <a:blip r:embed="rId2"/>
          <a:stretch/>
        </p:blipFill>
        <p:spPr>
          <a:xfrm>
            <a:off x="456480" y="1385640"/>
            <a:ext cx="11278800" cy="4086360"/>
          </a:xfrm>
          <a:prstGeom prst="rect">
            <a:avLst/>
          </a:prstGeom>
          <a:ln w="0">
            <a:noFill/>
          </a:ln>
        </p:spPr>
      </p:pic>
      <p:sp>
        <p:nvSpPr>
          <p:cNvPr id="484" name="TextBox 9"/>
          <p:cNvSpPr/>
          <p:nvPr/>
        </p:nvSpPr>
        <p:spPr>
          <a:xfrm>
            <a:off x="1638720" y="5364000"/>
            <a:ext cx="12434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800" b="0" strike="noStrike" spc="-1">
                <a:solidFill>
                  <a:srgbClr val="FF0000"/>
                </a:solidFill>
                <a:latin typeface="Arial"/>
              </a:rPr>
              <a:t>насищане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Rectangle 10"/>
          <p:cNvSpPr/>
          <p:nvPr/>
        </p:nvSpPr>
        <p:spPr>
          <a:xfrm>
            <a:off x="1487520" y="3878450"/>
            <a:ext cx="9936720" cy="1011429"/>
          </a:xfrm>
          <a:prstGeom prst="rect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TextBox 29"/>
          <p:cNvSpPr/>
          <p:nvPr/>
        </p:nvSpPr>
        <p:spPr>
          <a:xfrm>
            <a:off x="426240" y="1786320"/>
            <a:ext cx="5957640" cy="12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1)</a:t>
            </a:r>
            <a:r>
              <a:rPr lang="bg-BG" sz="1800" b="0" i="1" strike="noStrike" spc="-1">
                <a:solidFill>
                  <a:srgbClr val="FF0000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rgbClr val="FF0000"/>
                </a:solidFill>
                <a:latin typeface="Calibri"/>
              </a:rPr>
              <a:t> </a:t>
            </a: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Ако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rgbClr val="FF0000"/>
                </a:solidFill>
                <a:latin typeface="Calibri"/>
              </a:rPr>
              <a:t>U</a:t>
            </a:r>
            <a:r>
              <a:rPr lang="en-US" sz="1800" b="0" i="1" strike="noStrike" spc="-1" baseline="-25000">
                <a:solidFill>
                  <a:srgbClr val="FF0000"/>
                </a:solidFill>
                <a:latin typeface="Calibri"/>
              </a:rPr>
              <a:t>BB</a:t>
            </a:r>
            <a:r>
              <a:rPr lang="bg-BG" sz="1800" b="0" i="1" strike="noStrike" spc="-1">
                <a:solidFill>
                  <a:srgbClr val="FF0000"/>
                </a:solidFill>
                <a:latin typeface="Calibri"/>
              </a:rPr>
              <a:t> &lt; </a:t>
            </a:r>
            <a:r>
              <a:rPr lang="en-US" sz="1800" b="0" i="1" strike="noStrike" spc="-1">
                <a:solidFill>
                  <a:srgbClr val="FF0000"/>
                </a:solidFill>
                <a:latin typeface="Calibri"/>
              </a:rPr>
              <a:t>0.7V</a:t>
            </a:r>
            <a:r>
              <a:rPr lang="bg-BG" sz="1800" b="0" i="1" strike="noStrike" spc="-1">
                <a:solidFill>
                  <a:srgbClr val="FF0000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rgbClr val="FF0000"/>
                </a:solidFill>
                <a:latin typeface="Calibri"/>
              </a:rPr>
              <a:t> </a:t>
            </a: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Транзисторът е </a:t>
            </a:r>
            <a:r>
              <a:rPr lang="bg-BG" sz="1800" b="0" strike="noStrike" spc="-1">
                <a:solidFill>
                  <a:srgbClr val="FF0000"/>
                </a:solidFill>
                <a:latin typeface="Calibri"/>
              </a:rPr>
              <a:t>запушен</a:t>
            </a: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→ 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	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= 0, 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= </a:t>
            </a:r>
            <a:r>
              <a:rPr lang="el-GR" sz="1800" b="0" i="1" strike="noStrike" spc="-1">
                <a:solidFill>
                  <a:schemeClr val="dk1"/>
                </a:solidFill>
                <a:latin typeface="Calibri"/>
              </a:rPr>
              <a:t>β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0, U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CE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= U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CC 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С това задачата е решена.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Box 95"/>
          <p:cNvSpPr/>
          <p:nvPr/>
        </p:nvSpPr>
        <p:spPr>
          <a:xfrm>
            <a:off x="414000" y="3214800"/>
            <a:ext cx="7549920" cy="67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2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)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 </a:t>
            </a: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Ако </a:t>
            </a:r>
            <a:r>
              <a:rPr lang="en-US" sz="1800" b="0" i="1" strike="noStrike" spc="-1">
                <a:solidFill>
                  <a:srgbClr val="0038A8"/>
                </a:solidFill>
                <a:latin typeface="Calibri"/>
              </a:rPr>
              <a:t>U</a:t>
            </a:r>
            <a:r>
              <a:rPr lang="en-US" sz="1800" b="0" i="1" strike="noStrike" spc="-1" baseline="-25000">
                <a:solidFill>
                  <a:srgbClr val="0038A8"/>
                </a:solidFill>
                <a:latin typeface="Calibri"/>
              </a:rPr>
              <a:t>BB</a:t>
            </a:r>
            <a:r>
              <a:rPr lang="en-US" sz="1800" b="0" i="1" strike="noStrike" spc="-1">
                <a:solidFill>
                  <a:srgbClr val="0038A8"/>
                </a:solidFill>
                <a:latin typeface="Calibri"/>
              </a:rPr>
              <a:t> &gt; 0.7V  </a:t>
            </a: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Транзисторът е </a:t>
            </a:r>
            <a:r>
              <a:rPr lang="bg-BG" sz="1800" b="0" strike="noStrike" spc="-1">
                <a:solidFill>
                  <a:srgbClr val="0038A8"/>
                </a:solidFill>
                <a:latin typeface="Calibri"/>
              </a:rPr>
              <a:t>отпушен (*)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. 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Необходимо е да се определи режима – активен или насищане.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Box 96"/>
          <p:cNvSpPr/>
          <p:nvPr/>
        </p:nvSpPr>
        <p:spPr>
          <a:xfrm>
            <a:off x="403920" y="3987360"/>
            <a:ext cx="74451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3) Проверка на режима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Box 97"/>
          <p:cNvSpPr/>
          <p:nvPr/>
        </p:nvSpPr>
        <p:spPr>
          <a:xfrm>
            <a:off x="450720" y="5147280"/>
            <a:ext cx="726804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4)</a:t>
            </a:r>
            <a:r>
              <a:rPr lang="bg-BG" sz="1800" b="0" i="1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Ако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i="1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≤ 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Bsat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→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i="1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Активен режим 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→</a:t>
            </a: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= </a:t>
            </a:r>
            <a:r>
              <a:rPr lang="el-GR" sz="1800" b="0" strike="noStrike" spc="-1">
                <a:solidFill>
                  <a:schemeClr val="dk1"/>
                </a:solidFill>
                <a:latin typeface="Calibri"/>
              </a:rPr>
              <a:t>β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.I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и</a:t>
            </a:r>
            <a:r>
              <a:rPr lang="bg-BG" sz="1800" b="0" i="1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U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CE</a:t>
            </a:r>
            <a:r>
              <a:rPr lang="bg-BG" sz="1800" b="0" i="1" strike="noStrike" spc="-1" baseline="-25000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= U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CC </a:t>
            </a:r>
            <a:r>
              <a:rPr lang="bg-BG" sz="1800" b="0" i="1" strike="noStrike" spc="-1">
                <a:solidFill>
                  <a:schemeClr val="dk1"/>
                </a:solidFill>
                <a:latin typeface="Calibri"/>
              </a:rPr>
              <a:t>–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.R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Box 36"/>
          <p:cNvSpPr/>
          <p:nvPr/>
        </p:nvSpPr>
        <p:spPr>
          <a:xfrm>
            <a:off x="453960" y="5785200"/>
            <a:ext cx="989028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5) Ако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 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&gt; 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Bsat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→</a:t>
            </a: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 Режим на насищане 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→</a:t>
            </a: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= 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Csat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и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 U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CE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= U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CC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- 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Csat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.R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0V 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Box 2"/>
          <p:cNvSpPr/>
          <p:nvPr/>
        </p:nvSpPr>
        <p:spPr>
          <a:xfrm>
            <a:off x="479520" y="4496040"/>
            <a:ext cx="289800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Изчисляват се 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strike="noStrike" spc="-1">
                <a:solidFill>
                  <a:schemeClr val="dk1"/>
                </a:solidFill>
                <a:latin typeface="Calibri"/>
              </a:rPr>
              <a:t>и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Bsat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2" name="TextBox 3"/>
              <p:cNvSpPr txBox="1"/>
              <p:nvPr/>
            </p:nvSpPr>
            <p:spPr>
              <a:xfrm>
                <a:off x="3549600" y="4407120"/>
                <a:ext cx="1784880" cy="65592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𝐵𝐵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𝐵𝐸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 xmlns:p14="http://schemas.microsoft.com/office/powerpoint/2010/main" xmlns:p15="http://schemas.microsoft.com/office/powerpoint/2012/main"/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3" name="TextBox 4"/>
              <p:cNvSpPr txBox="1"/>
              <p:nvPr/>
            </p:nvSpPr>
            <p:spPr>
              <a:xfrm>
                <a:off x="5395680" y="4343040"/>
                <a:ext cx="1466280" cy="65772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𝐵𝑠𝑎𝑡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𝐶𝑠𝑎𝑡</m:t>
                              </m:r>
                            </m:sub>
                          </m:sSub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 xmlns:p14="http://schemas.microsoft.com/office/powerpoint/2010/main" xmlns:p15="http://schemas.microsoft.com/office/powerpoint/2012/main"/>
      </mc:AlternateContent>
      <p:sp>
        <p:nvSpPr>
          <p:cNvPr id="494" name="TextBox 5"/>
          <p:cNvSpPr/>
          <p:nvPr/>
        </p:nvSpPr>
        <p:spPr>
          <a:xfrm>
            <a:off x="484920" y="1045800"/>
            <a:ext cx="33562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2400" b="0" strike="noStrike" spc="-1">
                <a:solidFill>
                  <a:srgbClr val="0038A8"/>
                </a:solidFill>
                <a:latin typeface="Calibri"/>
              </a:rPr>
              <a:t>Алгоритъм за решаване</a:t>
            </a:r>
            <a:endParaRPr lang="bg-BG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Rectangle 2"/>
          <p:cNvSpPr/>
          <p:nvPr/>
        </p:nvSpPr>
        <p:spPr>
          <a:xfrm>
            <a:off x="-23760" y="-2628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0038A8"/>
                </a:solidFill>
                <a:latin typeface="Calibri Light"/>
              </a:rPr>
              <a:t>O</a:t>
            </a: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пределяне на режима, </a:t>
            </a:r>
            <a:r>
              <a:rPr lang="en-US" sz="3200" b="0" strike="noStrike" spc="-1">
                <a:solidFill>
                  <a:srgbClr val="0038A8"/>
                </a:solidFill>
                <a:latin typeface="Calibri Light"/>
              </a:rPr>
              <a:t>I</a:t>
            </a:r>
            <a:r>
              <a:rPr lang="en-US" sz="3200" b="0" strike="noStrike" spc="-1" baseline="-25000">
                <a:solidFill>
                  <a:srgbClr val="0038A8"/>
                </a:solidFill>
                <a:latin typeface="Calibri Light"/>
              </a:rPr>
              <a:t>C</a:t>
            </a:r>
            <a:r>
              <a:rPr lang="en-US" sz="3200" b="0" strike="noStrike" spc="-1">
                <a:solidFill>
                  <a:srgbClr val="0038A8"/>
                </a:solidFill>
                <a:latin typeface="Calibri Light"/>
              </a:rPr>
              <a:t> </a:t>
            </a: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и</a:t>
            </a:r>
            <a:r>
              <a:rPr lang="en-US" sz="3200" b="0" strike="noStrike" spc="-1">
                <a:solidFill>
                  <a:srgbClr val="0038A8"/>
                </a:solidFill>
                <a:latin typeface="Calibri Light"/>
              </a:rPr>
              <a:t> U</a:t>
            </a:r>
            <a:r>
              <a:rPr lang="en-US" sz="3200" b="0" strike="noStrike" spc="-1" baseline="-25000">
                <a:solidFill>
                  <a:srgbClr val="0038A8"/>
                </a:solidFill>
                <a:latin typeface="Calibri Light"/>
              </a:rPr>
              <a:t>CE</a:t>
            </a:r>
            <a:endParaRPr lang="bg-BG" sz="3200" b="0" strike="noStrike" spc="-1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6" name="TextBox 28"/>
              <p:cNvSpPr txBox="1"/>
              <p:nvPr/>
            </p:nvSpPr>
            <p:spPr>
              <a:xfrm>
                <a:off x="6861960" y="4336200"/>
                <a:ext cx="1393560" cy="65772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𝐶𝑠𝑎𝑡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𝐶𝐶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 xmlns:p14="http://schemas.microsoft.com/office/powerpoint/2010/main" xmlns:p15="http://schemas.microsoft.com/office/powerpoint/2012/main"/>
      </mc:AlternateContent>
      <p:pic>
        <p:nvPicPr>
          <p:cNvPr id="497" name="Picture 11"/>
          <p:cNvPicPr/>
          <p:nvPr/>
        </p:nvPicPr>
        <p:blipFill>
          <a:blip r:embed="rId2"/>
          <a:stretch/>
        </p:blipFill>
        <p:spPr>
          <a:xfrm>
            <a:off x="7134120" y="82800"/>
            <a:ext cx="4913640" cy="2849040"/>
          </a:xfrm>
          <a:prstGeom prst="rect">
            <a:avLst/>
          </a:prstGeom>
          <a:ln w="0">
            <a:noFill/>
          </a:ln>
        </p:spPr>
      </p:pic>
      <p:sp>
        <p:nvSpPr>
          <p:cNvPr id="498" name="TextBox 1"/>
          <p:cNvSpPr/>
          <p:nvPr/>
        </p:nvSpPr>
        <p:spPr>
          <a:xfrm>
            <a:off x="215640" y="6465960"/>
            <a:ext cx="68029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200" b="0" strike="noStrike" spc="-1">
                <a:solidFill>
                  <a:schemeClr val="dk1"/>
                </a:solidFill>
                <a:latin typeface="Arial"/>
              </a:rPr>
              <a:t>(*) Това предположение е валидно ако </a:t>
            </a:r>
            <a:r>
              <a:rPr lang="en-US" sz="1200" b="0" strike="noStrike" spc="-1">
                <a:solidFill>
                  <a:schemeClr val="dk1"/>
                </a:solidFill>
                <a:latin typeface="Arial"/>
              </a:rPr>
              <a:t>Rb </a:t>
            </a:r>
            <a:r>
              <a:rPr lang="bg-BG" sz="1200" b="0" strike="noStrike" spc="-1">
                <a:solidFill>
                  <a:schemeClr val="dk1"/>
                </a:solidFill>
                <a:latin typeface="Arial"/>
              </a:rPr>
              <a:t>не е твърде голямо – например стотици мега Ома.</a:t>
            </a:r>
            <a:endParaRPr lang="bg-BG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TextBox 2"/>
          <p:cNvSpPr/>
          <p:nvPr/>
        </p:nvSpPr>
        <p:spPr>
          <a:xfrm>
            <a:off x="8976240" y="3050280"/>
            <a:ext cx="2612520" cy="157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U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BB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400mV, U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CC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= 12V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R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= 1k, R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100k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l-GR" sz="1800" b="0" strike="noStrike" spc="-1">
                <a:solidFill>
                  <a:schemeClr val="dk1"/>
                </a:solidFill>
                <a:latin typeface="Calibri"/>
              </a:rPr>
              <a:t>β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 = 100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---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?, U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CE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?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Box 2"/>
          <p:cNvSpPr/>
          <p:nvPr/>
        </p:nvSpPr>
        <p:spPr>
          <a:xfrm>
            <a:off x="283680" y="980640"/>
            <a:ext cx="685008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Проверка за отпушен транзистор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. 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 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U</a:t>
            </a:r>
            <a:r>
              <a:rPr lang="en-US" sz="1800" b="0" strike="noStrike" spc="-1" baseline="-25000" dirty="0">
                <a:solidFill>
                  <a:schemeClr val="dk1"/>
                </a:solidFill>
                <a:latin typeface="Calibri"/>
              </a:rPr>
              <a:t>BB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= 400mV = 0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,4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V </a:t>
            </a:r>
            <a:r>
              <a:rPr lang="en-US" sz="1800" b="0" strike="noStrike" spc="-1" dirty="0">
                <a:solidFill>
                  <a:srgbClr val="0038A8"/>
                </a:solidFill>
                <a:latin typeface="Calibri"/>
              </a:rPr>
              <a:t>&lt; 0</a:t>
            </a:r>
            <a:r>
              <a:rPr lang="bg-BG" sz="1800" b="0" strike="noStrike" spc="-1" dirty="0">
                <a:solidFill>
                  <a:srgbClr val="0038A8"/>
                </a:solidFill>
                <a:latin typeface="Calibri"/>
              </a:rPr>
              <a:t>,</a:t>
            </a:r>
            <a:r>
              <a:rPr lang="en-US" sz="1800" b="0" strike="noStrike" spc="-1" dirty="0">
                <a:solidFill>
                  <a:srgbClr val="0038A8"/>
                </a:solidFill>
                <a:latin typeface="Calibri"/>
              </a:rPr>
              <a:t>7V  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Следователно транзисторът е </a:t>
            </a:r>
            <a:r>
              <a:rPr lang="bg-BG" sz="1800" b="0" strike="noStrike" spc="-1" dirty="0">
                <a:solidFill>
                  <a:srgbClr val="0038A8"/>
                </a:solidFill>
                <a:latin typeface="Calibri"/>
              </a:rPr>
              <a:t>запушен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. 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Calibri"/>
              </a:rPr>
              <a:t>B</a:t>
            </a:r>
            <a:r>
              <a:rPr lang="bg-BG" sz="1800" b="0" i="1" strike="noStrike" spc="-1" baseline="-25000" dirty="0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i="1" strike="noStrike" spc="-1" dirty="0">
                <a:solidFill>
                  <a:schemeClr val="dk1"/>
                </a:solidFill>
                <a:latin typeface="Calibri"/>
              </a:rPr>
              <a:t>= 0   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Calibri"/>
              </a:rPr>
              <a:t>C 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= </a:t>
            </a:r>
            <a:r>
              <a:rPr lang="el-GR" sz="1800" b="0" strike="noStrike" spc="-1" dirty="0">
                <a:solidFill>
                  <a:schemeClr val="dk1"/>
                </a:solidFill>
                <a:latin typeface="Calibri"/>
              </a:rPr>
              <a:t>β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.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Calibri"/>
              </a:rPr>
              <a:t>B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= 0, 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U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Calibri"/>
              </a:rPr>
              <a:t>CE</a:t>
            </a:r>
            <a:r>
              <a:rPr lang="bg-BG" sz="1800" b="0" i="1" strike="noStrike" spc="-1" baseline="-25000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= 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U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Calibri"/>
              </a:rPr>
              <a:t>CC</a:t>
            </a:r>
            <a:r>
              <a:rPr lang="en-US" sz="1800" b="0" strike="noStrike" spc="-1" baseline="-25000" dirty="0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–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Calibri"/>
              </a:rPr>
              <a:t>C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.R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Calibri"/>
              </a:rPr>
              <a:t>C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= 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U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Calibri"/>
              </a:rPr>
              <a:t>CC</a:t>
            </a:r>
            <a:r>
              <a:rPr lang="en-US" sz="1800" b="0" strike="noStrike" spc="-1" baseline="-25000" dirty="0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–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i="1" strike="noStrike" spc="-1" dirty="0">
                <a:solidFill>
                  <a:schemeClr val="dk1"/>
                </a:solidFill>
                <a:latin typeface="Calibri"/>
              </a:rPr>
              <a:t>0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.R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Calibri"/>
              </a:rPr>
              <a:t>C</a:t>
            </a:r>
            <a:r>
              <a:rPr lang="en-US" sz="1800" b="0" strike="noStrike" spc="-1" baseline="30000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= 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U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Calibri"/>
              </a:rPr>
              <a:t>CC</a:t>
            </a:r>
            <a:r>
              <a:rPr lang="en-US" sz="1800" b="0" strike="noStrike" spc="-1" baseline="-25000" dirty="0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=</a:t>
            </a:r>
            <a:r>
              <a:rPr lang="bg-BG" sz="1800" b="0" strike="noStrike" spc="-1" baseline="-25000" dirty="0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12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V 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1" name="Picture 24"/>
          <p:cNvPicPr/>
          <p:nvPr/>
        </p:nvPicPr>
        <p:blipFill>
          <a:blip r:embed="rId2"/>
          <a:stretch/>
        </p:blipFill>
        <p:spPr>
          <a:xfrm>
            <a:off x="7134120" y="82800"/>
            <a:ext cx="4913640" cy="2849040"/>
          </a:xfrm>
          <a:prstGeom prst="rect">
            <a:avLst/>
          </a:prstGeom>
          <a:ln w="0">
            <a:noFill/>
          </a:ln>
        </p:spPr>
      </p:pic>
      <p:sp>
        <p:nvSpPr>
          <p:cNvPr id="502" name="Rectangle 2"/>
          <p:cNvSpPr/>
          <p:nvPr/>
        </p:nvSpPr>
        <p:spPr>
          <a:xfrm>
            <a:off x="-23760" y="-2628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Задачи за постоянно</a:t>
            </a:r>
            <a:r>
              <a:rPr lang="en-US" sz="3200" b="0" strike="noStrike" spc="-1">
                <a:solidFill>
                  <a:srgbClr val="0038A8"/>
                </a:solidFill>
                <a:latin typeface="Calibri Light"/>
              </a:rPr>
              <a:t>-</a:t>
            </a: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токов режим</a:t>
            </a:r>
            <a:endParaRPr lang="bg-BG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Rectangle 2"/>
          <p:cNvSpPr/>
          <p:nvPr/>
        </p:nvSpPr>
        <p:spPr>
          <a:xfrm>
            <a:off x="-23760" y="-2628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Задачи за постоянно</a:t>
            </a:r>
            <a:r>
              <a:rPr lang="en-US" sz="3200" b="0" strike="noStrike" spc="-1">
                <a:solidFill>
                  <a:srgbClr val="0038A8"/>
                </a:solidFill>
                <a:latin typeface="Calibri Light"/>
              </a:rPr>
              <a:t>-</a:t>
            </a: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токов режим</a:t>
            </a:r>
            <a:endParaRPr lang="bg-BG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Box 2"/>
          <p:cNvSpPr/>
          <p:nvPr/>
        </p:nvSpPr>
        <p:spPr>
          <a:xfrm>
            <a:off x="9199080" y="3119760"/>
            <a:ext cx="2612520" cy="157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U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BB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5,7V, U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CC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= 12V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R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= 1k, R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100k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l-GR" sz="1800" b="0" strike="noStrike" spc="-1">
                <a:solidFill>
                  <a:schemeClr val="dk1"/>
                </a:solidFill>
                <a:latin typeface="Calibri"/>
              </a:rPr>
              <a:t>β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 = 120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---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?, U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CE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?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6" name="Picture 6"/>
          <p:cNvPicPr/>
          <p:nvPr/>
        </p:nvPicPr>
        <p:blipFill>
          <a:blip r:embed="rId2"/>
          <a:stretch/>
        </p:blipFill>
        <p:spPr>
          <a:xfrm>
            <a:off x="7134120" y="82800"/>
            <a:ext cx="4913640" cy="2849040"/>
          </a:xfrm>
          <a:prstGeom prst="rect">
            <a:avLst/>
          </a:prstGeom>
          <a:ln w="0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30">
                <a:extLst>
                  <a:ext uri="{FF2B5EF4-FFF2-40B4-BE49-F238E27FC236}">
                    <a16:creationId xmlns:a16="http://schemas.microsoft.com/office/drawing/2014/main" id="{4AFF9AB8-B43F-EE60-28BE-089AF74ED3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071" y="718161"/>
                <a:ext cx="6659910" cy="54216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r>
                  <a:rPr lang="bg-BG" alt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Проверка за отпушен транзистор</a:t>
                </a:r>
                <a:r>
                  <a:rPr lang="en-US" alt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U</a:t>
                </a:r>
                <a:r>
                  <a:rPr lang="en-US" altLang="en-US" sz="18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BB</a:t>
                </a:r>
                <a:r>
                  <a:rPr lang="en-US" alt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5,7V </a:t>
                </a:r>
                <a:r>
                  <a:rPr lang="en-US" altLang="en-US" sz="1800" dirty="0">
                    <a:solidFill>
                      <a:srgbClr val="0038A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 0.7V  </a:t>
                </a:r>
                <a:r>
                  <a:rPr lang="bg-BG" alt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Следователно транзисторът е </a:t>
                </a:r>
                <a:r>
                  <a:rPr lang="bg-BG" altLang="en-US" sz="1800" i="0" dirty="0">
                    <a:solidFill>
                      <a:srgbClr val="0038A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отпушен</a:t>
                </a:r>
                <a:r>
                  <a:rPr lang="en-US" alt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endParaRPr lang="bg-BG" altLang="en-US" sz="1800" i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bg-BG" alt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Правим проверка за режима – активен или насищане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bg-BG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Изчисляват се 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US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kumimoji="0" lang="en-US" altLang="en-US" sz="18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B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bg-BG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и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US" altLang="en-US" sz="18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kumimoji="0" lang="en-US" altLang="en-US" sz="1800" b="0" i="1" u="none" strike="noStrike" kern="1200" cap="none" spc="0" normalizeH="0" baseline="-2500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bsat</a:t>
                </a:r>
                <a:endParaRPr kumimoji="0" lang="en-US" altLang="en-US" sz="18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bg-BG" altLang="en-US" sz="18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en-US" sz="160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𝐵𝐵</m:t>
                              </m:r>
                            </m:sub>
                          </m:sSub>
                          <m:r>
                            <a:rPr lang="en-US" sz="1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𝐵𝐸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 sz="160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sz="1600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7 −0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7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</m:t>
                          </m:r>
                        </m:num>
                        <m:den>
                          <m:r>
                            <a:rPr lang="en-US" sz="1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</m:t>
                          </m:r>
                          <m:r>
                            <a:rPr lang="bg-BG" sz="1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.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160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+3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en-US" sz="160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 = 0</m:t>
                      </m:r>
                      <m:r>
                        <m:rPr>
                          <m:nor/>
                        </m:rPr>
                        <a:rPr lang="bg-BG" sz="160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,05</m:t>
                      </m:r>
                      <m:r>
                        <m:rPr>
                          <m:nor/>
                        </m:rPr>
                        <a:rPr lang="en-US" sz="160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.10</m:t>
                      </m:r>
                      <m:r>
                        <m:rPr>
                          <m:nor/>
                        </m:rPr>
                        <a:rPr lang="en-US" sz="1600" i="0" baseline="300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−3 </m:t>
                      </m:r>
                      <m:r>
                        <m:rPr>
                          <m:nor/>
                        </m:rPr>
                        <a:rPr lang="en-US" sz="160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160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 = 0</m:t>
                      </m:r>
                      <m:r>
                        <m:rPr>
                          <m:nor/>
                        </m:rPr>
                        <a:rPr lang="bg-BG" sz="160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,05</m:t>
                      </m:r>
                      <m:r>
                        <m:rPr>
                          <m:nor/>
                        </m:rPr>
                        <a:rPr lang="en-US" sz="160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i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m:t>mA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600" i="1">
                            <a:latin typeface="Cambria Math"/>
                          </a:rPr>
                          <m:t>𝑠𝑎𝑡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𝐶𝐶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sz="1600">
                            <a:latin typeface="Cambria Math"/>
                          </a:rPr>
                          <m:t>𝐵𝑠𝑎𝑡</m:t>
                        </m:r>
                      </m:sub>
                    </m:sSub>
                    <m:r>
                      <a:rPr lang="en-US" sz="16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600">
                                <a:latin typeface="Cambria Math"/>
                              </a:rPr>
                              <m:t>𝐶</m:t>
                            </m:r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𝑠𝑎𝑡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l-GR" sz="1600">
                            <a:latin typeface="Cambria Math"/>
                          </a:rPr>
                          <m:t>β</m:t>
                        </m:r>
                      </m:den>
                    </m:f>
                  </m:oMath>
                </a14:m>
                <a:r>
                  <a:rPr kumimoji="0" lang="en-US" sz="1600" b="0" i="0" u="none" strike="noStrike" kern="120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600">
                                <a:latin typeface="Cambria Math"/>
                              </a:rPr>
                              <m:t>𝐶𝐶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l-GR" sz="1600">
                            <a:latin typeface="Cambria Math"/>
                          </a:rPr>
                          <m:t>β</m:t>
                        </m:r>
                      </m:den>
                    </m:f>
                  </m:oMath>
                </a14:m>
                <a:endParaRPr kumimoji="0" lang="en-US" sz="16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𝐵𝑠𝑎𝑡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  <m:t>𝐶𝐶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kumimoji="0" lang="el-GR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β</m:t>
                        </m:r>
                      </m:den>
                    </m:f>
                  </m:oMath>
                </a14:m>
                <a:r>
                  <a:rPr kumimoji="0" lang="bg-BG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latin typeface="Cambria Math"/>
                          </a:rPr>
                          <m:t>12</m:t>
                        </m:r>
                      </m:num>
                      <m:den>
                        <m:r>
                          <a:rPr lang="en-US" sz="1800">
                            <a:latin typeface="Cambria Math"/>
                          </a:rPr>
                          <m:t>1.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>
                                <a:latin typeface="Cambria Math"/>
                              </a:rPr>
                              <m:t>10</m:t>
                            </m:r>
                          </m:e>
                          <m:sup>
                            <m:r>
                              <a:rPr lang="en-US" sz="1800">
                                <a:latin typeface="Cambria Math"/>
                              </a:rPr>
                              <m:t>+3</m:t>
                            </m:r>
                          </m:sup>
                        </m:sSup>
                        <m:r>
                          <a:rPr lang="en-US" sz="1800">
                            <a:latin typeface="Cambria Math"/>
                          </a:rPr>
                          <m:t>.120</m:t>
                        </m:r>
                      </m:den>
                    </m:f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 </a:t>
                </a:r>
                <a:r>
                  <a:rPr 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r>
                  <a:rPr lang="bg-BG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1.10</a:t>
                </a:r>
                <a:r>
                  <a:rPr lang="en-US" sz="1800" i="0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-3 </a:t>
                </a:r>
                <a:r>
                  <a:rPr 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=</a:t>
                </a:r>
                <a:r>
                  <a:rPr lang="bg-BG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r>
                  <a:rPr lang="bg-BG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lang="bg-BG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mA</a:t>
                </a:r>
                <a:endParaRPr lang="bg-BG" sz="1800" i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altLang="en-US" sz="18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</a:t>
                </a:r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&lt; </a:t>
                </a:r>
                <a:r>
                  <a:rPr lang="bg-BG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altLang="en-US" sz="1800" baseline="-25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Bsat</a:t>
                </a:r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:r>
                  <a:rPr lang="bg-BG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–  </a:t>
                </a:r>
                <a:r>
                  <a:rPr lang="bg-BG" altLang="en-US" sz="1800" i="0" dirty="0">
                    <a:solidFill>
                      <a:srgbClr val="0038A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Активен режим</a:t>
                </a:r>
              </a:p>
              <a:p>
                <a:pPr>
                  <a:lnSpc>
                    <a:spcPct val="150000"/>
                  </a:lnSpc>
                  <a:defRPr/>
                </a:pPr>
                <a:endParaRPr lang="en-US" altLang="en-US" sz="1800" dirty="0">
                  <a:solidFill>
                    <a:srgbClr val="0038A8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kumimoji="0" lang="en-US" altLang="en-US" sz="18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=</a:t>
                </a:r>
                <a:r>
                  <a:rPr kumimoji="0" lang="bg-BG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l-GR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β</a:t>
                </a:r>
                <a:r>
                  <a:rPr kumimoji="0" lang="en-US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I</a:t>
                </a:r>
                <a:r>
                  <a:rPr kumimoji="0" lang="en-US" altLang="en-US" sz="18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B</a:t>
                </a:r>
                <a:r>
                  <a:rPr kumimoji="0" lang="en-US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= 120</a:t>
                </a:r>
                <a:r>
                  <a:rPr kumimoji="0" lang="bg-BG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r>
                  <a:rPr kumimoji="0" lang="bg-BG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r>
                  <a:rPr kumimoji="0" lang="bg-BG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05.10</a:t>
                </a:r>
                <a:r>
                  <a:rPr kumimoji="0" lang="en-US" alt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-3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= 6.10 </a:t>
                </a:r>
                <a:r>
                  <a:rPr kumimoji="0" lang="en-US" alt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-3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A = 6 mA 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U</a:t>
                </a:r>
                <a:r>
                  <a:rPr kumimoji="0" lang="en-US" altLang="en-US" sz="18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CE 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= </a:t>
                </a:r>
                <a:r>
                  <a:rPr kumimoji="0" lang="en-US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U</a:t>
                </a:r>
                <a:r>
                  <a:rPr kumimoji="0" lang="en-US" altLang="en-US" sz="18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CC 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– </a:t>
                </a:r>
                <a:r>
                  <a:rPr kumimoji="0" lang="en-US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kumimoji="0" lang="en-US" altLang="en-US" sz="18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r>
                  <a:rPr kumimoji="0" lang="en-US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.R</a:t>
                </a:r>
                <a:r>
                  <a:rPr kumimoji="0" lang="en-US" altLang="en-US" sz="18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= 12 – 6.10 </a:t>
                </a:r>
                <a:r>
                  <a:rPr kumimoji="0" lang="en-US" alt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-3</a:t>
                </a:r>
                <a:r>
                  <a:rPr kumimoji="0" lang="bg-BG" alt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r>
                  <a:rPr kumimoji="0" lang="bg-BG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1.10</a:t>
                </a:r>
                <a:r>
                  <a:rPr kumimoji="0" lang="en-US" alt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+3 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= 6 V </a:t>
                </a:r>
              </a:p>
            </p:txBody>
          </p:sp>
        </mc:Choice>
        <mc:Fallback xmlns="">
          <p:sp>
            <p:nvSpPr>
              <p:cNvPr id="2" name="TextBox 30">
                <a:extLst>
                  <a:ext uri="{FF2B5EF4-FFF2-40B4-BE49-F238E27FC236}">
                    <a16:creationId xmlns:a16="http://schemas.microsoft.com/office/drawing/2014/main" id="{4AFF9AB8-B43F-EE60-28BE-089AF74ED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071" y="718161"/>
                <a:ext cx="6659910" cy="5421677"/>
              </a:xfrm>
              <a:prstGeom prst="rect">
                <a:avLst/>
              </a:prstGeom>
              <a:blipFill>
                <a:blip r:embed="rId3"/>
                <a:stretch>
                  <a:fillRect l="-824" t="-67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Box 2"/>
          <p:cNvSpPr/>
          <p:nvPr/>
        </p:nvSpPr>
        <p:spPr>
          <a:xfrm>
            <a:off x="9334080" y="2955240"/>
            <a:ext cx="2612520" cy="157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U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BB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4,7V, U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CC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= 6V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R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= 1k, R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10k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l-GR" sz="1800" b="0" strike="noStrike" spc="-1">
                <a:solidFill>
                  <a:schemeClr val="dk1"/>
                </a:solidFill>
                <a:latin typeface="Calibri"/>
              </a:rPr>
              <a:t>β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 = 60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---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?, U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CE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?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Rectangle 2"/>
          <p:cNvSpPr/>
          <p:nvPr/>
        </p:nvSpPr>
        <p:spPr>
          <a:xfrm>
            <a:off x="-23760" y="-2628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Задачи за постоянно</a:t>
            </a:r>
            <a:r>
              <a:rPr lang="en-US" sz="3200" b="0" strike="noStrike" spc="-1">
                <a:solidFill>
                  <a:srgbClr val="0038A8"/>
                </a:solidFill>
                <a:latin typeface="Calibri Light"/>
              </a:rPr>
              <a:t>-</a:t>
            </a: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токов режим</a:t>
            </a:r>
            <a:endParaRPr lang="bg-BG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9" name="Picture 35"/>
          <p:cNvPicPr/>
          <p:nvPr/>
        </p:nvPicPr>
        <p:blipFill>
          <a:blip r:embed="rId2"/>
          <a:stretch/>
        </p:blipFill>
        <p:spPr>
          <a:xfrm>
            <a:off x="7134120" y="82800"/>
            <a:ext cx="4913640" cy="2849040"/>
          </a:xfrm>
          <a:prstGeom prst="rect">
            <a:avLst/>
          </a:prstGeom>
          <a:ln w="0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30">
                <a:extLst>
                  <a:ext uri="{FF2B5EF4-FFF2-40B4-BE49-F238E27FC236}">
                    <a16:creationId xmlns:a16="http://schemas.microsoft.com/office/drawing/2014/main" id="{C1B07650-6192-45AE-A21A-A8C3AD2A42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210" y="933169"/>
                <a:ext cx="6659910" cy="4421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r>
                  <a:rPr lang="bg-BG" alt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Проверка за отпушен транзистор</a:t>
                </a:r>
                <a:r>
                  <a:rPr lang="en-US" alt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U</a:t>
                </a:r>
                <a:r>
                  <a:rPr lang="en-US" altLang="en-US" sz="18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BB</a:t>
                </a:r>
                <a:r>
                  <a:rPr lang="en-US" alt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:r>
                  <a:rPr lang="bg-BG" alt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  <a:r>
                  <a:rPr lang="en-US" alt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,7V </a:t>
                </a:r>
                <a:r>
                  <a:rPr lang="en-US" altLang="en-US" sz="1800" dirty="0">
                    <a:solidFill>
                      <a:srgbClr val="0038A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 0.7V  </a:t>
                </a:r>
                <a:r>
                  <a:rPr lang="bg-BG" alt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Следователно транзисторът е </a:t>
                </a:r>
                <a:r>
                  <a:rPr lang="bg-BG" altLang="en-US" sz="1800" i="0" dirty="0">
                    <a:solidFill>
                      <a:srgbClr val="0038A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отпушен</a:t>
                </a:r>
                <a:r>
                  <a:rPr lang="en-US" alt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endParaRPr lang="bg-BG" altLang="en-US" sz="1800" i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bg-BG" alt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Правим проверка за режима – активен или насищане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bg-BG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Изчисляват се 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US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kumimoji="0" lang="en-US" altLang="en-US" sz="18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B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bg-BG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и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US" altLang="en-US" sz="18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kumimoji="0" lang="en-US" altLang="en-US" sz="1800" b="0" i="1" u="none" strike="noStrike" kern="1200" cap="none" spc="0" normalizeH="0" baseline="-2500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bsat</a:t>
                </a:r>
                <a:endParaRPr kumimoji="0" lang="bg-BG" altLang="en-US" sz="18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𝐵𝐵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  <m:t>𝐵𝐸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.7 −0.7 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10.</m:t>
                        </m:r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  <m:t>10</m:t>
                            </m:r>
                          </m:e>
                          <m:sup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  <m:t>+3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= 0</a:t>
                </a:r>
                <a:r>
                  <a:rPr kumimoji="0" lang="bg-BG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4.10</a:t>
                </a:r>
                <a:r>
                  <a:rPr kumimoji="0" 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-3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 = 0</a:t>
                </a:r>
                <a:r>
                  <a:rPr kumimoji="0" lang="bg-BG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4 mA</a:t>
                </a:r>
                <a:endParaRPr kumimoji="0" lang="bg-BG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solidFill>
                              <a:srgbClr val="00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sz="1800">
                            <a:solidFill>
                              <a:srgbClr val="000000"/>
                            </a:solidFill>
                            <a:latin typeface="Cambria Math"/>
                          </a:rPr>
                          <m:t>𝐵𝑠𝑎𝑡</m:t>
                        </m:r>
                      </m:sub>
                    </m:sSub>
                    <m:r>
                      <a:rPr lang="en-US" sz="180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8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𝐶𝐶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l-GR" sz="1800">
                            <a:solidFill>
                              <a:srgbClr val="000000"/>
                            </a:solidFill>
                            <a:latin typeface="Cambria Math"/>
                          </a:rPr>
                          <m:t>β</m:t>
                        </m:r>
                      </m:den>
                    </m:f>
                  </m:oMath>
                </a14:m>
                <a:r>
                  <a:rPr lang="bg-BG" sz="1800" i="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sz="1800">
                            <a:latin typeface="Cambria Math"/>
                          </a:rPr>
                          <m:t>1.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>
                                <a:latin typeface="Cambria Math"/>
                              </a:rPr>
                              <m:t>10</m:t>
                            </m:r>
                          </m:e>
                          <m:sup>
                            <m:r>
                              <a:rPr lang="en-US" sz="1800">
                                <a:latin typeface="Cambria Math"/>
                              </a:rPr>
                              <m:t>+3</m:t>
                            </m:r>
                          </m:sup>
                        </m:sSup>
                        <m:r>
                          <a:rPr lang="en-US" sz="1800">
                            <a:latin typeface="Cambria Math"/>
                          </a:rPr>
                          <m:t>.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 </a:t>
                </a:r>
                <a:r>
                  <a:rPr 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r>
                  <a:rPr lang="bg-BG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1.10</a:t>
                </a:r>
                <a:r>
                  <a:rPr lang="en-US" sz="1800" i="0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-3 </a:t>
                </a:r>
                <a:r>
                  <a:rPr 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=</a:t>
                </a:r>
                <a:r>
                  <a:rPr lang="bg-BG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r>
                  <a:rPr lang="bg-BG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lang="bg-BG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800" i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mA</a:t>
                </a:r>
              </a:p>
              <a:p>
                <a:pPr>
                  <a:defRPr/>
                </a:pPr>
                <a:endParaRPr lang="bg-BG" sz="1800" i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defRPr/>
                </a:pPr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altLang="en-US" sz="18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</a:t>
                </a:r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&gt; </a:t>
                </a:r>
                <a:r>
                  <a:rPr lang="en-US" altLang="en-US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altLang="en-US" sz="1800" baseline="-25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Bsat</a:t>
                </a:r>
                <a:r>
                  <a:rPr lang="en-US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bg-BG" alt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– </a:t>
                </a:r>
                <a:r>
                  <a:rPr lang="bg-BG" altLang="en-US" sz="1800" i="0" dirty="0">
                    <a:solidFill>
                      <a:srgbClr val="0038A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Насищане</a:t>
                </a:r>
                <a:endPara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defRPr/>
                </a:pPr>
                <a:endParaRPr lang="en-US" altLang="en-US" sz="1800" dirty="0">
                  <a:solidFill>
                    <a:srgbClr val="0038A8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defRPr/>
                </a:pPr>
                <a:r>
                  <a:rPr kumimoji="0" lang="en-US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kumimoji="0" lang="en-US" altLang="en-US" sz="18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1800" i="1">
                            <a:latin typeface="Cambria Math"/>
                          </a:rPr>
                          <m:t> </m:t>
                        </m:r>
                        <m:r>
                          <a:rPr lang="en-US" sz="1800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𝐶𝑠𝑎𝑡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𝐶𝐶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6.10</a:t>
                </a:r>
                <a:r>
                  <a:rPr lang="en-US" sz="1800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-3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 = 6 mA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U</a:t>
                </a:r>
                <a:r>
                  <a:rPr kumimoji="0" lang="en-US" altLang="en-US" sz="18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CE 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= </a:t>
                </a:r>
                <a:r>
                  <a:rPr kumimoji="0" lang="en-US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U</a:t>
                </a:r>
                <a:r>
                  <a:rPr kumimoji="0" lang="en-US" altLang="en-US" sz="18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CC 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– </a:t>
                </a:r>
                <a:r>
                  <a:rPr kumimoji="0" lang="en-US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kumimoji="0" lang="en-US" altLang="en-US" sz="18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r>
                  <a:rPr kumimoji="0" lang="en-US" alt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.R</a:t>
                </a:r>
                <a:r>
                  <a:rPr kumimoji="0" lang="en-US" altLang="en-US" sz="18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6 – 6.10</a:t>
                </a:r>
                <a:r>
                  <a:rPr kumimoji="0" lang="en-US" alt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-3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.1.10</a:t>
                </a:r>
                <a:r>
                  <a:rPr kumimoji="0" lang="en-US" altLang="en-US" sz="1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+3 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= 0V </a:t>
                </a: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TextBox 30">
                <a:extLst>
                  <a:ext uri="{FF2B5EF4-FFF2-40B4-BE49-F238E27FC236}">
                    <a16:creationId xmlns:a16="http://schemas.microsoft.com/office/drawing/2014/main" id="{C1B07650-6192-45AE-A21A-A8C3AD2A4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4210" y="933169"/>
                <a:ext cx="6659910" cy="4421210"/>
              </a:xfrm>
              <a:prstGeom prst="rect">
                <a:avLst/>
              </a:prstGeom>
              <a:blipFill>
                <a:blip r:embed="rId3"/>
                <a:stretch>
                  <a:fillRect l="-824" t="-690" b="-12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TextBox 2"/>
          <p:cNvSpPr/>
          <p:nvPr/>
        </p:nvSpPr>
        <p:spPr>
          <a:xfrm>
            <a:off x="8279280" y="3962160"/>
            <a:ext cx="3792960" cy="157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U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CC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= 10V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R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 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= 4,7k, R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B1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47k, R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B2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10k, R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E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1k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l-GR" sz="1800" b="0" strike="noStrike" spc="-1">
                <a:solidFill>
                  <a:schemeClr val="dk1"/>
                </a:solidFill>
                <a:latin typeface="Calibri"/>
              </a:rPr>
              <a:t>β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 = 100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---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B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?, 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?, U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Calibri"/>
              </a:rPr>
              <a:t>CE</a:t>
            </a:r>
            <a:r>
              <a:rPr lang="en-US" sz="1800" b="0" i="1" strike="noStrike" spc="-1">
                <a:solidFill>
                  <a:schemeClr val="dk1"/>
                </a:solidFill>
                <a:latin typeface="Calibri"/>
              </a:rPr>
              <a:t> = ?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Rectangle 2"/>
          <p:cNvSpPr/>
          <p:nvPr/>
        </p:nvSpPr>
        <p:spPr>
          <a:xfrm>
            <a:off x="-23760" y="-2628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Задачи за постоянно</a:t>
            </a:r>
            <a:r>
              <a:rPr lang="en-US" sz="3200" b="0" strike="noStrike" spc="-1">
                <a:solidFill>
                  <a:srgbClr val="0038A8"/>
                </a:solidFill>
                <a:latin typeface="Calibri Light"/>
              </a:rPr>
              <a:t>-</a:t>
            </a: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токов режим</a:t>
            </a:r>
            <a:endParaRPr lang="bg-BG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2" name="Picture 3"/>
          <p:cNvPicPr/>
          <p:nvPr/>
        </p:nvPicPr>
        <p:blipFill>
          <a:blip r:embed="rId2"/>
          <a:stretch/>
        </p:blipFill>
        <p:spPr>
          <a:xfrm>
            <a:off x="8363880" y="214200"/>
            <a:ext cx="3636360" cy="3502440"/>
          </a:xfrm>
          <a:prstGeom prst="rect">
            <a:avLst/>
          </a:prstGeom>
          <a:ln w="0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20">
                <a:extLst>
                  <a:ext uri="{FF2B5EF4-FFF2-40B4-BE49-F238E27FC236}">
                    <a16:creationId xmlns:a16="http://schemas.microsoft.com/office/drawing/2014/main" id="{E4876834-F870-4EF5-8525-FAEC8B5C7491}"/>
                  </a:ext>
                </a:extLst>
              </p:cNvPr>
              <p:cNvSpPr txBox="1"/>
              <p:nvPr/>
            </p:nvSpPr>
            <p:spPr>
              <a:xfrm>
                <a:off x="430408" y="854654"/>
                <a:ext cx="7848872" cy="4527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𝐶𝐶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.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10.  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10.10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47.10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3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+10.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10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3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1,75 V &gt; 0.7V -&gt; </a:t>
                </a:r>
                <a:r>
                  <a:rPr lang="bg-BG" dirty="0">
                    <a:latin typeface="Calibri" panose="020F0502020204030204" pitchFamily="34" charset="0"/>
                    <a:cs typeface="Calibri" panose="020F0502020204030204" pitchFamily="34" charset="0"/>
                  </a:rPr>
                  <a:t>транзисторът е отпушен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𝐶𝑠𝑎𝑡</m:t>
                        </m:r>
                      </m:sub>
                    </m:sSub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𝐶𝐶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den>
                    </m:f>
                    <m:r>
                      <a:rPr kumimoji="0" lang="en-US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bg-BG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kumimoji="0" lang="bg-BG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500</m:t>
                        </m:r>
                      </m:den>
                    </m:f>
                  </m:oMath>
                </a14:m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=</a:t>
                </a:r>
                <a:r>
                  <a:rPr kumimoji="0" lang="bg-BG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0</a:t>
                </a: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kumimoji="0" lang="bg-BG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012 </a:t>
                </a: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 = </a:t>
                </a:r>
                <a:r>
                  <a:rPr kumimoji="0" lang="bg-BG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12</a:t>
                </a: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mA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𝐵𝑠𝑎𝑡</m:t>
                        </m:r>
                      </m:sub>
                    </m:sSub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</a:rPr>
                      <m:t>=</m:t>
                    </m:r>
                    <m:f>
                      <m:f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  <m:t>𝐶𝑠𝑎𝑡</m:t>
                            </m:r>
                          </m:sub>
                        </m:sSub>
                      </m:num>
                      <m:den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Cambria Math"/>
                          </a:rPr>
                          <m:t>𝛽</m:t>
                        </m:r>
                      </m:den>
                    </m:f>
                    <m:r>
                      <a:rPr kumimoji="0" lang="en-US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</a:rPr>
                      <m:t>=</m:t>
                    </m:r>
                    <m:f>
                      <m:f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1,75.</m:t>
                        </m:r>
                        <m:sSup>
                          <m:sSup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  <m:t>10</m:t>
                            </m:r>
                          </m:e>
                          <m:sup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</a:rPr>
                              <m:t>−3</m:t>
                            </m:r>
                          </m:sup>
                        </m:sSup>
                      </m:num>
                      <m:den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</a:rPr>
                          <m:t>100</m:t>
                        </m:r>
                      </m:den>
                    </m:f>
                  </m:oMath>
                </a14:m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=</a:t>
                </a:r>
                <a:r>
                  <a:rPr kumimoji="0" lang="bg-BG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17</a:t>
                </a:r>
                <a:r>
                  <a:rPr kumimoji="0" lang="bg-BG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5.10</a:t>
                </a:r>
                <a:r>
                  <a:rPr kumimoji="0" lang="en-US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-</a:t>
                </a:r>
                <a:r>
                  <a:rPr kumimoji="0" lang="bg-BG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6</a:t>
                </a:r>
                <a:r>
                  <a:rPr kumimoji="0" lang="en-US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A = 17,5 µA </a:t>
                </a:r>
                <a:endParaRPr kumimoji="0" lang="bg-BG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U</a:t>
                </a:r>
                <a:r>
                  <a:rPr kumimoji="0" lang="en-US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</a:t>
                </a: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:r>
                  <a:rPr kumimoji="0" lang="en-US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U</a:t>
                </a:r>
                <a:r>
                  <a:rPr kumimoji="0" lang="en-US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B</a:t>
                </a: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– </a:t>
                </a:r>
                <a:r>
                  <a:rPr kumimoji="0" lang="en-US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U</a:t>
                </a:r>
                <a:r>
                  <a:rPr kumimoji="0" lang="en-US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BE</a:t>
                </a: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=  1,75 – 0,7 = 1,05 V</a:t>
                </a:r>
                <a:r>
                  <a:rPr kumimoji="0" lang="bg-BG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≈ 1</a:t>
                </a: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V</a:t>
                </a:r>
                <a:r>
                  <a:rPr kumimoji="0" lang="bg-BG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defRPr/>
                </a:pPr>
                <a:r>
                  <a:rPr lang="en-US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U</a:t>
                </a:r>
                <a:r>
                  <a:rPr lang="en-US" i="1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= I</a:t>
                </a:r>
                <a:r>
                  <a:rPr lang="en-US" i="1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</a:t>
                </a:r>
                <a:r>
                  <a:rPr lang="en-US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.R</a:t>
                </a:r>
                <a:r>
                  <a:rPr lang="en-US" i="1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</a:t>
                </a:r>
              </a:p>
              <a:p>
                <a:pP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𝐸</m:t>
                        </m:r>
                      </m:sub>
                    </m:sSub>
                    <m:r>
                      <a:rPr lang="en-US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1.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10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1.10</a:t>
                </a:r>
                <a:r>
                  <a:rPr lang="en-US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-3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 = 1 mA</a:t>
                </a:r>
              </a:p>
              <a:p>
                <a:pP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𝐸</m:t>
                        </m:r>
                      </m:sub>
                    </m:sSub>
                    <m:r>
                      <a:rPr lang="en-US" i="1" smtClean="0">
                        <a:latin typeface="Cambria Math"/>
                        <a:ea typeface="Cambria Math"/>
                      </a:rPr>
                      <m:t>≈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1 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𝑚𝐴</m:t>
                    </m:r>
                  </m:oMath>
                </a14:m>
                <a:endParaRPr lang="en-US" b="0" dirty="0">
                  <a:latin typeface="Calibri" panose="020F0502020204030204" pitchFamily="34" charset="0"/>
                  <a:ea typeface="Cambria Math"/>
                  <a:cs typeface="Calibri" panose="020F0502020204030204" pitchFamily="34" charset="0"/>
                </a:endParaRPr>
              </a:p>
              <a:p>
                <a:pPr>
                  <a:defRPr/>
                </a:pPr>
                <a:endParaRPr lang="bg-BG" i="1" dirty="0">
                  <a:latin typeface="Cambria Math" panose="02040503050406030204" pitchFamily="18" charset="0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𝛽</m:t>
                        </m:r>
                      </m:den>
                    </m:f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1.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10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−3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US" b="0" i="1" smtClean="0">
                        <a:latin typeface="Cambria Math"/>
                      </a:rPr>
                      <m:t>=0,01.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 = 10.10</a:t>
                </a:r>
                <a:r>
                  <a:rPr lang="en-US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-6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 = 10 µA </a:t>
                </a:r>
              </a:p>
              <a:p>
                <a:pP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𝐵𝑠𝑎𝑡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8A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-&gt; </a:t>
                </a:r>
                <a:r>
                  <a:rPr lang="bg-BG" dirty="0">
                    <a:solidFill>
                      <a:srgbClr val="0038A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Активен режим</a:t>
                </a:r>
              </a:p>
              <a:p>
                <a:pPr>
                  <a:defRPr/>
                </a:pPr>
                <a:endParaRPr lang="bg-BG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defRPr/>
                </a:pPr>
                <a:r>
                  <a:rPr lang="en-US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U</a:t>
                </a:r>
                <a:r>
                  <a:rPr lang="en-US" i="1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CE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:r>
                  <a:rPr lang="en-US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U</a:t>
                </a:r>
                <a:r>
                  <a:rPr lang="en-US" i="1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CC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– </a:t>
                </a:r>
                <a:r>
                  <a:rPr lang="en-US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i="1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r>
                  <a:rPr lang="en-US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i="1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– I</a:t>
                </a:r>
                <a:r>
                  <a:rPr lang="en-US" i="1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r>
                  <a:rPr lang="en-US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i="1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10 – 1.10</a:t>
                </a:r>
                <a:r>
                  <a:rPr lang="en-US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-3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4,7.10</a:t>
                </a:r>
                <a:r>
                  <a:rPr lang="en-US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+3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– 1.10</a:t>
                </a:r>
                <a:r>
                  <a:rPr lang="en-US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-3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1.10</a:t>
                </a:r>
                <a:r>
                  <a:rPr lang="en-US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+3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10 – 5,7 = 4,3 V</a:t>
                </a:r>
              </a:p>
            </p:txBody>
          </p:sp>
        </mc:Choice>
        <mc:Fallback xmlns="">
          <p:sp>
            <p:nvSpPr>
              <p:cNvPr id="2" name="TextBox 20">
                <a:extLst>
                  <a:ext uri="{FF2B5EF4-FFF2-40B4-BE49-F238E27FC236}">
                    <a16:creationId xmlns:a16="http://schemas.microsoft.com/office/drawing/2014/main" id="{E4876834-F870-4EF5-8525-FAEC8B5C7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408" y="854654"/>
                <a:ext cx="7848872" cy="4527906"/>
              </a:xfrm>
              <a:prstGeom prst="rect">
                <a:avLst/>
              </a:prstGeom>
              <a:blipFill>
                <a:blip r:embed="rId3"/>
                <a:stretch>
                  <a:fillRect l="-699" b="-121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54A38-3D9B-7029-0EE1-BEB555FE4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60">
                <a:extLst>
                  <a:ext uri="{FF2B5EF4-FFF2-40B4-BE49-F238E27FC236}">
                    <a16:creationId xmlns:a16="http://schemas.microsoft.com/office/drawing/2014/main" id="{99B59FE5-4561-E56B-CE29-80BCC0CC62CD}"/>
                  </a:ext>
                </a:extLst>
              </p:cNvPr>
              <p:cNvSpPr txBox="1"/>
              <p:nvPr/>
            </p:nvSpPr>
            <p:spPr>
              <a:xfrm>
                <a:off x="265472" y="616723"/>
                <a:ext cx="7690032" cy="5563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r>
                  <a:rPr lang="bg-BG" dirty="0">
                    <a:latin typeface="Calibri" panose="020F0502020204030204" pitchFamily="34" charset="0"/>
                    <a:cs typeface="Calibri" panose="020F0502020204030204" pitchFamily="34" charset="0"/>
                  </a:rPr>
                  <a:t>Дадени са следните величини: </a:t>
                </a:r>
              </a:p>
              <a:p>
                <a:pPr marL="285750" indent="-285750">
                  <a:buFontTx/>
                  <a:buChar char="-"/>
                </a:pPr>
                <a:r>
                  <a:rPr lang="bg-BG" sz="1800" b="0" strike="noStrike" spc="-1" dirty="0">
                    <a:solidFill>
                      <a:schemeClr val="dk1"/>
                    </a:solidFill>
                    <a:latin typeface="Calibri"/>
                  </a:rPr>
                  <a:t>Захранване</a:t>
                </a:r>
                <a:r>
                  <a:rPr lang="bg-BG" sz="1800" b="0" i="1" strike="noStrike" spc="-1" dirty="0">
                    <a:solidFill>
                      <a:schemeClr val="dk1"/>
                    </a:solidFill>
                    <a:latin typeface="Calibri"/>
                  </a:rPr>
                  <a:t> </a:t>
                </a:r>
                <a:r>
                  <a:rPr lang="en-US" sz="1800" b="0" i="1" strike="noStrike" spc="-1" dirty="0">
                    <a:solidFill>
                      <a:schemeClr val="dk1"/>
                    </a:solidFill>
                    <a:latin typeface="Calibri"/>
                  </a:rPr>
                  <a:t>U</a:t>
                </a:r>
                <a:r>
                  <a:rPr lang="en-US" sz="1800" b="0" i="1" strike="noStrike" spc="-1" baseline="-25000" dirty="0">
                    <a:solidFill>
                      <a:schemeClr val="dk1"/>
                    </a:solidFill>
                    <a:latin typeface="Calibri"/>
                  </a:rPr>
                  <a:t>CC </a:t>
                </a:r>
                <a:endParaRPr lang="bg-BG" sz="1800" b="0" i="1" strike="noStrike" spc="-1" baseline="-25000" dirty="0">
                  <a:solidFill>
                    <a:schemeClr val="dk1"/>
                  </a:solidFill>
                  <a:latin typeface="Calibri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bg-BG" spc="-1" dirty="0">
                    <a:solidFill>
                      <a:schemeClr val="dk1"/>
                    </a:solidFill>
                    <a:latin typeface="Calibri"/>
                    <a:cs typeface="Calibri" panose="020F0502020204030204" pitchFamily="34" charset="0"/>
                  </a:rPr>
                  <a:t>Колекторен ток </a:t>
                </a:r>
                <a:r>
                  <a:rPr lang="en-US" i="1" spc="-1" dirty="0">
                    <a:solidFill>
                      <a:schemeClr val="dk1"/>
                    </a:solidFill>
                    <a:latin typeface="Calibri"/>
                  </a:rPr>
                  <a:t>I</a:t>
                </a:r>
                <a:r>
                  <a:rPr lang="en-US" sz="1800" b="0" i="1" strike="noStrike" spc="-1" baseline="-25000" dirty="0">
                    <a:solidFill>
                      <a:schemeClr val="dk1"/>
                    </a:solidFill>
                    <a:latin typeface="Calibri"/>
                  </a:rPr>
                  <a:t>C </a:t>
                </a:r>
                <a:endParaRPr lang="bg-BG" i="1" spc="-1" dirty="0">
                  <a:solidFill>
                    <a:schemeClr val="dk1"/>
                  </a:solidFill>
                  <a:latin typeface="Calibri"/>
                  <a:cs typeface="Calibri" panose="020F050202020403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bg-BG" spc="-1" dirty="0">
                    <a:solidFill>
                      <a:schemeClr val="dk1"/>
                    </a:solidFill>
                    <a:latin typeface="Calibri"/>
                    <a:cs typeface="Calibri" panose="020F0502020204030204" pitchFamily="34" charset="0"/>
                  </a:rPr>
                  <a:t>Входно напрежение </a:t>
                </a:r>
                <a:r>
                  <a:rPr lang="en-US" sz="1800" b="0" i="1" strike="noStrike" spc="-1" dirty="0">
                    <a:solidFill>
                      <a:schemeClr val="dk1"/>
                    </a:solidFill>
                    <a:latin typeface="Calibri"/>
                  </a:rPr>
                  <a:t>U</a:t>
                </a:r>
                <a:r>
                  <a:rPr lang="en-US" sz="1800" b="0" i="1" strike="noStrike" spc="-1" baseline="-25000" dirty="0">
                    <a:solidFill>
                      <a:schemeClr val="dk1"/>
                    </a:solidFill>
                    <a:latin typeface="Calibri"/>
                  </a:rPr>
                  <a:t>BB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𝑠𝑎𝑡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endParaRPr lang="bg-BG" i="1" spc="-1" dirty="0">
                  <a:solidFill>
                    <a:schemeClr val="dk1"/>
                  </a:solidFill>
                  <a:latin typeface="Calibri"/>
                  <a:cs typeface="Calibri" panose="020F0502020204030204" pitchFamily="34" charset="0"/>
                </a:endParaRPr>
              </a:p>
              <a:p>
                <a:r>
                  <a:rPr lang="bg-BG" dirty="0">
                    <a:latin typeface="Calibri" panose="020F0502020204030204" pitchFamily="34" charset="0"/>
                    <a:cs typeface="Calibri" panose="020F0502020204030204" pitchFamily="34" charset="0"/>
                  </a:rPr>
                  <a:t>Да се определят стойностите на </a:t>
                </a:r>
                <a:r>
                  <a:rPr lang="en-US" sz="1800" b="0" i="1" strike="noStrike" spc="-1" dirty="0">
                    <a:solidFill>
                      <a:schemeClr val="dk1"/>
                    </a:solidFill>
                    <a:latin typeface="Calibri"/>
                  </a:rPr>
                  <a:t>R</a:t>
                </a:r>
                <a:r>
                  <a:rPr lang="en-US" sz="1800" b="0" i="1" strike="noStrike" spc="-1" baseline="-25000" dirty="0">
                    <a:solidFill>
                      <a:schemeClr val="dk1"/>
                    </a:solidFill>
                    <a:latin typeface="Calibri"/>
                  </a:rPr>
                  <a:t>C</a:t>
                </a:r>
                <a:r>
                  <a:rPr lang="bg-B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и </a:t>
                </a:r>
                <a:r>
                  <a:rPr lang="en-US" sz="1800" b="0" i="1" strike="noStrike" spc="-1" dirty="0">
                    <a:solidFill>
                      <a:schemeClr val="dk1"/>
                    </a:solidFill>
                    <a:latin typeface="Calibri"/>
                  </a:rPr>
                  <a:t>R</a:t>
                </a:r>
                <a:r>
                  <a:rPr lang="en-US" sz="1800" b="0" i="1" strike="noStrike" spc="-1" baseline="-25000" dirty="0">
                    <a:solidFill>
                      <a:schemeClr val="dk1"/>
                    </a:solidFill>
                    <a:latin typeface="Calibri"/>
                  </a:rPr>
                  <a:t>B </a:t>
                </a:r>
                <a:endParaRPr lang="bg-BG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bg-BG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𝐶𝐶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𝐶𝐸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𝑠𝑎𝑡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</m:den>
                    </m:f>
                  </m:oMath>
                </a14:m>
                <a:r>
                  <a:rPr lang="bg-BG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където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𝑠𝑎𝑡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bg-BG" dirty="0">
                    <a:latin typeface="Calibri" panose="020F0502020204030204" pitchFamily="34" charset="0"/>
                    <a:cs typeface="Calibri" panose="020F0502020204030204" pitchFamily="34" charset="0"/>
                  </a:rPr>
                  <a:t>се взема от каталог.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bg-BG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bg-BG" dirty="0">
                    <a:latin typeface="Calibri" panose="020F0502020204030204" pitchFamily="34" charset="0"/>
                    <a:cs typeface="Calibri" panose="020F0502020204030204" pitchFamily="34" charset="0"/>
                  </a:rPr>
                  <a:t>За да е сигурно, че транзисторът е в режим на насищане, ще изберем базов ток десет пъти по-малък от колекторния (т.нар. „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forced beta”)</a:t>
                </a:r>
                <a:r>
                  <a:rPr lang="bg-B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bg-BG" dirty="0">
                    <a:latin typeface="Calibri" panose="020F0502020204030204" pitchFamily="34" charset="0"/>
                    <a:cs typeface="Calibri" panose="020F0502020204030204" pitchFamily="34" charset="0"/>
                  </a:rPr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bg-BG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0.1 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bg-B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всеки транзистор с </a:t>
                </a:r>
                <a:r>
                  <a:rPr lang="el-GR" spc="-1" dirty="0">
                    <a:solidFill>
                      <a:schemeClr val="dk1"/>
                    </a:solidFill>
                    <a:latin typeface="Calibri"/>
                  </a:rPr>
                  <a:t>β</a:t>
                </a:r>
                <a:r>
                  <a:rPr lang="en-US" spc="-1" dirty="0">
                    <a:solidFill>
                      <a:schemeClr val="dk1"/>
                    </a:solidFill>
                    <a:latin typeface="Calibri"/>
                  </a:rPr>
                  <a:t> </a:t>
                </a:r>
                <a:r>
                  <a:rPr lang="bg-BG" spc="-1" dirty="0">
                    <a:solidFill>
                      <a:schemeClr val="dk1"/>
                    </a:solidFill>
                    <a:latin typeface="Calibri"/>
                  </a:rPr>
                  <a:t>&gt; 10 ще работи в режим на насищане.</a:t>
                </a:r>
              </a:p>
              <a:p>
                <a:endParaRPr lang="bg-BG" spc="-1" dirty="0">
                  <a:solidFill>
                    <a:schemeClr val="dk1"/>
                  </a:solidFill>
                  <a:latin typeface="Calibri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𝐵𝐵</m:t>
                            </m:r>
                          </m:sub>
                        </m:s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𝐵𝐸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bg-BG" b="0" i="1" smtClean="0">
                            <a:latin typeface="Cambria Math" panose="02040503050406030204" pitchFamily="18" charset="0"/>
                          </a:rPr>
                          <m:t>10.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𝐵𝐵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𝐵𝐸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defRPr/>
                </a:pPr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TextBox 60">
                <a:extLst>
                  <a:ext uri="{FF2B5EF4-FFF2-40B4-BE49-F238E27FC236}">
                    <a16:creationId xmlns:a16="http://schemas.microsoft.com/office/drawing/2014/main" id="{99B59FE5-4561-E56B-CE29-80BCC0CC6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72" y="616723"/>
                <a:ext cx="7690032" cy="5563574"/>
              </a:xfrm>
              <a:prstGeom prst="rect">
                <a:avLst/>
              </a:prstGeom>
              <a:blipFill>
                <a:blip r:embed="rId2"/>
                <a:stretch>
                  <a:fillRect l="-714" t="-548" r="-15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>
            <a:extLst>
              <a:ext uri="{FF2B5EF4-FFF2-40B4-BE49-F238E27FC236}">
                <a16:creationId xmlns:a16="http://schemas.microsoft.com/office/drawing/2014/main" id="{09F10DD8-ECB0-5C5E-D807-85DA66E64AFB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805400" y="0"/>
            <a:ext cx="4386600" cy="3448080"/>
          </a:xfrm>
          <a:prstGeom prst="rect">
            <a:avLst/>
          </a:prstGeom>
          <a:ln w="0">
            <a:noFill/>
          </a:ln>
        </p:spPr>
      </p:pic>
      <p:sp>
        <p:nvSpPr>
          <p:cNvPr id="516" name="Rectangle 2">
            <a:extLst>
              <a:ext uri="{FF2B5EF4-FFF2-40B4-BE49-F238E27FC236}">
                <a16:creationId xmlns:a16="http://schemas.microsoft.com/office/drawing/2014/main" id="{2418C4FC-B163-DF61-91A8-BDB2D38A0BD1}"/>
              </a:ext>
            </a:extLst>
          </p:cNvPr>
          <p:cNvSpPr/>
          <p:nvPr/>
        </p:nvSpPr>
        <p:spPr>
          <a:xfrm>
            <a:off x="-23760" y="-26280"/>
            <a:ext cx="11684818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bg-BG" sz="3200" spc="-1" dirty="0">
                <a:solidFill>
                  <a:srgbClr val="0038A8"/>
                </a:solidFill>
                <a:latin typeface="Calibri Light"/>
              </a:rPr>
              <a:t>Проектиране на ключ с биполярен транзистор</a:t>
            </a:r>
            <a:endParaRPr lang="bg-BG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7087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ECD6E-A388-74F0-9F48-CE70D5F1E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60">
                <a:extLst>
                  <a:ext uri="{FF2B5EF4-FFF2-40B4-BE49-F238E27FC236}">
                    <a16:creationId xmlns:a16="http://schemas.microsoft.com/office/drawing/2014/main" id="{F8BA37D9-3BC4-F113-AB6B-5579DB754C5B}"/>
                  </a:ext>
                </a:extLst>
              </p:cNvPr>
              <p:cNvSpPr txBox="1"/>
              <p:nvPr/>
            </p:nvSpPr>
            <p:spPr>
              <a:xfrm>
                <a:off x="115368" y="606891"/>
                <a:ext cx="7690032" cy="5573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r>
                  <a:rPr lang="bg-BG" dirty="0">
                    <a:latin typeface="Calibri" panose="020F0502020204030204" pitchFamily="34" charset="0"/>
                    <a:cs typeface="Calibri" panose="020F0502020204030204" pitchFamily="34" charset="0"/>
                  </a:rPr>
                  <a:t>Дадено: 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bg-BG" dirty="0">
                    <a:latin typeface="Calibri" panose="020F0502020204030204" pitchFamily="34" charset="0"/>
                    <a:cs typeface="Calibri" panose="020F0502020204030204" pitchFamily="34" charset="0"/>
                  </a:rPr>
                  <a:t>Транзистор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PN</a:t>
                </a:r>
                <a:r>
                  <a:rPr lang="bg-BG" dirty="0">
                    <a:latin typeface="Calibri" panose="020F0502020204030204" pitchFamily="34" charset="0"/>
                    <a:cs typeface="Calibri" panose="020F0502020204030204" pitchFamily="34" charset="0"/>
                  </a:rPr>
                  <a:t>2222А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bg-BG" sz="1800" b="0" strike="noStrike" spc="-1" dirty="0">
                    <a:solidFill>
                      <a:schemeClr val="dk1"/>
                    </a:solidFill>
                    <a:latin typeface="Calibri"/>
                  </a:rPr>
                  <a:t>Захранване</a:t>
                </a:r>
                <a:r>
                  <a:rPr lang="bg-BG" sz="1800" b="0" i="1" strike="noStrike" spc="-1" dirty="0">
                    <a:solidFill>
                      <a:schemeClr val="dk1"/>
                    </a:solidFill>
                    <a:latin typeface="Calibri"/>
                  </a:rPr>
                  <a:t> </a:t>
                </a:r>
                <a:r>
                  <a:rPr lang="en-US" sz="1800" b="0" i="1" strike="noStrike" spc="-1" dirty="0">
                    <a:solidFill>
                      <a:schemeClr val="dk1"/>
                    </a:solidFill>
                    <a:latin typeface="Calibri"/>
                  </a:rPr>
                  <a:t>U</a:t>
                </a:r>
                <a:r>
                  <a:rPr lang="en-US" sz="1800" b="0" i="1" strike="noStrike" spc="-1" baseline="-25000" dirty="0">
                    <a:solidFill>
                      <a:schemeClr val="dk1"/>
                    </a:solidFill>
                    <a:latin typeface="Calibri"/>
                  </a:rPr>
                  <a:t>CC </a:t>
                </a:r>
                <a:r>
                  <a:rPr lang="bg-BG" sz="1800" b="0" i="1" strike="noStrike" spc="-1" dirty="0">
                    <a:solidFill>
                      <a:schemeClr val="dk1"/>
                    </a:solidFill>
                    <a:latin typeface="Calibri"/>
                  </a:rPr>
                  <a:t>=10</a:t>
                </a:r>
                <a:r>
                  <a:rPr lang="en-US" sz="1800" b="0" i="1" strike="noStrike" spc="-1" dirty="0">
                    <a:solidFill>
                      <a:schemeClr val="dk1"/>
                    </a:solidFill>
                    <a:latin typeface="Calibri"/>
                  </a:rPr>
                  <a:t>V</a:t>
                </a:r>
                <a:endParaRPr lang="bg-BG" sz="1800" b="0" i="1" strike="noStrike" spc="-1" dirty="0">
                  <a:solidFill>
                    <a:schemeClr val="dk1"/>
                  </a:solidFill>
                  <a:latin typeface="Calibri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bg-BG" spc="-1" dirty="0">
                    <a:solidFill>
                      <a:schemeClr val="dk1"/>
                    </a:solidFill>
                    <a:latin typeface="Calibri"/>
                    <a:cs typeface="Calibri" panose="020F0502020204030204" pitchFamily="34" charset="0"/>
                  </a:rPr>
                  <a:t>Колекторен ток </a:t>
                </a:r>
                <a:r>
                  <a:rPr lang="en-US" i="1" spc="-1" dirty="0">
                    <a:solidFill>
                      <a:schemeClr val="dk1"/>
                    </a:solidFill>
                    <a:latin typeface="Calibri"/>
                  </a:rPr>
                  <a:t>I</a:t>
                </a:r>
                <a:r>
                  <a:rPr lang="en-US" sz="1800" b="0" i="1" strike="noStrike" spc="-1" baseline="-25000" dirty="0">
                    <a:solidFill>
                      <a:schemeClr val="dk1"/>
                    </a:solidFill>
                    <a:latin typeface="Calibri"/>
                  </a:rPr>
                  <a:t>C </a:t>
                </a:r>
                <a:r>
                  <a:rPr lang="bg-BG" sz="1800" b="0" i="1" strike="noStrike" spc="-1" dirty="0">
                    <a:solidFill>
                      <a:schemeClr val="dk1"/>
                    </a:solidFill>
                    <a:latin typeface="Calibri"/>
                  </a:rPr>
                  <a:t>=10</a:t>
                </a:r>
                <a:r>
                  <a:rPr lang="en-US" sz="1800" b="0" i="1" strike="noStrike" spc="-1" dirty="0">
                    <a:solidFill>
                      <a:schemeClr val="dk1"/>
                    </a:solidFill>
                    <a:latin typeface="Calibri"/>
                  </a:rPr>
                  <a:t>mA</a:t>
                </a:r>
                <a:endParaRPr lang="bg-BG" i="1" spc="-1" dirty="0">
                  <a:solidFill>
                    <a:schemeClr val="dk1"/>
                  </a:solidFill>
                  <a:latin typeface="Calibri"/>
                  <a:cs typeface="Calibri" panose="020F050202020403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bg-BG" spc="-1" dirty="0">
                    <a:solidFill>
                      <a:schemeClr val="dk1"/>
                    </a:solidFill>
                    <a:latin typeface="Calibri"/>
                    <a:cs typeface="Calibri" panose="020F0502020204030204" pitchFamily="34" charset="0"/>
                  </a:rPr>
                  <a:t>Входно напрежение </a:t>
                </a:r>
                <a:r>
                  <a:rPr lang="en-US" sz="1800" b="0" i="1" strike="noStrike" spc="-1" dirty="0">
                    <a:solidFill>
                      <a:schemeClr val="dk1"/>
                    </a:solidFill>
                    <a:latin typeface="Calibri"/>
                  </a:rPr>
                  <a:t>U</a:t>
                </a:r>
                <a:r>
                  <a:rPr lang="en-US" sz="1800" b="0" i="1" strike="noStrike" spc="-1" baseline="-25000" dirty="0">
                    <a:solidFill>
                      <a:schemeClr val="dk1"/>
                    </a:solidFill>
                    <a:latin typeface="Calibri"/>
                  </a:rPr>
                  <a:t>BB</a:t>
                </a:r>
                <a:r>
                  <a:rPr lang="en-US" sz="1800" b="0" i="1" strike="noStrike" spc="-1" dirty="0">
                    <a:solidFill>
                      <a:schemeClr val="dk1"/>
                    </a:solidFill>
                    <a:latin typeface="Calibri"/>
                  </a:rPr>
                  <a:t>=5V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𝑠𝑎𝑡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endParaRPr lang="bg-BG" i="1" spc="-1" dirty="0">
                  <a:solidFill>
                    <a:schemeClr val="dk1"/>
                  </a:solidFill>
                  <a:latin typeface="Calibri"/>
                  <a:cs typeface="Calibri" panose="020F0502020204030204" pitchFamily="34" charset="0"/>
                </a:endParaRPr>
              </a:p>
              <a:p>
                <a:r>
                  <a:rPr lang="bg-BG" dirty="0">
                    <a:latin typeface="Calibri" panose="020F0502020204030204" pitchFamily="34" charset="0"/>
                    <a:cs typeface="Calibri" panose="020F0502020204030204" pitchFamily="34" charset="0"/>
                  </a:rPr>
                  <a:t>Да се определят стойностите на </a:t>
                </a:r>
                <a:r>
                  <a:rPr lang="en-US" sz="1800" b="0" i="1" strike="noStrike" spc="-1" dirty="0">
                    <a:solidFill>
                      <a:schemeClr val="dk1"/>
                    </a:solidFill>
                    <a:latin typeface="Calibri"/>
                  </a:rPr>
                  <a:t>R</a:t>
                </a:r>
                <a:r>
                  <a:rPr lang="en-US" sz="1800" b="0" i="1" strike="noStrike" spc="-1" baseline="-25000" dirty="0">
                    <a:solidFill>
                      <a:schemeClr val="dk1"/>
                    </a:solidFill>
                    <a:latin typeface="Calibri"/>
                  </a:rPr>
                  <a:t>C</a:t>
                </a:r>
                <a:r>
                  <a:rPr lang="bg-B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и </a:t>
                </a:r>
                <a:r>
                  <a:rPr lang="en-US" sz="1800" b="0" i="1" strike="noStrike" spc="-1" dirty="0">
                    <a:solidFill>
                      <a:schemeClr val="dk1"/>
                    </a:solidFill>
                    <a:latin typeface="Calibri"/>
                  </a:rPr>
                  <a:t>R</a:t>
                </a:r>
                <a:r>
                  <a:rPr lang="en-US" sz="1800" b="0" i="1" strike="noStrike" spc="-1" baseline="-25000" dirty="0">
                    <a:solidFill>
                      <a:schemeClr val="dk1"/>
                    </a:solidFill>
                    <a:latin typeface="Calibri"/>
                  </a:rPr>
                  <a:t>B </a:t>
                </a:r>
              </a:p>
              <a:p>
                <a:endParaRPr lang="en-US" spc="-1" dirty="0">
                  <a:solidFill>
                    <a:schemeClr val="dk1"/>
                  </a:solidFill>
                  <a:latin typeface="Calibri"/>
                </a:endParaRPr>
              </a:p>
              <a:p>
                <a:r>
                  <a:rPr lang="bg-BG" spc="-1" dirty="0">
                    <a:solidFill>
                      <a:schemeClr val="dk1"/>
                    </a:solidFill>
                    <a:latin typeface="Calibri"/>
                  </a:rPr>
                  <a:t>От каталог определяме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𝑠𝑎𝑡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bg-BG" sz="1800" b="0" strike="noStrike" spc="-1" dirty="0">
                    <a:solidFill>
                      <a:schemeClr val="dk1"/>
                    </a:solidFill>
                    <a:latin typeface="Calibri"/>
                  </a:rPr>
                  <a:t>=0.05</a:t>
                </a:r>
                <a:r>
                  <a:rPr lang="en-US" sz="1800" b="0" strike="noStrike" spc="-1" dirty="0">
                    <a:solidFill>
                      <a:schemeClr val="dk1"/>
                    </a:solidFill>
                    <a:latin typeface="Calibri"/>
                  </a:rPr>
                  <a:t>V @ </a:t>
                </a:r>
                <a:r>
                  <a:rPr lang="en-US" i="1" spc="-1" dirty="0">
                    <a:solidFill>
                      <a:schemeClr val="dk1"/>
                    </a:solidFill>
                    <a:latin typeface="Calibri"/>
                  </a:rPr>
                  <a:t>I</a:t>
                </a:r>
                <a:r>
                  <a:rPr lang="en-US" i="1" spc="-1" baseline="-25000" dirty="0">
                    <a:solidFill>
                      <a:schemeClr val="dk1"/>
                    </a:solidFill>
                    <a:latin typeface="Calibri"/>
                  </a:rPr>
                  <a:t>C </a:t>
                </a:r>
                <a:r>
                  <a:rPr lang="bg-BG" i="1" spc="-1" dirty="0">
                    <a:solidFill>
                      <a:schemeClr val="dk1"/>
                    </a:solidFill>
                    <a:latin typeface="Calibri"/>
                  </a:rPr>
                  <a:t>=10</a:t>
                </a:r>
                <a:r>
                  <a:rPr lang="en-US" i="1" spc="-1" dirty="0">
                    <a:solidFill>
                      <a:schemeClr val="dk1"/>
                    </a:solidFill>
                    <a:latin typeface="Calibri"/>
                  </a:rPr>
                  <a:t>mA</a:t>
                </a:r>
                <a:endParaRPr lang="bg-BG" sz="1800" b="0" strike="noStrike" spc="-1" dirty="0">
                  <a:solidFill>
                    <a:schemeClr val="dk1"/>
                  </a:solidFill>
                  <a:latin typeface="Calibri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𝐶𝐶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𝐶𝐸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𝑠𝑎𝑡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−0.05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𝑚𝐴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=0.995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bg-BG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bg-BG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bg-BG" dirty="0">
                    <a:latin typeface="Calibri" panose="020F0502020204030204" pitchFamily="34" charset="0"/>
                    <a:cs typeface="Calibri" panose="020F0502020204030204" pitchFamily="34" charset="0"/>
                  </a:rPr>
                  <a:t>За да е сигурно, че транзисторът е в режим на насищане, ще изберем базов ток десет пъти по-малък от колекторния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bg-BG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0.1 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𝑚𝐴</m:t>
                    </m:r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bg-BG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𝐵𝐵</m:t>
                            </m:r>
                          </m:sub>
                        </m:s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𝐵𝐸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>
                  <a:defRPr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𝐵𝐵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𝐵𝐸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−0.7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𝑚𝐴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=4.3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defRPr/>
                </a:pPr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TextBox 60">
                <a:extLst>
                  <a:ext uri="{FF2B5EF4-FFF2-40B4-BE49-F238E27FC236}">
                    <a16:creationId xmlns:a16="http://schemas.microsoft.com/office/drawing/2014/main" id="{F8BA37D9-3BC4-F113-AB6B-5579DB754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68" y="606891"/>
                <a:ext cx="7690032" cy="5573000"/>
              </a:xfrm>
              <a:prstGeom prst="rect">
                <a:avLst/>
              </a:prstGeom>
              <a:blipFill>
                <a:blip r:embed="rId2"/>
                <a:stretch>
                  <a:fillRect l="-714" t="-656" r="-15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>
            <a:extLst>
              <a:ext uri="{FF2B5EF4-FFF2-40B4-BE49-F238E27FC236}">
                <a16:creationId xmlns:a16="http://schemas.microsoft.com/office/drawing/2014/main" id="{259F58FE-35C2-0B3B-8126-EAEC465BF85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805400" y="0"/>
            <a:ext cx="4386600" cy="3448080"/>
          </a:xfrm>
          <a:prstGeom prst="rect">
            <a:avLst/>
          </a:prstGeom>
          <a:ln w="0">
            <a:noFill/>
          </a:ln>
        </p:spPr>
      </p:pic>
      <p:sp>
        <p:nvSpPr>
          <p:cNvPr id="516" name="Rectangle 2">
            <a:extLst>
              <a:ext uri="{FF2B5EF4-FFF2-40B4-BE49-F238E27FC236}">
                <a16:creationId xmlns:a16="http://schemas.microsoft.com/office/drawing/2014/main" id="{63ECF428-BFBD-43D8-5F9F-EDF6ABF45C29}"/>
              </a:ext>
            </a:extLst>
          </p:cNvPr>
          <p:cNvSpPr/>
          <p:nvPr/>
        </p:nvSpPr>
        <p:spPr>
          <a:xfrm>
            <a:off x="-23760" y="-26280"/>
            <a:ext cx="11684818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bg-BG" sz="3200" spc="-1" dirty="0">
                <a:solidFill>
                  <a:srgbClr val="0038A8"/>
                </a:solidFill>
                <a:latin typeface="Calibri Light"/>
              </a:rPr>
              <a:t>Проектиране на ключ с биполярен транзистор</a:t>
            </a:r>
            <a:r>
              <a:rPr lang="en-US" sz="3200" spc="-1" dirty="0">
                <a:solidFill>
                  <a:srgbClr val="0038A8"/>
                </a:solidFill>
                <a:latin typeface="Calibri Light"/>
              </a:rPr>
              <a:t> - </a:t>
            </a:r>
            <a:r>
              <a:rPr lang="bg-BG" sz="3200" spc="-1" dirty="0">
                <a:solidFill>
                  <a:srgbClr val="0038A8"/>
                </a:solidFill>
                <a:latin typeface="Calibri Light"/>
              </a:rPr>
              <a:t>пример</a:t>
            </a:r>
            <a:endParaRPr lang="bg-BG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C5071-8B06-FD1B-C44C-98195959F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51" y="3448080"/>
            <a:ext cx="3535802" cy="324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61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TextBox 7"/>
          <p:cNvSpPr/>
          <p:nvPr/>
        </p:nvSpPr>
        <p:spPr>
          <a:xfrm>
            <a:off x="407520" y="980640"/>
            <a:ext cx="101527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Бързодействието на ключа зависи от продължителността на преходните процеси при превключване. Преходните процеси се дължат на: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Rectangle 8"/>
          <p:cNvSpPr/>
          <p:nvPr/>
        </p:nvSpPr>
        <p:spPr>
          <a:xfrm>
            <a:off x="263520" y="1845000"/>
            <a:ext cx="10851840" cy="179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80000"/>
              </a:lnSpc>
              <a:spcBef>
                <a:spcPts val="601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Инерционността на процесите на пренасяне, натрупване и разнасяне на токоносителите в базата и колектора </a:t>
            </a:r>
            <a:r>
              <a:rPr lang="bg-BG" spc="-1" dirty="0">
                <a:solidFill>
                  <a:schemeClr val="dk1"/>
                </a:solidFill>
                <a:latin typeface="Calibri"/>
              </a:rPr>
              <a:t>на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 транзистора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80000"/>
              </a:lnSpc>
              <a:spcBef>
                <a:spcPts val="601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Времето, необходимо за презареждане на капацитетите на преходите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80000"/>
              </a:lnSpc>
              <a:spcBef>
                <a:spcPts val="601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Наличието на паразитни капацитети на корпуса и индуктивности на изводите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601"/>
              </a:spcBef>
            </a:pP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TextBox 6"/>
          <p:cNvSpPr/>
          <p:nvPr/>
        </p:nvSpPr>
        <p:spPr>
          <a:xfrm>
            <a:off x="-24840" y="-27360"/>
            <a:ext cx="866340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Бързодействие на ключ с биполярен транзисотр</a:t>
            </a:r>
            <a:endParaRPr lang="bg-BG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9A3F096-D719-882C-26C5-FD7FB3C020A6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08897" y="3233868"/>
            <a:ext cx="5562720" cy="2973600"/>
          </a:xfrm>
          <a:prstGeom prst="rect">
            <a:avLst/>
          </a:prstGeom>
          <a:ln w="0">
            <a:noFill/>
          </a:ln>
        </p:spPr>
      </p:pic>
      <p:pic>
        <p:nvPicPr>
          <p:cNvPr id="3" name="Picture 10">
            <a:extLst>
              <a:ext uri="{FF2B5EF4-FFF2-40B4-BE49-F238E27FC236}">
                <a16:creationId xmlns:a16="http://schemas.microsoft.com/office/drawing/2014/main" id="{1B897CB0-7A3B-05F2-0A1D-C5C2BBAF2A9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82297" y="3326388"/>
            <a:ext cx="4913640" cy="2849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TextBox 42"/>
          <p:cNvSpPr/>
          <p:nvPr/>
        </p:nvSpPr>
        <p:spPr>
          <a:xfrm>
            <a:off x="-24840" y="-27360"/>
            <a:ext cx="866340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Преходни процеси при превключване</a:t>
            </a:r>
            <a:endParaRPr lang="bg-BG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BBF82F-854C-FDD8-A50A-91A8E634A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16" y="989102"/>
            <a:ext cx="6097045" cy="45300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93D691-220D-8D24-1A21-979D977BD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451" y="1182067"/>
            <a:ext cx="4518471" cy="35520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9" name="Straight Arrow Connector 43"/>
          <p:cNvCxnSpPr/>
          <p:nvPr/>
        </p:nvCxnSpPr>
        <p:spPr>
          <a:xfrm flipV="1">
            <a:off x="1183680" y="3135694"/>
            <a:ext cx="360" cy="2553840"/>
          </a:xfrm>
          <a:prstGeom prst="straightConnector1">
            <a:avLst/>
          </a:prstGeom>
          <a:ln>
            <a:solidFill>
              <a:srgbClr val="000000"/>
            </a:solidFill>
            <a:round/>
            <a:tailEnd type="arrow" w="med" len="med"/>
          </a:ln>
        </p:spPr>
      </p:cxnSp>
      <p:cxnSp>
        <p:nvCxnSpPr>
          <p:cNvPr id="570" name="Straight Connector 6"/>
          <p:cNvCxnSpPr/>
          <p:nvPr/>
        </p:nvCxnSpPr>
        <p:spPr>
          <a:xfrm>
            <a:off x="2344680" y="2255854"/>
            <a:ext cx="360" cy="360648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round/>
          </a:ln>
        </p:spPr>
      </p:cxnSp>
      <p:sp>
        <p:nvSpPr>
          <p:cNvPr id="590" name="TextBox 98"/>
          <p:cNvSpPr/>
          <p:nvPr/>
        </p:nvSpPr>
        <p:spPr>
          <a:xfrm>
            <a:off x="1258920" y="3096094"/>
            <a:ext cx="64764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Arial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Arial"/>
              </a:rPr>
              <a:t>C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94" name="Straight Arrow Connector 54"/>
          <p:cNvCxnSpPr/>
          <p:nvPr/>
        </p:nvCxnSpPr>
        <p:spPr>
          <a:xfrm flipV="1">
            <a:off x="1164240" y="5689174"/>
            <a:ext cx="7034400" cy="5040"/>
          </a:xfrm>
          <a:prstGeom prst="straightConnector1">
            <a:avLst/>
          </a:prstGeom>
          <a:ln>
            <a:solidFill>
              <a:srgbClr val="000000"/>
            </a:solidFill>
            <a:round/>
            <a:tailEnd type="arrow" w="med" len="med"/>
          </a:ln>
        </p:spPr>
      </p:cxnSp>
      <p:sp>
        <p:nvSpPr>
          <p:cNvPr id="595" name="TextBox 55"/>
          <p:cNvSpPr/>
          <p:nvPr/>
        </p:nvSpPr>
        <p:spPr>
          <a:xfrm>
            <a:off x="7906649" y="5678512"/>
            <a:ext cx="50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chemeClr val="dk1"/>
                </a:solidFill>
                <a:latin typeface="Arial"/>
              </a:rPr>
              <a:t>t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96" name="Straight Connector 10"/>
          <p:cNvCxnSpPr/>
          <p:nvPr/>
        </p:nvCxnSpPr>
        <p:spPr>
          <a:xfrm flipH="1">
            <a:off x="5441040" y="2970814"/>
            <a:ext cx="21240" cy="289152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round/>
          </a:ln>
        </p:spPr>
      </p:cxnSp>
      <p:cxnSp>
        <p:nvCxnSpPr>
          <p:cNvPr id="597" name="Straight Connector 56"/>
          <p:cNvCxnSpPr/>
          <p:nvPr/>
        </p:nvCxnSpPr>
        <p:spPr>
          <a:xfrm flipH="1">
            <a:off x="6397920" y="4028494"/>
            <a:ext cx="21600" cy="183384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round/>
          </a:ln>
        </p:spPr>
      </p:cxnSp>
      <p:cxnSp>
        <p:nvCxnSpPr>
          <p:cNvPr id="598" name="Straight Connector 57"/>
          <p:cNvCxnSpPr/>
          <p:nvPr/>
        </p:nvCxnSpPr>
        <p:spPr>
          <a:xfrm>
            <a:off x="1192320" y="5468494"/>
            <a:ext cx="1152720" cy="360"/>
          </a:xfrm>
          <a:prstGeom prst="straightConnector1">
            <a:avLst/>
          </a:prstGeom>
          <a:ln w="38100">
            <a:solidFill>
              <a:srgbClr val="333399"/>
            </a:solidFill>
            <a:round/>
          </a:ln>
        </p:spPr>
      </p:cxnSp>
      <p:sp>
        <p:nvSpPr>
          <p:cNvPr id="599" name="TextBox 58"/>
          <p:cNvSpPr/>
          <p:nvPr/>
        </p:nvSpPr>
        <p:spPr>
          <a:xfrm>
            <a:off x="601560" y="5243494"/>
            <a:ext cx="84276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Arial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Arial"/>
              </a:rPr>
              <a:t>CB0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00" name="Straight Connector 14"/>
          <p:cNvCxnSpPr>
            <a:cxnSpLocks/>
          </p:cNvCxnSpPr>
          <p:nvPr/>
        </p:nvCxnSpPr>
        <p:spPr>
          <a:xfrm flipV="1">
            <a:off x="3245400" y="3740494"/>
            <a:ext cx="3080880" cy="33962"/>
          </a:xfrm>
          <a:prstGeom prst="straightConnector1">
            <a:avLst/>
          </a:prstGeom>
          <a:ln w="38100">
            <a:solidFill>
              <a:srgbClr val="333399"/>
            </a:solidFill>
            <a:round/>
          </a:ln>
        </p:spPr>
      </p:cxnSp>
      <p:sp>
        <p:nvSpPr>
          <p:cNvPr id="601" name="Freeform 358408"/>
          <p:cNvSpPr/>
          <p:nvPr/>
        </p:nvSpPr>
        <p:spPr>
          <a:xfrm>
            <a:off x="2352240" y="3789814"/>
            <a:ext cx="927720" cy="1673640"/>
          </a:xfrm>
          <a:custGeom>
            <a:avLst/>
            <a:gdLst>
              <a:gd name="textAreaLeft" fmla="*/ 0 w 801360"/>
              <a:gd name="textAreaRight" fmla="*/ 801720 w 801360"/>
              <a:gd name="textAreaTop" fmla="*/ 0 h 1673640"/>
              <a:gd name="textAreaBottom" fmla="*/ 1674000 h 1673640"/>
            </a:gdLst>
            <a:ahLst/>
            <a:cxnLst/>
            <a:rect l="textAreaLeft" t="textAreaTop" r="textAreaRight" b="textAreaBottom"/>
            <a:pathLst>
              <a:path w="801858" h="1674055">
                <a:moveTo>
                  <a:pt x="0" y="1674055"/>
                </a:moveTo>
                <a:cubicBezTo>
                  <a:pt x="123092" y="1651781"/>
                  <a:pt x="246185" y="1629508"/>
                  <a:pt x="379828" y="1350499"/>
                </a:cubicBezTo>
                <a:cubicBezTo>
                  <a:pt x="513471" y="1071490"/>
                  <a:pt x="736209" y="222738"/>
                  <a:pt x="801858" y="0"/>
                </a:cubicBezTo>
              </a:path>
            </a:pathLst>
          </a:custGeom>
          <a:noFill/>
          <a:ln>
            <a:solidFill>
              <a:srgbClr val="33339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02" name="Freeform 358409"/>
          <p:cNvSpPr/>
          <p:nvPr/>
        </p:nvSpPr>
        <p:spPr>
          <a:xfrm>
            <a:off x="6328440" y="3747694"/>
            <a:ext cx="1509480" cy="1800360"/>
          </a:xfrm>
          <a:custGeom>
            <a:avLst/>
            <a:gdLst>
              <a:gd name="textAreaLeft" fmla="*/ 0 w 1509480"/>
              <a:gd name="textAreaRight" fmla="*/ 1509840 w 1509480"/>
              <a:gd name="textAreaTop" fmla="*/ 0 h 1800360"/>
              <a:gd name="textAreaBottom" fmla="*/ 1800720 h 1800360"/>
            </a:gdLst>
            <a:ahLst/>
            <a:cxnLst/>
            <a:rect l="textAreaLeft" t="textAreaTop" r="textAreaRight" b="textAreaBottom"/>
            <a:pathLst>
              <a:path w="1519310" h="1800664">
                <a:moveTo>
                  <a:pt x="0" y="0"/>
                </a:moveTo>
                <a:cubicBezTo>
                  <a:pt x="84406" y="271975"/>
                  <a:pt x="168812" y="543950"/>
                  <a:pt x="422030" y="844061"/>
                </a:cubicBezTo>
                <a:cubicBezTo>
                  <a:pt x="675248" y="1144172"/>
                  <a:pt x="1336430" y="1636541"/>
                  <a:pt x="1519310" y="1800664"/>
                </a:cubicBezTo>
              </a:path>
            </a:pathLst>
          </a:custGeom>
          <a:noFill/>
          <a:ln>
            <a:solidFill>
              <a:srgbClr val="33339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603" name="Straight Connector 358411"/>
          <p:cNvCxnSpPr/>
          <p:nvPr/>
        </p:nvCxnSpPr>
        <p:spPr>
          <a:xfrm>
            <a:off x="1164240" y="5262214"/>
            <a:ext cx="6645960" cy="36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round/>
          </a:ln>
        </p:spPr>
      </p:cxnSp>
      <p:cxnSp>
        <p:nvCxnSpPr>
          <p:cNvPr id="604" name="Straight Connector 69"/>
          <p:cNvCxnSpPr/>
          <p:nvPr/>
        </p:nvCxnSpPr>
        <p:spPr>
          <a:xfrm>
            <a:off x="1164240" y="4028494"/>
            <a:ext cx="6674400" cy="36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round/>
          </a:ln>
        </p:spPr>
      </p:cxnSp>
      <p:sp>
        <p:nvSpPr>
          <p:cNvPr id="605" name="TextBox 358414"/>
          <p:cNvSpPr/>
          <p:nvPr/>
        </p:nvSpPr>
        <p:spPr>
          <a:xfrm>
            <a:off x="105480" y="4901030"/>
            <a:ext cx="120240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800" b="0" strike="noStrike" spc="-1" dirty="0">
                <a:solidFill>
                  <a:schemeClr val="dk1"/>
                </a:solidFill>
                <a:latin typeface="Arial"/>
              </a:rPr>
              <a:t>10% </a:t>
            </a:r>
            <a:r>
              <a:rPr lang="en-US" sz="1800" b="0" i="1" strike="noStrike" spc="-1" dirty="0" err="1">
                <a:solidFill>
                  <a:schemeClr val="dk1"/>
                </a:solidFill>
                <a:latin typeface="Arial"/>
              </a:rPr>
              <a:t>I</a:t>
            </a:r>
            <a:r>
              <a:rPr lang="en-US" sz="1800" b="0" i="1" strike="noStrike" spc="-1" baseline="-25000" dirty="0" err="1">
                <a:solidFill>
                  <a:schemeClr val="dk1"/>
                </a:solidFill>
                <a:latin typeface="Arial"/>
              </a:rPr>
              <a:t>Csat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Box 72"/>
          <p:cNvSpPr/>
          <p:nvPr/>
        </p:nvSpPr>
        <p:spPr>
          <a:xfrm>
            <a:off x="113040" y="3856247"/>
            <a:ext cx="120240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800" b="0" strike="noStrike" spc="-1" dirty="0">
                <a:solidFill>
                  <a:schemeClr val="dk1"/>
                </a:solidFill>
                <a:latin typeface="Arial"/>
              </a:rPr>
              <a:t>90% </a:t>
            </a:r>
            <a:r>
              <a:rPr lang="en-US" sz="1800" b="0" i="1" strike="noStrike" spc="-1" dirty="0" err="1">
                <a:solidFill>
                  <a:schemeClr val="dk1"/>
                </a:solidFill>
                <a:latin typeface="Arial"/>
              </a:rPr>
              <a:t>I</a:t>
            </a:r>
            <a:r>
              <a:rPr lang="en-US" sz="1800" b="0" i="1" strike="noStrike" spc="-1" baseline="-25000" dirty="0" err="1">
                <a:solidFill>
                  <a:schemeClr val="dk1"/>
                </a:solidFill>
                <a:latin typeface="Arial"/>
              </a:rPr>
              <a:t>Csat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07" name="Straight Connector 358419"/>
          <p:cNvCxnSpPr/>
          <p:nvPr/>
        </p:nvCxnSpPr>
        <p:spPr>
          <a:xfrm>
            <a:off x="2752920" y="5262214"/>
            <a:ext cx="360" cy="60012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round/>
          </a:ln>
        </p:spPr>
      </p:cxnSp>
      <p:cxnSp>
        <p:nvCxnSpPr>
          <p:cNvPr id="608" name="Straight Connector 358423"/>
          <p:cNvCxnSpPr>
            <a:cxnSpLocks/>
          </p:cNvCxnSpPr>
          <p:nvPr/>
        </p:nvCxnSpPr>
        <p:spPr>
          <a:xfrm flipH="1" flipV="1">
            <a:off x="1192320" y="3762454"/>
            <a:ext cx="2201220" cy="20488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round/>
          </a:ln>
        </p:spPr>
      </p:cxnSp>
      <p:cxnSp>
        <p:nvCxnSpPr>
          <p:cNvPr id="609" name="Straight Arrow Connector 358430"/>
          <p:cNvCxnSpPr/>
          <p:nvPr/>
        </p:nvCxnSpPr>
        <p:spPr>
          <a:xfrm>
            <a:off x="2344680" y="5861974"/>
            <a:ext cx="408600" cy="360"/>
          </a:xfrm>
          <a:prstGeom prst="straightConnector1">
            <a:avLst/>
          </a:prstGeom>
          <a:ln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cxnSp>
        <p:nvCxnSpPr>
          <p:cNvPr id="610" name="Straight Connector 36"/>
          <p:cNvCxnSpPr/>
          <p:nvPr/>
        </p:nvCxnSpPr>
        <p:spPr>
          <a:xfrm>
            <a:off x="3125880" y="4028494"/>
            <a:ext cx="360" cy="183384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round/>
          </a:ln>
        </p:spPr>
      </p:cxnSp>
      <p:cxnSp>
        <p:nvCxnSpPr>
          <p:cNvPr id="611" name="Straight Arrow Connector 38"/>
          <p:cNvCxnSpPr/>
          <p:nvPr/>
        </p:nvCxnSpPr>
        <p:spPr>
          <a:xfrm>
            <a:off x="2752920" y="5861974"/>
            <a:ext cx="401400" cy="360"/>
          </a:xfrm>
          <a:prstGeom prst="straightConnector1">
            <a:avLst/>
          </a:prstGeom>
          <a:ln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cxnSp>
        <p:nvCxnSpPr>
          <p:cNvPr id="612" name="Straight Arrow Connector 59"/>
          <p:cNvCxnSpPr/>
          <p:nvPr/>
        </p:nvCxnSpPr>
        <p:spPr>
          <a:xfrm>
            <a:off x="5461920" y="5861974"/>
            <a:ext cx="957600" cy="360"/>
          </a:xfrm>
          <a:prstGeom prst="straightConnector1">
            <a:avLst/>
          </a:prstGeom>
          <a:ln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cxnSp>
        <p:nvCxnSpPr>
          <p:cNvPr id="613" name="Straight Connector 61"/>
          <p:cNvCxnSpPr/>
          <p:nvPr/>
        </p:nvCxnSpPr>
        <p:spPr>
          <a:xfrm>
            <a:off x="7456320" y="5262214"/>
            <a:ext cx="360" cy="60012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round/>
          </a:ln>
        </p:spPr>
      </p:cxnSp>
      <p:cxnSp>
        <p:nvCxnSpPr>
          <p:cNvPr id="614" name="Straight Arrow Connector 63"/>
          <p:cNvCxnSpPr/>
          <p:nvPr/>
        </p:nvCxnSpPr>
        <p:spPr>
          <a:xfrm>
            <a:off x="6408360" y="5861974"/>
            <a:ext cx="1048320" cy="360"/>
          </a:xfrm>
          <a:prstGeom prst="straightConnector1">
            <a:avLst/>
          </a:prstGeom>
          <a:ln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615" name="TextBox 99"/>
          <p:cNvSpPr/>
          <p:nvPr/>
        </p:nvSpPr>
        <p:spPr>
          <a:xfrm>
            <a:off x="587160" y="3452494"/>
            <a:ext cx="120240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Arial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Arial"/>
              </a:rPr>
              <a:t>Csat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Box 68"/>
          <p:cNvSpPr/>
          <p:nvPr/>
        </p:nvSpPr>
        <p:spPr>
          <a:xfrm>
            <a:off x="5768181" y="5861974"/>
            <a:ext cx="56340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 dirty="0" err="1">
                <a:solidFill>
                  <a:schemeClr val="dk1"/>
                </a:solidFill>
                <a:latin typeface="Arial"/>
              </a:rPr>
              <a:t>t</a:t>
            </a:r>
            <a:r>
              <a:rPr lang="en-US" sz="1800" b="0" i="1" strike="noStrike" spc="-1" baseline="-25000" dirty="0" err="1">
                <a:solidFill>
                  <a:schemeClr val="dk1"/>
                </a:solidFill>
                <a:latin typeface="Arial"/>
              </a:rPr>
              <a:t>s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Box 105"/>
          <p:cNvSpPr/>
          <p:nvPr/>
        </p:nvSpPr>
        <p:spPr>
          <a:xfrm>
            <a:off x="6793380" y="5860492"/>
            <a:ext cx="56340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 dirty="0" err="1">
                <a:solidFill>
                  <a:schemeClr val="dk1"/>
                </a:solidFill>
                <a:latin typeface="Arial"/>
              </a:rPr>
              <a:t>t</a:t>
            </a:r>
            <a:r>
              <a:rPr lang="en-US" sz="1800" b="0" i="1" strike="noStrike" spc="-1" baseline="-25000" dirty="0" err="1">
                <a:solidFill>
                  <a:schemeClr val="dk1"/>
                </a:solidFill>
                <a:latin typeface="Arial"/>
              </a:rPr>
              <a:t>f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Box 106"/>
          <p:cNvSpPr/>
          <p:nvPr/>
        </p:nvSpPr>
        <p:spPr>
          <a:xfrm>
            <a:off x="2390220" y="5894014"/>
            <a:ext cx="56340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 dirty="0">
                <a:solidFill>
                  <a:schemeClr val="dk1"/>
                </a:solidFill>
                <a:latin typeface="Arial"/>
              </a:rPr>
              <a:t>t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Arial"/>
              </a:rPr>
              <a:t>d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TextBox 107"/>
          <p:cNvSpPr/>
          <p:nvPr/>
        </p:nvSpPr>
        <p:spPr>
          <a:xfrm>
            <a:off x="2813517" y="5914534"/>
            <a:ext cx="56340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 dirty="0">
                <a:solidFill>
                  <a:schemeClr val="dk1"/>
                </a:solidFill>
                <a:latin typeface="Arial"/>
              </a:rPr>
              <a:t>t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Arial"/>
              </a:rPr>
              <a:t>r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Box 60"/>
          <p:cNvSpPr/>
          <p:nvPr/>
        </p:nvSpPr>
        <p:spPr>
          <a:xfrm>
            <a:off x="-24840" y="-27360"/>
            <a:ext cx="866340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3200" b="0" strike="noStrike" spc="-1" dirty="0">
                <a:solidFill>
                  <a:srgbClr val="0038A8"/>
                </a:solidFill>
                <a:latin typeface="Calibri Light"/>
              </a:rPr>
              <a:t>Преходни процеси при превключване</a:t>
            </a:r>
            <a:endParaRPr lang="bg-BG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" name="Straight Arrow Connector 25">
            <a:extLst>
              <a:ext uri="{FF2B5EF4-FFF2-40B4-BE49-F238E27FC236}">
                <a16:creationId xmlns:a16="http://schemas.microsoft.com/office/drawing/2014/main" id="{D1642E46-60E6-09DD-F6C0-06B4813CD363}"/>
              </a:ext>
            </a:extLst>
          </p:cNvPr>
          <p:cNvCxnSpPr/>
          <p:nvPr/>
        </p:nvCxnSpPr>
        <p:spPr>
          <a:xfrm flipV="1">
            <a:off x="1192320" y="2222444"/>
            <a:ext cx="6646320" cy="9720"/>
          </a:xfrm>
          <a:prstGeom prst="straightConnector1">
            <a:avLst/>
          </a:prstGeom>
          <a:ln>
            <a:solidFill>
              <a:srgbClr val="000000"/>
            </a:solidFill>
            <a:round/>
            <a:tailEnd type="arrow" w="med" len="med"/>
          </a:ln>
        </p:spPr>
      </p:cxnSp>
      <p:cxnSp>
        <p:nvCxnSpPr>
          <p:cNvPr id="3" name="Straight Connector 26">
            <a:extLst>
              <a:ext uri="{FF2B5EF4-FFF2-40B4-BE49-F238E27FC236}">
                <a16:creationId xmlns:a16="http://schemas.microsoft.com/office/drawing/2014/main" id="{5E7BFB78-B51A-4043-780F-A108B5051012}"/>
              </a:ext>
            </a:extLst>
          </p:cNvPr>
          <p:cNvCxnSpPr/>
          <p:nvPr/>
        </p:nvCxnSpPr>
        <p:spPr>
          <a:xfrm>
            <a:off x="1185339" y="2233894"/>
            <a:ext cx="1152720" cy="360"/>
          </a:xfrm>
          <a:prstGeom prst="straightConnector1">
            <a:avLst/>
          </a:prstGeom>
          <a:ln w="38100">
            <a:solidFill>
              <a:srgbClr val="333399"/>
            </a:solidFill>
            <a:round/>
          </a:ln>
        </p:spPr>
      </p:cxnSp>
      <p:cxnSp>
        <p:nvCxnSpPr>
          <p:cNvPr id="4" name="Straight Connector 27">
            <a:extLst>
              <a:ext uri="{FF2B5EF4-FFF2-40B4-BE49-F238E27FC236}">
                <a16:creationId xmlns:a16="http://schemas.microsoft.com/office/drawing/2014/main" id="{5E59B7CB-0A80-B217-EC48-9E4B0976D19E}"/>
              </a:ext>
            </a:extLst>
          </p:cNvPr>
          <p:cNvCxnSpPr>
            <a:cxnSpLocks/>
          </p:cNvCxnSpPr>
          <p:nvPr/>
        </p:nvCxnSpPr>
        <p:spPr>
          <a:xfrm flipV="1">
            <a:off x="2345040" y="1079804"/>
            <a:ext cx="0" cy="1152000"/>
          </a:xfrm>
          <a:prstGeom prst="straightConnector1">
            <a:avLst/>
          </a:prstGeom>
          <a:ln w="38100">
            <a:solidFill>
              <a:srgbClr val="333399"/>
            </a:solidFill>
            <a:round/>
          </a:ln>
        </p:spPr>
      </p:cxnSp>
      <p:cxnSp>
        <p:nvCxnSpPr>
          <p:cNvPr id="5" name="Straight Connector 28">
            <a:extLst>
              <a:ext uri="{FF2B5EF4-FFF2-40B4-BE49-F238E27FC236}">
                <a16:creationId xmlns:a16="http://schemas.microsoft.com/office/drawing/2014/main" id="{3C514FFB-0731-FBDC-6486-1A0B57959D87}"/>
              </a:ext>
            </a:extLst>
          </p:cNvPr>
          <p:cNvCxnSpPr/>
          <p:nvPr/>
        </p:nvCxnSpPr>
        <p:spPr>
          <a:xfrm>
            <a:off x="2344680" y="1079804"/>
            <a:ext cx="3096720" cy="360"/>
          </a:xfrm>
          <a:prstGeom prst="straightConnector1">
            <a:avLst/>
          </a:prstGeom>
          <a:ln w="38100">
            <a:solidFill>
              <a:srgbClr val="333399"/>
            </a:solidFill>
            <a:round/>
          </a:ln>
        </p:spPr>
      </p:cxnSp>
      <p:cxnSp>
        <p:nvCxnSpPr>
          <p:cNvPr id="6" name="Straight Connector 31">
            <a:extLst>
              <a:ext uri="{FF2B5EF4-FFF2-40B4-BE49-F238E27FC236}">
                <a16:creationId xmlns:a16="http://schemas.microsoft.com/office/drawing/2014/main" id="{2AAB8734-010C-5658-DB2F-0C9B4480020E}"/>
              </a:ext>
            </a:extLst>
          </p:cNvPr>
          <p:cNvCxnSpPr/>
          <p:nvPr/>
        </p:nvCxnSpPr>
        <p:spPr>
          <a:xfrm>
            <a:off x="5441040" y="1079804"/>
            <a:ext cx="21240" cy="1944360"/>
          </a:xfrm>
          <a:prstGeom prst="straightConnector1">
            <a:avLst/>
          </a:prstGeom>
          <a:ln w="38100">
            <a:solidFill>
              <a:srgbClr val="333399"/>
            </a:solidFill>
            <a:round/>
          </a:ln>
        </p:spPr>
      </p:cxnSp>
      <p:cxnSp>
        <p:nvCxnSpPr>
          <p:cNvPr id="7" name="Straight Connector 32">
            <a:extLst>
              <a:ext uri="{FF2B5EF4-FFF2-40B4-BE49-F238E27FC236}">
                <a16:creationId xmlns:a16="http://schemas.microsoft.com/office/drawing/2014/main" id="{2AD7ABF7-2B65-13B7-8676-8697009B5866}"/>
              </a:ext>
            </a:extLst>
          </p:cNvPr>
          <p:cNvCxnSpPr/>
          <p:nvPr/>
        </p:nvCxnSpPr>
        <p:spPr>
          <a:xfrm>
            <a:off x="5461920" y="3023804"/>
            <a:ext cx="792360" cy="360"/>
          </a:xfrm>
          <a:prstGeom prst="straightConnector1">
            <a:avLst/>
          </a:prstGeom>
          <a:ln w="38100">
            <a:solidFill>
              <a:srgbClr val="333399"/>
            </a:solidFill>
            <a:round/>
          </a:ln>
        </p:spPr>
      </p:cxnSp>
      <p:sp>
        <p:nvSpPr>
          <p:cNvPr id="8" name="TextBox 34">
            <a:extLst>
              <a:ext uri="{FF2B5EF4-FFF2-40B4-BE49-F238E27FC236}">
                <a16:creationId xmlns:a16="http://schemas.microsoft.com/office/drawing/2014/main" id="{07615B7F-B963-3121-4321-9C79B1DCC720}"/>
              </a:ext>
            </a:extLst>
          </p:cNvPr>
          <p:cNvSpPr/>
          <p:nvPr/>
        </p:nvSpPr>
        <p:spPr>
          <a:xfrm>
            <a:off x="7440637" y="2276444"/>
            <a:ext cx="5036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chemeClr val="dk1"/>
                </a:solidFill>
                <a:latin typeface="Arial"/>
              </a:rPr>
              <a:t>t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" name="Straight Arrow Connector 24">
            <a:extLst>
              <a:ext uri="{FF2B5EF4-FFF2-40B4-BE49-F238E27FC236}">
                <a16:creationId xmlns:a16="http://schemas.microsoft.com/office/drawing/2014/main" id="{953CEBEC-877C-1C9C-A7C7-6968A0B0DDDB}"/>
              </a:ext>
            </a:extLst>
          </p:cNvPr>
          <p:cNvCxnSpPr/>
          <p:nvPr/>
        </p:nvCxnSpPr>
        <p:spPr>
          <a:xfrm>
            <a:off x="5943240" y="1079804"/>
            <a:ext cx="360" cy="1152360"/>
          </a:xfrm>
          <a:prstGeom prst="straightConnector1">
            <a:avLst/>
          </a:prstGeom>
          <a:ln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cxnSp>
        <p:nvCxnSpPr>
          <p:cNvPr id="10" name="Straight Connector 358400">
            <a:extLst>
              <a:ext uri="{FF2B5EF4-FFF2-40B4-BE49-F238E27FC236}">
                <a16:creationId xmlns:a16="http://schemas.microsoft.com/office/drawing/2014/main" id="{96443D05-D77F-DC1E-EE0C-CA42C102C5DA}"/>
              </a:ext>
            </a:extLst>
          </p:cNvPr>
          <p:cNvCxnSpPr/>
          <p:nvPr/>
        </p:nvCxnSpPr>
        <p:spPr>
          <a:xfrm>
            <a:off x="1192320" y="1367804"/>
            <a:ext cx="4465080" cy="36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round/>
          </a:ln>
        </p:spPr>
      </p:cxnSp>
      <p:cxnSp>
        <p:nvCxnSpPr>
          <p:cNvPr id="11" name="Straight Connector 358403">
            <a:extLst>
              <a:ext uri="{FF2B5EF4-FFF2-40B4-BE49-F238E27FC236}">
                <a16:creationId xmlns:a16="http://schemas.microsoft.com/office/drawing/2014/main" id="{DA41BD15-B093-21E2-B322-B3CCE767B415}"/>
              </a:ext>
            </a:extLst>
          </p:cNvPr>
          <p:cNvCxnSpPr/>
          <p:nvPr/>
        </p:nvCxnSpPr>
        <p:spPr>
          <a:xfrm>
            <a:off x="5441040" y="1079804"/>
            <a:ext cx="885240" cy="36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round/>
          </a:ln>
        </p:spPr>
      </p:cxnSp>
      <p:cxnSp>
        <p:nvCxnSpPr>
          <p:cNvPr id="12" name="Straight Arrow Connector 358405">
            <a:extLst>
              <a:ext uri="{FF2B5EF4-FFF2-40B4-BE49-F238E27FC236}">
                <a16:creationId xmlns:a16="http://schemas.microsoft.com/office/drawing/2014/main" id="{6FEECBCC-E84F-8716-4708-E42AE7EE3599}"/>
              </a:ext>
            </a:extLst>
          </p:cNvPr>
          <p:cNvCxnSpPr/>
          <p:nvPr/>
        </p:nvCxnSpPr>
        <p:spPr>
          <a:xfrm>
            <a:off x="3157560" y="1367804"/>
            <a:ext cx="360" cy="864360"/>
          </a:xfrm>
          <a:prstGeom prst="straightConnector1">
            <a:avLst/>
          </a:prstGeom>
          <a:ln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13" name="TextBox 358406">
            <a:extLst>
              <a:ext uri="{FF2B5EF4-FFF2-40B4-BE49-F238E27FC236}">
                <a16:creationId xmlns:a16="http://schemas.microsoft.com/office/drawing/2014/main" id="{A9635D9E-51EC-717B-5587-5E6F1ACC4637}"/>
              </a:ext>
            </a:extLst>
          </p:cNvPr>
          <p:cNvSpPr/>
          <p:nvPr/>
        </p:nvSpPr>
        <p:spPr>
          <a:xfrm>
            <a:off x="3301920" y="1655804"/>
            <a:ext cx="95688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Arial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Arial"/>
              </a:rPr>
              <a:t>Bsat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Box 51">
            <a:extLst>
              <a:ext uri="{FF2B5EF4-FFF2-40B4-BE49-F238E27FC236}">
                <a16:creationId xmlns:a16="http://schemas.microsoft.com/office/drawing/2014/main" id="{39AC2223-BD90-7C64-8C78-9BB73C56F822}"/>
              </a:ext>
            </a:extLst>
          </p:cNvPr>
          <p:cNvSpPr/>
          <p:nvPr/>
        </p:nvSpPr>
        <p:spPr>
          <a:xfrm>
            <a:off x="544680" y="1183124"/>
            <a:ext cx="95688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Arial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Arial"/>
              </a:rPr>
              <a:t>Bsat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Box 52">
            <a:extLst>
              <a:ext uri="{FF2B5EF4-FFF2-40B4-BE49-F238E27FC236}">
                <a16:creationId xmlns:a16="http://schemas.microsoft.com/office/drawing/2014/main" id="{4F3F8D09-6000-9721-62BD-3C4FCB35386F}"/>
              </a:ext>
            </a:extLst>
          </p:cNvPr>
          <p:cNvSpPr/>
          <p:nvPr/>
        </p:nvSpPr>
        <p:spPr>
          <a:xfrm>
            <a:off x="5991840" y="1402724"/>
            <a:ext cx="139320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Arial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Arial"/>
              </a:rPr>
              <a:t>B1</a:t>
            </a:r>
            <a:r>
              <a:rPr lang="en-US" sz="1800" b="0" i="1" strike="noStrike" spc="-1">
                <a:solidFill>
                  <a:schemeClr val="dk1"/>
                </a:solidFill>
                <a:latin typeface="Arial"/>
              </a:rPr>
              <a:t> &gt; 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Arial"/>
              </a:rPr>
              <a:t>Bsat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Freeform 358412">
            <a:extLst>
              <a:ext uri="{FF2B5EF4-FFF2-40B4-BE49-F238E27FC236}">
                <a16:creationId xmlns:a16="http://schemas.microsoft.com/office/drawing/2014/main" id="{6008BF37-7378-F797-8F3F-945757793AB8}"/>
              </a:ext>
            </a:extLst>
          </p:cNvPr>
          <p:cNvSpPr/>
          <p:nvPr/>
        </p:nvSpPr>
        <p:spPr>
          <a:xfrm>
            <a:off x="6254280" y="2300204"/>
            <a:ext cx="993240" cy="729360"/>
          </a:xfrm>
          <a:custGeom>
            <a:avLst/>
            <a:gdLst>
              <a:gd name="textAreaLeft" fmla="*/ 0 w 1026720"/>
              <a:gd name="textAreaRight" fmla="*/ 1027080 w 1026720"/>
              <a:gd name="textAreaTop" fmla="*/ 0 h 646920"/>
              <a:gd name="textAreaBottom" fmla="*/ 647280 h 646920"/>
            </a:gdLst>
            <a:ahLst/>
            <a:cxnLst/>
            <a:rect l="textAreaLeft" t="textAreaTop" r="textAreaRight" b="textAreaBottom"/>
            <a:pathLst>
              <a:path w="1026942" h="647114">
                <a:moveTo>
                  <a:pt x="0" y="647114"/>
                </a:moveTo>
                <a:cubicBezTo>
                  <a:pt x="83234" y="511126"/>
                  <a:pt x="166468" y="375138"/>
                  <a:pt x="337625" y="267286"/>
                </a:cubicBezTo>
                <a:cubicBezTo>
                  <a:pt x="508782" y="159434"/>
                  <a:pt x="767862" y="79717"/>
                  <a:pt x="1026942" y="0"/>
                </a:cubicBezTo>
              </a:path>
            </a:pathLst>
          </a:custGeom>
          <a:noFill/>
          <a:ln>
            <a:solidFill>
              <a:srgbClr val="33339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 dirty="0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17" name="Straight Arrow Connector 358418">
            <a:extLst>
              <a:ext uri="{FF2B5EF4-FFF2-40B4-BE49-F238E27FC236}">
                <a16:creationId xmlns:a16="http://schemas.microsoft.com/office/drawing/2014/main" id="{35B5BB83-0995-BABB-7C94-F600297391DD}"/>
              </a:ext>
            </a:extLst>
          </p:cNvPr>
          <p:cNvCxnSpPr/>
          <p:nvPr/>
        </p:nvCxnSpPr>
        <p:spPr>
          <a:xfrm>
            <a:off x="5173920" y="2231804"/>
            <a:ext cx="360" cy="798120"/>
          </a:xfrm>
          <a:prstGeom prst="straightConnector1">
            <a:avLst/>
          </a:prstGeom>
          <a:ln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18" name="TextBox 358420">
            <a:extLst>
              <a:ext uri="{FF2B5EF4-FFF2-40B4-BE49-F238E27FC236}">
                <a16:creationId xmlns:a16="http://schemas.microsoft.com/office/drawing/2014/main" id="{70AFF4C4-BE83-26CC-2B0B-3D03DDDFF737}"/>
              </a:ext>
            </a:extLst>
          </p:cNvPr>
          <p:cNvSpPr/>
          <p:nvPr/>
        </p:nvSpPr>
        <p:spPr>
          <a:xfrm>
            <a:off x="4741920" y="2376164"/>
            <a:ext cx="79164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Arial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Arial"/>
              </a:rPr>
              <a:t>B2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" name="Straight Connector 358422">
            <a:extLst>
              <a:ext uri="{FF2B5EF4-FFF2-40B4-BE49-F238E27FC236}">
                <a16:creationId xmlns:a16="http://schemas.microsoft.com/office/drawing/2014/main" id="{E2560FC0-5BDF-FBC7-BBEE-87A042FE86D0}"/>
              </a:ext>
            </a:extLst>
          </p:cNvPr>
          <p:cNvCxnSpPr/>
          <p:nvPr/>
        </p:nvCxnSpPr>
        <p:spPr>
          <a:xfrm flipH="1">
            <a:off x="4957920" y="3023804"/>
            <a:ext cx="576360" cy="612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round/>
          </a:ln>
        </p:spPr>
      </p:cxnSp>
      <p:sp>
        <p:nvSpPr>
          <p:cNvPr id="20" name="TextBox 358424">
            <a:extLst>
              <a:ext uri="{FF2B5EF4-FFF2-40B4-BE49-F238E27FC236}">
                <a16:creationId xmlns:a16="http://schemas.microsoft.com/office/drawing/2014/main" id="{60081C3B-3330-CC12-A72B-B5C24469943B}"/>
              </a:ext>
            </a:extLst>
          </p:cNvPr>
          <p:cNvSpPr/>
          <p:nvPr/>
        </p:nvSpPr>
        <p:spPr>
          <a:xfrm>
            <a:off x="1265040" y="795404"/>
            <a:ext cx="64764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chemeClr val="dk1"/>
                </a:solidFill>
                <a:latin typeface="Arial"/>
              </a:rPr>
              <a:t>i</a:t>
            </a:r>
            <a:r>
              <a:rPr lang="en-US" sz="1800" b="0" i="1" strike="noStrike" spc="-1" baseline="-25000">
                <a:solidFill>
                  <a:schemeClr val="dk1"/>
                </a:solidFill>
                <a:latin typeface="Arial"/>
              </a:rPr>
              <a:t>B</a:t>
            </a:r>
            <a:endParaRPr lang="bg-BG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" name="Straight Arrow Connector 35">
            <a:extLst>
              <a:ext uri="{FF2B5EF4-FFF2-40B4-BE49-F238E27FC236}">
                <a16:creationId xmlns:a16="http://schemas.microsoft.com/office/drawing/2014/main" id="{C88D1703-5DBB-126E-631F-845FADF21C4C}"/>
              </a:ext>
            </a:extLst>
          </p:cNvPr>
          <p:cNvCxnSpPr/>
          <p:nvPr/>
        </p:nvCxnSpPr>
        <p:spPr>
          <a:xfrm flipV="1">
            <a:off x="1192320" y="980084"/>
            <a:ext cx="360" cy="2049840"/>
          </a:xfrm>
          <a:prstGeom prst="straightConnector1">
            <a:avLst/>
          </a:prstGeom>
          <a:ln>
            <a:solidFill>
              <a:srgbClr val="000000"/>
            </a:solidFill>
            <a:round/>
            <a:tailEnd type="arrow" w="med" len="med"/>
          </a:ln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D6191F9-7C5E-DAA7-8341-6AAFA0C138D1}"/>
              </a:ext>
            </a:extLst>
          </p:cNvPr>
          <p:cNvSpPr txBox="1"/>
          <p:nvPr/>
        </p:nvSpPr>
        <p:spPr>
          <a:xfrm>
            <a:off x="8190532" y="368927"/>
            <a:ext cx="380557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800" b="0" i="1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800" b="0" i="1" strike="noStrike" spc="-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 </a:t>
            </a:r>
            <a:r>
              <a:rPr lang="en-US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n-US" sz="1800" b="0" i="1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време на закъснение</a:t>
            </a:r>
            <a:r>
              <a:rPr lang="en-US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bg-BG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(turn-on delay time) </a:t>
            </a:r>
            <a:r>
              <a:rPr lang="bg-BG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n-US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 подаване на отпушващ импулс до достигане на </a:t>
            </a:r>
            <a:r>
              <a:rPr lang="en-US" sz="1800" b="0" i="1" strike="noStrike" spc="-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b="0" i="1" strike="noStrike" spc="-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10% </a:t>
            </a:r>
            <a:r>
              <a:rPr lang="bg-BG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</a:t>
            </a:r>
            <a:r>
              <a:rPr lang="en-US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1" strike="noStrike" spc="-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b="0" i="1" strike="noStrike" spc="-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Csat</a:t>
            </a:r>
            <a:endParaRPr lang="bg-BG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800" b="0" i="1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800" b="0" i="1" strike="noStrike" spc="-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bg-BG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време за нарастване</a:t>
            </a:r>
            <a:r>
              <a:rPr lang="en-US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bg-BG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(rise time) </a:t>
            </a:r>
            <a:r>
              <a:rPr lang="bg-BG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sz="1800" b="0" i="1" strike="noStrike" spc="-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b="0" i="1" strike="noStrike" spc="-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нараства </a:t>
            </a:r>
            <a:r>
              <a:rPr lang="bg-BG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</a:t>
            </a:r>
            <a:r>
              <a:rPr lang="en-US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10% до 90% </a:t>
            </a:r>
            <a:r>
              <a:rPr lang="en-US" sz="1800" b="0" i="1" strike="noStrike" spc="-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b="0" i="1" strike="noStrike" spc="-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Csat</a:t>
            </a:r>
            <a:r>
              <a:rPr lang="bg-BG" sz="1800" b="0" i="1" strike="noStrike" spc="-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800" b="0" i="1" strike="noStrike" spc="-1" baseline="-2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endParaRPr lang="en-US" i="1" spc="-1" baseline="-2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ru-RU" sz="1800" b="0" i="1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800" b="0" i="1" strike="noStrike" spc="-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ru-RU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време на разнасяне </a:t>
            </a:r>
            <a:r>
              <a:rPr lang="bg-BG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токоносителите от базата</a:t>
            </a:r>
            <a:endParaRPr lang="en-US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(storage time) </a:t>
            </a:r>
            <a:r>
              <a:rPr lang="ru-RU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от подаване на запушващ импулс до достигане на </a:t>
            </a:r>
            <a:r>
              <a:rPr lang="bg-BG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90% </a:t>
            </a:r>
            <a:r>
              <a:rPr lang="en-US" sz="1800" b="0" i="1" strike="noStrike" spc="-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b="0" i="1" strike="noStrike" spc="-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Csat</a:t>
            </a:r>
            <a:r>
              <a:rPr lang="bg-BG" sz="1800" b="0" i="1" strike="noStrike" spc="-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ru-RU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ru-RU" sz="1800" b="0" i="1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800" b="0" i="1" strike="noStrike" spc="-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ru-RU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време за спадане </a:t>
            </a: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ru-RU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 time) </a:t>
            </a:r>
            <a:r>
              <a:rPr lang="ru-RU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времето спадане на iC от </a:t>
            </a:r>
            <a:r>
              <a:rPr lang="bg-BG" sz="18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90% до 10% </a:t>
            </a:r>
            <a:r>
              <a:rPr lang="en-US" sz="1800" b="0" i="1" strike="noStrike" spc="-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b="0" i="1" strike="noStrike" spc="-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Csat</a:t>
            </a:r>
            <a:endParaRPr lang="bg-BG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EB82E0-A552-6961-CA13-1C97D677B10A}"/>
              </a:ext>
            </a:extLst>
          </p:cNvPr>
          <p:cNvSpPr txBox="1"/>
          <p:nvPr/>
        </p:nvSpPr>
        <p:spPr>
          <a:xfrm>
            <a:off x="2200626" y="6336454"/>
            <a:ext cx="1361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1" strike="noStrike" spc="-1" dirty="0">
                <a:latin typeface="Arial"/>
              </a:rPr>
              <a:t>t</a:t>
            </a:r>
            <a:r>
              <a:rPr lang="en-US" sz="1800" b="0" i="1" strike="noStrike" spc="-1" baseline="-25000" dirty="0">
                <a:latin typeface="Arial"/>
              </a:rPr>
              <a:t>on </a:t>
            </a:r>
            <a:r>
              <a:rPr lang="en-US" sz="1800" b="0" strike="noStrike" spc="-1" dirty="0">
                <a:latin typeface="Arial"/>
              </a:rPr>
              <a:t>= </a:t>
            </a:r>
            <a:r>
              <a:rPr lang="en-US" sz="1800" b="0" i="1" strike="noStrike" spc="-1" dirty="0">
                <a:latin typeface="Arial"/>
              </a:rPr>
              <a:t>t</a:t>
            </a:r>
            <a:r>
              <a:rPr lang="en-US" sz="1800" b="0" i="1" strike="noStrike" spc="-1" baseline="-25000" dirty="0">
                <a:latin typeface="Arial"/>
              </a:rPr>
              <a:t>d </a:t>
            </a:r>
            <a:r>
              <a:rPr lang="en-US" sz="1800" b="0" strike="noStrike" spc="-1" dirty="0">
                <a:latin typeface="Arial"/>
              </a:rPr>
              <a:t>+ </a:t>
            </a:r>
            <a:r>
              <a:rPr lang="en-US" sz="1800" b="0" i="1" strike="noStrike" spc="-1" dirty="0">
                <a:latin typeface="Arial"/>
              </a:rPr>
              <a:t>t</a:t>
            </a:r>
            <a:r>
              <a:rPr lang="en-US" sz="1800" b="0" i="1" strike="noStrike" spc="-1" baseline="-25000" dirty="0">
                <a:latin typeface="Arial"/>
              </a:rPr>
              <a:t>r </a:t>
            </a:r>
            <a:endParaRPr lang="bg-BG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275DAF-35DA-F93E-5C8B-5DEB5763C74D}"/>
              </a:ext>
            </a:extLst>
          </p:cNvPr>
          <p:cNvSpPr txBox="1"/>
          <p:nvPr/>
        </p:nvSpPr>
        <p:spPr>
          <a:xfrm>
            <a:off x="5956622" y="6323162"/>
            <a:ext cx="1361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1" strike="noStrike" spc="-1" dirty="0">
                <a:latin typeface="Arial"/>
              </a:rPr>
              <a:t>t</a:t>
            </a:r>
            <a:r>
              <a:rPr lang="en-US" sz="1800" b="0" i="1" strike="noStrike" spc="-1" baseline="-25000" dirty="0">
                <a:latin typeface="Arial"/>
              </a:rPr>
              <a:t>off </a:t>
            </a:r>
            <a:r>
              <a:rPr lang="en-US" sz="1800" b="0" strike="noStrike" spc="-1" dirty="0">
                <a:latin typeface="Arial"/>
              </a:rPr>
              <a:t>= </a:t>
            </a:r>
            <a:r>
              <a:rPr lang="en-US" sz="1800" b="0" i="1" strike="noStrike" spc="-1" dirty="0" err="1">
                <a:latin typeface="Arial"/>
              </a:rPr>
              <a:t>t</a:t>
            </a:r>
            <a:r>
              <a:rPr lang="en-US" sz="1800" b="0" i="1" strike="noStrike" spc="-1" baseline="-25000" dirty="0" err="1">
                <a:latin typeface="Arial"/>
              </a:rPr>
              <a:t>s</a:t>
            </a:r>
            <a:r>
              <a:rPr lang="en-US" sz="1800" b="0" i="1" strike="noStrike" spc="-1" baseline="-25000" dirty="0">
                <a:latin typeface="Arial"/>
              </a:rPr>
              <a:t> </a:t>
            </a:r>
            <a:r>
              <a:rPr lang="en-US" sz="1800" b="0" strike="noStrike" spc="-1" dirty="0">
                <a:latin typeface="Arial"/>
              </a:rPr>
              <a:t>+ </a:t>
            </a:r>
            <a:r>
              <a:rPr lang="en-US" sz="1800" b="0" i="1" strike="noStrike" spc="-1" dirty="0" err="1">
                <a:latin typeface="Arial"/>
              </a:rPr>
              <a:t>t</a:t>
            </a:r>
            <a:r>
              <a:rPr lang="en-US" sz="1800" b="0" i="1" strike="noStrike" spc="-1" baseline="-25000" dirty="0" err="1">
                <a:latin typeface="Arial"/>
              </a:rPr>
              <a:t>f</a:t>
            </a:r>
            <a:r>
              <a:rPr lang="en-US" sz="1800" b="0" i="1" strike="noStrike" spc="-1" baseline="-25000" dirty="0">
                <a:latin typeface="Arial"/>
              </a:rPr>
              <a:t> </a:t>
            </a:r>
            <a:endParaRPr lang="bg-BG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Rectangle 11"/>
          <p:cNvSpPr/>
          <p:nvPr/>
        </p:nvSpPr>
        <p:spPr>
          <a:xfrm>
            <a:off x="479520" y="1052640"/>
            <a:ext cx="655236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Времената </a:t>
            </a:r>
            <a:r>
              <a:rPr lang="en-US" sz="1800" b="0" i="1" strike="noStrike" spc="-1" dirty="0" err="1">
                <a:solidFill>
                  <a:schemeClr val="dk1"/>
                </a:solidFill>
                <a:latin typeface="Calibri"/>
              </a:rPr>
              <a:t>t</a:t>
            </a:r>
            <a:r>
              <a:rPr lang="en-US" sz="1800" b="0" i="1" strike="noStrike" spc="-1" baseline="-25000" dirty="0" err="1">
                <a:solidFill>
                  <a:schemeClr val="dk1"/>
                </a:solidFill>
                <a:latin typeface="Calibri"/>
              </a:rPr>
              <a:t>S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и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0" i="1" strike="noStrike" spc="-1" dirty="0" err="1">
                <a:solidFill>
                  <a:schemeClr val="dk1"/>
                </a:solidFill>
                <a:latin typeface="Calibri"/>
              </a:rPr>
              <a:t>t</a:t>
            </a:r>
            <a:r>
              <a:rPr lang="en-US" sz="1800" b="0" i="1" strike="noStrike" spc="-1" baseline="-25000" dirty="0" err="1">
                <a:solidFill>
                  <a:schemeClr val="dk1"/>
                </a:solidFill>
                <a:latin typeface="Calibri"/>
              </a:rPr>
              <a:t>f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зависят от 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Calibri"/>
              </a:rPr>
              <a:t>B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и от честотните свойства на транзистора (геометрични размери и време на живот)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Времето за разнасяне зависи от пълното количество носители натрупани в базата – т.е от степента на насищане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N</a:t>
            </a:r>
            <a:r>
              <a:rPr lang="en-US" i="1" spc="-1" dirty="0">
                <a:solidFill>
                  <a:schemeClr val="dk1"/>
                </a:solidFill>
                <a:latin typeface="Calibri"/>
              </a:rPr>
              <a:t>.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TextBox 13"/>
          <p:cNvSpPr/>
          <p:nvPr/>
        </p:nvSpPr>
        <p:spPr>
          <a:xfrm>
            <a:off x="407520" y="2709000"/>
            <a:ext cx="6408360" cy="235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В интегралните схеми преходът база-колектор се шунтира с диод на Шотки, където 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U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Calibri"/>
              </a:rPr>
              <a:t>F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= 0,1 – 0,3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V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. Това ограничава тока през колекторния преход при право включване и натрупването на токоносители, откъдето </a:t>
            </a:r>
            <a:r>
              <a:rPr lang="en-US" sz="1800" b="0" i="1" strike="noStrike" spc="-1" dirty="0" err="1">
                <a:solidFill>
                  <a:schemeClr val="dk1"/>
                </a:solidFill>
                <a:latin typeface="Calibri"/>
              </a:rPr>
              <a:t>t</a:t>
            </a:r>
            <a:r>
              <a:rPr lang="en-US" sz="1800" b="0" i="1" strike="noStrike" spc="-1" baseline="-25000" dirty="0" err="1">
                <a:solidFill>
                  <a:schemeClr val="dk1"/>
                </a:solidFill>
                <a:latin typeface="Calibri"/>
              </a:rPr>
              <a:t>S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 рязко намалява. 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При Шотки диода липсва инжекция на неосновни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токоносители и той не допринася за натрупването им при право включване. </a:t>
            </a:r>
            <a:endParaRPr lang="bg-BG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7" name="TextBox 23"/>
          <p:cNvSpPr/>
          <p:nvPr/>
        </p:nvSpPr>
        <p:spPr>
          <a:xfrm>
            <a:off x="-24840" y="-27360"/>
            <a:ext cx="866340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bg-BG" sz="3200" b="0" strike="noStrike" spc="-1">
                <a:solidFill>
                  <a:srgbClr val="0038A8"/>
                </a:solidFill>
                <a:latin typeface="Calibri Light"/>
              </a:rPr>
              <a:t>Импулсни параметри</a:t>
            </a:r>
            <a:endParaRPr lang="bg-BG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8" name="Picture 2" descr="Diagram&#10;&#10;Description automatically generated"/>
          <p:cNvPicPr/>
          <p:nvPr/>
        </p:nvPicPr>
        <p:blipFill>
          <a:blip r:embed="rId2"/>
          <a:stretch/>
        </p:blipFill>
        <p:spPr>
          <a:xfrm>
            <a:off x="7176240" y="3660840"/>
            <a:ext cx="4542120" cy="2547720"/>
          </a:xfrm>
          <a:prstGeom prst="rect">
            <a:avLst/>
          </a:prstGeom>
          <a:ln w="0">
            <a:noFill/>
          </a:ln>
        </p:spPr>
      </p:pic>
      <p:pic>
        <p:nvPicPr>
          <p:cNvPr id="1159" name="Picture 4" descr="Shape&#10;&#10;Description automatically generated with low confidence"/>
          <p:cNvPicPr/>
          <p:nvPr/>
        </p:nvPicPr>
        <p:blipFill>
          <a:blip r:embed="rId3"/>
          <a:stretch/>
        </p:blipFill>
        <p:spPr>
          <a:xfrm>
            <a:off x="10308240" y="1268640"/>
            <a:ext cx="1399320" cy="1399320"/>
          </a:xfrm>
          <a:prstGeom prst="rect">
            <a:avLst/>
          </a:prstGeom>
          <a:ln w="0">
            <a:noFill/>
          </a:ln>
        </p:spPr>
      </p:pic>
      <p:pic>
        <p:nvPicPr>
          <p:cNvPr id="1160" name="Picture 6"/>
          <p:cNvPicPr/>
          <p:nvPr/>
        </p:nvPicPr>
        <p:blipFill>
          <a:blip r:embed="rId4"/>
          <a:stretch/>
        </p:blipFill>
        <p:spPr>
          <a:xfrm>
            <a:off x="7527960" y="557280"/>
            <a:ext cx="1844640" cy="2589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17829</TotalTime>
  <Words>1406</Words>
  <Application>Microsoft Office PowerPoint</Application>
  <PresentationFormat>Widescreen</PresentationFormat>
  <Paragraphs>217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Symbol</vt:lpstr>
      <vt:lpstr>Wingdings</vt:lpstr>
      <vt:lpstr>Default Design</vt:lpstr>
      <vt:lpstr>Default Design</vt:lpstr>
      <vt:lpstr>Default Design</vt:lpstr>
      <vt:lpstr>PowerPoint Presentation</vt:lpstr>
      <vt:lpstr>Ключ общ емитер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ТУ-София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</dc:title>
  <dc:subject/>
  <dc:creator>ПРОЕКТ BG051PO001--4.3.04-0042</dc:creator>
  <dc:description/>
  <cp:lastModifiedBy>Vassiliy Tchoumatchenko</cp:lastModifiedBy>
  <cp:revision>584</cp:revision>
  <dcterms:created xsi:type="dcterms:W3CDTF">2013-03-19T07:28:34Z</dcterms:created>
  <dcterms:modified xsi:type="dcterms:W3CDTF">2025-11-25T00:09:32Z</dcterms:modified>
  <dc:language>bg-BG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43</vt:i4>
  </property>
</Properties>
</file>