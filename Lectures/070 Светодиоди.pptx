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8" r:id="rId2"/>
    <p:sldId id="295" r:id="rId3"/>
    <p:sldId id="262" r:id="rId4"/>
    <p:sldId id="266" r:id="rId5"/>
    <p:sldId id="271" r:id="rId6"/>
    <p:sldId id="267" r:id="rId7"/>
    <p:sldId id="316" r:id="rId8"/>
    <p:sldId id="317" r:id="rId9"/>
    <p:sldId id="296" r:id="rId10"/>
    <p:sldId id="298" r:id="rId11"/>
    <p:sldId id="299" r:id="rId12"/>
    <p:sldId id="261" r:id="rId13"/>
    <p:sldId id="303" r:id="rId14"/>
    <p:sldId id="297" r:id="rId15"/>
    <p:sldId id="300" r:id="rId16"/>
    <p:sldId id="269" r:id="rId17"/>
    <p:sldId id="270" r:id="rId18"/>
    <p:sldId id="318" r:id="rId19"/>
    <p:sldId id="302" r:id="rId20"/>
    <p:sldId id="304" r:id="rId21"/>
    <p:sldId id="305" r:id="rId22"/>
    <p:sldId id="315" r:id="rId23"/>
    <p:sldId id="311" r:id="rId24"/>
    <p:sldId id="307" r:id="rId25"/>
    <p:sldId id="308" r:id="rId26"/>
    <p:sldId id="310" r:id="rId27"/>
    <p:sldId id="320" r:id="rId2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8FB"/>
    <a:srgbClr val="0038A8"/>
    <a:srgbClr val="D7F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93" autoAdjust="0"/>
    <p:restoredTop sz="86486" autoAdjust="0"/>
  </p:normalViewPr>
  <p:slideViewPr>
    <p:cSldViewPr>
      <p:cViewPr varScale="1">
        <p:scale>
          <a:sx n="142" d="100"/>
          <a:sy n="142" d="100"/>
        </p:scale>
        <p:origin x="322" y="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501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7C656D6-A842-4425-A532-3D5FCD608661}" type="datetime1">
              <a:rPr lang="en-US"/>
              <a:pPr>
                <a:defRPr/>
              </a:pPr>
              <a:t>10/28/2025</a:t>
            </a:fld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501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B2F23AD-DD44-49C7-AB14-59A495CA5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591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01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9EB583F-6715-4920-B56D-72B9914B75E2}" type="datetime1">
              <a:rPr lang="en-US"/>
              <a:pPr>
                <a:defRPr/>
              </a:pPr>
              <a:t>10/28/2025</a:t>
            </a:fld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01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0702B6B-561A-4A8F-9B90-C1F5C818ED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913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bg.wikipedia.org/wiki/%D0%9B%D1%83%D0%BA%D1%81" TargetMode="External"/><Relationship Id="rId3" Type="http://schemas.openxmlformats.org/officeDocument/2006/relationships/hyperlink" Target="https://bg.wikipedia.org/wiki/SI" TargetMode="External"/><Relationship Id="rId7" Type="http://schemas.openxmlformats.org/officeDocument/2006/relationships/hyperlink" Target="https://bg.wikipedia.org/wiki/%D0%9B%D1%83%D0%BC%D0%B5%D0%BD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g.wikipedia.org/wiki/%D0%9A%D0%B0%D0%BD%D0%B4%D0%B5%D0%BB%D0%B0" TargetMode="External"/><Relationship Id="rId5" Type="http://schemas.openxmlformats.org/officeDocument/2006/relationships/hyperlink" Target="https://bg.wikipedia.org/wiki/%D0%A1%D1%82%D0%B5%D1%80%D0%B0%D0%B4%D0%B8%D0%B0%D0%BD" TargetMode="External"/><Relationship Id="rId4" Type="http://schemas.openxmlformats.org/officeDocument/2006/relationships/hyperlink" Target="https://bg.wikipedia.org/wiki/%D0%A1%D0%B2%D0%B5%D1%82%D0%BB%D0%B8%D0%BD%D0%B5%D0%BD_%D0%BF%D0%BE%D1%82%D0%BE%D0%BA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ght_source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Color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 for light emission in a p-n junction. In a p-n junction biased with a forward voltage, electrons are injected from the n- to the p-side, and holes are injected in the opposite direction. Electrons recombine with holes and light is emitted (spontaneous emission). For efficient diodes it is important that the semi-conductors have direct bandgaps. LEDs with indirect bandgaps require phonon-assisted recombination, which limits the efficiency. The quantum efficiency of a LED is the ratio of the number of emitted photons to the number of electrons passing through the contact in a given time.</a:t>
            </a:r>
          </a:p>
          <a:p>
            <a:endParaRPr lang="en-US" dirty="0"/>
          </a:p>
          <a:p>
            <a:r>
              <a:rPr lang="en-US" dirty="0"/>
              <a:t>https://www.nobelprize.org/uploads/2018/06/advanced-physicsprize2014.pdf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54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err="1"/>
              <a:t>Лумен</a:t>
            </a:r>
            <a:r>
              <a:rPr lang="ru-RU" dirty="0"/>
              <a:t> (символ </a:t>
            </a:r>
            <a:r>
              <a:rPr lang="ru-RU" b="1" dirty="0" err="1"/>
              <a:t>lm</a:t>
            </a:r>
            <a:r>
              <a:rPr lang="ru-RU" dirty="0"/>
              <a:t>) е </a:t>
            </a:r>
            <a:r>
              <a:rPr lang="ru-RU" dirty="0" err="1"/>
              <a:t>единицата</a:t>
            </a:r>
            <a:r>
              <a:rPr lang="ru-RU" dirty="0"/>
              <a:t> за </a:t>
            </a:r>
            <a:r>
              <a:rPr lang="ru-RU" dirty="0" err="1"/>
              <a:t>светлинен</a:t>
            </a:r>
            <a:r>
              <a:rPr lang="ru-RU" dirty="0"/>
              <a:t> поток в </a:t>
            </a:r>
            <a:r>
              <a:rPr lang="ru-RU" dirty="0" err="1"/>
              <a:t>системата</a:t>
            </a:r>
            <a:r>
              <a:rPr lang="ru-RU" dirty="0"/>
              <a:t> </a:t>
            </a:r>
            <a:r>
              <a:rPr lang="ru-RU" dirty="0">
                <a:hlinkClick r:id="rId3" tooltip="SI"/>
              </a:rPr>
              <a:t>SI</a:t>
            </a:r>
            <a:r>
              <a:rPr lang="ru-RU" dirty="0"/>
              <a:t>. Един </a:t>
            </a:r>
            <a:r>
              <a:rPr lang="ru-RU" dirty="0" err="1"/>
              <a:t>лумен</a:t>
            </a:r>
            <a:r>
              <a:rPr lang="ru-RU" dirty="0"/>
              <a:t> е равен на </a:t>
            </a:r>
            <a:r>
              <a:rPr lang="ru-RU" dirty="0" err="1">
                <a:hlinkClick r:id="rId4" tooltip="Светлинен поток"/>
              </a:rPr>
              <a:t>светлинния</a:t>
            </a:r>
            <a:r>
              <a:rPr lang="ru-RU" dirty="0">
                <a:hlinkClick r:id="rId4" tooltip="Светлинен поток"/>
              </a:rPr>
              <a:t> поток</a:t>
            </a:r>
            <a:r>
              <a:rPr lang="ru-RU" dirty="0"/>
              <a:t>, </a:t>
            </a:r>
            <a:r>
              <a:rPr lang="ru-RU" dirty="0" err="1"/>
              <a:t>излъчван</a:t>
            </a:r>
            <a:r>
              <a:rPr lang="ru-RU" dirty="0"/>
              <a:t> от </a:t>
            </a:r>
            <a:r>
              <a:rPr lang="ru-RU" dirty="0" err="1"/>
              <a:t>точковиден</a:t>
            </a:r>
            <a:r>
              <a:rPr lang="ru-RU" dirty="0"/>
              <a:t> </a:t>
            </a:r>
            <a:r>
              <a:rPr lang="ru-RU" dirty="0" err="1"/>
              <a:t>източник</a:t>
            </a:r>
            <a:r>
              <a:rPr lang="ru-RU" dirty="0"/>
              <a:t> в </a:t>
            </a:r>
            <a:r>
              <a:rPr lang="ru-RU" dirty="0" err="1"/>
              <a:t>пространствен</a:t>
            </a:r>
            <a:r>
              <a:rPr lang="ru-RU" dirty="0"/>
              <a:t> </a:t>
            </a:r>
            <a:r>
              <a:rPr lang="ru-RU" dirty="0" err="1"/>
              <a:t>ъгъл</a:t>
            </a:r>
            <a:r>
              <a:rPr lang="ru-RU" dirty="0"/>
              <a:t> 1 </a:t>
            </a:r>
            <a:r>
              <a:rPr lang="ru-RU" dirty="0">
                <a:hlinkClick r:id="rId5" tooltip="Стерадиан"/>
              </a:rPr>
              <a:t>стерадиан</a:t>
            </a:r>
            <a:r>
              <a:rPr lang="ru-RU" dirty="0"/>
              <a:t> при </a:t>
            </a:r>
            <a:r>
              <a:rPr lang="ru-RU" dirty="0" err="1"/>
              <a:t>интензитет</a:t>
            </a:r>
            <a:r>
              <a:rPr lang="ru-RU" dirty="0"/>
              <a:t> на </a:t>
            </a:r>
            <a:r>
              <a:rPr lang="ru-RU" dirty="0" err="1"/>
              <a:t>светлината</a:t>
            </a:r>
            <a:r>
              <a:rPr lang="ru-RU" dirty="0"/>
              <a:t> 1 </a:t>
            </a:r>
            <a:r>
              <a:rPr lang="ru-RU" dirty="0">
                <a:hlinkClick r:id="rId6" tooltip="Кандела"/>
              </a:rPr>
              <a:t>кандела</a:t>
            </a:r>
            <a:r>
              <a:rPr lang="ru-RU" dirty="0"/>
              <a:t>. </a:t>
            </a:r>
            <a:endParaRPr lang="en-US" dirty="0"/>
          </a:p>
          <a:p>
            <a:r>
              <a:rPr lang="ru-RU" b="1" dirty="0" err="1"/>
              <a:t>Светлинен</a:t>
            </a:r>
            <a:r>
              <a:rPr lang="ru-RU" b="1" dirty="0"/>
              <a:t> поток</a:t>
            </a:r>
            <a:r>
              <a:rPr lang="ru-RU" dirty="0"/>
              <a:t> е </a:t>
            </a:r>
            <a:r>
              <a:rPr lang="ru-RU" dirty="0" err="1"/>
              <a:t>светлинната</a:t>
            </a:r>
            <a:r>
              <a:rPr lang="ru-RU" dirty="0"/>
              <a:t> </a:t>
            </a:r>
            <a:r>
              <a:rPr lang="ru-RU" dirty="0" err="1"/>
              <a:t>мощност</a:t>
            </a:r>
            <a:r>
              <a:rPr lang="ru-RU" dirty="0"/>
              <a:t>, т.е. </a:t>
            </a:r>
            <a:r>
              <a:rPr lang="ru-RU" dirty="0" err="1"/>
              <a:t>количеството</a:t>
            </a:r>
            <a:r>
              <a:rPr lang="ru-RU" dirty="0"/>
              <a:t> светлина, </a:t>
            </a:r>
            <a:r>
              <a:rPr lang="ru-RU" dirty="0" err="1"/>
              <a:t>излъчвана</a:t>
            </a:r>
            <a:r>
              <a:rPr lang="ru-RU" dirty="0"/>
              <a:t> от </a:t>
            </a:r>
            <a:r>
              <a:rPr lang="ru-RU" dirty="0" err="1"/>
              <a:t>точков</a:t>
            </a:r>
            <a:r>
              <a:rPr lang="ru-RU" dirty="0"/>
              <a:t> </a:t>
            </a:r>
            <a:r>
              <a:rPr lang="ru-RU" dirty="0" err="1"/>
              <a:t>източник</a:t>
            </a:r>
            <a:r>
              <a:rPr lang="ru-RU" dirty="0"/>
              <a:t> на светлина за единица </a:t>
            </a:r>
            <a:r>
              <a:rPr lang="ru-RU" dirty="0" err="1"/>
              <a:t>време</a:t>
            </a:r>
            <a:r>
              <a:rPr lang="ru-RU" dirty="0"/>
              <a:t> в </a:t>
            </a:r>
            <a:r>
              <a:rPr lang="ru-RU" dirty="0" err="1"/>
              <a:t>околното</a:t>
            </a:r>
            <a:r>
              <a:rPr lang="ru-RU" dirty="0"/>
              <a:t> пространство и </a:t>
            </a:r>
            <a:r>
              <a:rPr lang="ru-RU" dirty="0" err="1"/>
              <a:t>измервано</a:t>
            </a:r>
            <a:r>
              <a:rPr lang="ru-RU" dirty="0"/>
              <a:t> в един </a:t>
            </a:r>
            <a:r>
              <a:rPr lang="ru-RU" dirty="0" err="1"/>
              <a:t>пространствен</a:t>
            </a:r>
            <a:r>
              <a:rPr lang="ru-RU" dirty="0"/>
              <a:t> </a:t>
            </a:r>
            <a:r>
              <a:rPr lang="ru-RU" dirty="0" err="1"/>
              <a:t>ъгъл</a:t>
            </a:r>
            <a:r>
              <a:rPr lang="ru-RU" dirty="0"/>
              <a:t> от един </a:t>
            </a:r>
            <a:r>
              <a:rPr lang="ru-RU" dirty="0">
                <a:hlinkClick r:id="rId5" tooltip="Стерадиан"/>
              </a:rPr>
              <a:t>стерадиан</a:t>
            </a:r>
            <a:r>
              <a:rPr lang="ru-RU" dirty="0"/>
              <a:t>. </a:t>
            </a:r>
            <a:r>
              <a:rPr lang="ru-RU" dirty="0" err="1"/>
              <a:t>Интензитетът</a:t>
            </a:r>
            <a:r>
              <a:rPr lang="ru-RU" dirty="0"/>
              <a:t> на </a:t>
            </a:r>
            <a:r>
              <a:rPr lang="ru-RU" dirty="0" err="1"/>
              <a:t>светлината</a:t>
            </a:r>
            <a:r>
              <a:rPr lang="ru-RU" dirty="0"/>
              <a:t> се мери в </a:t>
            </a:r>
            <a:r>
              <a:rPr lang="ru-RU" dirty="0" err="1">
                <a:hlinkClick r:id="rId6" tooltip="Кандела"/>
              </a:rPr>
              <a:t>кандели</a:t>
            </a:r>
            <a:r>
              <a:rPr lang="ru-RU" dirty="0"/>
              <a:t> (</a:t>
            </a:r>
            <a:r>
              <a:rPr lang="ru-RU" dirty="0" err="1"/>
              <a:t>cd</a:t>
            </a:r>
            <a:r>
              <a:rPr lang="ru-RU" dirty="0"/>
              <a:t>), </a:t>
            </a:r>
            <a:r>
              <a:rPr lang="ru-RU" dirty="0" err="1"/>
              <a:t>светлинният</a:t>
            </a:r>
            <a:r>
              <a:rPr lang="ru-RU" dirty="0"/>
              <a:t> поток – в </a:t>
            </a:r>
            <a:r>
              <a:rPr lang="ru-RU" dirty="0" err="1">
                <a:hlinkClick r:id="rId7" tooltip="Лумен"/>
              </a:rPr>
              <a:t>лумени</a:t>
            </a:r>
            <a:r>
              <a:rPr lang="ru-RU" dirty="0"/>
              <a:t> (</a:t>
            </a:r>
            <a:r>
              <a:rPr lang="ru-RU" dirty="0" err="1"/>
              <a:t>lm</a:t>
            </a:r>
            <a:r>
              <a:rPr lang="ru-RU" dirty="0"/>
              <a:t>), а </a:t>
            </a:r>
            <a:r>
              <a:rPr lang="ru-RU" dirty="0" err="1"/>
              <a:t>осветеността</a:t>
            </a:r>
            <a:r>
              <a:rPr lang="ru-RU" dirty="0"/>
              <a:t> – в </a:t>
            </a:r>
            <a:r>
              <a:rPr lang="ru-RU" dirty="0" err="1">
                <a:hlinkClick r:id="rId8" tooltip="Лукс"/>
              </a:rPr>
              <a:t>луксове</a:t>
            </a:r>
            <a:r>
              <a:rPr lang="ru-RU" dirty="0"/>
              <a:t> (</a:t>
            </a:r>
            <a:r>
              <a:rPr lang="ru-RU" dirty="0" err="1"/>
              <a:t>lx</a:t>
            </a:r>
            <a:r>
              <a:rPr lang="ru-RU" dirty="0"/>
              <a:t>).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69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color rendering index</a:t>
            </a:r>
            <a:r>
              <a:rPr lang="en-US" dirty="0"/>
              <a:t> (</a:t>
            </a:r>
            <a:r>
              <a:rPr lang="en-US" b="1" dirty="0"/>
              <a:t>CRI</a:t>
            </a:r>
            <a:r>
              <a:rPr lang="en-US" dirty="0"/>
              <a:t>) is a quantitative measure of the ability of a </a:t>
            </a:r>
            <a:r>
              <a:rPr lang="en-US" dirty="0">
                <a:hlinkClick r:id="rId3" tooltip="Light source"/>
              </a:rPr>
              <a:t>light source</a:t>
            </a:r>
            <a:r>
              <a:rPr lang="en-US" dirty="0"/>
              <a:t> to reveal the </a:t>
            </a:r>
            <a:r>
              <a:rPr lang="en-US" dirty="0">
                <a:hlinkClick r:id="rId4" tooltip="Color"/>
              </a:rPr>
              <a:t>colors</a:t>
            </a:r>
            <a:r>
              <a:rPr lang="en-US" dirty="0"/>
              <a:t> of various objects faithfully in comparison with a natural or standard light source.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09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NF2E757HT-F1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88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91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02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11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66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39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30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03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F8d72mA41M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LE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YcLFHgVCn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yoTALRhAqWc&amp;t=0s" TargetMode="External"/><Relationship Id="rId5" Type="http://schemas.openxmlformats.org/officeDocument/2006/relationships/hyperlink" Target="https://www.youtube.com/watch?v=AF8d72mA41M" TargetMode="External"/><Relationship Id="rId4" Type="http://schemas.openxmlformats.org/officeDocument/2006/relationships/hyperlink" Target="https://www.youtube.com/watch?v=O8M2z2hIba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blue leds&#10;&#10;Description automatically generated">
            <a:extLst>
              <a:ext uri="{FF2B5EF4-FFF2-40B4-BE49-F238E27FC236}">
                <a16:creationId xmlns:a16="http://schemas.microsoft.com/office/drawing/2014/main" id="{53A7048C-2BBF-D02A-E9FE-B4AB75C8B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29705" y="116632"/>
            <a:ext cx="58801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9pPr>
          </a:lstStyle>
          <a:p>
            <a:pPr>
              <a:defRPr/>
            </a:pPr>
            <a:r>
              <a:rPr lang="bg-BG" b="0" i="0" kern="0" dirty="0" err="1">
                <a:solidFill>
                  <a:srgbClr val="E1F8FB"/>
                </a:solidFill>
                <a:effectLst/>
              </a:rPr>
              <a:t>Светодиоди</a:t>
            </a:r>
            <a:endParaRPr lang="en-US" b="0" i="0" kern="0" dirty="0">
              <a:solidFill>
                <a:srgbClr val="E1F8FB"/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35672" y="19148"/>
            <a:ext cx="7772400" cy="909756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b="1" kern="0" dirty="0">
                <a:solidFill>
                  <a:schemeClr val="tx1"/>
                </a:solidFill>
                <a:latin typeface="Arial Narrow" pitchFamily="34" charset="0"/>
              </a:rPr>
              <a:t>Светодиод </a:t>
            </a:r>
          </a:p>
          <a:p>
            <a:pPr>
              <a:defRPr/>
            </a:pPr>
            <a:r>
              <a:rPr lang="en-US" sz="2400" b="1" kern="0" dirty="0">
                <a:solidFill>
                  <a:schemeClr val="tx1"/>
                </a:solidFill>
                <a:latin typeface="Arial Narrow" pitchFamily="34" charset="0"/>
              </a:rPr>
              <a:t>Light-emitting diode</a:t>
            </a:r>
            <a:r>
              <a:rPr lang="bg-BG" sz="2400" b="1" kern="0" dirty="0">
                <a:solidFill>
                  <a:schemeClr val="tx1"/>
                </a:solidFill>
                <a:latin typeface="Arial Narrow" pitchFamily="34" charset="0"/>
              </a:rPr>
              <a:t> - </a:t>
            </a:r>
            <a:r>
              <a:rPr lang="en-US" sz="2400" b="1" kern="0" dirty="0">
                <a:solidFill>
                  <a:schemeClr val="tx1"/>
                </a:solidFill>
                <a:latin typeface="Arial Narrow" pitchFamily="34" charset="0"/>
              </a:rPr>
              <a:t>LED</a:t>
            </a:r>
            <a:endParaRPr lang="bg-BG" sz="2400" b="1" kern="0" dirty="0">
              <a:solidFill>
                <a:schemeClr val="tx1"/>
              </a:solidFill>
              <a:latin typeface="Arial Narrow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8904312" y="3573016"/>
            <a:ext cx="928802" cy="1821317"/>
            <a:chOff x="4281714" y="377371"/>
            <a:chExt cx="928802" cy="1821317"/>
          </a:xfrm>
        </p:grpSpPr>
        <p:grpSp>
          <p:nvGrpSpPr>
            <p:cNvPr id="21" name="Group 20"/>
            <p:cNvGrpSpPr/>
            <p:nvPr/>
          </p:nvGrpSpPr>
          <p:grpSpPr>
            <a:xfrm>
              <a:off x="4281714" y="566057"/>
              <a:ext cx="928802" cy="1632631"/>
              <a:chOff x="4281714" y="566057"/>
              <a:chExt cx="928802" cy="1632631"/>
            </a:xfrm>
          </p:grpSpPr>
          <p:cxnSp>
            <p:nvCxnSpPr>
              <p:cNvPr id="24" name="Straight Connector 23"/>
              <p:cNvCxnSpPr/>
              <p:nvPr/>
            </p:nvCxnSpPr>
            <p:spPr bwMode="auto">
              <a:xfrm>
                <a:off x="4532029" y="566057"/>
                <a:ext cx="0" cy="1632631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25" name="Isosceles Triangle 24"/>
              <p:cNvSpPr/>
              <p:nvPr/>
            </p:nvSpPr>
            <p:spPr bwMode="auto">
              <a:xfrm>
                <a:off x="4281714" y="1136650"/>
                <a:ext cx="500630" cy="481013"/>
              </a:xfrm>
              <a:prstGeom prst="triangl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 sz="2400" i="1">
                  <a:solidFill>
                    <a:schemeClr val="tx1"/>
                  </a:solidFill>
                  <a:latin typeface="Arial" charset="0"/>
                </a:endParaRPr>
              </a:p>
            </p:txBody>
          </p:sp>
          <p:cxnSp>
            <p:nvCxnSpPr>
              <p:cNvPr id="26" name="Straight Connector 25"/>
              <p:cNvCxnSpPr/>
              <p:nvPr/>
            </p:nvCxnSpPr>
            <p:spPr bwMode="auto">
              <a:xfrm>
                <a:off x="4281714" y="1136650"/>
                <a:ext cx="500630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 bwMode="auto">
              <a:xfrm flipV="1">
                <a:off x="4793173" y="1021613"/>
                <a:ext cx="384742" cy="240506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 bwMode="auto">
              <a:xfrm flipV="1">
                <a:off x="4825774" y="1147082"/>
                <a:ext cx="384742" cy="240506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>
              <a:off x="4614100" y="377371"/>
              <a:ext cx="3581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1600" dirty="0"/>
                <a:t>К</a:t>
              </a:r>
              <a:endParaRPr lang="en-US" sz="16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46701" y="1860134"/>
              <a:ext cx="3581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1600" dirty="0"/>
                <a:t>А</a:t>
              </a:r>
              <a:endParaRPr lang="en-US" sz="1600" dirty="0"/>
            </a:p>
          </p:txBody>
        </p:sp>
      </p:grpSp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335360" y="1721325"/>
            <a:ext cx="928366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Светодиодите са елементи, които преобразуват електрическата енергия в светлина. Те имат един </a:t>
            </a:r>
            <a:r>
              <a:rPr lang="en-US" sz="1800" dirty="0"/>
              <a:t>PN</a:t>
            </a:r>
            <a:r>
              <a:rPr lang="en-US" sz="1800" i="0" dirty="0"/>
              <a:t> </a:t>
            </a:r>
            <a:r>
              <a:rPr lang="bg-BG" sz="1800" i="0" dirty="0"/>
              <a:t>преход.</a:t>
            </a:r>
            <a:endParaRPr lang="en-US" sz="1800" i="0" dirty="0"/>
          </a:p>
        </p:txBody>
      </p:sp>
      <p:grpSp>
        <p:nvGrpSpPr>
          <p:cNvPr id="30" name="Group 27"/>
          <p:cNvGrpSpPr>
            <a:grpSpLocks/>
          </p:cNvGrpSpPr>
          <p:nvPr/>
        </p:nvGrpSpPr>
        <p:grpSpPr bwMode="auto">
          <a:xfrm>
            <a:off x="1641782" y="2884786"/>
            <a:ext cx="6620108" cy="2707037"/>
            <a:chOff x="-223" y="1200"/>
            <a:chExt cx="5791" cy="2832"/>
          </a:xfrm>
        </p:grpSpPr>
        <p:sp>
          <p:nvSpPr>
            <p:cNvPr id="31" name="Rectangle 4" descr="Wide downward diagonal"/>
            <p:cNvSpPr>
              <a:spLocks noChangeArrowheads="1"/>
            </p:cNvSpPr>
            <p:nvPr/>
          </p:nvSpPr>
          <p:spPr bwMode="auto">
            <a:xfrm>
              <a:off x="3696" y="1680"/>
              <a:ext cx="1344" cy="384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rgbClr val="777777"/>
              </a:bgClr>
            </a:patt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Rectangle 5" descr="Wide downward diagonal"/>
            <p:cNvSpPr>
              <a:spLocks noChangeArrowheads="1"/>
            </p:cNvSpPr>
            <p:nvPr/>
          </p:nvSpPr>
          <p:spPr bwMode="auto">
            <a:xfrm>
              <a:off x="1200" y="1680"/>
              <a:ext cx="1296" cy="384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rgbClr val="777777"/>
              </a:bgClr>
            </a:patt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Rectangle 6"/>
            <p:cNvSpPr>
              <a:spLocks noChangeArrowheads="1"/>
            </p:cNvSpPr>
            <p:nvPr/>
          </p:nvSpPr>
          <p:spPr bwMode="auto">
            <a:xfrm>
              <a:off x="1200" y="2064"/>
              <a:ext cx="3840" cy="912"/>
            </a:xfrm>
            <a:prstGeom prst="rect">
              <a:avLst/>
            </a:prstGeom>
            <a:solidFill>
              <a:srgbClr val="0000D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7" descr="Large confetti"/>
            <p:cNvSpPr>
              <a:spLocks noChangeArrowheads="1"/>
            </p:cNvSpPr>
            <p:nvPr/>
          </p:nvSpPr>
          <p:spPr bwMode="auto">
            <a:xfrm>
              <a:off x="1200" y="1872"/>
              <a:ext cx="1056" cy="192"/>
            </a:xfrm>
            <a:prstGeom prst="rect">
              <a:avLst/>
            </a:prstGeom>
            <a:pattFill prst="lgConfetti">
              <a:fgClr>
                <a:schemeClr val="tx1"/>
              </a:fgClr>
              <a:bgClr>
                <a:srgbClr val="CCFF33"/>
              </a:bgClr>
            </a:patt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8" descr="Large confetti"/>
            <p:cNvSpPr>
              <a:spLocks noChangeArrowheads="1"/>
            </p:cNvSpPr>
            <p:nvPr/>
          </p:nvSpPr>
          <p:spPr bwMode="auto">
            <a:xfrm>
              <a:off x="3936" y="1872"/>
              <a:ext cx="1104" cy="192"/>
            </a:xfrm>
            <a:prstGeom prst="rect">
              <a:avLst/>
            </a:prstGeom>
            <a:pattFill prst="lgConfetti">
              <a:fgClr>
                <a:schemeClr val="tx1"/>
              </a:fgClr>
              <a:bgClr>
                <a:srgbClr val="CCFF33"/>
              </a:bgClr>
            </a:patt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Freeform 9"/>
            <p:cNvSpPr>
              <a:spLocks/>
            </p:cNvSpPr>
            <p:nvPr/>
          </p:nvSpPr>
          <p:spPr bwMode="auto">
            <a:xfrm rot="1598839">
              <a:off x="2640" y="2352"/>
              <a:ext cx="200" cy="640"/>
            </a:xfrm>
            <a:custGeom>
              <a:avLst/>
              <a:gdLst>
                <a:gd name="T0" fmla="*/ 144 w 200"/>
                <a:gd name="T1" fmla="*/ 16 h 640"/>
                <a:gd name="T2" fmla="*/ 0 w 200"/>
                <a:gd name="T3" fmla="*/ 16 h 640"/>
                <a:gd name="T4" fmla="*/ 144 w 200"/>
                <a:gd name="T5" fmla="*/ 112 h 640"/>
                <a:gd name="T6" fmla="*/ 0 w 200"/>
                <a:gd name="T7" fmla="*/ 160 h 640"/>
                <a:gd name="T8" fmla="*/ 144 w 200"/>
                <a:gd name="T9" fmla="*/ 208 h 640"/>
                <a:gd name="T10" fmla="*/ 48 w 200"/>
                <a:gd name="T11" fmla="*/ 304 h 640"/>
                <a:gd name="T12" fmla="*/ 192 w 200"/>
                <a:gd name="T13" fmla="*/ 352 h 640"/>
                <a:gd name="T14" fmla="*/ 48 w 200"/>
                <a:gd name="T15" fmla="*/ 400 h 640"/>
                <a:gd name="T16" fmla="*/ 192 w 200"/>
                <a:gd name="T17" fmla="*/ 448 h 640"/>
                <a:gd name="T18" fmla="*/ 96 w 200"/>
                <a:gd name="T19" fmla="*/ 496 h 640"/>
                <a:gd name="T20" fmla="*/ 96 w 200"/>
                <a:gd name="T21" fmla="*/ 640 h 6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0"/>
                <a:gd name="T34" fmla="*/ 0 h 640"/>
                <a:gd name="T35" fmla="*/ 200 w 200"/>
                <a:gd name="T36" fmla="*/ 640 h 6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0" h="640">
                  <a:moveTo>
                    <a:pt x="144" y="16"/>
                  </a:moveTo>
                  <a:cubicBezTo>
                    <a:pt x="72" y="8"/>
                    <a:pt x="0" y="0"/>
                    <a:pt x="0" y="16"/>
                  </a:cubicBezTo>
                  <a:cubicBezTo>
                    <a:pt x="0" y="32"/>
                    <a:pt x="144" y="88"/>
                    <a:pt x="144" y="112"/>
                  </a:cubicBezTo>
                  <a:cubicBezTo>
                    <a:pt x="144" y="136"/>
                    <a:pt x="0" y="144"/>
                    <a:pt x="0" y="160"/>
                  </a:cubicBezTo>
                  <a:cubicBezTo>
                    <a:pt x="0" y="176"/>
                    <a:pt x="136" y="184"/>
                    <a:pt x="144" y="208"/>
                  </a:cubicBezTo>
                  <a:cubicBezTo>
                    <a:pt x="152" y="232"/>
                    <a:pt x="40" y="280"/>
                    <a:pt x="48" y="304"/>
                  </a:cubicBezTo>
                  <a:cubicBezTo>
                    <a:pt x="56" y="328"/>
                    <a:pt x="192" y="336"/>
                    <a:pt x="192" y="352"/>
                  </a:cubicBezTo>
                  <a:cubicBezTo>
                    <a:pt x="192" y="368"/>
                    <a:pt x="48" y="384"/>
                    <a:pt x="48" y="400"/>
                  </a:cubicBezTo>
                  <a:cubicBezTo>
                    <a:pt x="48" y="416"/>
                    <a:pt x="184" y="432"/>
                    <a:pt x="192" y="448"/>
                  </a:cubicBezTo>
                  <a:cubicBezTo>
                    <a:pt x="200" y="464"/>
                    <a:pt x="112" y="464"/>
                    <a:pt x="96" y="496"/>
                  </a:cubicBezTo>
                  <a:cubicBezTo>
                    <a:pt x="80" y="528"/>
                    <a:pt x="88" y="584"/>
                    <a:pt x="96" y="64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10"/>
            <p:cNvSpPr>
              <a:spLocks/>
            </p:cNvSpPr>
            <p:nvPr/>
          </p:nvSpPr>
          <p:spPr bwMode="auto">
            <a:xfrm rot="-2321642">
              <a:off x="3408" y="2304"/>
              <a:ext cx="200" cy="640"/>
            </a:xfrm>
            <a:custGeom>
              <a:avLst/>
              <a:gdLst>
                <a:gd name="T0" fmla="*/ 144 w 200"/>
                <a:gd name="T1" fmla="*/ 16 h 640"/>
                <a:gd name="T2" fmla="*/ 0 w 200"/>
                <a:gd name="T3" fmla="*/ 16 h 640"/>
                <a:gd name="T4" fmla="*/ 144 w 200"/>
                <a:gd name="T5" fmla="*/ 112 h 640"/>
                <a:gd name="T6" fmla="*/ 0 w 200"/>
                <a:gd name="T7" fmla="*/ 160 h 640"/>
                <a:gd name="T8" fmla="*/ 144 w 200"/>
                <a:gd name="T9" fmla="*/ 208 h 640"/>
                <a:gd name="T10" fmla="*/ 48 w 200"/>
                <a:gd name="T11" fmla="*/ 304 h 640"/>
                <a:gd name="T12" fmla="*/ 192 w 200"/>
                <a:gd name="T13" fmla="*/ 352 h 640"/>
                <a:gd name="T14" fmla="*/ 48 w 200"/>
                <a:gd name="T15" fmla="*/ 400 h 640"/>
                <a:gd name="T16" fmla="*/ 192 w 200"/>
                <a:gd name="T17" fmla="*/ 448 h 640"/>
                <a:gd name="T18" fmla="*/ 96 w 200"/>
                <a:gd name="T19" fmla="*/ 496 h 640"/>
                <a:gd name="T20" fmla="*/ 96 w 200"/>
                <a:gd name="T21" fmla="*/ 640 h 6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0"/>
                <a:gd name="T34" fmla="*/ 0 h 640"/>
                <a:gd name="T35" fmla="*/ 200 w 200"/>
                <a:gd name="T36" fmla="*/ 640 h 6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0" h="640">
                  <a:moveTo>
                    <a:pt x="144" y="16"/>
                  </a:moveTo>
                  <a:cubicBezTo>
                    <a:pt x="72" y="8"/>
                    <a:pt x="0" y="0"/>
                    <a:pt x="0" y="16"/>
                  </a:cubicBezTo>
                  <a:cubicBezTo>
                    <a:pt x="0" y="32"/>
                    <a:pt x="144" y="88"/>
                    <a:pt x="144" y="112"/>
                  </a:cubicBezTo>
                  <a:cubicBezTo>
                    <a:pt x="144" y="136"/>
                    <a:pt x="0" y="144"/>
                    <a:pt x="0" y="160"/>
                  </a:cubicBezTo>
                  <a:cubicBezTo>
                    <a:pt x="0" y="176"/>
                    <a:pt x="136" y="184"/>
                    <a:pt x="144" y="208"/>
                  </a:cubicBezTo>
                  <a:cubicBezTo>
                    <a:pt x="152" y="232"/>
                    <a:pt x="40" y="280"/>
                    <a:pt x="48" y="304"/>
                  </a:cubicBezTo>
                  <a:cubicBezTo>
                    <a:pt x="56" y="328"/>
                    <a:pt x="192" y="336"/>
                    <a:pt x="192" y="352"/>
                  </a:cubicBezTo>
                  <a:cubicBezTo>
                    <a:pt x="192" y="368"/>
                    <a:pt x="48" y="384"/>
                    <a:pt x="48" y="400"/>
                  </a:cubicBezTo>
                  <a:cubicBezTo>
                    <a:pt x="48" y="416"/>
                    <a:pt x="184" y="432"/>
                    <a:pt x="192" y="448"/>
                  </a:cubicBezTo>
                  <a:cubicBezTo>
                    <a:pt x="200" y="464"/>
                    <a:pt x="112" y="464"/>
                    <a:pt x="96" y="496"/>
                  </a:cubicBezTo>
                  <a:cubicBezTo>
                    <a:pt x="80" y="528"/>
                    <a:pt x="88" y="584"/>
                    <a:pt x="96" y="64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11"/>
            <p:cNvSpPr>
              <a:spLocks noChangeArrowheads="1"/>
            </p:cNvSpPr>
            <p:nvPr/>
          </p:nvSpPr>
          <p:spPr bwMode="auto">
            <a:xfrm>
              <a:off x="1200" y="2976"/>
              <a:ext cx="3840" cy="9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2255" y="3216"/>
              <a:ext cx="1681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bg-BG" sz="1600" i="0" dirty="0">
                  <a:solidFill>
                    <a:srgbClr val="000000"/>
                  </a:solidFill>
                  <a:latin typeface="Tahoma" pitchFamily="34" charset="0"/>
                </a:rPr>
                <a:t>Подложка</a:t>
              </a:r>
              <a:endParaRPr lang="en-US" sz="1600" i="0" dirty="0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40" name="Text Box 13"/>
            <p:cNvSpPr txBox="1">
              <a:spLocks noChangeArrowheads="1"/>
            </p:cNvSpPr>
            <p:nvPr/>
          </p:nvSpPr>
          <p:spPr bwMode="auto">
            <a:xfrm>
              <a:off x="2400" y="2544"/>
              <a:ext cx="1680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b="1" i="0" dirty="0">
                  <a:solidFill>
                    <a:srgbClr val="000000"/>
                  </a:solidFill>
                  <a:latin typeface="Tahoma" pitchFamily="34" charset="0"/>
                </a:rPr>
                <a:t>	 n</a:t>
              </a:r>
            </a:p>
          </p:txBody>
        </p:sp>
        <p:sp>
          <p:nvSpPr>
            <p:cNvPr id="41" name="AutoShape 14"/>
            <p:cNvSpPr>
              <a:spLocks/>
            </p:cNvSpPr>
            <p:nvPr/>
          </p:nvSpPr>
          <p:spPr bwMode="auto">
            <a:xfrm rot="5400000">
              <a:off x="2928" y="1488"/>
              <a:ext cx="336" cy="1488"/>
            </a:xfrm>
            <a:prstGeom prst="rightBracket">
              <a:avLst>
                <a:gd name="adj" fmla="val 36905"/>
              </a:avLst>
            </a:prstGeom>
            <a:solidFill>
              <a:srgbClr val="FF3300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15"/>
            <p:cNvSpPr>
              <a:spLocks/>
            </p:cNvSpPr>
            <p:nvPr/>
          </p:nvSpPr>
          <p:spPr bwMode="auto">
            <a:xfrm rot="9676274">
              <a:off x="2665" y="1493"/>
              <a:ext cx="192" cy="784"/>
            </a:xfrm>
            <a:custGeom>
              <a:avLst/>
              <a:gdLst>
                <a:gd name="T0" fmla="*/ 127 w 200"/>
                <a:gd name="T1" fmla="*/ 31 h 640"/>
                <a:gd name="T2" fmla="*/ 0 w 200"/>
                <a:gd name="T3" fmla="*/ 31 h 640"/>
                <a:gd name="T4" fmla="*/ 127 w 200"/>
                <a:gd name="T5" fmla="*/ 206 h 640"/>
                <a:gd name="T6" fmla="*/ 0 w 200"/>
                <a:gd name="T7" fmla="*/ 294 h 640"/>
                <a:gd name="T8" fmla="*/ 127 w 200"/>
                <a:gd name="T9" fmla="*/ 382 h 640"/>
                <a:gd name="T10" fmla="*/ 42 w 200"/>
                <a:gd name="T11" fmla="*/ 559 h 640"/>
                <a:gd name="T12" fmla="*/ 170 w 200"/>
                <a:gd name="T13" fmla="*/ 647 h 640"/>
                <a:gd name="T14" fmla="*/ 42 w 200"/>
                <a:gd name="T15" fmla="*/ 735 h 640"/>
                <a:gd name="T16" fmla="*/ 170 w 200"/>
                <a:gd name="T17" fmla="*/ 824 h 640"/>
                <a:gd name="T18" fmla="*/ 84 w 200"/>
                <a:gd name="T19" fmla="*/ 913 h 640"/>
                <a:gd name="T20" fmla="*/ 84 w 200"/>
                <a:gd name="T21" fmla="*/ 1176 h 6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0"/>
                <a:gd name="T34" fmla="*/ 0 h 640"/>
                <a:gd name="T35" fmla="*/ 200 w 200"/>
                <a:gd name="T36" fmla="*/ 640 h 6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0" h="640">
                  <a:moveTo>
                    <a:pt x="144" y="16"/>
                  </a:moveTo>
                  <a:cubicBezTo>
                    <a:pt x="72" y="8"/>
                    <a:pt x="0" y="0"/>
                    <a:pt x="0" y="16"/>
                  </a:cubicBezTo>
                  <a:cubicBezTo>
                    <a:pt x="0" y="32"/>
                    <a:pt x="144" y="88"/>
                    <a:pt x="144" y="112"/>
                  </a:cubicBezTo>
                  <a:cubicBezTo>
                    <a:pt x="144" y="136"/>
                    <a:pt x="0" y="144"/>
                    <a:pt x="0" y="160"/>
                  </a:cubicBezTo>
                  <a:cubicBezTo>
                    <a:pt x="0" y="176"/>
                    <a:pt x="136" y="184"/>
                    <a:pt x="144" y="208"/>
                  </a:cubicBezTo>
                  <a:cubicBezTo>
                    <a:pt x="152" y="232"/>
                    <a:pt x="40" y="280"/>
                    <a:pt x="48" y="304"/>
                  </a:cubicBezTo>
                  <a:cubicBezTo>
                    <a:pt x="56" y="328"/>
                    <a:pt x="192" y="336"/>
                    <a:pt x="192" y="352"/>
                  </a:cubicBezTo>
                  <a:cubicBezTo>
                    <a:pt x="192" y="368"/>
                    <a:pt x="48" y="384"/>
                    <a:pt x="48" y="400"/>
                  </a:cubicBezTo>
                  <a:cubicBezTo>
                    <a:pt x="48" y="416"/>
                    <a:pt x="184" y="432"/>
                    <a:pt x="192" y="448"/>
                  </a:cubicBezTo>
                  <a:cubicBezTo>
                    <a:pt x="200" y="464"/>
                    <a:pt x="112" y="464"/>
                    <a:pt x="96" y="496"/>
                  </a:cubicBezTo>
                  <a:cubicBezTo>
                    <a:pt x="80" y="528"/>
                    <a:pt x="88" y="584"/>
                    <a:pt x="96" y="64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6"/>
            <p:cNvSpPr>
              <a:spLocks/>
            </p:cNvSpPr>
            <p:nvPr/>
          </p:nvSpPr>
          <p:spPr bwMode="auto">
            <a:xfrm rot="-10092647">
              <a:off x="3379" y="1441"/>
              <a:ext cx="192" cy="832"/>
            </a:xfrm>
            <a:custGeom>
              <a:avLst/>
              <a:gdLst>
                <a:gd name="T0" fmla="*/ 127 w 200"/>
                <a:gd name="T1" fmla="*/ 35 h 640"/>
                <a:gd name="T2" fmla="*/ 0 w 200"/>
                <a:gd name="T3" fmla="*/ 35 h 640"/>
                <a:gd name="T4" fmla="*/ 127 w 200"/>
                <a:gd name="T5" fmla="*/ 247 h 640"/>
                <a:gd name="T6" fmla="*/ 0 w 200"/>
                <a:gd name="T7" fmla="*/ 351 h 640"/>
                <a:gd name="T8" fmla="*/ 127 w 200"/>
                <a:gd name="T9" fmla="*/ 456 h 640"/>
                <a:gd name="T10" fmla="*/ 42 w 200"/>
                <a:gd name="T11" fmla="*/ 668 h 640"/>
                <a:gd name="T12" fmla="*/ 170 w 200"/>
                <a:gd name="T13" fmla="*/ 774 h 640"/>
                <a:gd name="T14" fmla="*/ 42 w 200"/>
                <a:gd name="T15" fmla="*/ 879 h 640"/>
                <a:gd name="T16" fmla="*/ 170 w 200"/>
                <a:gd name="T17" fmla="*/ 984 h 640"/>
                <a:gd name="T18" fmla="*/ 84 w 200"/>
                <a:gd name="T19" fmla="*/ 1091 h 640"/>
                <a:gd name="T20" fmla="*/ 84 w 200"/>
                <a:gd name="T21" fmla="*/ 1407 h 6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0"/>
                <a:gd name="T34" fmla="*/ 0 h 640"/>
                <a:gd name="T35" fmla="*/ 200 w 200"/>
                <a:gd name="T36" fmla="*/ 640 h 6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0" h="640">
                  <a:moveTo>
                    <a:pt x="144" y="16"/>
                  </a:moveTo>
                  <a:cubicBezTo>
                    <a:pt x="72" y="8"/>
                    <a:pt x="0" y="0"/>
                    <a:pt x="0" y="16"/>
                  </a:cubicBezTo>
                  <a:cubicBezTo>
                    <a:pt x="0" y="32"/>
                    <a:pt x="144" y="88"/>
                    <a:pt x="144" y="112"/>
                  </a:cubicBezTo>
                  <a:cubicBezTo>
                    <a:pt x="144" y="136"/>
                    <a:pt x="0" y="144"/>
                    <a:pt x="0" y="160"/>
                  </a:cubicBezTo>
                  <a:cubicBezTo>
                    <a:pt x="0" y="176"/>
                    <a:pt x="136" y="184"/>
                    <a:pt x="144" y="208"/>
                  </a:cubicBezTo>
                  <a:cubicBezTo>
                    <a:pt x="152" y="232"/>
                    <a:pt x="40" y="280"/>
                    <a:pt x="48" y="304"/>
                  </a:cubicBezTo>
                  <a:cubicBezTo>
                    <a:pt x="56" y="328"/>
                    <a:pt x="192" y="336"/>
                    <a:pt x="192" y="352"/>
                  </a:cubicBezTo>
                  <a:cubicBezTo>
                    <a:pt x="192" y="368"/>
                    <a:pt x="48" y="384"/>
                    <a:pt x="48" y="400"/>
                  </a:cubicBezTo>
                  <a:cubicBezTo>
                    <a:pt x="48" y="416"/>
                    <a:pt x="184" y="432"/>
                    <a:pt x="192" y="448"/>
                  </a:cubicBezTo>
                  <a:cubicBezTo>
                    <a:pt x="200" y="464"/>
                    <a:pt x="112" y="464"/>
                    <a:pt x="96" y="496"/>
                  </a:cubicBezTo>
                  <a:cubicBezTo>
                    <a:pt x="80" y="528"/>
                    <a:pt x="88" y="584"/>
                    <a:pt x="96" y="64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Box 17"/>
            <p:cNvSpPr txBox="1">
              <a:spLocks noChangeArrowheads="1"/>
            </p:cNvSpPr>
            <p:nvPr/>
          </p:nvSpPr>
          <p:spPr bwMode="auto">
            <a:xfrm>
              <a:off x="4847" y="1200"/>
              <a:ext cx="385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i="0">
                  <a:solidFill>
                    <a:srgbClr val="000000"/>
                  </a:solidFill>
                  <a:latin typeface="Tahoma" pitchFamily="34" charset="0"/>
                </a:rPr>
                <a:t>Al</a:t>
              </a:r>
            </a:p>
          </p:txBody>
        </p:sp>
        <p:sp>
          <p:nvSpPr>
            <p:cNvPr id="45" name="Text Box 18"/>
            <p:cNvSpPr txBox="1">
              <a:spLocks noChangeArrowheads="1"/>
            </p:cNvSpPr>
            <p:nvPr/>
          </p:nvSpPr>
          <p:spPr bwMode="auto">
            <a:xfrm>
              <a:off x="5136" y="1488"/>
              <a:ext cx="432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1800" i="0">
                  <a:solidFill>
                    <a:srgbClr val="000000"/>
                  </a:solidFill>
                  <a:latin typeface="Tahoma" pitchFamily="34" charset="0"/>
                </a:rPr>
                <a:t>SiO</a:t>
              </a:r>
              <a:r>
                <a:rPr lang="en-US" sz="1800" i="0" baseline="-25000">
                  <a:solidFill>
                    <a:srgbClr val="000000"/>
                  </a:solidFill>
                  <a:latin typeface="Tahoma" pitchFamily="34" charset="0"/>
                </a:rPr>
                <a:t>2</a:t>
              </a:r>
              <a:endParaRPr lang="en-US" sz="1800" i="0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46" name="Line 19"/>
            <p:cNvSpPr>
              <a:spLocks noChangeShapeType="1"/>
            </p:cNvSpPr>
            <p:nvPr/>
          </p:nvSpPr>
          <p:spPr bwMode="auto">
            <a:xfrm flipH="1">
              <a:off x="4608" y="1440"/>
              <a:ext cx="336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20"/>
            <p:cNvSpPr>
              <a:spLocks noChangeShapeType="1"/>
            </p:cNvSpPr>
            <p:nvPr/>
          </p:nvSpPr>
          <p:spPr bwMode="auto">
            <a:xfrm flipH="1">
              <a:off x="4848" y="1680"/>
              <a:ext cx="432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 21" descr="Wide downward diagonal"/>
            <p:cNvSpPr>
              <a:spLocks noChangeArrowheads="1"/>
            </p:cNvSpPr>
            <p:nvPr/>
          </p:nvSpPr>
          <p:spPr bwMode="auto">
            <a:xfrm>
              <a:off x="1200" y="3792"/>
              <a:ext cx="3840" cy="24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rgbClr val="777777"/>
              </a:bgClr>
            </a:patt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22"/>
            <p:cNvSpPr txBox="1">
              <a:spLocks noChangeArrowheads="1"/>
            </p:cNvSpPr>
            <p:nvPr/>
          </p:nvSpPr>
          <p:spPr bwMode="auto">
            <a:xfrm>
              <a:off x="-223" y="2784"/>
              <a:ext cx="1327" cy="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bg-BG" sz="1600" i="0" dirty="0">
                  <a:solidFill>
                    <a:srgbClr val="000000"/>
                  </a:solidFill>
                </a:rPr>
                <a:t>Електрически контакти</a:t>
              </a:r>
              <a:endParaRPr lang="en-US" sz="1600" i="0" dirty="0">
                <a:solidFill>
                  <a:srgbClr val="000000"/>
                </a:solidFill>
              </a:endParaRPr>
            </a:p>
          </p:txBody>
        </p:sp>
        <p:sp>
          <p:nvSpPr>
            <p:cNvPr id="50" name="Line 23"/>
            <p:cNvSpPr>
              <a:spLocks noChangeShapeType="1"/>
            </p:cNvSpPr>
            <p:nvPr/>
          </p:nvSpPr>
          <p:spPr bwMode="auto">
            <a:xfrm flipV="1">
              <a:off x="672" y="1680"/>
              <a:ext cx="576" cy="115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24"/>
            <p:cNvSpPr>
              <a:spLocks noChangeShapeType="1"/>
            </p:cNvSpPr>
            <p:nvPr/>
          </p:nvSpPr>
          <p:spPr bwMode="auto">
            <a:xfrm>
              <a:off x="672" y="3168"/>
              <a:ext cx="528" cy="67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25"/>
            <p:cNvSpPr>
              <a:spLocks noChangeArrowheads="1"/>
            </p:cNvSpPr>
            <p:nvPr/>
          </p:nvSpPr>
          <p:spPr bwMode="auto">
            <a:xfrm>
              <a:off x="3023" y="2063"/>
              <a:ext cx="289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i="0">
                  <a:solidFill>
                    <a:srgbClr val="000000"/>
                  </a:solidFill>
                  <a:latin typeface="Tahoma" pitchFamily="34" charset="0"/>
                </a:rPr>
                <a:t>p</a:t>
              </a:r>
            </a:p>
          </p:txBody>
        </p:sp>
        <p:sp>
          <p:nvSpPr>
            <p:cNvPr id="53" name="Text Box 26"/>
            <p:cNvSpPr txBox="1">
              <a:spLocks noChangeArrowheads="1"/>
            </p:cNvSpPr>
            <p:nvPr/>
          </p:nvSpPr>
          <p:spPr bwMode="auto">
            <a:xfrm>
              <a:off x="2622" y="1200"/>
              <a:ext cx="1249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bg-BG" sz="1600" i="0" dirty="0">
                  <a:solidFill>
                    <a:schemeClr val="accent2"/>
                  </a:solidFill>
                  <a:latin typeface="Tahoma" pitchFamily="34" charset="0"/>
                </a:rPr>
                <a:t>Светлина</a:t>
              </a:r>
              <a:endParaRPr lang="en-US" sz="1600" i="0" dirty="0">
                <a:solidFill>
                  <a:schemeClr val="accent2"/>
                </a:solidFill>
                <a:latin typeface="Tahoma" pitchFamily="34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4247899" y="5867154"/>
            <a:ext cx="3888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/>
              <a:t>Структура на светодиод</a:t>
            </a:r>
            <a:endParaRPr lang="en-US" sz="1600" dirty="0"/>
          </a:p>
        </p:txBody>
      </p:sp>
      <p:pic>
        <p:nvPicPr>
          <p:cNvPr id="55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9699" y="1978499"/>
            <a:ext cx="439738" cy="128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2870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197100" y="0"/>
            <a:ext cx="8370888" cy="54868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b="1" kern="0" dirty="0">
                <a:solidFill>
                  <a:schemeClr val="tx1"/>
                </a:solidFill>
                <a:latin typeface="Arial Narrow" pitchFamily="34" charset="0"/>
              </a:rPr>
              <a:t>Принцип на действие</a:t>
            </a:r>
            <a:endParaRPr lang="en-US" sz="2400" b="1" kern="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623392" y="4221088"/>
            <a:ext cx="11233248" cy="1938992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600" i="0" dirty="0"/>
              <a:t>Принципът им на действие се основава на процесите на рекомбинация, протичащи в право включен </a:t>
            </a:r>
            <a:r>
              <a:rPr lang="en-US" sz="1600" dirty="0"/>
              <a:t>PN</a:t>
            </a:r>
            <a:r>
              <a:rPr lang="en-US" sz="1600" i="0" dirty="0"/>
              <a:t> </a:t>
            </a:r>
            <a:r>
              <a:rPr lang="bg-BG" sz="1600" i="0" dirty="0"/>
              <a:t>преход</a:t>
            </a:r>
            <a:r>
              <a:rPr lang="en-US" sz="1600" i="0" dirty="0"/>
              <a:t>. </a:t>
            </a:r>
            <a:r>
              <a:rPr lang="ru-RU" sz="1600" i="0" dirty="0"/>
              <a:t>При право </a:t>
            </a:r>
            <a:r>
              <a:rPr lang="ru-RU" sz="1600" i="0" dirty="0" err="1"/>
              <a:t>включване</a:t>
            </a:r>
            <a:r>
              <a:rPr lang="ru-RU" sz="1600" i="0" dirty="0"/>
              <a:t> </a:t>
            </a:r>
            <a:r>
              <a:rPr lang="ru-RU" sz="1600" i="0" dirty="0" err="1"/>
              <a:t>започва</a:t>
            </a:r>
            <a:r>
              <a:rPr lang="ru-RU" sz="1600" i="0" dirty="0"/>
              <a:t> инжекция на </a:t>
            </a:r>
            <a:r>
              <a:rPr lang="ru-RU" sz="1600" i="0" dirty="0" err="1"/>
              <a:t>токоносители</a:t>
            </a:r>
            <a:r>
              <a:rPr lang="ru-RU" sz="1600" i="0" dirty="0"/>
              <a:t>. </a:t>
            </a:r>
          </a:p>
          <a:p>
            <a:pPr>
              <a:spcBef>
                <a:spcPct val="50000"/>
              </a:spcBef>
            </a:pPr>
            <a:r>
              <a:rPr lang="ru-RU" sz="1600" i="0" dirty="0" err="1"/>
              <a:t>Инжектираните</a:t>
            </a:r>
            <a:r>
              <a:rPr lang="ru-RU" sz="1600" i="0" dirty="0"/>
              <a:t> </a:t>
            </a:r>
            <a:r>
              <a:rPr lang="ru-RU" sz="1600" i="0" dirty="0" err="1"/>
              <a:t>електрони</a:t>
            </a:r>
            <a:r>
              <a:rPr lang="ru-RU" sz="1600" i="0" dirty="0"/>
              <a:t> от n-</a:t>
            </a:r>
            <a:r>
              <a:rPr lang="ru-RU" sz="1600" i="0" dirty="0" err="1"/>
              <a:t>областта</a:t>
            </a:r>
            <a:r>
              <a:rPr lang="ru-RU" sz="1600" i="0" dirty="0"/>
              <a:t> </a:t>
            </a:r>
            <a:r>
              <a:rPr lang="ru-RU" sz="1600" i="0" dirty="0" err="1"/>
              <a:t>рекомбинират</a:t>
            </a:r>
            <a:r>
              <a:rPr lang="ru-RU" sz="1600" i="0" dirty="0"/>
              <a:t> с </a:t>
            </a:r>
            <a:r>
              <a:rPr lang="ru-RU" sz="1600" i="0" dirty="0" err="1"/>
              <a:t>дупките</a:t>
            </a:r>
            <a:r>
              <a:rPr lang="ru-RU" sz="1600" i="0" dirty="0"/>
              <a:t> от p-</a:t>
            </a:r>
            <a:r>
              <a:rPr lang="ru-RU" sz="1600" i="0" dirty="0" err="1"/>
              <a:t>областта</a:t>
            </a:r>
            <a:r>
              <a:rPr lang="ru-RU" sz="1600" i="0" dirty="0"/>
              <a:t>. </a:t>
            </a:r>
            <a:r>
              <a:rPr lang="ru-RU" sz="1600" i="0" dirty="0" err="1"/>
              <a:t>Електроните</a:t>
            </a:r>
            <a:r>
              <a:rPr lang="ru-RU" sz="1600" i="0" dirty="0"/>
              <a:t> </a:t>
            </a:r>
            <a:r>
              <a:rPr lang="ru-RU" sz="1600" i="0" dirty="0" err="1"/>
              <a:t>имат</a:t>
            </a:r>
            <a:r>
              <a:rPr lang="ru-RU" sz="1600" i="0" dirty="0"/>
              <a:t> </a:t>
            </a:r>
            <a:r>
              <a:rPr lang="ru-RU" sz="1600" i="0" dirty="0" err="1"/>
              <a:t>по-високо</a:t>
            </a:r>
            <a:r>
              <a:rPr lang="ru-RU" sz="1600" i="0" dirty="0"/>
              <a:t> </a:t>
            </a:r>
            <a:r>
              <a:rPr lang="ru-RU" sz="1600" i="0" dirty="0" err="1"/>
              <a:t>енергийно</a:t>
            </a:r>
            <a:r>
              <a:rPr lang="ru-RU" sz="1600" i="0" dirty="0"/>
              <a:t> </a:t>
            </a:r>
            <a:r>
              <a:rPr lang="ru-RU" sz="1600" i="0" dirty="0" err="1"/>
              <a:t>ниво</a:t>
            </a:r>
            <a:r>
              <a:rPr lang="ru-RU" sz="1600" i="0" dirty="0"/>
              <a:t> и при </a:t>
            </a:r>
            <a:r>
              <a:rPr lang="ru-RU" sz="1600" i="0" dirty="0" err="1"/>
              <a:t>падането</a:t>
            </a:r>
            <a:r>
              <a:rPr lang="ru-RU" sz="1600" i="0" dirty="0"/>
              <a:t> на </a:t>
            </a:r>
            <a:r>
              <a:rPr lang="ru-RU" sz="1600" i="0" dirty="0" err="1"/>
              <a:t>нивата</a:t>
            </a:r>
            <a:r>
              <a:rPr lang="ru-RU" sz="1600" i="0" dirty="0"/>
              <a:t> на </a:t>
            </a:r>
            <a:r>
              <a:rPr lang="ru-RU" sz="1600" i="0" dirty="0" err="1"/>
              <a:t>дупките</a:t>
            </a:r>
            <a:r>
              <a:rPr lang="ru-RU" sz="1600" i="0" dirty="0"/>
              <a:t> губят </a:t>
            </a:r>
            <a:r>
              <a:rPr lang="ru-RU" sz="1600" i="0" dirty="0" err="1"/>
              <a:t>енергия</a:t>
            </a:r>
            <a:r>
              <a:rPr lang="ru-RU" sz="1600" i="0" dirty="0"/>
              <a:t>. </a:t>
            </a:r>
          </a:p>
          <a:p>
            <a:pPr>
              <a:spcBef>
                <a:spcPct val="50000"/>
              </a:spcBef>
            </a:pPr>
            <a:r>
              <a:rPr lang="ru-RU" sz="1600" i="0" dirty="0" err="1"/>
              <a:t>Енергията</a:t>
            </a:r>
            <a:r>
              <a:rPr lang="ru-RU" sz="1600" i="0" dirty="0"/>
              <a:t> се </a:t>
            </a:r>
            <a:r>
              <a:rPr lang="ru-RU" sz="1600" i="0" dirty="0" err="1"/>
              <a:t>излъчва</a:t>
            </a:r>
            <a:r>
              <a:rPr lang="ru-RU" sz="1600" i="0" dirty="0"/>
              <a:t> под формата на </a:t>
            </a:r>
            <a:r>
              <a:rPr lang="ru-RU" sz="1600" i="0" dirty="0" err="1"/>
              <a:t>квантове</a:t>
            </a:r>
            <a:r>
              <a:rPr lang="ru-RU" sz="1600" i="0" dirty="0"/>
              <a:t> светлина – </a:t>
            </a:r>
            <a:r>
              <a:rPr lang="ru-RU" sz="1600" i="0" dirty="0" err="1"/>
              <a:t>фотони</a:t>
            </a:r>
            <a:r>
              <a:rPr lang="ru-RU" sz="1600" i="0" dirty="0"/>
              <a:t>.</a:t>
            </a:r>
          </a:p>
          <a:p>
            <a:pPr>
              <a:spcBef>
                <a:spcPct val="50000"/>
              </a:spcBef>
            </a:pPr>
            <a:r>
              <a:rPr lang="ru-RU" sz="1600" i="0" dirty="0" err="1"/>
              <a:t>Явлението</a:t>
            </a:r>
            <a:r>
              <a:rPr lang="ru-RU" sz="1600" i="0" dirty="0"/>
              <a:t> се </a:t>
            </a:r>
            <a:r>
              <a:rPr lang="ru-RU" sz="1600" i="0" dirty="0" err="1"/>
              <a:t>нарича</a:t>
            </a:r>
            <a:r>
              <a:rPr lang="ru-RU" sz="1600" i="0" dirty="0"/>
              <a:t> </a:t>
            </a:r>
            <a:r>
              <a:rPr lang="ru-RU" sz="1600" i="0" dirty="0" err="1"/>
              <a:t>електролуминисценция</a:t>
            </a:r>
            <a:r>
              <a:rPr lang="ru-RU" sz="1600" i="0" dirty="0"/>
              <a:t>.</a:t>
            </a:r>
            <a:endParaRPr lang="en-US" sz="1600" i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EB013-3084-5205-4CE6-8534FBAC0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1108102"/>
            <a:ext cx="7416824" cy="26099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8AE305-071D-776F-2F7E-23818C59174E}"/>
              </a:ext>
            </a:extLst>
          </p:cNvPr>
          <p:cNvSpPr txBox="1"/>
          <p:nvPr/>
        </p:nvSpPr>
        <p:spPr>
          <a:xfrm>
            <a:off x="9025626" y="2564904"/>
            <a:ext cx="2398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efficiency</a:t>
            </a:r>
            <a:r>
              <a:rPr lang="de-DE" dirty="0"/>
              <a:t> ≈ 25–40 %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6664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6625" y="0"/>
            <a:ext cx="7772400" cy="53133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Дължина на вълната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624979" y="1340768"/>
            <a:ext cx="1135063" cy="612775"/>
          </a:xfrm>
          <a:prstGeom prst="rect">
            <a:avLst/>
          </a:prstGeom>
          <a:solidFill>
            <a:srgbClr val="CCECFF"/>
          </a:solidFill>
          <a:ln w="12700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626567" y="2963193"/>
            <a:ext cx="1135062" cy="612775"/>
          </a:xfrm>
          <a:prstGeom prst="rect">
            <a:avLst/>
          </a:prstGeom>
          <a:solidFill>
            <a:srgbClr val="CCECFF"/>
          </a:solidFill>
          <a:ln w="12700">
            <a:solidFill>
              <a:srgbClr val="CCEC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Oval 21"/>
          <p:cNvSpPr>
            <a:spLocks noChangeArrowheads="1"/>
          </p:cNvSpPr>
          <p:nvPr/>
        </p:nvSpPr>
        <p:spPr bwMode="auto">
          <a:xfrm>
            <a:off x="1401267" y="1759868"/>
            <a:ext cx="92075" cy="889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Oval 22"/>
          <p:cNvSpPr>
            <a:spLocks noChangeArrowheads="1"/>
          </p:cNvSpPr>
          <p:nvPr/>
        </p:nvSpPr>
        <p:spPr bwMode="auto">
          <a:xfrm>
            <a:off x="1377454" y="3112418"/>
            <a:ext cx="139700" cy="142875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24"/>
          <p:cNvSpPr>
            <a:spLocks noChangeShapeType="1"/>
          </p:cNvSpPr>
          <p:nvPr/>
        </p:nvSpPr>
        <p:spPr bwMode="auto">
          <a:xfrm>
            <a:off x="1436192" y="1828131"/>
            <a:ext cx="0" cy="1284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29"/>
          <p:cNvSpPr>
            <a:spLocks/>
          </p:cNvSpPr>
          <p:nvPr/>
        </p:nvSpPr>
        <p:spPr bwMode="auto">
          <a:xfrm>
            <a:off x="1479054" y="2521868"/>
            <a:ext cx="477838" cy="498475"/>
          </a:xfrm>
          <a:custGeom>
            <a:avLst/>
            <a:gdLst>
              <a:gd name="T0" fmla="*/ 2147483647 w 301"/>
              <a:gd name="T1" fmla="*/ 2147483647 h 314"/>
              <a:gd name="T2" fmla="*/ 2147483647 w 301"/>
              <a:gd name="T3" fmla="*/ 2147483647 h 314"/>
              <a:gd name="T4" fmla="*/ 2147483647 w 301"/>
              <a:gd name="T5" fmla="*/ 2147483647 h 314"/>
              <a:gd name="T6" fmla="*/ 2147483647 w 301"/>
              <a:gd name="T7" fmla="*/ 2147483647 h 314"/>
              <a:gd name="T8" fmla="*/ 2147483647 w 301"/>
              <a:gd name="T9" fmla="*/ 0 h 3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1"/>
              <a:gd name="T16" fmla="*/ 0 h 314"/>
              <a:gd name="T17" fmla="*/ 301 w 301"/>
              <a:gd name="T18" fmla="*/ 314 h 3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1" h="314">
                <a:moveTo>
                  <a:pt x="2" y="314"/>
                </a:moveTo>
                <a:cubicBezTo>
                  <a:pt x="1" y="258"/>
                  <a:pt x="0" y="203"/>
                  <a:pt x="16" y="175"/>
                </a:cubicBezTo>
                <a:cubicBezTo>
                  <a:pt x="32" y="147"/>
                  <a:pt x="75" y="169"/>
                  <a:pt x="97" y="146"/>
                </a:cubicBezTo>
                <a:cubicBezTo>
                  <a:pt x="119" y="123"/>
                  <a:pt x="114" y="61"/>
                  <a:pt x="148" y="37"/>
                </a:cubicBezTo>
                <a:cubicBezTo>
                  <a:pt x="182" y="13"/>
                  <a:pt x="241" y="6"/>
                  <a:pt x="301" y="0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30"/>
          <p:cNvSpPr txBox="1">
            <a:spLocks noChangeArrowheads="1"/>
          </p:cNvSpPr>
          <p:nvPr/>
        </p:nvSpPr>
        <p:spPr bwMode="auto">
          <a:xfrm>
            <a:off x="2014042" y="2232943"/>
            <a:ext cx="590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/>
              <a:t>hf</a:t>
            </a:r>
            <a:endParaRPr lang="en-US" dirty="0">
              <a:latin typeface="Symbol" pitchFamily="18" charset="2"/>
            </a:endParaRPr>
          </a:p>
        </p:txBody>
      </p:sp>
      <p:sp>
        <p:nvSpPr>
          <p:cNvPr id="20" name="Line 31"/>
          <p:cNvSpPr>
            <a:spLocks noChangeShapeType="1"/>
          </p:cNvSpPr>
          <p:nvPr/>
        </p:nvSpPr>
        <p:spPr bwMode="auto">
          <a:xfrm>
            <a:off x="740867" y="1955131"/>
            <a:ext cx="12700" cy="1019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32"/>
          <p:cNvSpPr txBox="1">
            <a:spLocks noChangeArrowheads="1"/>
          </p:cNvSpPr>
          <p:nvPr/>
        </p:nvSpPr>
        <p:spPr bwMode="auto">
          <a:xfrm>
            <a:off x="696417" y="2221831"/>
            <a:ext cx="671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latin typeface="Symbol" pitchFamily="18" charset="2"/>
              </a:rPr>
              <a:t>D</a:t>
            </a:r>
            <a:r>
              <a:rPr lang="en-US"/>
              <a:t>W</a:t>
            </a: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2904629" y="3158456"/>
            <a:ext cx="43402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 typeface="Symbol" pitchFamily="18" charset="2"/>
              <a:buChar char="l"/>
            </a:pPr>
            <a:r>
              <a:rPr lang="en-US" sz="1600" dirty="0"/>
              <a:t>= 380 –</a:t>
            </a:r>
            <a:r>
              <a:rPr lang="bg-BG" sz="1600" dirty="0"/>
              <a:t> </a:t>
            </a:r>
            <a:r>
              <a:rPr lang="en-US" sz="1600" dirty="0"/>
              <a:t>760 nm </a:t>
            </a:r>
            <a:r>
              <a:rPr lang="bg-BG" sz="1600" i="0" dirty="0"/>
              <a:t>видима област</a:t>
            </a:r>
            <a:endParaRPr lang="en-US" sz="1600" i="0" dirty="0"/>
          </a:p>
        </p:txBody>
      </p:sp>
      <p:sp>
        <p:nvSpPr>
          <p:cNvPr id="32" name="Text Box 45"/>
          <p:cNvSpPr txBox="1">
            <a:spLocks noChangeArrowheads="1"/>
          </p:cNvSpPr>
          <p:nvPr/>
        </p:nvSpPr>
        <p:spPr bwMode="auto">
          <a:xfrm>
            <a:off x="2626817" y="3574381"/>
            <a:ext cx="5638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>
                <a:latin typeface="Symbol" pitchFamily="18" charset="2"/>
              </a:rPr>
              <a:t>D</a:t>
            </a:r>
            <a:r>
              <a:rPr lang="en-US" sz="1600" dirty="0"/>
              <a:t>W = </a:t>
            </a:r>
            <a:r>
              <a:rPr lang="en-US" sz="1600" i="0" dirty="0"/>
              <a:t>1.6 – 3.1 </a:t>
            </a:r>
            <a:r>
              <a:rPr lang="en-US" sz="1600" i="0" dirty="0" err="1"/>
              <a:t>eV</a:t>
            </a:r>
            <a:r>
              <a:rPr lang="en-US" sz="1600" i="0" dirty="0"/>
              <a:t> (</a:t>
            </a:r>
            <a:r>
              <a:rPr lang="en-US" sz="1600" i="0" dirty="0" err="1"/>
              <a:t>GaP</a:t>
            </a:r>
            <a:r>
              <a:rPr lang="en-US" sz="1600" i="0" dirty="0"/>
              <a:t>, </a:t>
            </a:r>
            <a:r>
              <a:rPr lang="en-US" sz="1600" i="0" dirty="0" err="1"/>
              <a:t>SiC</a:t>
            </a:r>
            <a:r>
              <a:rPr lang="en-US" sz="1600" i="0" dirty="0"/>
              <a:t>, </a:t>
            </a:r>
            <a:r>
              <a:rPr lang="en-US" sz="1600" i="0" dirty="0" err="1"/>
              <a:t>GaAlAs</a:t>
            </a:r>
            <a:r>
              <a:rPr lang="en-US" sz="1600" i="0" dirty="0"/>
              <a:t>, </a:t>
            </a:r>
            <a:r>
              <a:rPr lang="en-US" sz="1600" i="0" dirty="0" err="1"/>
              <a:t>GaAsP</a:t>
            </a:r>
            <a:r>
              <a:rPr lang="en-US" sz="1600" i="0" dirty="0"/>
              <a:t>)</a:t>
            </a:r>
          </a:p>
        </p:txBody>
      </p:sp>
      <p:sp>
        <p:nvSpPr>
          <p:cNvPr id="33" name="Text Box 46"/>
          <p:cNvSpPr txBox="1">
            <a:spLocks noChangeArrowheads="1"/>
          </p:cNvSpPr>
          <p:nvPr/>
        </p:nvSpPr>
        <p:spPr bwMode="auto">
          <a:xfrm>
            <a:off x="1804492" y="1688431"/>
            <a:ext cx="763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W</a:t>
            </a:r>
            <a:r>
              <a:rPr lang="en-US" baseline="-25000"/>
              <a:t>c</a:t>
            </a:r>
          </a:p>
        </p:txBody>
      </p:sp>
      <p:sp>
        <p:nvSpPr>
          <p:cNvPr id="34" name="Text Box 47"/>
          <p:cNvSpPr txBox="1">
            <a:spLocks noChangeArrowheads="1"/>
          </p:cNvSpPr>
          <p:nvPr/>
        </p:nvSpPr>
        <p:spPr bwMode="auto">
          <a:xfrm>
            <a:off x="1769567" y="2810793"/>
            <a:ext cx="636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W</a:t>
            </a:r>
            <a:r>
              <a:rPr lang="en-US" baseline="-25000"/>
              <a:t>v</a:t>
            </a:r>
          </a:p>
        </p:txBody>
      </p:sp>
      <p:sp>
        <p:nvSpPr>
          <p:cNvPr id="35" name="Rectangle 18"/>
          <p:cNvSpPr>
            <a:spLocks noChangeArrowheads="1"/>
          </p:cNvSpPr>
          <p:nvPr/>
        </p:nvSpPr>
        <p:spPr bwMode="auto">
          <a:xfrm>
            <a:off x="623392" y="1342356"/>
            <a:ext cx="1147762" cy="22336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Text Box 10"/>
          <p:cNvSpPr txBox="1">
            <a:spLocks noChangeArrowheads="1"/>
          </p:cNvSpPr>
          <p:nvPr/>
        </p:nvSpPr>
        <p:spPr bwMode="auto">
          <a:xfrm>
            <a:off x="551384" y="4909275"/>
            <a:ext cx="7200800" cy="83099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600" i="0" dirty="0"/>
              <a:t>Колкото по-голяма е широчината на забранената зона, толкова по-голяма е енергията на излъчения фотон и толкова по-висока е честотата на излъчената светлина (респективно по-къса дължината на вълната й)</a:t>
            </a:r>
            <a:r>
              <a:rPr lang="en-US" sz="1600" i="0" dirty="0"/>
              <a:t>. </a:t>
            </a:r>
          </a:p>
        </p:txBody>
      </p:sp>
      <p:pic>
        <p:nvPicPr>
          <p:cNvPr id="40" name="Picture 4" descr="specol">
            <a:extLst>
              <a:ext uri="{FF2B5EF4-FFF2-40B4-BE49-F238E27FC236}">
                <a16:creationId xmlns:a16="http://schemas.microsoft.com/office/drawing/2014/main" id="{5137CDCE-14EA-4A2F-B8D8-88189C987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95767" y="3979088"/>
            <a:ext cx="484188" cy="2281237"/>
          </a:xfrm>
          <a:prstGeom prst="rect">
            <a:avLst/>
          </a:prstGeom>
          <a:noFill/>
        </p:spPr>
      </p:pic>
      <p:sp>
        <p:nvSpPr>
          <p:cNvPr id="41" name="Rectangle 7">
            <a:extLst>
              <a:ext uri="{FF2B5EF4-FFF2-40B4-BE49-F238E27FC236}">
                <a16:creationId xmlns:a16="http://schemas.microsoft.com/office/drawing/2014/main" id="{AFC2D93D-EBF8-4609-BC52-23FBEA9D4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5110" y="4130006"/>
            <a:ext cx="3016088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9933FF"/>
                </a:solidFill>
                <a:latin typeface="Tahoma" pitchFamily="34" charset="0"/>
              </a:rPr>
              <a:t>Violet	</a:t>
            </a:r>
            <a:r>
              <a:rPr lang="en-GB" b="1" dirty="0">
                <a:latin typeface="Tahoma" pitchFamily="34" charset="0"/>
              </a:rPr>
              <a:t>~ 3.17eV</a:t>
            </a:r>
          </a:p>
          <a:p>
            <a:r>
              <a:rPr lang="en-GB" b="1" dirty="0">
                <a:solidFill>
                  <a:srgbClr val="0000FF"/>
                </a:solidFill>
                <a:latin typeface="Tahoma" pitchFamily="34" charset="0"/>
              </a:rPr>
              <a:t>Blue</a:t>
            </a:r>
            <a:r>
              <a:rPr lang="en-GB" b="1" dirty="0">
                <a:latin typeface="Tahoma" pitchFamily="34" charset="0"/>
              </a:rPr>
              <a:t>	~ 2.73eV</a:t>
            </a:r>
          </a:p>
          <a:p>
            <a:r>
              <a:rPr lang="en-GB" b="1" dirty="0">
                <a:solidFill>
                  <a:srgbClr val="009900"/>
                </a:solidFill>
                <a:latin typeface="Tahoma" pitchFamily="34" charset="0"/>
              </a:rPr>
              <a:t>Green</a:t>
            </a:r>
            <a:r>
              <a:rPr lang="en-GB" b="1" dirty="0">
                <a:latin typeface="Tahoma" pitchFamily="34" charset="0"/>
              </a:rPr>
              <a:t>	~ 2.52eV </a:t>
            </a:r>
          </a:p>
          <a:p>
            <a:r>
              <a:rPr lang="en-GB" b="1" dirty="0">
                <a:solidFill>
                  <a:srgbClr val="FFFF00"/>
                </a:solidFill>
                <a:latin typeface="Tahoma" pitchFamily="34" charset="0"/>
              </a:rPr>
              <a:t>Yellow</a:t>
            </a:r>
            <a:r>
              <a:rPr lang="en-GB" b="1" dirty="0">
                <a:latin typeface="Tahoma" pitchFamily="34" charset="0"/>
              </a:rPr>
              <a:t>	~ 2.15eV</a:t>
            </a:r>
          </a:p>
          <a:p>
            <a:r>
              <a:rPr lang="en-GB" b="1" dirty="0">
                <a:solidFill>
                  <a:srgbClr val="FF6600"/>
                </a:solidFill>
                <a:latin typeface="Tahoma" pitchFamily="34" charset="0"/>
              </a:rPr>
              <a:t>Orange </a:t>
            </a:r>
            <a:r>
              <a:rPr lang="en-GB" b="1" dirty="0">
                <a:latin typeface="Tahoma" pitchFamily="34" charset="0"/>
              </a:rPr>
              <a:t>	~ 2.08eV</a:t>
            </a:r>
          </a:p>
          <a:p>
            <a:r>
              <a:rPr lang="en-GB" b="1" dirty="0">
                <a:solidFill>
                  <a:srgbClr val="FF0000"/>
                </a:solidFill>
                <a:latin typeface="Tahoma" pitchFamily="34" charset="0"/>
              </a:rPr>
              <a:t>Red</a:t>
            </a:r>
            <a:r>
              <a:rPr lang="en-GB" b="1" dirty="0">
                <a:latin typeface="Tahoma" pitchFamily="34" charset="0"/>
              </a:rPr>
              <a:t>	~ 1.62eV</a:t>
            </a:r>
            <a:endParaRPr lang="en-US" b="1" dirty="0">
              <a:latin typeface="Tahoma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B7DF01-64D6-43CD-8C35-FD043A163CF3}"/>
              </a:ext>
            </a:extLst>
          </p:cNvPr>
          <p:cNvSpPr txBox="1"/>
          <p:nvPr/>
        </p:nvSpPr>
        <p:spPr>
          <a:xfrm>
            <a:off x="10169553" y="3847985"/>
            <a:ext cx="557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ymbol" pitchFamily="18" charset="2"/>
              </a:rPr>
              <a:t>D</a:t>
            </a:r>
            <a:r>
              <a:rPr lang="en-US" dirty="0">
                <a:solidFill>
                  <a:srgbClr val="000000"/>
                </a:solidFill>
              </a:rPr>
              <a:t>W</a:t>
            </a:r>
            <a:endParaRPr lang="en-US" dirty="0"/>
          </a:p>
        </p:txBody>
      </p:sp>
      <p:sp>
        <p:nvSpPr>
          <p:cNvPr id="2" name="Text Box 33">
            <a:extLst>
              <a:ext uri="{FF2B5EF4-FFF2-40B4-BE49-F238E27FC236}">
                <a16:creationId xmlns:a16="http://schemas.microsoft.com/office/drawing/2014/main" id="{2838F968-826F-8E06-8836-237E2A6D8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9983" y="1081773"/>
            <a:ext cx="3119467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dirty="0"/>
              <a:t>E – </a:t>
            </a:r>
            <a:r>
              <a:rPr lang="bg-BG" sz="1400" dirty="0"/>
              <a:t>енергия </a:t>
            </a:r>
            <a:r>
              <a:rPr lang="en-US" sz="1400" dirty="0"/>
              <a:t>[J]</a:t>
            </a:r>
          </a:p>
          <a:p>
            <a:pPr>
              <a:spcBef>
                <a:spcPct val="50000"/>
              </a:spcBef>
            </a:pPr>
            <a:r>
              <a:rPr lang="en-US" sz="1400" dirty="0"/>
              <a:t>f – </a:t>
            </a:r>
            <a:r>
              <a:rPr lang="bg-BG" sz="1400" dirty="0"/>
              <a:t>честота  </a:t>
            </a:r>
            <a:r>
              <a:rPr lang="en-US" sz="1400" dirty="0"/>
              <a:t>[Hz]</a:t>
            </a:r>
            <a:endParaRPr lang="bg-BG" sz="1400" dirty="0"/>
          </a:p>
          <a:p>
            <a:pPr>
              <a:spcBef>
                <a:spcPct val="50000"/>
              </a:spcBef>
            </a:pPr>
            <a:r>
              <a:rPr lang="en-US" sz="1400" dirty="0"/>
              <a:t>h – </a:t>
            </a:r>
            <a:r>
              <a:rPr lang="bg-BG" sz="1400" dirty="0"/>
              <a:t>константа на Планк</a:t>
            </a:r>
            <a:endParaRPr lang="en-US" sz="1400" dirty="0"/>
          </a:p>
          <a:p>
            <a:pPr>
              <a:spcBef>
                <a:spcPct val="50000"/>
              </a:spcBef>
            </a:pPr>
            <a:r>
              <a:rPr lang="en-US" sz="1400" dirty="0"/>
              <a:t>c – </a:t>
            </a:r>
            <a:r>
              <a:rPr lang="bg-BG" sz="1400" dirty="0"/>
              <a:t>скорост на светлината във вакуум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2825EE-BD03-548B-12BF-0EA3CEE2594A}"/>
                  </a:ext>
                </a:extLst>
              </p:cNvPr>
              <p:cNvSpPr txBox="1"/>
              <p:nvPr/>
            </p:nvSpPr>
            <p:spPr>
              <a:xfrm>
                <a:off x="3132819" y="1230453"/>
                <a:ext cx="1990994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2825EE-BD03-548B-12BF-0EA3CEE25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819" y="1230453"/>
                <a:ext cx="1990994" cy="5259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69FF9E-21D0-F5C5-08F3-7D36F1A22802}"/>
                  </a:ext>
                </a:extLst>
              </p:cNvPr>
              <p:cNvSpPr txBox="1"/>
              <p:nvPr/>
            </p:nvSpPr>
            <p:spPr>
              <a:xfrm>
                <a:off x="6094598" y="1262733"/>
                <a:ext cx="856195" cy="525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h𝑐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bg-BG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69FF9E-21D0-F5C5-08F3-7D36F1A22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598" y="1262733"/>
                <a:ext cx="856195" cy="525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455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2813" y="0"/>
            <a:ext cx="77724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Спектрална характеристика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71364" y="4653136"/>
            <a:ext cx="1144927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Спектралн</a:t>
            </a:r>
            <a:r>
              <a:rPr lang="en-US" sz="1800" i="0" dirty="0"/>
              <a:t>a</a:t>
            </a:r>
            <a:r>
              <a:rPr lang="bg-BG" sz="1800" i="0" dirty="0"/>
              <a:t>та характеристика дава зависимостта на интензитета на излъчване на светодиода от дължината на вълната. Тя се определя от вида на полупроводниковия материал и легиращите примеси в него.  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2351584" y="1619196"/>
            <a:ext cx="6048375" cy="2557744"/>
            <a:chOff x="372155" y="1446213"/>
            <a:chExt cx="6048375" cy="2639664"/>
          </a:xfrm>
        </p:grpSpPr>
        <p:pic>
          <p:nvPicPr>
            <p:cNvPr id="12" name="Picture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155" y="1446213"/>
              <a:ext cx="6048375" cy="2571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902040" y="1527827"/>
              <a:ext cx="2216604" cy="317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1400" b="1" dirty="0">
                  <a:solidFill>
                    <a:schemeClr val="bg1"/>
                  </a:solidFill>
                </a:rPr>
                <a:t>Интензитет</a:t>
              </a:r>
              <a:r>
                <a:rPr lang="en-US" sz="1400" b="1" dirty="0">
                  <a:solidFill>
                    <a:schemeClr val="bg1"/>
                  </a:solidFill>
                </a:rPr>
                <a:t>, </a:t>
              </a:r>
              <a:r>
                <a:rPr lang="bg-BG" sz="1400" b="1" dirty="0">
                  <a:solidFill>
                    <a:schemeClr val="bg1"/>
                  </a:solidFill>
                </a:rPr>
                <a:t>единици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010342" y="3768242"/>
              <a:ext cx="2764858" cy="317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1400" b="1" dirty="0">
                  <a:solidFill>
                    <a:schemeClr val="bg1"/>
                  </a:solidFill>
                </a:rPr>
                <a:t>Дълнина на вълната, </a:t>
              </a:r>
              <a:r>
                <a:rPr lang="en-US" sz="1400" b="1" dirty="0">
                  <a:solidFill>
                    <a:schemeClr val="bg1"/>
                  </a:solidFill>
                </a:rPr>
                <a:t>nm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6659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06625" y="0"/>
            <a:ext cx="77724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Конструкция на </a:t>
            </a:r>
            <a:r>
              <a:rPr lang="bg-BG" sz="2400" dirty="0" err="1">
                <a:solidFill>
                  <a:schemeClr val="tx1"/>
                </a:solidFill>
                <a:latin typeface="Arial Narrow" pitchFamily="34" charset="0"/>
              </a:rPr>
              <a:t>светодиод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5A2A44B6-3604-442E-ADEC-74510F82F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904998"/>
            <a:ext cx="4119262" cy="45778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0BE9CD9-9466-4651-B9CA-3E3E025AD016}"/>
              </a:ext>
            </a:extLst>
          </p:cNvPr>
          <p:cNvSpPr txBox="1"/>
          <p:nvPr/>
        </p:nvSpPr>
        <p:spPr>
          <a:xfrm>
            <a:off x="0" y="6453196"/>
            <a:ext cx="5107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By </a:t>
            </a:r>
            <a:r>
              <a:rPr lang="en-US" sz="900" dirty="0" err="1"/>
              <a:t>Inductiveload</a:t>
            </a:r>
            <a:r>
              <a:rPr lang="en-US" sz="900" dirty="0"/>
              <a:t> - Own work by uploader, drawn in Solid Edge and Inkscape., Public Domain, https://commons.wikimedia.org/w/index.php?curid=6431789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9DEB4D6-8ECD-8D0F-3241-42EE103A1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589" y="1143000"/>
            <a:ext cx="5424811" cy="43398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DDCA7B-379D-88BD-D466-4E7D54962EDF}"/>
              </a:ext>
            </a:extLst>
          </p:cNvPr>
          <p:cNvSpPr txBox="1"/>
          <p:nvPr/>
        </p:nvSpPr>
        <p:spPr>
          <a:xfrm>
            <a:off x="7896200" y="6591696"/>
            <a:ext cx="47049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900" dirty="0"/>
              <a:t>https://www.planetanalog.com/led-single-die-solutions-for-high-power-products/</a:t>
            </a:r>
          </a:p>
        </p:txBody>
      </p:sp>
    </p:spTree>
    <p:extLst>
      <p:ext uri="{BB962C8B-B14F-4D97-AF65-F5344CB8AC3E}">
        <p14:creationId xmlns:p14="http://schemas.microsoft.com/office/powerpoint/2010/main" val="155124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indoor, white&#10;&#10;Description automatically generated">
            <a:extLst>
              <a:ext uri="{FF2B5EF4-FFF2-40B4-BE49-F238E27FC236}">
                <a16:creationId xmlns:a16="http://schemas.microsoft.com/office/drawing/2014/main" id="{AB4CE28E-5D08-DBA7-2A42-3F76DE784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904" y="2936379"/>
            <a:ext cx="5496771" cy="3887317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EEE6E5EE-1BD7-E129-2D01-549ECEF90CBE}"/>
              </a:ext>
            </a:extLst>
          </p:cNvPr>
          <p:cNvSpPr txBox="1">
            <a:spLocks noChangeArrowheads="1"/>
          </p:cNvSpPr>
          <p:nvPr/>
        </p:nvSpPr>
        <p:spPr>
          <a:xfrm>
            <a:off x="2206625" y="0"/>
            <a:ext cx="7772400" cy="764704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Корпуси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pic>
        <p:nvPicPr>
          <p:cNvPr id="9" name="Picture 8" descr="A picture containing wall, indoor&#10;&#10;Description automatically generated">
            <a:extLst>
              <a:ext uri="{FF2B5EF4-FFF2-40B4-BE49-F238E27FC236}">
                <a16:creationId xmlns:a16="http://schemas.microsoft.com/office/drawing/2014/main" id="{1A68BBB5-8156-16FA-669E-D022CF88C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86" y="1254050"/>
            <a:ext cx="4078676" cy="24472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C6FD8A-4AA4-116F-E942-BEF45C0FC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872" y="1387936"/>
            <a:ext cx="5459193" cy="15687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6ECF87-4711-F65B-D457-996EA8CBDA06}"/>
              </a:ext>
            </a:extLst>
          </p:cNvPr>
          <p:cNvSpPr txBox="1"/>
          <p:nvPr/>
        </p:nvSpPr>
        <p:spPr>
          <a:xfrm>
            <a:off x="1199456" y="4005936"/>
            <a:ext cx="2873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DIP – dual in-line package</a:t>
            </a:r>
            <a:endParaRPr lang="bg-B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E374A9-C81B-29E7-6B78-FC75FD4C55FF}"/>
              </a:ext>
            </a:extLst>
          </p:cNvPr>
          <p:cNvSpPr txBox="1"/>
          <p:nvPr/>
        </p:nvSpPr>
        <p:spPr>
          <a:xfrm>
            <a:off x="5951984" y="303338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Surface-Mounted Device (SMD)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7142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A6B025-49A9-BA4F-4A9C-5F53818CE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406" y="4433656"/>
            <a:ext cx="6768752" cy="2253779"/>
          </a:xfrm>
          <a:prstGeom prst="rect">
            <a:avLst/>
          </a:prstGeom>
        </p:spPr>
      </p:pic>
      <p:pic>
        <p:nvPicPr>
          <p:cNvPr id="11" name="Picture 10" descr="A picture containing pallette&#10;&#10;Description automatically generated">
            <a:extLst>
              <a:ext uri="{FF2B5EF4-FFF2-40B4-BE49-F238E27FC236}">
                <a16:creationId xmlns:a16="http://schemas.microsoft.com/office/drawing/2014/main" id="{255298CD-0BE3-A5C6-F04D-DD63CDD39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1196752"/>
            <a:ext cx="5054961" cy="28083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D7903E-10D0-5F2B-51C3-36F23DF4CB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60" y="936104"/>
            <a:ext cx="5268985" cy="319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06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856E8FB-B6EE-4B02-B302-D90113B5BA56}"/>
              </a:ext>
            </a:extLst>
          </p:cNvPr>
          <p:cNvSpPr txBox="1">
            <a:spLocks noChangeArrowheads="1"/>
          </p:cNvSpPr>
          <p:nvPr/>
        </p:nvSpPr>
        <p:spPr>
          <a:xfrm>
            <a:off x="2206625" y="0"/>
            <a:ext cx="77724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2400" b="1" dirty="0">
                <a:solidFill>
                  <a:schemeClr val="tx1"/>
                </a:solidFill>
                <a:latin typeface="Arial Narrow" pitchFamily="34" charset="0"/>
              </a:rPr>
              <a:t>RGB </a:t>
            </a:r>
            <a:r>
              <a:rPr lang="bg-BG" sz="2400" b="1" dirty="0">
                <a:solidFill>
                  <a:schemeClr val="tx1"/>
                </a:solidFill>
                <a:latin typeface="Arial Narrow" pitchFamily="34" charset="0"/>
              </a:rPr>
              <a:t>светодиод</a:t>
            </a:r>
            <a:endParaRPr lang="en-US" sz="2400" b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pic>
        <p:nvPicPr>
          <p:cNvPr id="11" name="Picture 10" descr="Diagram, venn diagram&#10;&#10;Description automatically generated">
            <a:extLst>
              <a:ext uri="{FF2B5EF4-FFF2-40B4-BE49-F238E27FC236}">
                <a16:creationId xmlns:a16="http://schemas.microsoft.com/office/drawing/2014/main" id="{8237ED07-42A3-42B0-AE92-D3AEA0AB3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412776"/>
            <a:ext cx="3810868" cy="38108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EFB4EC-B182-48C7-BF85-5E6D9F6CA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825" y="1776412"/>
            <a:ext cx="4762500" cy="33051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86BAA7-D410-78E9-0D45-88FD172B723C}"/>
              </a:ext>
            </a:extLst>
          </p:cNvPr>
          <p:cNvSpPr txBox="1"/>
          <p:nvPr/>
        </p:nvSpPr>
        <p:spPr>
          <a:xfrm>
            <a:off x="2495600" y="6165304"/>
            <a:ext cx="7138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Не е практичен за масови осветителни тела поради висока цена</a:t>
            </a:r>
          </a:p>
        </p:txBody>
      </p:sp>
    </p:spTree>
    <p:extLst>
      <p:ext uri="{BB962C8B-B14F-4D97-AF65-F5344CB8AC3E}">
        <p14:creationId xmlns:p14="http://schemas.microsoft.com/office/powerpoint/2010/main" val="406120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856E8FB-B6EE-4B02-B302-D90113B5BA56}"/>
              </a:ext>
            </a:extLst>
          </p:cNvPr>
          <p:cNvSpPr txBox="1">
            <a:spLocks noChangeArrowheads="1"/>
          </p:cNvSpPr>
          <p:nvPr/>
        </p:nvSpPr>
        <p:spPr>
          <a:xfrm>
            <a:off x="1307468" y="188640"/>
            <a:ext cx="9577064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Бял </a:t>
            </a:r>
            <a:r>
              <a:rPr lang="bg-BG" sz="2400" dirty="0" err="1">
                <a:solidFill>
                  <a:schemeClr val="tx1"/>
                </a:solidFill>
                <a:latin typeface="Arial Narrow" pitchFamily="34" charset="0"/>
              </a:rPr>
              <a:t>светодиод</a:t>
            </a:r>
            <a:r>
              <a:rPr lang="en-US" sz="2400" dirty="0">
                <a:solidFill>
                  <a:schemeClr val="tx1"/>
                </a:solidFill>
                <a:latin typeface="Arial Narrow" pitchFamily="34" charset="0"/>
              </a:rPr>
              <a:t> – </a:t>
            </a: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син </a:t>
            </a:r>
            <a:r>
              <a:rPr lang="en-US" sz="2400" dirty="0">
                <a:solidFill>
                  <a:schemeClr val="tx1"/>
                </a:solidFill>
                <a:latin typeface="Arial Narrow" pitchFamily="34" charset="0"/>
              </a:rPr>
              <a:t>LED + “</a:t>
            </a: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фосфор“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FFCE16C4-C5BA-4606-9875-DA41D889AE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908720"/>
            <a:ext cx="6861501" cy="492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2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856E8FB-B6EE-4B02-B302-D90113B5BA56}"/>
              </a:ext>
            </a:extLst>
          </p:cNvPr>
          <p:cNvSpPr txBox="1">
            <a:spLocks noChangeArrowheads="1"/>
          </p:cNvSpPr>
          <p:nvPr/>
        </p:nvSpPr>
        <p:spPr>
          <a:xfrm>
            <a:off x="2063552" y="197768"/>
            <a:ext cx="8353871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Бял </a:t>
            </a:r>
            <a:r>
              <a:rPr lang="bg-BG" sz="2400" dirty="0" err="1">
                <a:solidFill>
                  <a:schemeClr val="tx1"/>
                </a:solidFill>
                <a:latin typeface="Arial Narrow" pitchFamily="34" charset="0"/>
              </a:rPr>
              <a:t>светодиод</a:t>
            </a:r>
            <a:r>
              <a:rPr lang="en-US" sz="2400" dirty="0">
                <a:solidFill>
                  <a:schemeClr val="tx1"/>
                </a:solidFill>
                <a:latin typeface="Arial Narrow" pitchFamily="34" charset="0"/>
              </a:rPr>
              <a:t> – LED + “</a:t>
            </a: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фосфор“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5664B-C398-47CC-8AFF-5AB7B9F77EFD}"/>
              </a:ext>
            </a:extLst>
          </p:cNvPr>
          <p:cNvSpPr txBox="1"/>
          <p:nvPr/>
        </p:nvSpPr>
        <p:spPr>
          <a:xfrm>
            <a:off x="2855640" y="4746976"/>
            <a:ext cx="2869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Син </a:t>
            </a:r>
            <a:r>
              <a:rPr lang="en-US" dirty="0"/>
              <a:t>LED + </a:t>
            </a:r>
            <a:r>
              <a:rPr lang="bg-BG" dirty="0"/>
              <a:t>жълт фосфор</a:t>
            </a:r>
            <a:endParaRPr lang="en-US" dirty="0"/>
          </a:p>
        </p:txBody>
      </p:sp>
      <p:pic>
        <p:nvPicPr>
          <p:cNvPr id="7" name="Picture 6" descr="Chart, funnel chart&#10;&#10;Description automatically generated">
            <a:extLst>
              <a:ext uri="{FF2B5EF4-FFF2-40B4-BE49-F238E27FC236}">
                <a16:creationId xmlns:a16="http://schemas.microsoft.com/office/drawing/2014/main" id="{E689B914-11EC-4083-830B-16D15871C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221" y="1340768"/>
            <a:ext cx="6317208" cy="31044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7E70E9-6D69-4D5E-AB27-01DAAF84A8D6}"/>
              </a:ext>
            </a:extLst>
          </p:cNvPr>
          <p:cNvSpPr txBox="1"/>
          <p:nvPr/>
        </p:nvSpPr>
        <p:spPr>
          <a:xfrm>
            <a:off x="6466409" y="4746976"/>
            <a:ext cx="2733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UV-LED </a:t>
            </a:r>
            <a:r>
              <a:rPr lang="bg-BG" dirty="0"/>
              <a:t>+ </a:t>
            </a:r>
            <a:r>
              <a:rPr lang="en-US" dirty="0"/>
              <a:t>RGB </a:t>
            </a:r>
            <a:r>
              <a:rPr lang="bg-BG" dirty="0"/>
              <a:t>фосфор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0493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-129736" y="59181"/>
            <a:ext cx="12313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err="1"/>
              <a:t>Нобелова</a:t>
            </a:r>
            <a:r>
              <a:rPr lang="ru-RU" sz="2400" dirty="0"/>
              <a:t> награда за физика - 2014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5F2E0A-F62D-4A1F-A628-D26705BAE91C}"/>
              </a:ext>
            </a:extLst>
          </p:cNvPr>
          <p:cNvSpPr txBox="1"/>
          <p:nvPr/>
        </p:nvSpPr>
        <p:spPr>
          <a:xfrm>
            <a:off x="479376" y="915117"/>
            <a:ext cx="11161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“for the invention of </a:t>
            </a:r>
            <a:r>
              <a:rPr lang="en-US" b="1" dirty="0"/>
              <a:t>efficient</a:t>
            </a:r>
            <a:r>
              <a:rPr lang="en-US" dirty="0"/>
              <a:t> blue light-emitting diodes which has enabled bright and energy-saving white light sources”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9335D2-5277-45DB-B276-51CC58AE6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1693417"/>
            <a:ext cx="7592485" cy="43154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FEA965-84CB-6AA0-9960-37922877045E}"/>
              </a:ext>
            </a:extLst>
          </p:cNvPr>
          <p:cNvSpPr txBox="1"/>
          <p:nvPr/>
        </p:nvSpPr>
        <p:spPr>
          <a:xfrm>
            <a:off x="551384" y="6351851"/>
            <a:ext cx="11521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It Was Almost Impossible to Make the Blue LED</a:t>
            </a:r>
            <a:r>
              <a:rPr lang="bg-BG" dirty="0"/>
              <a:t> 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https://www.youtube.com/watch?v=AF8d72mA41M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75904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1DC362-EAFC-4955-BF41-385D4AA93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5" y="769420"/>
            <a:ext cx="10913469" cy="5179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031B3D-8960-4C99-8362-237C83ED28BF}"/>
              </a:ext>
            </a:extLst>
          </p:cNvPr>
          <p:cNvSpPr txBox="1"/>
          <p:nvPr/>
        </p:nvSpPr>
        <p:spPr>
          <a:xfrm>
            <a:off x="717025" y="321483"/>
            <a:ext cx="7230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solidFill>
                  <a:schemeClr val="accent2"/>
                </a:solidFill>
              </a:rPr>
              <a:t>Ефективност</a:t>
            </a:r>
            <a:r>
              <a:rPr lang="ru-RU" sz="2400" dirty="0">
                <a:solidFill>
                  <a:schemeClr val="accent2"/>
                </a:solidFill>
              </a:rPr>
              <a:t> на </a:t>
            </a:r>
            <a:r>
              <a:rPr lang="ru-RU" sz="2400" dirty="0" err="1">
                <a:solidFill>
                  <a:schemeClr val="accent2"/>
                </a:solidFill>
              </a:rPr>
              <a:t>светлинните</a:t>
            </a:r>
            <a:r>
              <a:rPr lang="ru-RU" sz="2400" dirty="0">
                <a:solidFill>
                  <a:schemeClr val="accent2"/>
                </a:solidFill>
              </a:rPr>
              <a:t> </a:t>
            </a:r>
            <a:r>
              <a:rPr lang="ru-RU" sz="2400" dirty="0" err="1">
                <a:solidFill>
                  <a:schemeClr val="accent2"/>
                </a:solidFill>
              </a:rPr>
              <a:t>източници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9A17F-1E7F-E57E-A583-50DABC14199D}"/>
              </a:ext>
            </a:extLst>
          </p:cNvPr>
          <p:cNvSpPr txBox="1"/>
          <p:nvPr/>
        </p:nvSpPr>
        <p:spPr>
          <a:xfrm>
            <a:off x="623392" y="6135607"/>
            <a:ext cx="112116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Лумен</a:t>
            </a:r>
            <a:r>
              <a:rPr lang="ru-RU" sz="1400" dirty="0"/>
              <a:t> (символ </a:t>
            </a:r>
            <a:r>
              <a:rPr lang="ru-RU" sz="1400" dirty="0" err="1"/>
              <a:t>lm</a:t>
            </a:r>
            <a:r>
              <a:rPr lang="ru-RU" sz="1400" dirty="0"/>
              <a:t>) е </a:t>
            </a:r>
            <a:r>
              <a:rPr lang="ru-RU" sz="1400" dirty="0" err="1"/>
              <a:t>единицата</a:t>
            </a:r>
            <a:r>
              <a:rPr lang="ru-RU" sz="1400" dirty="0"/>
              <a:t> за </a:t>
            </a:r>
            <a:r>
              <a:rPr lang="ru-RU" sz="1400" dirty="0" err="1"/>
              <a:t>светлинен</a:t>
            </a:r>
            <a:r>
              <a:rPr lang="ru-RU" sz="1400" dirty="0"/>
              <a:t> поток (т.е. </a:t>
            </a:r>
            <a:r>
              <a:rPr lang="ru-RU" sz="1400" dirty="0" err="1"/>
              <a:t>количеството</a:t>
            </a:r>
            <a:r>
              <a:rPr lang="ru-RU" sz="1400" dirty="0"/>
              <a:t> светлина, </a:t>
            </a:r>
            <a:r>
              <a:rPr lang="ru-RU" sz="1400" dirty="0" err="1"/>
              <a:t>излъчвана</a:t>
            </a:r>
            <a:r>
              <a:rPr lang="ru-RU" sz="1400" dirty="0"/>
              <a:t> от </a:t>
            </a:r>
            <a:r>
              <a:rPr lang="ru-RU" sz="1400" dirty="0" err="1"/>
              <a:t>точков</a:t>
            </a:r>
            <a:r>
              <a:rPr lang="ru-RU" sz="1400" dirty="0"/>
              <a:t> </a:t>
            </a:r>
            <a:r>
              <a:rPr lang="ru-RU" sz="1400" dirty="0" err="1"/>
              <a:t>източник</a:t>
            </a:r>
            <a:r>
              <a:rPr lang="ru-RU" sz="1400" dirty="0"/>
              <a:t> на светлина за единица </a:t>
            </a:r>
            <a:r>
              <a:rPr lang="ru-RU" sz="1400" dirty="0" err="1"/>
              <a:t>време</a:t>
            </a:r>
            <a:r>
              <a:rPr lang="ru-RU" sz="1400" dirty="0"/>
              <a:t> и </a:t>
            </a:r>
            <a:r>
              <a:rPr lang="ru-RU" sz="1400" dirty="0" err="1"/>
              <a:t>измервано</a:t>
            </a:r>
            <a:r>
              <a:rPr lang="ru-RU" sz="1400" dirty="0"/>
              <a:t> в един </a:t>
            </a:r>
            <a:r>
              <a:rPr lang="ru-RU" sz="1400" dirty="0" err="1"/>
              <a:t>пространствен</a:t>
            </a:r>
            <a:r>
              <a:rPr lang="ru-RU" sz="1400" dirty="0"/>
              <a:t> </a:t>
            </a:r>
            <a:r>
              <a:rPr lang="ru-RU" sz="1400" dirty="0" err="1"/>
              <a:t>ъгъл</a:t>
            </a:r>
            <a:r>
              <a:rPr lang="ru-RU" sz="1400" dirty="0"/>
              <a:t> от един стерадиан.). </a:t>
            </a:r>
            <a:endParaRPr lang="bg-BG" sz="1400" dirty="0"/>
          </a:p>
        </p:txBody>
      </p:sp>
    </p:spTree>
    <p:extLst>
      <p:ext uri="{BB962C8B-B14F-4D97-AF65-F5344CB8AC3E}">
        <p14:creationId xmlns:p14="http://schemas.microsoft.com/office/powerpoint/2010/main" val="3443762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5F127B0-27FE-4E11-B61B-5A8D96FAD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355069"/>
            <a:ext cx="5284341" cy="4147861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0B3EEAA6-3D03-4543-8641-065D25DD0C5C}"/>
              </a:ext>
            </a:extLst>
          </p:cNvPr>
          <p:cNvSpPr txBox="1">
            <a:spLocks noChangeArrowheads="1"/>
          </p:cNvSpPr>
          <p:nvPr/>
        </p:nvSpPr>
        <p:spPr>
          <a:xfrm>
            <a:off x="695400" y="332656"/>
            <a:ext cx="8353871" cy="49492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2400" dirty="0">
                <a:solidFill>
                  <a:srgbClr val="003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Качество на бялата светлина</a:t>
            </a:r>
            <a:endParaRPr lang="en-US" sz="2400" dirty="0">
              <a:solidFill>
                <a:srgbClr val="0038A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0CB50C-89BD-4DCE-A70B-034C99F5CEA1}"/>
              </a:ext>
            </a:extLst>
          </p:cNvPr>
          <p:cNvSpPr txBox="1"/>
          <p:nvPr/>
        </p:nvSpPr>
        <p:spPr>
          <a:xfrm>
            <a:off x="7176120" y="868924"/>
            <a:ext cx="302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color rendering index (CRI)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64BD4F5-4A87-4BBA-524F-FB64F3453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020984"/>
              </p:ext>
            </p:extLst>
          </p:nvPr>
        </p:nvGraphicFramePr>
        <p:xfrm>
          <a:off x="6600056" y="1988840"/>
          <a:ext cx="5112568" cy="3159111"/>
        </p:xfrm>
        <a:graphic>
          <a:graphicData uri="http://schemas.openxmlformats.org/drawingml/2006/table">
            <a:tbl>
              <a:tblPr/>
              <a:tblGrid>
                <a:gridCol w="3312368">
                  <a:extLst>
                    <a:ext uri="{9D8B030D-6E8A-4147-A177-3AD203B41FA5}">
                      <a16:colId xmlns:a16="http://schemas.microsoft.com/office/drawing/2014/main" val="88230356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7542924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491139198"/>
                    </a:ext>
                  </a:extLst>
                </a:gridCol>
              </a:tblGrid>
              <a:tr h="183214">
                <a:tc>
                  <a:txBody>
                    <a:bodyPr/>
                    <a:lstStyle/>
                    <a:p>
                      <a:r>
                        <a:rPr lang="en-US" sz="1200"/>
                        <a:t>Light source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CCT (K)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CRI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37081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r>
                        <a:rPr lang="en-US" sz="1200" dirty="0"/>
                        <a:t>Low-pressure sodium (LPS/SOX)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1800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−44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4246743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r>
                        <a:rPr lang="en-US" sz="1200" dirty="0"/>
                        <a:t>High-pressure sodium (HPS/SON)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2100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24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612410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r>
                        <a:rPr lang="en-US" sz="1200" dirty="0" err="1"/>
                        <a:t>Halophosphate</a:t>
                      </a:r>
                      <a:r>
                        <a:rPr lang="en-US" sz="1200" dirty="0"/>
                        <a:t> warm-white fluorescent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2940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51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875441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r>
                        <a:rPr lang="en-US" sz="1200"/>
                        <a:t>Halophosphate cool-white fluorescent 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4230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64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91699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r>
                        <a:rPr lang="en-US" sz="1200"/>
                        <a:t>Halophosphate cool-daylight fluorescent </a:t>
                      </a:r>
                      <a:endParaRPr lang="en-US" sz="1200" dirty="0"/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6430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76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6125703"/>
                  </a:ext>
                </a:extLst>
              </a:tr>
              <a:tr h="183214">
                <a:tc>
                  <a:txBody>
                    <a:bodyPr/>
                    <a:lstStyle/>
                    <a:p>
                      <a:r>
                        <a:rPr lang="en-US" sz="1200" b="1" dirty="0"/>
                        <a:t>Standard LED Lamp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2700–5000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83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408359"/>
                  </a:ext>
                </a:extLst>
              </a:tr>
              <a:tr h="183214">
                <a:tc>
                  <a:txBody>
                    <a:bodyPr/>
                    <a:lstStyle/>
                    <a:p>
                      <a:r>
                        <a:rPr lang="en-US" sz="1200" dirty="0"/>
                        <a:t>High-CRI </a:t>
                      </a:r>
                      <a:r>
                        <a:rPr lang="en-US" sz="1200" dirty="0">
                          <a:hlinkClick r:id="rId4" tooltip="LED"/>
                        </a:rPr>
                        <a:t>LED</a:t>
                      </a:r>
                      <a:r>
                        <a:rPr lang="en-US" sz="1200" dirty="0"/>
                        <a:t> lamp (blue LED)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2700–5000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95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8866810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r>
                        <a:rPr lang="en-US" sz="1200" dirty="0"/>
                        <a:t>Ceramic discharge metal-halide lamp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5400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96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772433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r>
                        <a:rPr lang="en-US" sz="1200" dirty="0"/>
                        <a:t>Ultra-high-CRI </a:t>
                      </a:r>
                      <a:r>
                        <a:rPr lang="en-US" sz="1200" dirty="0">
                          <a:hlinkClick r:id="rId4" tooltip="LED"/>
                        </a:rPr>
                        <a:t>LED</a:t>
                      </a:r>
                      <a:r>
                        <a:rPr lang="en-US" sz="1200" dirty="0"/>
                        <a:t> lamp (violet LED)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2700–5000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/>
                        <a:t>99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939134"/>
                  </a:ext>
                </a:extLst>
              </a:tr>
              <a:tr h="183214">
                <a:tc>
                  <a:txBody>
                    <a:bodyPr/>
                    <a:lstStyle/>
                    <a:p>
                      <a:r>
                        <a:rPr lang="en-US" sz="1200" b="1" dirty="0"/>
                        <a:t>Incandescent/halogen bulb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3200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/>
                        <a:t>100 </a:t>
                      </a:r>
                    </a:p>
                  </a:txBody>
                  <a:tcPr marL="45804" marR="45804" marT="22902" marB="22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11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722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meline&#10;&#10;Description automatically generated">
            <a:extLst>
              <a:ext uri="{FF2B5EF4-FFF2-40B4-BE49-F238E27FC236}">
                <a16:creationId xmlns:a16="http://schemas.microsoft.com/office/drawing/2014/main" id="{96035078-844D-4A23-8F28-432604F46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2018832"/>
            <a:ext cx="6346244" cy="285032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033140-CA49-A938-5D9D-A3AC4759083D}"/>
              </a:ext>
            </a:extLst>
          </p:cNvPr>
          <p:cNvSpPr txBox="1">
            <a:spLocks noChangeArrowheads="1"/>
          </p:cNvSpPr>
          <p:nvPr/>
        </p:nvSpPr>
        <p:spPr>
          <a:xfrm>
            <a:off x="695400" y="332656"/>
            <a:ext cx="8353871" cy="49492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2400" dirty="0">
                <a:solidFill>
                  <a:srgbClr val="003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Цветна температура</a:t>
            </a:r>
            <a:endParaRPr lang="en-US" sz="2400" dirty="0">
              <a:solidFill>
                <a:srgbClr val="0038A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3FF99072-B173-7FBD-352C-AB1BDB265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32105" y="1940044"/>
            <a:ext cx="4582616" cy="2751519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4B124A-5B1F-2DB5-1C1E-DE571F623C97}"/>
              </a:ext>
            </a:extLst>
          </p:cNvPr>
          <p:cNvSpPr txBox="1"/>
          <p:nvPr/>
        </p:nvSpPr>
        <p:spPr>
          <a:xfrm>
            <a:off x="7395836" y="4941168"/>
            <a:ext cx="4388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Чувствителност</a:t>
            </a:r>
            <a:r>
              <a:rPr lang="ru-RU" dirty="0"/>
              <a:t> на </a:t>
            </a:r>
            <a:r>
              <a:rPr lang="ru-RU" dirty="0" err="1"/>
              <a:t>човешкото</a:t>
            </a:r>
            <a:r>
              <a:rPr lang="ru-RU" dirty="0"/>
              <a:t> око </a:t>
            </a:r>
            <a:r>
              <a:rPr lang="ru-RU" dirty="0" err="1"/>
              <a:t>към</a:t>
            </a:r>
            <a:r>
              <a:rPr lang="ru-RU" dirty="0"/>
              <a:t> цвета на </a:t>
            </a:r>
            <a:r>
              <a:rPr lang="ru-RU" dirty="0" err="1"/>
              <a:t>светлината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9747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2813" y="0"/>
            <a:ext cx="77724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chemeClr val="tx1"/>
                </a:solidFill>
                <a:latin typeface="Arial Narrow" pitchFamily="34" charset="0"/>
              </a:rPr>
              <a:t>VA </a:t>
            </a: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характеристика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6778626" y="1146645"/>
            <a:ext cx="478998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Поради по-широката забранена зона на материалите, светодиодите имат значително по-голям пад в права посока от </a:t>
            </a:r>
            <a:r>
              <a:rPr lang="en-US" sz="1800" i="0" dirty="0" err="1"/>
              <a:t>Ge</a:t>
            </a:r>
            <a:r>
              <a:rPr lang="en-US" sz="1800" i="0" dirty="0"/>
              <a:t> </a:t>
            </a:r>
            <a:r>
              <a:rPr lang="bg-BG" sz="1800" i="0" dirty="0"/>
              <a:t>и </a:t>
            </a:r>
            <a:r>
              <a:rPr lang="en-US" sz="1800" i="0" dirty="0"/>
              <a:t>Si </a:t>
            </a:r>
            <a:r>
              <a:rPr lang="bg-BG" sz="1800" i="0" dirty="0"/>
              <a:t>изправителни диоди.</a:t>
            </a:r>
            <a:endParaRPr lang="en-US" sz="1800" i="0" dirty="0"/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2063553" y="4869160"/>
            <a:ext cx="6308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i="0" dirty="0"/>
              <a:t>VA</a:t>
            </a:r>
            <a:r>
              <a:rPr lang="bg-BG" sz="1600" i="0" dirty="0"/>
              <a:t> характеристика на червен и зелен светодиод</a:t>
            </a:r>
            <a:endParaRPr lang="en-US" sz="1600" i="0" dirty="0"/>
          </a:p>
        </p:txBody>
      </p:sp>
      <p:sp>
        <p:nvSpPr>
          <p:cNvPr id="32" name="Rectangle 31"/>
          <p:cNvSpPr/>
          <p:nvPr/>
        </p:nvSpPr>
        <p:spPr bwMode="auto">
          <a:xfrm>
            <a:off x="9123586" y="3006080"/>
            <a:ext cx="171677" cy="15777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 sz="2400" i="1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1143000"/>
            <a:ext cx="449580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647728" y="11430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F</a:t>
            </a:r>
            <a:r>
              <a:rPr lang="en-US" dirty="0"/>
              <a:t>, 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9281" y="259398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</a:t>
            </a:r>
            <a:r>
              <a:rPr lang="en-US" baseline="-25000" dirty="0"/>
              <a:t>F</a:t>
            </a:r>
            <a:r>
              <a:rPr lang="en-US" dirty="0"/>
              <a:t>,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600" y="3220894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rgbClr val="00B050"/>
                </a:solidFill>
              </a:rPr>
              <a:t>2,2</a:t>
            </a:r>
            <a:r>
              <a:rPr lang="en-US" dirty="0">
                <a:solidFill>
                  <a:srgbClr val="00B050"/>
                </a:solidFill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3873" y="3592885"/>
            <a:ext cx="88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1,7V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9616" y="220486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mA</a:t>
            </a:r>
          </a:p>
        </p:txBody>
      </p:sp>
    </p:spTree>
    <p:extLst>
      <p:ext uri="{BB962C8B-B14F-4D97-AF65-F5344CB8AC3E}">
        <p14:creationId xmlns:p14="http://schemas.microsoft.com/office/powerpoint/2010/main" val="3758666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82813" y="0"/>
            <a:ext cx="77724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2400" dirty="0">
                <a:solidFill>
                  <a:schemeClr val="tx1"/>
                </a:solidFill>
                <a:latin typeface="Arial Narrow" pitchFamily="34" charset="0"/>
              </a:rPr>
              <a:t>Светлинна характеристика</a:t>
            </a:r>
            <a:endParaRPr lang="en-US" sz="2400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551384" y="5086520"/>
            <a:ext cx="108732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Областта на насищане при големи стойности на тока се дължи на нарастване на относителния дял на безизлъчвателната рекомбинация при загряване на прехода.</a:t>
            </a:r>
            <a:endParaRPr lang="en-US" sz="1800" i="0" dirty="0"/>
          </a:p>
        </p:txBody>
      </p:sp>
      <p:sp>
        <p:nvSpPr>
          <p:cNvPr id="37" name="Text Box 5"/>
          <p:cNvSpPr txBox="1">
            <a:spLocks noChangeArrowheads="1"/>
          </p:cNvSpPr>
          <p:nvPr/>
        </p:nvSpPr>
        <p:spPr bwMode="auto">
          <a:xfrm>
            <a:off x="5735960" y="1545035"/>
            <a:ext cx="60486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Представлява зависимостта на излъчения светлинен поток </a:t>
            </a:r>
            <a:r>
              <a:rPr lang="el-GR" sz="1800" i="0" dirty="0"/>
              <a:t>Φ</a:t>
            </a:r>
            <a:r>
              <a:rPr lang="bg-BG" sz="1800" i="0" dirty="0"/>
              <a:t> от тока </a:t>
            </a:r>
            <a:r>
              <a:rPr lang="en-US" sz="1800" dirty="0"/>
              <a:t>I</a:t>
            </a:r>
            <a:r>
              <a:rPr lang="en-US" sz="1800" baseline="-25000" dirty="0"/>
              <a:t>F</a:t>
            </a:r>
            <a:r>
              <a:rPr lang="bg-BG" sz="1800" i="0" dirty="0"/>
              <a:t>, протичащ през диода. </a:t>
            </a:r>
            <a:endParaRPr lang="en-US" sz="1800" i="0" dirty="0"/>
          </a:p>
        </p:txBody>
      </p:sp>
      <p:grpSp>
        <p:nvGrpSpPr>
          <p:cNvPr id="38" name="Group 37"/>
          <p:cNvGrpSpPr/>
          <p:nvPr/>
        </p:nvGrpSpPr>
        <p:grpSpPr>
          <a:xfrm>
            <a:off x="1775520" y="1385377"/>
            <a:ext cx="3519715" cy="2598058"/>
            <a:chOff x="986971" y="1494971"/>
            <a:chExt cx="3519715" cy="2598058"/>
          </a:xfrm>
        </p:grpSpPr>
        <p:cxnSp>
          <p:nvCxnSpPr>
            <p:cNvPr id="39" name="Straight Arrow Connector 38"/>
            <p:cNvCxnSpPr/>
            <p:nvPr/>
          </p:nvCxnSpPr>
          <p:spPr bwMode="auto">
            <a:xfrm flipV="1">
              <a:off x="986971" y="1654629"/>
              <a:ext cx="0" cy="24384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0" name="Straight Arrow Connector 39"/>
            <p:cNvCxnSpPr/>
            <p:nvPr/>
          </p:nvCxnSpPr>
          <p:spPr bwMode="auto">
            <a:xfrm>
              <a:off x="986971" y="4093029"/>
              <a:ext cx="3033486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1" name="Freeform 40"/>
            <p:cNvSpPr/>
            <p:nvPr/>
          </p:nvSpPr>
          <p:spPr bwMode="auto">
            <a:xfrm>
              <a:off x="986971" y="2757714"/>
              <a:ext cx="2960915" cy="1335315"/>
            </a:xfrm>
            <a:custGeom>
              <a:avLst/>
              <a:gdLst>
                <a:gd name="connsiteX0" fmla="*/ 0 w 2960915"/>
                <a:gd name="connsiteY0" fmla="*/ 1335315 h 1335315"/>
                <a:gd name="connsiteX1" fmla="*/ 812800 w 2960915"/>
                <a:gd name="connsiteY1" fmla="*/ 203200 h 1335315"/>
                <a:gd name="connsiteX2" fmla="*/ 2960915 w 2960915"/>
                <a:gd name="connsiteY2" fmla="*/ 0 h 1335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60915" h="1335315">
                  <a:moveTo>
                    <a:pt x="0" y="1335315"/>
                  </a:moveTo>
                  <a:cubicBezTo>
                    <a:pt x="159657" y="880533"/>
                    <a:pt x="319314" y="425752"/>
                    <a:pt x="812800" y="203200"/>
                  </a:cubicBezTo>
                  <a:cubicBezTo>
                    <a:pt x="1306286" y="-19352"/>
                    <a:pt x="2588382" y="36286"/>
                    <a:pt x="2960915" y="0"/>
                  </a:cubicBezTo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hangingPunct="0"/>
              <a:endParaRPr lang="en-US" sz="2400" i="1">
                <a:latin typeface="Arial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75657" y="1494971"/>
              <a:ext cx="1117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Φ</a:t>
              </a:r>
              <a:r>
                <a:rPr lang="en-US" dirty="0"/>
                <a:t>, </a:t>
              </a:r>
              <a:r>
                <a:rPr lang="en-US" dirty="0" err="1"/>
                <a:t>mW</a:t>
              </a:r>
              <a:endParaRPr lang="en-US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389086" y="3680155"/>
              <a:ext cx="1117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F</a:t>
              </a:r>
              <a:r>
                <a:rPr lang="en-US" dirty="0"/>
                <a:t>, mA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9832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2E0F15-6077-9BA3-9578-B609FEFD7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1176152"/>
            <a:ext cx="10056440" cy="55405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DDFD32-0921-CA91-D665-766241F9ED4D}"/>
              </a:ext>
            </a:extLst>
          </p:cNvPr>
          <p:cNvSpPr txBox="1"/>
          <p:nvPr/>
        </p:nvSpPr>
        <p:spPr>
          <a:xfrm>
            <a:off x="11231470" y="6608987"/>
            <a:ext cx="9605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NF2E757HT-F1</a:t>
            </a:r>
            <a:endParaRPr lang="bg-BG" sz="800" dirty="0"/>
          </a:p>
        </p:txBody>
      </p:sp>
    </p:spTree>
    <p:extLst>
      <p:ext uri="{BB962C8B-B14F-4D97-AF65-F5344CB8AC3E}">
        <p14:creationId xmlns:p14="http://schemas.microsoft.com/office/powerpoint/2010/main" val="1135897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42E4C8-D724-4A5E-861D-2FD451FDE9DC}"/>
              </a:ext>
            </a:extLst>
          </p:cNvPr>
          <p:cNvSpPr txBox="1"/>
          <p:nvPr/>
        </p:nvSpPr>
        <p:spPr>
          <a:xfrm>
            <a:off x="479376" y="2204864"/>
            <a:ext cx="114611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Задача: </a:t>
            </a:r>
            <a:r>
              <a:rPr lang="ru-RU" dirty="0" err="1"/>
              <a:t>Проектирайте</a:t>
            </a:r>
            <a:r>
              <a:rPr lang="ru-RU" dirty="0"/>
              <a:t> схема на </a:t>
            </a:r>
            <a:r>
              <a:rPr lang="ru-RU" dirty="0" err="1"/>
              <a:t>захранване</a:t>
            </a:r>
            <a:r>
              <a:rPr lang="ru-RU" dirty="0"/>
              <a:t> на </a:t>
            </a:r>
            <a:r>
              <a:rPr lang="ru-RU" dirty="0" err="1"/>
              <a:t>син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bg-BG" dirty="0"/>
              <a:t>бял, червен,…)</a:t>
            </a:r>
            <a:r>
              <a:rPr lang="ru-RU" dirty="0"/>
              <a:t> светодиод. </a:t>
            </a:r>
            <a:r>
              <a:rPr lang="ru-RU" dirty="0" err="1"/>
              <a:t>Захранващото</a:t>
            </a:r>
            <a:r>
              <a:rPr lang="ru-RU" dirty="0"/>
              <a:t> </a:t>
            </a:r>
            <a:r>
              <a:rPr lang="ru-RU" dirty="0" err="1"/>
              <a:t>напрежение</a:t>
            </a:r>
            <a:r>
              <a:rPr lang="ru-RU" dirty="0"/>
              <a:t> е 12V.</a:t>
            </a:r>
            <a:endParaRPr lang="en-US" dirty="0"/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Намерете</a:t>
            </a:r>
            <a:r>
              <a:rPr lang="ru-RU" dirty="0"/>
              <a:t> </a:t>
            </a:r>
            <a:r>
              <a:rPr lang="ru-RU" dirty="0" err="1"/>
              <a:t>каталожни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и изберете </a:t>
            </a:r>
            <a:r>
              <a:rPr lang="ru-RU" b="1" dirty="0"/>
              <a:t>конкретен </a:t>
            </a:r>
            <a:r>
              <a:rPr lang="ru-RU" b="1" dirty="0" err="1"/>
              <a:t>модел</a:t>
            </a:r>
            <a:r>
              <a:rPr lang="ru-RU" b="1" dirty="0"/>
              <a:t> </a:t>
            </a:r>
            <a:r>
              <a:rPr lang="ru-RU" dirty="0"/>
              <a:t>светодиод.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 </a:t>
            </a:r>
            <a:r>
              <a:rPr lang="ru-RU" dirty="0" err="1"/>
              <a:t>каталожните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изберете </a:t>
            </a:r>
            <a:r>
              <a:rPr lang="ru-RU" b="1" dirty="0" err="1"/>
              <a:t>подходящ</a:t>
            </a:r>
            <a:r>
              <a:rPr lang="ru-RU" b="1" dirty="0"/>
              <a:t> ток </a:t>
            </a:r>
            <a:r>
              <a:rPr lang="ru-RU" b="1" dirty="0" err="1"/>
              <a:t>през</a:t>
            </a:r>
            <a:r>
              <a:rPr lang="ru-RU" b="1" dirty="0"/>
              <a:t> диода</a:t>
            </a:r>
            <a:r>
              <a:rPr lang="ru-RU" dirty="0"/>
              <a:t>. Той не </a:t>
            </a:r>
            <a:r>
              <a:rPr lang="ru-RU" dirty="0" err="1"/>
              <a:t>трябва</a:t>
            </a:r>
            <a:r>
              <a:rPr lang="ru-RU" dirty="0"/>
              <a:t> да </a:t>
            </a:r>
            <a:r>
              <a:rPr lang="ru-RU" dirty="0" err="1"/>
              <a:t>надхвърля</a:t>
            </a:r>
            <a:r>
              <a:rPr lang="ru-RU" dirty="0"/>
              <a:t> </a:t>
            </a:r>
            <a:r>
              <a:rPr lang="ru-RU" dirty="0" err="1"/>
              <a:t>указаната</a:t>
            </a:r>
            <a:r>
              <a:rPr lang="ru-RU" dirty="0"/>
              <a:t> </a:t>
            </a:r>
            <a:r>
              <a:rPr lang="ru-RU" dirty="0" err="1"/>
              <a:t>максимална</a:t>
            </a:r>
            <a:r>
              <a:rPr lang="ru-RU" dirty="0"/>
              <a:t> </a:t>
            </a:r>
            <a:r>
              <a:rPr lang="ru-RU" dirty="0" err="1"/>
              <a:t>стойност</a:t>
            </a:r>
            <a:r>
              <a:rPr lang="ru-RU" dirty="0"/>
              <a:t>, но и не </a:t>
            </a:r>
            <a:r>
              <a:rPr lang="ru-RU" dirty="0" err="1"/>
              <a:t>трябва</a:t>
            </a:r>
            <a:r>
              <a:rPr lang="ru-RU" dirty="0"/>
              <a:t> да е </a:t>
            </a:r>
            <a:r>
              <a:rPr lang="ru-RU" dirty="0" err="1"/>
              <a:t>твърде</a:t>
            </a:r>
            <a:r>
              <a:rPr lang="ru-RU" dirty="0"/>
              <a:t> </a:t>
            </a:r>
            <a:r>
              <a:rPr lang="ru-RU" dirty="0" err="1"/>
              <a:t>малък</a:t>
            </a:r>
            <a:r>
              <a:rPr lang="ru-RU" dirty="0"/>
              <a:t> </a:t>
            </a:r>
            <a:r>
              <a:rPr lang="ru-RU" dirty="0" err="1"/>
              <a:t>защото</a:t>
            </a:r>
            <a:r>
              <a:rPr lang="ru-RU" dirty="0"/>
              <a:t> </a:t>
            </a:r>
            <a:r>
              <a:rPr lang="ru-RU" dirty="0" err="1"/>
              <a:t>излъчването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е слабо.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Скицирайте</a:t>
            </a:r>
            <a:r>
              <a:rPr lang="ru-RU" dirty="0"/>
              <a:t> схема на </a:t>
            </a:r>
            <a:r>
              <a:rPr lang="ru-RU" dirty="0" err="1"/>
              <a:t>свързване</a:t>
            </a:r>
            <a:r>
              <a:rPr lang="ru-RU" dirty="0"/>
              <a:t> на светодиод.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Oразмерете</a:t>
            </a:r>
            <a:r>
              <a:rPr lang="ru-RU" dirty="0"/>
              <a:t> </a:t>
            </a:r>
            <a:r>
              <a:rPr lang="ru-RU" dirty="0" err="1"/>
              <a:t>схемата</a:t>
            </a:r>
            <a:endParaRPr lang="ru-RU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8B6FD23-458C-E08D-4CFA-5A070A6E587D}"/>
              </a:ext>
            </a:extLst>
          </p:cNvPr>
          <p:cNvSpPr txBox="1">
            <a:spLocks noChangeArrowheads="1"/>
          </p:cNvSpPr>
          <p:nvPr/>
        </p:nvSpPr>
        <p:spPr>
          <a:xfrm>
            <a:off x="1538101" y="0"/>
            <a:ext cx="9115797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ru-RU" sz="2400" dirty="0">
                <a:solidFill>
                  <a:schemeClr val="tx1"/>
                </a:solidFill>
                <a:latin typeface="Arial Narrow" pitchFamily="34" charset="0"/>
              </a:rPr>
              <a:t>Оразмеряване на схема със светодиод</a:t>
            </a:r>
          </a:p>
        </p:txBody>
      </p:sp>
    </p:spTree>
    <p:extLst>
      <p:ext uri="{BB962C8B-B14F-4D97-AF65-F5344CB8AC3E}">
        <p14:creationId xmlns:p14="http://schemas.microsoft.com/office/powerpoint/2010/main" val="1667702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2B6B5-F54C-45BC-BBE3-57D0BA4C3155}"/>
              </a:ext>
            </a:extLst>
          </p:cNvPr>
          <p:cNvSpPr txBox="1"/>
          <p:nvPr/>
        </p:nvSpPr>
        <p:spPr>
          <a:xfrm>
            <a:off x="983432" y="1628800"/>
            <a:ext cx="9073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https://cree-led.com/media/documents/C503B-BCS-BCN-GCS-GCN-1094.pdf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27669-CC35-4217-8560-850E05256DAE}"/>
              </a:ext>
            </a:extLst>
          </p:cNvPr>
          <p:cNvSpPr txBox="1"/>
          <p:nvPr/>
        </p:nvSpPr>
        <p:spPr>
          <a:xfrm>
            <a:off x="335360" y="836712"/>
            <a:ext cx="7560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Google search: blue led datasheet</a:t>
            </a:r>
            <a:r>
              <a:rPr lang="bg-BG" dirty="0"/>
              <a:t> (</a:t>
            </a:r>
            <a:r>
              <a:rPr lang="en-US" dirty="0"/>
              <a:t>white led datasheet, …)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05E66C-A5C3-4587-8635-EDAC73A7F3C9}"/>
              </a:ext>
            </a:extLst>
          </p:cNvPr>
          <p:cNvSpPr txBox="1"/>
          <p:nvPr/>
        </p:nvSpPr>
        <p:spPr>
          <a:xfrm>
            <a:off x="263352" y="228773"/>
            <a:ext cx="9865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Намерете</a:t>
            </a:r>
            <a:r>
              <a:rPr lang="ru-RU" dirty="0"/>
              <a:t> </a:t>
            </a:r>
            <a:r>
              <a:rPr lang="ru-RU" dirty="0" err="1"/>
              <a:t>каталожни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и изберете конкретен </a:t>
            </a:r>
            <a:r>
              <a:rPr lang="ru-RU" dirty="0" err="1"/>
              <a:t>модел</a:t>
            </a:r>
            <a:r>
              <a:rPr lang="ru-RU" dirty="0"/>
              <a:t> светодиод.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1C71C-B1C9-47B8-81BB-4B54F7A898AD}"/>
              </a:ext>
            </a:extLst>
          </p:cNvPr>
          <p:cNvSpPr txBox="1"/>
          <p:nvPr/>
        </p:nvSpPr>
        <p:spPr>
          <a:xfrm>
            <a:off x="956572" y="2440329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https://www.vishay.com/docs/81159/vlhw5100.pdf</a:t>
            </a:r>
          </a:p>
        </p:txBody>
      </p:sp>
    </p:spTree>
    <p:extLst>
      <p:ext uri="{BB962C8B-B14F-4D97-AF65-F5344CB8AC3E}">
        <p14:creationId xmlns:p14="http://schemas.microsoft.com/office/powerpoint/2010/main" val="67361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A05E66C-A5C3-4587-8635-EDAC73A7F3C9}"/>
              </a:ext>
            </a:extLst>
          </p:cNvPr>
          <p:cNvSpPr txBox="1"/>
          <p:nvPr/>
        </p:nvSpPr>
        <p:spPr>
          <a:xfrm>
            <a:off x="257235" y="240176"/>
            <a:ext cx="11677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От </a:t>
            </a:r>
            <a:r>
              <a:rPr lang="ru-RU" dirty="0" err="1"/>
              <a:t>каталожните</a:t>
            </a:r>
            <a:r>
              <a:rPr lang="ru-RU" dirty="0"/>
              <a:t> </a:t>
            </a:r>
            <a:r>
              <a:rPr lang="ru-RU" dirty="0" err="1"/>
              <a:t>данни</a:t>
            </a:r>
            <a:r>
              <a:rPr lang="ru-RU" dirty="0"/>
              <a:t> изберете </a:t>
            </a:r>
            <a:r>
              <a:rPr lang="ru-RU" dirty="0" err="1"/>
              <a:t>подходящ</a:t>
            </a:r>
            <a:r>
              <a:rPr lang="ru-RU" dirty="0"/>
              <a:t> ток </a:t>
            </a:r>
            <a:r>
              <a:rPr lang="ru-RU" dirty="0" err="1"/>
              <a:t>през</a:t>
            </a:r>
            <a:r>
              <a:rPr lang="ru-RU" dirty="0"/>
              <a:t> диода. Той не </a:t>
            </a:r>
            <a:r>
              <a:rPr lang="ru-RU" dirty="0" err="1"/>
              <a:t>трябва</a:t>
            </a:r>
            <a:r>
              <a:rPr lang="ru-RU" dirty="0"/>
              <a:t> да </a:t>
            </a:r>
            <a:r>
              <a:rPr lang="ru-RU" dirty="0" err="1"/>
              <a:t>надхвърля</a:t>
            </a:r>
            <a:r>
              <a:rPr lang="ru-RU" dirty="0"/>
              <a:t> </a:t>
            </a:r>
            <a:r>
              <a:rPr lang="ru-RU" dirty="0" err="1"/>
              <a:t>указаната</a:t>
            </a:r>
            <a:r>
              <a:rPr lang="ru-RU" dirty="0"/>
              <a:t> </a:t>
            </a:r>
            <a:r>
              <a:rPr lang="ru-RU" dirty="0" err="1"/>
              <a:t>максимална</a:t>
            </a:r>
            <a:r>
              <a:rPr lang="ru-RU" dirty="0"/>
              <a:t> </a:t>
            </a:r>
            <a:r>
              <a:rPr lang="ru-RU" dirty="0" err="1"/>
              <a:t>стойност</a:t>
            </a:r>
            <a:r>
              <a:rPr lang="ru-RU" dirty="0"/>
              <a:t>, но и не </a:t>
            </a:r>
            <a:r>
              <a:rPr lang="ru-RU" dirty="0" err="1"/>
              <a:t>трябва</a:t>
            </a:r>
            <a:r>
              <a:rPr lang="ru-RU" dirty="0"/>
              <a:t> да е </a:t>
            </a:r>
            <a:r>
              <a:rPr lang="ru-RU" dirty="0" err="1"/>
              <a:t>твърде</a:t>
            </a:r>
            <a:r>
              <a:rPr lang="ru-RU" dirty="0"/>
              <a:t> </a:t>
            </a:r>
            <a:r>
              <a:rPr lang="ru-RU" dirty="0" err="1"/>
              <a:t>малък</a:t>
            </a:r>
            <a:r>
              <a:rPr lang="ru-RU" dirty="0"/>
              <a:t> </a:t>
            </a:r>
            <a:r>
              <a:rPr lang="ru-RU" dirty="0" err="1"/>
              <a:t>защото</a:t>
            </a:r>
            <a:r>
              <a:rPr lang="ru-RU" dirty="0"/>
              <a:t> </a:t>
            </a:r>
            <a:r>
              <a:rPr lang="ru-RU" dirty="0" err="1"/>
              <a:t>излъчването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е слабо.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4DFB3-5C13-4663-962D-C04239537AD4}"/>
              </a:ext>
            </a:extLst>
          </p:cNvPr>
          <p:cNvSpPr txBox="1"/>
          <p:nvPr/>
        </p:nvSpPr>
        <p:spPr>
          <a:xfrm>
            <a:off x="3271611" y="4150504"/>
            <a:ext cx="226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Избирам </a:t>
            </a:r>
            <a:r>
              <a:rPr lang="en-US" dirty="0"/>
              <a:t>IF </a:t>
            </a:r>
            <a:r>
              <a:rPr lang="bg-BG" dirty="0"/>
              <a:t>= 2</a:t>
            </a:r>
            <a:r>
              <a:rPr lang="en-US" dirty="0"/>
              <a:t>0mA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DB438-4A0A-D2CA-7241-B32387F50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02" y="928699"/>
            <a:ext cx="9821646" cy="39629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CFB055-34E2-406B-B432-96A2696A6B29}"/>
              </a:ext>
            </a:extLst>
          </p:cNvPr>
          <p:cNvSpPr/>
          <p:nvPr/>
        </p:nvSpPr>
        <p:spPr>
          <a:xfrm>
            <a:off x="336006" y="1948849"/>
            <a:ext cx="9648426" cy="3243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AE013-D5D1-41BC-82AE-CC5237EA1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122" y="3449165"/>
            <a:ext cx="3368322" cy="316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217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21E48F-13F4-5D1F-F799-5C0CAD227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011"/>
          <a:stretch/>
        </p:blipFill>
        <p:spPr>
          <a:xfrm>
            <a:off x="93562" y="1764713"/>
            <a:ext cx="12098438" cy="33204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40C545-8573-3AB7-CAD8-076A32CFBBF0}"/>
              </a:ext>
            </a:extLst>
          </p:cNvPr>
          <p:cNvSpPr/>
          <p:nvPr/>
        </p:nvSpPr>
        <p:spPr>
          <a:xfrm>
            <a:off x="227348" y="2636912"/>
            <a:ext cx="11737304" cy="3243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12D272-E4E8-F406-A890-839A45D72105}"/>
              </a:ext>
            </a:extLst>
          </p:cNvPr>
          <p:cNvSpPr txBox="1"/>
          <p:nvPr/>
        </p:nvSpPr>
        <p:spPr>
          <a:xfrm>
            <a:off x="93562" y="620688"/>
            <a:ext cx="11677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38A8"/>
                </a:solidFill>
              </a:rPr>
              <a:t>Добра идея е да изберете </a:t>
            </a:r>
            <a:r>
              <a:rPr lang="ru-RU" dirty="0" err="1">
                <a:solidFill>
                  <a:srgbClr val="0038A8"/>
                </a:solidFill>
              </a:rPr>
              <a:t>стойноста</a:t>
            </a:r>
            <a:r>
              <a:rPr lang="ru-RU" dirty="0">
                <a:solidFill>
                  <a:srgbClr val="0038A8"/>
                </a:solidFill>
              </a:rPr>
              <a:t> на </a:t>
            </a:r>
            <a:r>
              <a:rPr lang="en-US" dirty="0">
                <a:solidFill>
                  <a:srgbClr val="0038A8"/>
                </a:solidFill>
              </a:rPr>
              <a:t>If </a:t>
            </a:r>
            <a:r>
              <a:rPr lang="bg-BG" dirty="0">
                <a:solidFill>
                  <a:srgbClr val="0038A8"/>
                </a:solidFill>
              </a:rPr>
              <a:t>за която са дадени типични стойност на </a:t>
            </a:r>
            <a:r>
              <a:rPr lang="en-US" dirty="0" err="1">
                <a:solidFill>
                  <a:srgbClr val="0038A8"/>
                </a:solidFill>
              </a:rPr>
              <a:t>Uf</a:t>
            </a:r>
            <a:r>
              <a:rPr lang="en-US" dirty="0">
                <a:solidFill>
                  <a:srgbClr val="0038A8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3D6E8-4C78-8023-9B04-0307B71933F8}"/>
              </a:ext>
            </a:extLst>
          </p:cNvPr>
          <p:cNvSpPr txBox="1"/>
          <p:nvPr/>
        </p:nvSpPr>
        <p:spPr>
          <a:xfrm>
            <a:off x="3719736" y="5588051"/>
            <a:ext cx="505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rgbClr val="FF0000"/>
                </a:solidFill>
              </a:rPr>
              <a:t>Избираме </a:t>
            </a:r>
            <a:r>
              <a:rPr lang="en-US" dirty="0">
                <a:solidFill>
                  <a:srgbClr val="FF0000"/>
                </a:solidFill>
              </a:rPr>
              <a:t>If = 20mA, </a:t>
            </a:r>
            <a:r>
              <a:rPr lang="bg-BG" dirty="0">
                <a:solidFill>
                  <a:srgbClr val="FF0000"/>
                </a:solidFill>
              </a:rPr>
              <a:t>при което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Uf</a:t>
            </a:r>
            <a:r>
              <a:rPr lang="en-US" dirty="0">
                <a:solidFill>
                  <a:srgbClr val="FF0000"/>
                </a:solidFill>
              </a:rPr>
              <a:t> = 3.2V</a:t>
            </a:r>
          </a:p>
        </p:txBody>
      </p:sp>
    </p:spTree>
    <p:extLst>
      <p:ext uri="{BB962C8B-B14F-4D97-AF65-F5344CB8AC3E}">
        <p14:creationId xmlns:p14="http://schemas.microsoft.com/office/powerpoint/2010/main" val="4172713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7ACB7C-AAD0-4AE0-A3F4-7D7371E99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61" y="1496119"/>
            <a:ext cx="4376228" cy="24256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E93F65-2167-43DA-A6DB-17C48575B1D0}"/>
              </a:ext>
            </a:extLst>
          </p:cNvPr>
          <p:cNvSpPr txBox="1"/>
          <p:nvPr/>
        </p:nvSpPr>
        <p:spPr>
          <a:xfrm>
            <a:off x="1053199" y="4365104"/>
            <a:ext cx="3288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D1: I_D1 </a:t>
            </a:r>
            <a:r>
              <a:rPr lang="bg-BG" dirty="0">
                <a:solidFill>
                  <a:srgbClr val="00B050"/>
                </a:solidFill>
              </a:rPr>
              <a:t>= 2</a:t>
            </a:r>
            <a:r>
              <a:rPr lang="en-US" dirty="0">
                <a:solidFill>
                  <a:srgbClr val="00B050"/>
                </a:solidFill>
              </a:rPr>
              <a:t>0mA</a:t>
            </a:r>
            <a:r>
              <a:rPr lang="bg-BG" dirty="0">
                <a:solidFill>
                  <a:srgbClr val="00B050"/>
                </a:solidFill>
              </a:rPr>
              <a:t>, </a:t>
            </a:r>
            <a:r>
              <a:rPr lang="en-US" dirty="0">
                <a:solidFill>
                  <a:srgbClr val="00B050"/>
                </a:solidFill>
              </a:rPr>
              <a:t>U_D1=3.2V</a:t>
            </a:r>
          </a:p>
          <a:p>
            <a:r>
              <a:rPr lang="en-US" dirty="0">
                <a:solidFill>
                  <a:srgbClr val="00B050"/>
                </a:solidFill>
              </a:rPr>
              <a:t>U1 = 12V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68578-B92C-4099-9153-592A46F2D7CD}"/>
              </a:ext>
            </a:extLst>
          </p:cNvPr>
          <p:cNvSpPr txBox="1"/>
          <p:nvPr/>
        </p:nvSpPr>
        <p:spPr>
          <a:xfrm>
            <a:off x="6633311" y="2413337"/>
            <a:ext cx="460260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bg-BG" dirty="0"/>
              <a:t>1</a:t>
            </a:r>
            <a:r>
              <a:rPr lang="en-US" dirty="0"/>
              <a:t> = U_R1 / I_R1 – </a:t>
            </a:r>
            <a:r>
              <a:rPr lang="bg-BG" dirty="0"/>
              <a:t>закон на Ом</a:t>
            </a:r>
          </a:p>
          <a:p>
            <a:endParaRPr lang="en-US" dirty="0"/>
          </a:p>
          <a:p>
            <a:r>
              <a:rPr lang="en-US" dirty="0"/>
              <a:t>U1 = U_R1 + U_D1 – </a:t>
            </a:r>
            <a:r>
              <a:rPr lang="bg-BG" dirty="0"/>
              <a:t>закон на </a:t>
            </a:r>
            <a:r>
              <a:rPr lang="bg-BG" dirty="0" err="1"/>
              <a:t>Кирхоф</a:t>
            </a:r>
            <a:endParaRPr lang="bg-BG" dirty="0"/>
          </a:p>
          <a:p>
            <a:r>
              <a:rPr lang="en-US" dirty="0"/>
              <a:t>U_R1 = U1 – U_D1 = 12V – 3.2V = 8.8V</a:t>
            </a:r>
          </a:p>
          <a:p>
            <a:endParaRPr lang="en-US" dirty="0"/>
          </a:p>
          <a:p>
            <a:r>
              <a:rPr lang="en-US" dirty="0"/>
              <a:t>I_R1 = I_D1 = 20mA</a:t>
            </a:r>
          </a:p>
          <a:p>
            <a:endParaRPr lang="en-US" dirty="0"/>
          </a:p>
          <a:p>
            <a:r>
              <a:rPr lang="en-US" dirty="0"/>
              <a:t>R</a:t>
            </a:r>
            <a:r>
              <a:rPr lang="bg-BG" dirty="0"/>
              <a:t>1</a:t>
            </a:r>
            <a:r>
              <a:rPr lang="en-US" dirty="0"/>
              <a:t> = 8.8V / 20mA = 0.44 </a:t>
            </a:r>
            <a:r>
              <a:rPr lang="en-US" dirty="0" err="1"/>
              <a:t>kOhm</a:t>
            </a:r>
            <a:r>
              <a:rPr lang="en-US" dirty="0"/>
              <a:t> = 440 Ohm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04F11-DAB1-4F4B-88BC-4F66E8CA8A94}"/>
              </a:ext>
            </a:extLst>
          </p:cNvPr>
          <p:cNvSpPr txBox="1"/>
          <p:nvPr/>
        </p:nvSpPr>
        <p:spPr>
          <a:xfrm>
            <a:off x="551384" y="260648"/>
            <a:ext cx="6768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Скицирайте</a:t>
            </a:r>
            <a:r>
              <a:rPr lang="ru-RU" dirty="0"/>
              <a:t> схема на </a:t>
            </a:r>
            <a:r>
              <a:rPr lang="ru-RU" dirty="0" err="1"/>
              <a:t>свързване</a:t>
            </a:r>
            <a:r>
              <a:rPr lang="ru-RU" dirty="0"/>
              <a:t> на светодиод.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Oразмерете</a:t>
            </a:r>
            <a:r>
              <a:rPr lang="ru-RU" dirty="0"/>
              <a:t> </a:t>
            </a:r>
            <a:r>
              <a:rPr lang="ru-RU" dirty="0" err="1"/>
              <a:t>схемата</a:t>
            </a:r>
            <a:r>
              <a:rPr lang="en-US" dirty="0"/>
              <a:t> – </a:t>
            </a:r>
            <a:r>
              <a:rPr lang="bg-BG" dirty="0"/>
              <a:t>т.е. изчислете стойността на </a:t>
            </a:r>
            <a:r>
              <a:rPr lang="en-US" dirty="0"/>
              <a:t>R1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A12D5-6D6B-428A-8D00-822CE38C5277}"/>
              </a:ext>
            </a:extLst>
          </p:cNvPr>
          <p:cNvSpPr txBox="1"/>
          <p:nvPr/>
        </p:nvSpPr>
        <p:spPr>
          <a:xfrm>
            <a:off x="1072991" y="5344943"/>
            <a:ext cx="1626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означения</a:t>
            </a:r>
            <a:endParaRPr lang="en-US" dirty="0"/>
          </a:p>
          <a:p>
            <a:r>
              <a:rPr lang="en-US" dirty="0"/>
              <a:t>I</a:t>
            </a:r>
            <a:r>
              <a:rPr lang="en-US" baseline="-25000" dirty="0"/>
              <a:t>D1</a:t>
            </a:r>
            <a:r>
              <a:rPr lang="en-US" dirty="0"/>
              <a:t> =</a:t>
            </a:r>
            <a:r>
              <a:rPr lang="bg-BG" dirty="0"/>
              <a:t>&gt; </a:t>
            </a:r>
            <a:r>
              <a:rPr lang="en-US" dirty="0"/>
              <a:t>I_D1</a:t>
            </a:r>
            <a:endParaRPr lang="bg-BG" dirty="0"/>
          </a:p>
          <a:p>
            <a:r>
              <a:rPr lang="en-US" dirty="0"/>
              <a:t>U</a:t>
            </a:r>
            <a:r>
              <a:rPr lang="en-US" baseline="-25000" dirty="0"/>
              <a:t>D1</a:t>
            </a:r>
            <a:r>
              <a:rPr lang="en-US" dirty="0"/>
              <a:t> =&gt; U_D1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38B80C-7D15-473C-B394-61B31359E8F5}"/>
              </a:ext>
            </a:extLst>
          </p:cNvPr>
          <p:cNvSpPr txBox="1"/>
          <p:nvPr/>
        </p:nvSpPr>
        <p:spPr>
          <a:xfrm>
            <a:off x="6646022" y="4826769"/>
            <a:ext cx="492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bg-BG" dirty="0"/>
              <a:t>_</a:t>
            </a:r>
            <a:r>
              <a:rPr lang="en-US" dirty="0"/>
              <a:t>R1 = U_R1 * I_R1 = 8.8V * 0.02A = 0.176W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B52D05-AB7B-41D6-8199-57908F8FA35E}"/>
              </a:ext>
            </a:extLst>
          </p:cNvPr>
          <p:cNvSpPr/>
          <p:nvPr/>
        </p:nvSpPr>
        <p:spPr>
          <a:xfrm>
            <a:off x="6361538" y="4250705"/>
            <a:ext cx="5279078" cy="11521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12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39606F2-F173-8CE8-B433-8EFE17D963F9}"/>
              </a:ext>
            </a:extLst>
          </p:cNvPr>
          <p:cNvSpPr txBox="1"/>
          <p:nvPr/>
        </p:nvSpPr>
        <p:spPr>
          <a:xfrm>
            <a:off x="263352" y="1556792"/>
            <a:ext cx="111612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E24 values</a:t>
            </a:r>
            <a:r>
              <a:rPr lang="bg-BG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(5% tolerance)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1.0, 1.1, 1.2, 1.3, 1.5, 1.6, 1.8, 2.0, 2.2, 2.4, 2.7, 3.0, 3.3, 3.6, 3.9, 4.3, 4.7, 5.1, 5.6, 6.2, 6.8, 7.5, 8.2, 9.1</a:t>
            </a:r>
          </a:p>
          <a:p>
            <a:endParaRPr lang="bg-BG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E48 values</a:t>
            </a:r>
            <a:r>
              <a:rPr lang="bg-BG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(2% tolerance)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1.00, 1.05, 1.10, 1.15, 1.21, 1.27, 1.33, 1.40, 1.47, 1.54, 1.62, 1.69, 1.78, 1.87, 1.96, 2.05, 2.15, 2.26, 2.37, 2.49, 2.61, 2.74, 2.87, 3.01, 3.16, 3.32, 3.48, 3.65, 3.83, 4.02, 4.22, 4.42, 4.64, 4.87, 5.11, 5.36, 5.62, 5.90, 6.19, 6.49, 6.81, 7.15, 7.50, 7.87, 8.25, 8.66, 9.09, 9.53</a:t>
            </a:r>
          </a:p>
          <a:p>
            <a:endParaRPr lang="bg-BG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E96 values</a:t>
            </a:r>
            <a:r>
              <a:rPr lang="bg-BG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(1% tolerance)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1.00, 1.02, 1.05, 1.07, 1.10, 1.13, 1.15, 1.18, 1.21, 1.24, 1.27, 1.30, 1.33, 1.37, 1.40, 1.43, 1.47, 1.50, 1.54, 1.58, 1.62, 1.65, 1.69, 1.74, 1.78, 1.82, 1.87, 1.91, 1.96, 2.00, 2.05, 2.10, 2.15, 2.21, 2.26, 2.32, 2.37, 2.43, 2.49, 2.55, 2.61, 2.67, 2.74, 2.80, 2.87, 2.94, 3.01, 3.09, 3.16, 3.24, 3.32, 3.40, 3.48, 3.57, 3.65, 3.74, 3.83, 3.92, 4.02, 4.12, 4.22, 4.32, 4.42, 4.53, 4.64, 4.75, 4.87, 4.99, 5.11, 5.23, 5.36, 5.49, 5.62, 5.76, 5.90, 6.04, 6.19, 6.34, 6.49, 6.65, 6.81, 6.98, 7.15, 7.32, 7.50, 7.68, 7.87, 8.06, 8.25, 8.45, 8.66, 8.87, 9.09, 9.31, 9.53, 9.76</a:t>
            </a:r>
            <a:endParaRPr lang="bg-BG" sz="14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CB977A-316D-4484-BEDF-25D885BEAF90}"/>
              </a:ext>
            </a:extLst>
          </p:cNvPr>
          <p:cNvSpPr txBox="1"/>
          <p:nvPr/>
        </p:nvSpPr>
        <p:spPr>
          <a:xfrm>
            <a:off x="263352" y="188640"/>
            <a:ext cx="6264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Избор на стандартна стойност</a:t>
            </a:r>
            <a:r>
              <a:rPr lang="en-US" dirty="0"/>
              <a:t> </a:t>
            </a:r>
            <a:r>
              <a:rPr lang="bg-BG" dirty="0"/>
              <a:t>на резистора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7419AD-3A00-F5F4-DE94-ADD09EF75502}"/>
              </a:ext>
            </a:extLst>
          </p:cNvPr>
          <p:cNvSpPr txBox="1"/>
          <p:nvPr/>
        </p:nvSpPr>
        <p:spPr>
          <a:xfrm>
            <a:off x="263352" y="834966"/>
            <a:ext cx="11305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</a:t>
            </a:r>
            <a:r>
              <a:rPr lang="bg-BG" dirty="0"/>
              <a:t>1</a:t>
            </a:r>
            <a:r>
              <a:rPr lang="en-US" dirty="0"/>
              <a:t> = 440</a:t>
            </a:r>
            <a:r>
              <a:rPr lang="bg-BG" dirty="0"/>
              <a:t>Ω</a:t>
            </a:r>
            <a:r>
              <a:rPr lang="en-US" dirty="0"/>
              <a:t> </a:t>
            </a:r>
            <a:r>
              <a:rPr lang="bg-BG" dirty="0"/>
              <a:t>(изчислена стойност) =&gt; избираме стандартна стойност от ред </a:t>
            </a:r>
            <a:r>
              <a:rPr lang="en-US" dirty="0"/>
              <a:t>E24    R1 = 430</a:t>
            </a:r>
            <a:r>
              <a:rPr lang="bg-BG" dirty="0"/>
              <a:t>Ω</a:t>
            </a:r>
            <a:r>
              <a:rPr lang="en-US" dirty="0"/>
              <a:t>, 5%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59E82-E013-5BEF-BDB8-BCC0F3974813}"/>
              </a:ext>
            </a:extLst>
          </p:cNvPr>
          <p:cNvSpPr/>
          <p:nvPr/>
        </p:nvSpPr>
        <p:spPr>
          <a:xfrm>
            <a:off x="7680176" y="1700808"/>
            <a:ext cx="394946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377B04-F7CB-2F49-C42E-824D74CD3EA2}"/>
              </a:ext>
            </a:extLst>
          </p:cNvPr>
          <p:cNvSpPr txBox="1"/>
          <p:nvPr/>
        </p:nvSpPr>
        <p:spPr>
          <a:xfrm>
            <a:off x="263352" y="5373216"/>
            <a:ext cx="11875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Числата от тези редове се умножават по степени на 10 за да се получат стойностите на съпротивленията.</a:t>
            </a:r>
          </a:p>
          <a:p>
            <a:r>
              <a:rPr lang="bg-BG" dirty="0"/>
              <a:t>Например 4.3 съответства на 4.3Ω, 43Ω, 430Ω, 4.3кΩ, 43кΩ, 430кΩ и т.н.</a:t>
            </a:r>
          </a:p>
        </p:txBody>
      </p:sp>
    </p:spTree>
    <p:extLst>
      <p:ext uri="{BB962C8B-B14F-4D97-AF65-F5344CB8AC3E}">
        <p14:creationId xmlns:p14="http://schemas.microsoft.com/office/powerpoint/2010/main" val="3607748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782C3296-4611-4910-B161-5E434067E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" y="485567"/>
            <a:ext cx="5400600" cy="41188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1E72D6-C503-4D2E-8FFE-DFD798137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984" y="11413"/>
            <a:ext cx="5948082" cy="4393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E46E3E-682B-4155-ABF8-D857A38FB7D8}"/>
              </a:ext>
            </a:extLst>
          </p:cNvPr>
          <p:cNvSpPr txBox="1"/>
          <p:nvPr/>
        </p:nvSpPr>
        <p:spPr>
          <a:xfrm>
            <a:off x="879492" y="5733901"/>
            <a:ext cx="288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Избираме 1/4</a:t>
            </a:r>
            <a:r>
              <a:rPr lang="en-US" dirty="0"/>
              <a:t>W </a:t>
            </a:r>
            <a:r>
              <a:rPr lang="bg-BG" dirty="0"/>
              <a:t>резистор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AA45D-021D-444C-B547-D70F509CF50D}"/>
              </a:ext>
            </a:extLst>
          </p:cNvPr>
          <p:cNvSpPr txBox="1"/>
          <p:nvPr/>
        </p:nvSpPr>
        <p:spPr>
          <a:xfrm>
            <a:off x="879492" y="5157192"/>
            <a:ext cx="385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R</a:t>
            </a:r>
            <a:r>
              <a:rPr lang="en-US" dirty="0"/>
              <a:t>=U</a:t>
            </a:r>
            <a:r>
              <a:rPr lang="en-US" baseline="-25000" dirty="0"/>
              <a:t>R</a:t>
            </a:r>
            <a:r>
              <a:rPr lang="en-US" dirty="0"/>
              <a:t> * I</a:t>
            </a:r>
            <a:r>
              <a:rPr lang="en-US" baseline="-25000" dirty="0"/>
              <a:t>R</a:t>
            </a:r>
            <a:r>
              <a:rPr lang="en-US" dirty="0"/>
              <a:t> = 8.8V * 0.02A = 0.176W</a:t>
            </a:r>
          </a:p>
        </p:txBody>
      </p:sp>
      <p:pic>
        <p:nvPicPr>
          <p:cNvPr id="9" name="Picture 8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41BFFC77-E83A-4FFD-868D-27C4AE6E8B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049" y="4420283"/>
            <a:ext cx="5663952" cy="221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54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DD28C0-C606-41E7-B841-8F49DB089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620688"/>
            <a:ext cx="11736438" cy="61730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EB8881-07A2-4D8F-85AC-F6254476A709}"/>
              </a:ext>
            </a:extLst>
          </p:cNvPr>
          <p:cNvSpPr txBox="1"/>
          <p:nvPr/>
        </p:nvSpPr>
        <p:spPr>
          <a:xfrm>
            <a:off x="263352" y="251356"/>
            <a:ext cx="8097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>
                <a:solidFill>
                  <a:srgbClr val="0070C0"/>
                </a:solidFill>
              </a:rPr>
              <a:t>Задача: Да се оразмери схемата, така че през диодите да тече ток 20</a:t>
            </a:r>
            <a:r>
              <a:rPr lang="en-US" dirty="0">
                <a:solidFill>
                  <a:srgbClr val="0070C0"/>
                </a:solidFill>
              </a:rPr>
              <a:t>mA.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E2FC6-D4BB-4616-A53B-805060111BEE}"/>
              </a:ext>
            </a:extLst>
          </p:cNvPr>
          <p:cNvSpPr txBox="1"/>
          <p:nvPr/>
        </p:nvSpPr>
        <p:spPr>
          <a:xfrm>
            <a:off x="407368" y="764704"/>
            <a:ext cx="49039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От графиката: </a:t>
            </a:r>
            <a:r>
              <a:rPr lang="en-US" dirty="0"/>
              <a:t>If = 20mA -&gt; </a:t>
            </a:r>
            <a:r>
              <a:rPr lang="en-US" dirty="0" err="1"/>
              <a:t>Uf</a:t>
            </a:r>
            <a:r>
              <a:rPr lang="en-US" dirty="0"/>
              <a:t> = 3.5V</a:t>
            </a:r>
          </a:p>
          <a:p>
            <a:endParaRPr lang="en-US" dirty="0"/>
          </a:p>
          <a:p>
            <a:r>
              <a:rPr lang="en-US" dirty="0"/>
              <a:t>U_R1 = U1 – 3 .</a:t>
            </a:r>
            <a:r>
              <a:rPr lang="en-US" dirty="0" err="1"/>
              <a:t>Uf</a:t>
            </a:r>
            <a:r>
              <a:rPr lang="en-US" dirty="0"/>
              <a:t> = 12 – 10.5 = 1.5V</a:t>
            </a:r>
          </a:p>
          <a:p>
            <a:endParaRPr lang="en-US" dirty="0"/>
          </a:p>
          <a:p>
            <a:r>
              <a:rPr lang="en-US" dirty="0"/>
              <a:t>R1 = U_R1 / I_R1 = U_R1 / If = 1.5V / 20mA =</a:t>
            </a:r>
          </a:p>
          <a:p>
            <a:r>
              <a:rPr lang="en-US" dirty="0"/>
              <a:t>0.075 </a:t>
            </a:r>
            <a:r>
              <a:rPr lang="en-US" dirty="0" err="1"/>
              <a:t>kOhm</a:t>
            </a:r>
            <a:r>
              <a:rPr lang="en-US" dirty="0"/>
              <a:t> = 75 Ohm</a:t>
            </a:r>
          </a:p>
          <a:p>
            <a:endParaRPr lang="bg-BG" dirty="0"/>
          </a:p>
          <a:p>
            <a:r>
              <a:rPr lang="en-US" dirty="0"/>
              <a:t>P_R1 = U_R1 * I = 1.5V * 20mA = 30mW</a:t>
            </a:r>
          </a:p>
        </p:txBody>
      </p:sp>
    </p:spTree>
    <p:extLst>
      <p:ext uri="{BB962C8B-B14F-4D97-AF65-F5344CB8AC3E}">
        <p14:creationId xmlns:p14="http://schemas.microsoft.com/office/powerpoint/2010/main" val="4089520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EB8881-07A2-4D8F-85AC-F6254476A709}"/>
              </a:ext>
            </a:extLst>
          </p:cNvPr>
          <p:cNvSpPr txBox="1"/>
          <p:nvPr/>
        </p:nvSpPr>
        <p:spPr>
          <a:xfrm>
            <a:off x="263352" y="251356"/>
            <a:ext cx="266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>
                <a:solidFill>
                  <a:srgbClr val="0070C0"/>
                </a:solidFill>
              </a:rPr>
              <a:t>Допълнителни ресурси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13D3D-12C1-FAB0-4490-CBF80981054B}"/>
              </a:ext>
            </a:extLst>
          </p:cNvPr>
          <p:cNvSpPr txBox="1"/>
          <p:nvPr/>
        </p:nvSpPr>
        <p:spPr>
          <a:xfrm>
            <a:off x="623392" y="1124744"/>
            <a:ext cx="112176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Resistor Work</a:t>
            </a:r>
            <a:r>
              <a:rPr lang="bg-BG" dirty="0"/>
              <a:t>  </a:t>
            </a:r>
            <a:r>
              <a:rPr lang="bg-BG" dirty="0">
                <a:hlinkClick r:id="rId3"/>
              </a:rPr>
              <a:t>https://www.youtube.com/watch?v=DYcLFHgVCn0</a:t>
            </a:r>
            <a:br>
              <a:rPr lang="bg-BG" dirty="0"/>
            </a:br>
            <a:endParaRPr lang="bg-B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LED Works </a:t>
            </a:r>
            <a:r>
              <a:rPr lang="en-US" dirty="0">
                <a:hlinkClick r:id="rId4"/>
              </a:rPr>
              <a:t>https://www.youtube.com/watch?v=O8M2z2hIbag</a:t>
            </a:r>
            <a:br>
              <a:rPr lang="bg-BG" dirty="0"/>
            </a:br>
            <a:endParaRPr lang="bg-B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Why It Was Almost Impossible to Make the Blue LED</a:t>
            </a:r>
            <a:r>
              <a:rPr lang="bg-BG" dirty="0"/>
              <a:t> 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https://www.youtube.com/watch?v=AF8d72mA41M</a:t>
            </a:r>
            <a:endParaRPr lang="bg-B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Blue LEDs Were Invented</a:t>
            </a:r>
            <a:r>
              <a:rPr lang="bg-BG" dirty="0"/>
              <a:t> </a:t>
            </a:r>
            <a:r>
              <a:rPr lang="en-US" dirty="0">
                <a:hlinkClick r:id="rId6"/>
              </a:rPr>
              <a:t>https://www.youtube.com/watch?v=yoTALRhAqWc&amp;t=0s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0108513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2077</TotalTime>
  <Words>1822</Words>
  <Application>Microsoft Office PowerPoint</Application>
  <PresentationFormat>Widescreen</PresentationFormat>
  <Paragraphs>188</Paragraphs>
  <Slides>27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Narrow</vt:lpstr>
      <vt:lpstr>Cambria Math</vt:lpstr>
      <vt:lpstr>Consolas</vt:lpstr>
      <vt:lpstr>Symbol</vt:lpstr>
      <vt:lpstr>Tahoma</vt:lpstr>
      <vt:lpstr>Default Design</vt:lpstr>
      <vt:lpstr>PowerPoint Presentation</vt:lpstr>
      <vt:lpstr>PowerPoint Presentation</vt:lpstr>
      <vt:lpstr>PowerPoint Presentation</vt:lpstr>
      <vt:lpstr>Дължина на вълната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ТУ-София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</dc:title>
  <dc:creator>ПРОЕКТ BG051PO001--4.3.04-0042</dc:creator>
  <cp:lastModifiedBy>Vassiliy Tchoumatchenko</cp:lastModifiedBy>
  <cp:revision>182</cp:revision>
  <dcterms:created xsi:type="dcterms:W3CDTF">2013-03-19T07:28:34Z</dcterms:created>
  <dcterms:modified xsi:type="dcterms:W3CDTF">2025-10-28T07:18:51Z</dcterms:modified>
</cp:coreProperties>
</file>